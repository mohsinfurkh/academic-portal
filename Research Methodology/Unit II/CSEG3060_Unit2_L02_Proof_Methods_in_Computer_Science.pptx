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Shape 1"/>
          <p:cNvSpPr/>
          <p:nvPr/>
        </p:nvSpPr>
        <p:spPr>
          <a:xfrm>
            <a:off x="8522208" y="4041648"/>
            <a:ext cx="2121408" cy="2121408"/>
          </a:xfrm>
          <a:prstGeom prst="ellipse">
            <a:avLst/>
          </a:prstGeom>
          <a:solidFill>
            <a:srgbClr val="3D6EA6">
              <a:alpha val="55000"/>
            </a:srgbClr>
          </a:solidFill>
          <a:ln/>
        </p:spPr>
      </p:sp>
      <p:sp>
        <p:nvSpPr>
          <p:cNvPr id="4" name="Shape 2"/>
          <p:cNvSpPr/>
          <p:nvPr/>
        </p:nvSpPr>
        <p:spPr>
          <a:xfrm>
            <a:off x="9198864" y="3310128"/>
            <a:ext cx="2121408" cy="2121408"/>
          </a:xfrm>
          <a:prstGeom prst="ellipse">
            <a:avLst/>
          </a:prstGeom>
          <a:solidFill>
            <a:srgbClr val="D8A73E">
              <a:alpha val="55000"/>
            </a:srgbClr>
          </a:solidFill>
          <a:ln w="9525">
            <a:solidFill>
              <a:srgbClr val="D8A73E">
                <a:alpha val="60000"/>
              </a:srgbClr>
            </a:solidFill>
            <a:prstDash val="solid"/>
          </a:ln>
        </p:spPr>
      </p:sp>
      <p:sp>
        <p:nvSpPr>
          <p:cNvPr id="5" name="Shape 3"/>
          <p:cNvSpPr/>
          <p:nvPr/>
        </p:nvSpPr>
        <p:spPr>
          <a:xfrm>
            <a:off x="9802368" y="4169664"/>
            <a:ext cx="2121408" cy="2121408"/>
          </a:xfrm>
          <a:prstGeom prst="ellipse">
            <a:avLst/>
          </a:prstGeom>
          <a:solidFill>
            <a:srgbClr val="B4522B">
              <a:alpha val="55000"/>
            </a:srgbClr>
          </a:solidFill>
          <a:ln/>
        </p:spPr>
      </p:sp>
      <p:sp>
        <p:nvSpPr>
          <p:cNvPr id="6" name="Text 4"/>
          <p:cNvSpPr txBox="1"/>
          <p:nvPr/>
        </p:nvSpPr>
        <p:spPr>
          <a:xfrm>
            <a:off x="804672" y="1389888"/>
            <a:ext cx="7315200" cy="256032"/>
          </a:xfrm>
          <a:prstGeom prst="rect">
            <a:avLst/>
          </a:prstGeom>
          <a:noFill/>
          <a:ln/>
        </p:spPr>
        <p:txBody>
          <a:bodyPr wrap="square" lIns="0" tIns="0" rIns="0" bIns="0" rtlCol="0" anchor="ctr"/>
          <a:lstStyle/>
          <a:p>
            <a:pPr indent="0" marL="0">
              <a:buNone/>
            </a:pPr>
            <a:r>
              <a:rPr lang="en-US" sz="1000" b="1" spc="190" kern="0" dirty="0">
                <a:solidFill>
                  <a:srgbClr val="D8A73E"/>
                </a:solidFill>
                <a:latin typeface="Calibri" pitchFamily="34" charset="0"/>
                <a:ea typeface="Calibri" pitchFamily="34" charset="-122"/>
                <a:cs typeface="Calibri" pitchFamily="34" charset="-120"/>
              </a:rPr>
              <a:t>A LESSON IN RESEARCH METHODOLOGY</a:t>
            </a:r>
            <a:endParaRPr lang="en-US" sz="1000" dirty="0"/>
          </a:p>
        </p:txBody>
      </p:sp>
      <p:sp>
        <p:nvSpPr>
          <p:cNvPr id="7" name="Text 5"/>
          <p:cNvSpPr txBox="1"/>
          <p:nvPr/>
        </p:nvSpPr>
        <p:spPr>
          <a:xfrm>
            <a:off x="768096" y="1847088"/>
            <a:ext cx="8595360" cy="1572768"/>
          </a:xfrm>
          <a:prstGeom prst="rect">
            <a:avLst/>
          </a:prstGeom>
          <a:noFill/>
          <a:ln/>
        </p:spPr>
        <p:txBody>
          <a:bodyPr wrap="square" lIns="0" tIns="0" rIns="0" bIns="0" rtlCol="0" anchor="ctr"/>
          <a:lstStyle/>
          <a:p>
            <a:pPr indent="0" marL="0">
              <a:lnSpc>
                <a:spcPct val="106000"/>
              </a:lnSpc>
              <a:buNone/>
            </a:pPr>
            <a:r>
              <a:rPr lang="en-US" sz="4200" b="1" dirty="0">
                <a:solidFill>
                  <a:srgbClr val="FFFFFF"/>
                </a:solidFill>
                <a:latin typeface="Cambria" pitchFamily="34" charset="0"/>
                <a:ea typeface="Cambria" pitchFamily="34" charset="-122"/>
                <a:cs typeface="Cambria" pitchFamily="34" charset="-120"/>
              </a:rPr>
              <a:t>Proof Methods in</a:t>
            </a:r>
            <a:endParaRPr lang="en-US" sz="4200" dirty="0"/>
          </a:p>
          <a:p>
            <a:pPr indent="0" marL="0">
              <a:lnSpc>
                <a:spcPct val="106000"/>
              </a:lnSpc>
              <a:buNone/>
            </a:pPr>
            <a:r>
              <a:rPr lang="en-US" sz="4200" b="1" dirty="0">
                <a:solidFill>
                  <a:srgbClr val="FFFFFF"/>
                </a:solidFill>
                <a:latin typeface="Cambria" pitchFamily="34" charset="0"/>
                <a:ea typeface="Cambria" pitchFamily="34" charset="-122"/>
                <a:cs typeface="Cambria" pitchFamily="34" charset="-120"/>
              </a:rPr>
              <a:t>Computer Science</a:t>
            </a:r>
            <a:endParaRPr lang="en-US" sz="4200" dirty="0"/>
          </a:p>
        </p:txBody>
      </p:sp>
      <p:sp>
        <p:nvSpPr>
          <p:cNvPr id="8" name="Text 6"/>
          <p:cNvSpPr txBox="1"/>
          <p:nvPr/>
        </p:nvSpPr>
        <p:spPr>
          <a:xfrm>
            <a:off x="804672" y="3767328"/>
            <a:ext cx="8229600" cy="329184"/>
          </a:xfrm>
          <a:prstGeom prst="rect">
            <a:avLst/>
          </a:prstGeom>
          <a:noFill/>
          <a:ln/>
        </p:spPr>
        <p:txBody>
          <a:bodyPr wrap="square" lIns="0" tIns="0" rIns="0" bIns="0" rtlCol="0" anchor="ctr"/>
          <a:lstStyle/>
          <a:p>
            <a:pPr indent="0" marL="0">
              <a:buNone/>
            </a:pPr>
            <a:r>
              <a:rPr lang="en-US" sz="1600" i="1" dirty="0">
                <a:solidFill>
                  <a:srgbClr val="E4DFFA"/>
                </a:solidFill>
                <a:latin typeface="Cambria" pitchFamily="34" charset="0"/>
                <a:ea typeface="Cambria" pitchFamily="34" charset="-122"/>
                <a:cs typeface="Cambria" pitchFamily="34" charset="-120"/>
              </a:rPr>
              <a:t>Demonstration, Empirical, and Mathematical Argument</a:t>
            </a:r>
            <a:endParaRPr lang="en-US" sz="1600" dirty="0"/>
          </a:p>
        </p:txBody>
      </p:sp>
      <p:sp>
        <p:nvSpPr>
          <p:cNvPr id="9" name="Shape 7"/>
          <p:cNvSpPr/>
          <p:nvPr/>
        </p:nvSpPr>
        <p:spPr>
          <a:xfrm>
            <a:off x="804672" y="4315968"/>
            <a:ext cx="2377440" cy="0"/>
          </a:xfrm>
          <a:prstGeom prst="line">
            <a:avLst/>
          </a:prstGeom>
          <a:noFill/>
          <a:ln w="12700">
            <a:solidFill>
              <a:srgbClr val="6E688F"/>
            </a:solidFill>
            <a:prstDash val="solid"/>
          </a:ln>
        </p:spPr>
      </p:sp>
      <p:sp>
        <p:nvSpPr>
          <p:cNvPr id="10" name="Text 8"/>
          <p:cNvSpPr txBox="1"/>
          <p:nvPr/>
        </p:nvSpPr>
        <p:spPr>
          <a:xfrm>
            <a:off x="804672" y="4572000"/>
            <a:ext cx="7680960" cy="658368"/>
          </a:xfrm>
          <a:prstGeom prst="rect">
            <a:avLst/>
          </a:prstGeom>
          <a:noFill/>
          <a:ln/>
        </p:spPr>
        <p:txBody>
          <a:bodyPr wrap="square" lIns="0" tIns="0" rIns="0" bIns="0" rtlCol="0" anchor="t"/>
          <a:lstStyle/>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How a claim about a program, an algorithm, or a system is actually established —</a:t>
            </a:r>
            <a:endParaRPr lang="en-US" sz="1150" dirty="0"/>
          </a:p>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by building it, by measuring it, or by deriving it — and what each mode does and does not license.</a:t>
            </a:r>
            <a:endParaRPr lang="en-US" sz="1150" dirty="0"/>
          </a:p>
        </p:txBody>
      </p:sp>
      <p:sp>
        <p:nvSpPr>
          <p:cNvPr id="11" name="Text 9"/>
          <p:cNvSpPr txBox="1"/>
          <p:nvPr/>
        </p:nvSpPr>
        <p:spPr>
          <a:xfrm>
            <a:off x="804672" y="5797296"/>
            <a:ext cx="6400800" cy="237744"/>
          </a:xfrm>
          <a:prstGeom prst="rect">
            <a:avLst/>
          </a:prstGeom>
          <a:noFill/>
          <a:ln/>
        </p:spPr>
        <p:txBody>
          <a:bodyPr wrap="square" lIns="0" tIns="0" rIns="0" bIns="0" rtlCol="0" anchor="ctr"/>
          <a:lstStyle/>
          <a:p>
            <a:pPr indent="0" marL="0">
              <a:buNone/>
            </a:pPr>
            <a:r>
              <a:rPr lang="en-US" sz="900" dirty="0">
                <a:solidFill>
                  <a:srgbClr val="6E688F"/>
                </a:solidFill>
                <a:latin typeface="Calibri" pitchFamily="34" charset="0"/>
                <a:ea typeface="Calibri" pitchFamily="34" charset="-122"/>
                <a:cs typeface="Calibri" pitchFamily="34" charset="-120"/>
              </a:rPr>
              <a:t>Research Methodology in CS   ·   Unit II · Lecture 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“PROOF” MEANS IN CS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Three Different Things Called “Proof”</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Last session ended on Toulmin's Grounds — the evidence a claim rests on. Today's question is narrower and harder: what procedure actually manufactures admissible grounds in computing science?</a:t>
            </a:r>
            <a:endParaRPr lang="en-US" sz="1250" dirty="0"/>
          </a:p>
        </p:txBody>
      </p:sp>
      <p:sp>
        <p:nvSpPr>
          <p:cNvPr id="5" name="Shape 3"/>
          <p:cNvSpPr/>
          <p:nvPr/>
        </p:nvSpPr>
        <p:spPr>
          <a:xfrm>
            <a:off x="502920" y="1956816"/>
            <a:ext cx="310896" cy="310896"/>
          </a:xfrm>
          <a:prstGeom prst="ellipse">
            <a:avLst/>
          </a:prstGeom>
          <a:solidFill>
            <a:srgbClr val="241A4C"/>
          </a:solidFill>
          <a:ln/>
        </p:spPr>
      </p:sp>
      <p:sp>
        <p:nvSpPr>
          <p:cNvPr id="6" name="Text 4"/>
          <p:cNvSpPr txBox="1"/>
          <p:nvPr/>
        </p:nvSpPr>
        <p:spPr>
          <a:xfrm>
            <a:off x="502920" y="1956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05840" y="1911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In mathematics, “proof” means deductive certainty. In experimental science it means evidence strong enough to survive attempted refutation. A CS paper routinely uses the word in both senses, often on the same page.</a:t>
            </a:r>
            <a:endParaRPr lang="en-US" sz="1150" dirty="0"/>
          </a:p>
        </p:txBody>
      </p:sp>
      <p:sp>
        <p:nvSpPr>
          <p:cNvPr id="8" name="Shape 6"/>
          <p:cNvSpPr/>
          <p:nvPr/>
        </p:nvSpPr>
        <p:spPr>
          <a:xfrm>
            <a:off x="502920" y="3099816"/>
            <a:ext cx="310896" cy="310896"/>
          </a:xfrm>
          <a:prstGeom prst="ellipse">
            <a:avLst/>
          </a:prstGeom>
          <a:solidFill>
            <a:srgbClr val="3D6EA6"/>
          </a:solidFill>
          <a:ln/>
        </p:spPr>
      </p:sp>
      <p:sp>
        <p:nvSpPr>
          <p:cNvPr id="9" name="Text 7"/>
          <p:cNvSpPr txBox="1"/>
          <p:nvPr/>
        </p:nvSpPr>
        <p:spPr>
          <a:xfrm>
            <a:off x="502920" y="3099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005840" y="3054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Computing science can settle a claim three ways — by building the thing, by measuring the thing, or by deriving the thing from assumptions. Each licenses a different strength of conclusion.</a:t>
            </a:r>
            <a:endParaRPr lang="en-US" sz="1150" dirty="0"/>
          </a:p>
        </p:txBody>
      </p:sp>
      <p:sp>
        <p:nvSpPr>
          <p:cNvPr id="11" name="Shape 9"/>
          <p:cNvSpPr/>
          <p:nvPr/>
        </p:nvSpPr>
        <p:spPr>
          <a:xfrm>
            <a:off x="502920" y="4242816"/>
            <a:ext cx="310896" cy="310896"/>
          </a:xfrm>
          <a:prstGeom prst="ellipse">
            <a:avLst/>
          </a:prstGeom>
          <a:solidFill>
            <a:srgbClr val="241A4C"/>
          </a:solidFill>
          <a:ln/>
        </p:spPr>
      </p:sp>
      <p:sp>
        <p:nvSpPr>
          <p:cNvPr id="12" name="Text 10"/>
          <p:cNvSpPr txBox="1"/>
          <p:nvPr/>
        </p:nvSpPr>
        <p:spPr>
          <a:xfrm>
            <a:off x="502920" y="4242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005840" y="4197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The syllabus names them demonstration, empirical, and mathematical. They are instruments, not a ranking: a benchmark cannot establish necessity, and a theorem cannot establish that real users are faster.</a:t>
            </a:r>
            <a:endParaRPr lang="en-US" sz="1150" dirty="0"/>
          </a:p>
        </p:txBody>
      </p:sp>
      <p:sp>
        <p:nvSpPr>
          <p:cNvPr id="14" name="Shape 12"/>
          <p:cNvSpPr/>
          <p:nvPr/>
        </p:nvSpPr>
        <p:spPr>
          <a:xfrm>
            <a:off x="502920" y="5385816"/>
            <a:ext cx="310896" cy="310896"/>
          </a:xfrm>
          <a:prstGeom prst="ellipse">
            <a:avLst/>
          </a:prstGeom>
          <a:solidFill>
            <a:srgbClr val="3D6EA6"/>
          </a:solidFill>
          <a:ln/>
        </p:spPr>
      </p:sp>
      <p:sp>
        <p:nvSpPr>
          <p:cNvPr id="15" name="Text 13"/>
          <p:cNvSpPr txBox="1"/>
          <p:nvPr/>
        </p:nvSpPr>
        <p:spPr>
          <a:xfrm>
            <a:off x="502920" y="5385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005840" y="5340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Choosing the wrong instrument is not a stylistic slip. It makes the claim unprovable in principle — however good the underlying work is.</a:t>
            </a:r>
            <a:endParaRPr lang="en-US" sz="1150" dirty="0"/>
          </a:p>
        </p:txBody>
      </p:sp>
      <p:sp>
        <p:nvSpPr>
          <p:cNvPr id="17" name="Shape 15"/>
          <p:cNvSpPr/>
          <p:nvPr/>
        </p:nvSpPr>
        <p:spPr>
          <a:xfrm>
            <a:off x="7571232" y="1883664"/>
            <a:ext cx="4114800" cy="4169664"/>
          </a:xfrm>
          <a:prstGeom prst="roundRect">
            <a:avLst>
              <a:gd name="adj" fmla="val 1111"/>
            </a:avLst>
          </a:prstGeom>
          <a:solidFill>
            <a:srgbClr val="F3F1FC"/>
          </a:solidFill>
          <a:ln/>
        </p:spPr>
      </p:sp>
      <p:sp>
        <p:nvSpPr>
          <p:cNvPr id="18" name="Text 16"/>
          <p:cNvSpPr txBox="1"/>
          <p:nvPr/>
        </p:nvSpPr>
        <p:spPr>
          <a:xfrm>
            <a:off x="7845552" y="2139696"/>
            <a:ext cx="3566160"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CATEGORY ERROR</a:t>
            </a:r>
            <a:endParaRPr lang="en-US" sz="850" dirty="0"/>
          </a:p>
        </p:txBody>
      </p:sp>
      <p:sp>
        <p:nvSpPr>
          <p:cNvPr id="19" name="Text 17"/>
          <p:cNvSpPr txBox="1"/>
          <p:nvPr/>
        </p:nvSpPr>
        <p:spPr>
          <a:xfrm>
            <a:off x="7845552" y="2505456"/>
            <a:ext cx="3566160" cy="1005840"/>
          </a:xfrm>
          <a:prstGeom prst="rect">
            <a:avLst/>
          </a:prstGeom>
          <a:noFill/>
          <a:ln/>
        </p:spPr>
        <p:txBody>
          <a:bodyPr wrap="square" lIns="0" tIns="0" rIns="0" bIns="0" rtlCol="0" anchor="t"/>
          <a:lstStyle/>
          <a:p>
            <a:pPr indent="0" marL="0">
              <a:lnSpc>
                <a:spcPct val="120000"/>
              </a:lnSpc>
              <a:buNone/>
            </a:pPr>
            <a:r>
              <a:rPr lang="en-US" sz="1450" dirty="0">
                <a:solidFill>
                  <a:srgbClr val="241A4C"/>
                </a:solidFill>
                <a:latin typeface="Cambria" pitchFamily="34" charset="0"/>
                <a:ea typeface="Cambria" pitchFamily="34" charset="-122"/>
                <a:cs typeface="Cambria" pitchFamily="34" charset="-120"/>
              </a:rPr>
              <a:t>You cannot benchmark your way to a universal claim, and you cannot prove your way to a claim about real workloads.</a:t>
            </a:r>
            <a:endParaRPr lang="en-US" sz="1450" dirty="0"/>
          </a:p>
        </p:txBody>
      </p:sp>
      <p:sp>
        <p:nvSpPr>
          <p:cNvPr id="20" name="Text 18"/>
          <p:cNvSpPr txBox="1"/>
          <p:nvPr/>
        </p:nvSpPr>
        <p:spPr>
          <a:xfrm>
            <a:off x="7845552" y="3639312"/>
            <a:ext cx="3566160" cy="91440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Reviewers reject far more papers for a mismatch between the claim and the mode of proof than for arithmetic errors in the evidence itself.</a:t>
            </a:r>
            <a:endParaRPr lang="en-US" sz="1100" dirty="0"/>
          </a:p>
        </p:txBody>
      </p:sp>
      <p:sp>
        <p:nvSpPr>
          <p:cNvPr id="21" name="Shape 19"/>
          <p:cNvSpPr/>
          <p:nvPr/>
        </p:nvSpPr>
        <p:spPr>
          <a:xfrm>
            <a:off x="7845552" y="5047488"/>
            <a:ext cx="1371600" cy="0"/>
          </a:xfrm>
          <a:prstGeom prst="line">
            <a:avLst/>
          </a:prstGeom>
          <a:noFill/>
          <a:ln w="15875">
            <a:solidFill>
              <a:srgbClr val="D8A73E"/>
            </a:solidFill>
            <a:prstDash val="solid"/>
          </a:ln>
        </p:spPr>
      </p:sp>
      <p:sp>
        <p:nvSpPr>
          <p:cNvPr id="22" name="Text 20"/>
          <p:cNvSpPr txBox="1"/>
          <p:nvPr/>
        </p:nvSpPr>
        <p:spPr>
          <a:xfrm>
            <a:off x="7845552" y="5212080"/>
            <a:ext cx="3566160" cy="45720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Match the instrument to the quantifier in your claim.</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 / 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“PROOF” MEANS IN CS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Three Modes of Proof</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Each mode answers a different question, produces a different artifact, and supports a different logical form of claim.</a:t>
            </a:r>
            <a:endParaRPr lang="en-US" sz="1250" dirty="0"/>
          </a:p>
        </p:txBody>
      </p:sp>
      <p:sp>
        <p:nvSpPr>
          <p:cNvPr id="5" name="Shape 3"/>
          <p:cNvSpPr/>
          <p:nvPr/>
        </p:nvSpPr>
        <p:spPr>
          <a:xfrm>
            <a:off x="502920" y="1938528"/>
            <a:ext cx="3502152" cy="3913632"/>
          </a:xfrm>
          <a:prstGeom prst="roundRect">
            <a:avLst>
              <a:gd name="adj" fmla="val 1305"/>
            </a:avLst>
          </a:prstGeom>
          <a:solidFill>
            <a:srgbClr val="FAF9FE"/>
          </a:solidFill>
          <a:ln w="12700">
            <a:solidFill>
              <a:srgbClr val="E6E2F5"/>
            </a:solidFill>
            <a:prstDash val="solid"/>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50" b="1" spc="130" kern="0" dirty="0">
                <a:solidFill>
                  <a:srgbClr val="B4522B"/>
                </a:solidFill>
                <a:latin typeface="Calibri" pitchFamily="34" charset="0"/>
                <a:ea typeface="Calibri" pitchFamily="34" charset="-122"/>
                <a:cs typeface="Calibri" pitchFamily="34" charset="-120"/>
              </a:rPr>
              <a:t>MODE 1</a:t>
            </a:r>
            <a:endParaRPr lang="en-US" sz="850" dirty="0"/>
          </a:p>
        </p:txBody>
      </p:sp>
      <p:sp>
        <p:nvSpPr>
          <p:cNvPr id="7" name="Text 5"/>
          <p:cNvSpPr txBox="1"/>
          <p:nvPr/>
        </p:nvSpPr>
        <p:spPr>
          <a:xfrm>
            <a:off x="758952" y="2395728"/>
            <a:ext cx="2990088"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Demonstration</a:t>
            </a:r>
            <a:endParaRPr lang="en-US" sz="2000" dirty="0"/>
          </a:p>
        </p:txBody>
      </p:sp>
      <p:sp>
        <p:nvSpPr>
          <p:cNvPr id="8" name="Text 6"/>
          <p:cNvSpPr txBox="1"/>
          <p:nvPr/>
        </p:nvSpPr>
        <p:spPr>
          <a:xfrm>
            <a:off x="758952" y="2798064"/>
            <a:ext cx="2990088" cy="402336"/>
          </a:xfrm>
          <a:prstGeom prst="rect">
            <a:avLst/>
          </a:prstGeom>
          <a:noFill/>
          <a:ln/>
        </p:spPr>
        <p:txBody>
          <a:bodyPr wrap="square" lIns="0" tIns="0" rIns="0" bIns="0" rtlCol="0" anchor="t"/>
          <a:lstStyle/>
          <a:p>
            <a:pPr indent="0" marL="0">
              <a:lnSpc>
                <a:spcPct val="115000"/>
              </a:lnSpc>
              <a:buNone/>
            </a:pPr>
            <a:r>
              <a:rPr lang="en-US" sz="1150" i="1" dirty="0">
                <a:solidFill>
                  <a:srgbClr val="B4522B"/>
                </a:solidFill>
                <a:latin typeface="Cambria" pitchFamily="34" charset="0"/>
                <a:ea typeface="Cambria" pitchFamily="34" charset="-122"/>
                <a:cs typeface="Cambria" pitchFamily="34" charset="-120"/>
              </a:rPr>
              <a:t>“It can be done.”</a:t>
            </a:r>
            <a:endParaRPr lang="en-US" sz="1150" dirty="0"/>
          </a:p>
        </p:txBody>
      </p:sp>
      <p:sp>
        <p:nvSpPr>
          <p:cNvPr id="9" name="Text 7"/>
          <p:cNvSpPr txBox="1"/>
          <p:nvPr/>
        </p:nvSpPr>
        <p:spPr>
          <a:xfrm>
            <a:off x="758952" y="3291840"/>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ESTABLISHES</a:t>
            </a:r>
            <a:endParaRPr lang="en-US" sz="750" dirty="0"/>
          </a:p>
        </p:txBody>
      </p:sp>
      <p:sp>
        <p:nvSpPr>
          <p:cNvPr id="10" name="Text 8"/>
          <p:cNvSpPr txBox="1"/>
          <p:nvPr/>
        </p:nvSpPr>
        <p:spPr>
          <a:xfrm>
            <a:off x="758952" y="3465576"/>
            <a:ext cx="2990088" cy="393192"/>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Feasibility and existence — that a design is realizable.</a:t>
            </a:r>
            <a:endParaRPr lang="en-US" sz="1050" dirty="0"/>
          </a:p>
        </p:txBody>
      </p:sp>
      <p:sp>
        <p:nvSpPr>
          <p:cNvPr id="11" name="Text 9"/>
          <p:cNvSpPr txBox="1"/>
          <p:nvPr/>
        </p:nvSpPr>
        <p:spPr>
          <a:xfrm>
            <a:off x="758952" y="3913632"/>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INSTRUMENT</a:t>
            </a:r>
            <a:endParaRPr lang="en-US" sz="750" dirty="0"/>
          </a:p>
        </p:txBody>
      </p:sp>
      <p:sp>
        <p:nvSpPr>
          <p:cNvPr id="12" name="Text 10"/>
          <p:cNvSpPr txBox="1"/>
          <p:nvPr/>
        </p:nvSpPr>
        <p:spPr>
          <a:xfrm>
            <a:off x="758952" y="4087368"/>
            <a:ext cx="2990088" cy="5394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working artifact, exercised under the conditions that made the claim doubtful.</a:t>
            </a:r>
            <a:endParaRPr lang="en-US" sz="1050" dirty="0"/>
          </a:p>
        </p:txBody>
      </p:sp>
      <p:sp>
        <p:nvSpPr>
          <p:cNvPr id="13" name="Text 11"/>
          <p:cNvSpPr txBox="1"/>
          <p:nvPr/>
        </p:nvSpPr>
        <p:spPr>
          <a:xfrm>
            <a:off x="758952" y="468172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LOGICAL FORM</a:t>
            </a:r>
            <a:endParaRPr lang="en-US" sz="750" dirty="0"/>
          </a:p>
        </p:txBody>
      </p:sp>
      <p:sp>
        <p:nvSpPr>
          <p:cNvPr id="14" name="Text 12"/>
          <p:cNvSpPr txBox="1"/>
          <p:nvPr/>
        </p:nvSpPr>
        <p:spPr>
          <a:xfrm>
            <a:off x="758952" y="4855464"/>
            <a:ext cx="2990088" cy="429768"/>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 a system S such that property P holds of S.</a:t>
            </a:r>
            <a:endParaRPr lang="en-US" sz="1050" dirty="0"/>
          </a:p>
        </p:txBody>
      </p:sp>
      <p:sp>
        <p:nvSpPr>
          <p:cNvPr id="15" name="Text 13"/>
          <p:cNvSpPr txBox="1"/>
          <p:nvPr/>
        </p:nvSpPr>
        <p:spPr>
          <a:xfrm>
            <a:off x="758952" y="5340096"/>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HOME FIELDS</a:t>
            </a:r>
            <a:endParaRPr lang="en-US" sz="750" dirty="0"/>
          </a:p>
        </p:txBody>
      </p:sp>
      <p:sp>
        <p:nvSpPr>
          <p:cNvPr id="16" name="Text 14"/>
          <p:cNvSpPr txBox="1"/>
          <p:nvPr/>
        </p:nvSpPr>
        <p:spPr>
          <a:xfrm>
            <a:off x="758952" y="5513832"/>
            <a:ext cx="2990088" cy="37490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Systems, PL, HCI, security, architecture.</a:t>
            </a:r>
            <a:endParaRPr lang="en-US" sz="1050" dirty="0"/>
          </a:p>
        </p:txBody>
      </p:sp>
      <p:sp>
        <p:nvSpPr>
          <p:cNvPr id="17" name="Shape 15"/>
          <p:cNvSpPr/>
          <p:nvPr/>
        </p:nvSpPr>
        <p:spPr>
          <a:xfrm>
            <a:off x="4343400" y="1938528"/>
            <a:ext cx="3502152" cy="3913632"/>
          </a:xfrm>
          <a:prstGeom prst="roundRect">
            <a:avLst>
              <a:gd name="adj" fmla="val 1305"/>
            </a:avLst>
          </a:prstGeom>
          <a:solidFill>
            <a:srgbClr val="F3F1FC"/>
          </a:solidFill>
          <a:ln w="12700">
            <a:solidFill>
              <a:srgbClr val="E6E2F5"/>
            </a:solidFill>
            <a:prstDash val="solid"/>
          </a:ln>
        </p:spPr>
      </p:sp>
      <p:sp>
        <p:nvSpPr>
          <p:cNvPr id="18" name="Text 16"/>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MODE 2</a:t>
            </a:r>
            <a:endParaRPr lang="en-US" sz="850" dirty="0"/>
          </a:p>
        </p:txBody>
      </p:sp>
      <p:sp>
        <p:nvSpPr>
          <p:cNvPr id="19" name="Text 17"/>
          <p:cNvSpPr txBox="1"/>
          <p:nvPr/>
        </p:nvSpPr>
        <p:spPr>
          <a:xfrm>
            <a:off x="4599432" y="2395728"/>
            <a:ext cx="2990088"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Empirical</a:t>
            </a:r>
            <a:endParaRPr lang="en-US" sz="2000" dirty="0"/>
          </a:p>
        </p:txBody>
      </p:sp>
      <p:sp>
        <p:nvSpPr>
          <p:cNvPr id="20" name="Text 18"/>
          <p:cNvSpPr txBox="1"/>
          <p:nvPr/>
        </p:nvSpPr>
        <p:spPr>
          <a:xfrm>
            <a:off x="4599432" y="2798064"/>
            <a:ext cx="2990088" cy="402336"/>
          </a:xfrm>
          <a:prstGeom prst="rect">
            <a:avLst/>
          </a:prstGeom>
          <a:noFill/>
          <a:ln/>
        </p:spPr>
        <p:txBody>
          <a:bodyPr wrap="square" lIns="0" tIns="0" rIns="0" bIns="0" rtlCol="0" anchor="t"/>
          <a:lstStyle/>
          <a:p>
            <a:pPr indent="0" marL="0">
              <a:lnSpc>
                <a:spcPct val="115000"/>
              </a:lnSpc>
              <a:buNone/>
            </a:pPr>
            <a:r>
              <a:rPr lang="en-US" sz="1150" i="1" dirty="0">
                <a:solidFill>
                  <a:srgbClr val="3D6EA6"/>
                </a:solidFill>
                <a:latin typeface="Cambria" pitchFamily="34" charset="0"/>
                <a:ea typeface="Cambria" pitchFamily="34" charset="-122"/>
                <a:cs typeface="Cambria" pitchFamily="34" charset="-120"/>
              </a:rPr>
              <a:t>“It behaves this way, under these conditions.”</a:t>
            </a:r>
            <a:endParaRPr lang="en-US" sz="1150" dirty="0"/>
          </a:p>
        </p:txBody>
      </p:sp>
      <p:sp>
        <p:nvSpPr>
          <p:cNvPr id="21" name="Text 19"/>
          <p:cNvSpPr txBox="1"/>
          <p:nvPr/>
        </p:nvSpPr>
        <p:spPr>
          <a:xfrm>
            <a:off x="4599432" y="3291840"/>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ESTABLISHES</a:t>
            </a:r>
            <a:endParaRPr lang="en-US" sz="750" dirty="0"/>
          </a:p>
        </p:txBody>
      </p:sp>
      <p:sp>
        <p:nvSpPr>
          <p:cNvPr id="22" name="Text 20"/>
          <p:cNvSpPr txBox="1"/>
          <p:nvPr/>
        </p:nvSpPr>
        <p:spPr>
          <a:xfrm>
            <a:off x="4599432" y="3465576"/>
            <a:ext cx="2990088" cy="393192"/>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Regularity in observed behaviour; effect size; comparison.</a:t>
            </a:r>
            <a:endParaRPr lang="en-US" sz="1050" dirty="0"/>
          </a:p>
        </p:txBody>
      </p:sp>
      <p:sp>
        <p:nvSpPr>
          <p:cNvPr id="23" name="Text 21"/>
          <p:cNvSpPr txBox="1"/>
          <p:nvPr/>
        </p:nvSpPr>
        <p:spPr>
          <a:xfrm>
            <a:off x="4599432" y="3913632"/>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INSTRUMENT</a:t>
            </a:r>
            <a:endParaRPr lang="en-US" sz="750" dirty="0"/>
          </a:p>
        </p:txBody>
      </p:sp>
      <p:sp>
        <p:nvSpPr>
          <p:cNvPr id="24" name="Text 22"/>
          <p:cNvSpPr txBox="1"/>
          <p:nvPr/>
        </p:nvSpPr>
        <p:spPr>
          <a:xfrm>
            <a:off x="4599432" y="4087368"/>
            <a:ext cx="2990088" cy="5394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Controlled measurement over a sample, plus statistical inference.</a:t>
            </a:r>
            <a:endParaRPr lang="en-US" sz="1050" dirty="0"/>
          </a:p>
        </p:txBody>
      </p:sp>
      <p:sp>
        <p:nvSpPr>
          <p:cNvPr id="25" name="Text 23"/>
          <p:cNvSpPr txBox="1"/>
          <p:nvPr/>
        </p:nvSpPr>
        <p:spPr>
          <a:xfrm>
            <a:off x="4599432" y="468172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LOGICAL FORM</a:t>
            </a:r>
            <a:endParaRPr lang="en-US" sz="750" dirty="0"/>
          </a:p>
        </p:txBody>
      </p:sp>
      <p:sp>
        <p:nvSpPr>
          <p:cNvPr id="26" name="Text 24"/>
          <p:cNvSpPr txBox="1"/>
          <p:nvPr/>
        </p:nvSpPr>
        <p:spPr>
          <a:xfrm>
            <a:off x="4599432" y="4855464"/>
            <a:ext cx="2990088" cy="429768"/>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Under conditions C, X outperforms Y by δ, with confidence c.</a:t>
            </a:r>
            <a:endParaRPr lang="en-US" sz="1050" dirty="0"/>
          </a:p>
        </p:txBody>
      </p:sp>
      <p:sp>
        <p:nvSpPr>
          <p:cNvPr id="27" name="Text 25"/>
          <p:cNvSpPr txBox="1"/>
          <p:nvPr/>
        </p:nvSpPr>
        <p:spPr>
          <a:xfrm>
            <a:off x="4599432" y="5340096"/>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HOME FIELDS</a:t>
            </a:r>
            <a:endParaRPr lang="en-US" sz="750" dirty="0"/>
          </a:p>
        </p:txBody>
      </p:sp>
      <p:sp>
        <p:nvSpPr>
          <p:cNvPr id="28" name="Text 26"/>
          <p:cNvSpPr txBox="1"/>
          <p:nvPr/>
        </p:nvSpPr>
        <p:spPr>
          <a:xfrm>
            <a:off x="4599432" y="5513832"/>
            <a:ext cx="2990088" cy="37490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ML, databases, SE, networking, performance analysis.</a:t>
            </a:r>
            <a:endParaRPr lang="en-US" sz="1050" dirty="0"/>
          </a:p>
        </p:txBody>
      </p:sp>
      <p:sp>
        <p:nvSpPr>
          <p:cNvPr id="29" name="Shape 27"/>
          <p:cNvSpPr/>
          <p:nvPr/>
        </p:nvSpPr>
        <p:spPr>
          <a:xfrm>
            <a:off x="8183880" y="1938528"/>
            <a:ext cx="3502152" cy="3913632"/>
          </a:xfrm>
          <a:prstGeom prst="roundRect">
            <a:avLst>
              <a:gd name="adj" fmla="val 1305"/>
            </a:avLst>
          </a:prstGeom>
          <a:solidFill>
            <a:srgbClr val="FAF9FE"/>
          </a:solidFill>
          <a:ln w="12700">
            <a:solidFill>
              <a:srgbClr val="E6E2F5"/>
            </a:solidFill>
            <a:prstDash val="solid"/>
          </a:ln>
        </p:spPr>
      </p:sp>
      <p:sp>
        <p:nvSpPr>
          <p:cNvPr id="30" name="Text 28"/>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MODE 3</a:t>
            </a:r>
            <a:endParaRPr lang="en-US" sz="850" dirty="0"/>
          </a:p>
        </p:txBody>
      </p:sp>
      <p:sp>
        <p:nvSpPr>
          <p:cNvPr id="31" name="Text 29"/>
          <p:cNvSpPr txBox="1"/>
          <p:nvPr/>
        </p:nvSpPr>
        <p:spPr>
          <a:xfrm>
            <a:off x="8439912" y="2395728"/>
            <a:ext cx="2990088"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Mathematical</a:t>
            </a:r>
            <a:endParaRPr lang="en-US" sz="2000" dirty="0"/>
          </a:p>
        </p:txBody>
      </p:sp>
      <p:sp>
        <p:nvSpPr>
          <p:cNvPr id="32" name="Text 30"/>
          <p:cNvSpPr txBox="1"/>
          <p:nvPr/>
        </p:nvSpPr>
        <p:spPr>
          <a:xfrm>
            <a:off x="8439912" y="2798064"/>
            <a:ext cx="2990088" cy="402336"/>
          </a:xfrm>
          <a:prstGeom prst="rect">
            <a:avLst/>
          </a:prstGeom>
          <a:noFill/>
          <a:ln/>
        </p:spPr>
        <p:txBody>
          <a:bodyPr wrap="square" lIns="0" tIns="0" rIns="0" bIns="0" rtlCol="0" anchor="t"/>
          <a:lstStyle/>
          <a:p>
            <a:pPr indent="0" marL="0">
              <a:lnSpc>
                <a:spcPct val="115000"/>
              </a:lnSpc>
              <a:buNone/>
            </a:pPr>
            <a:r>
              <a:rPr lang="en-US" sz="1150" i="1" dirty="0">
                <a:solidFill>
                  <a:srgbClr val="B08C3A"/>
                </a:solidFill>
                <a:latin typeface="Cambria" pitchFamily="34" charset="0"/>
                <a:ea typeface="Cambria" pitchFamily="34" charset="-122"/>
                <a:cs typeface="Cambria" pitchFamily="34" charset="-120"/>
              </a:rPr>
              <a:t>“It must be so — and here is why.”</a:t>
            </a:r>
            <a:endParaRPr lang="en-US" sz="1150" dirty="0"/>
          </a:p>
        </p:txBody>
      </p:sp>
      <p:sp>
        <p:nvSpPr>
          <p:cNvPr id="33" name="Text 31"/>
          <p:cNvSpPr txBox="1"/>
          <p:nvPr/>
        </p:nvSpPr>
        <p:spPr>
          <a:xfrm>
            <a:off x="8439912" y="3291840"/>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ESTABLISHES</a:t>
            </a:r>
            <a:endParaRPr lang="en-US" sz="750" dirty="0"/>
          </a:p>
        </p:txBody>
      </p:sp>
      <p:sp>
        <p:nvSpPr>
          <p:cNvPr id="34" name="Text 32"/>
          <p:cNvSpPr txBox="1"/>
          <p:nvPr/>
        </p:nvSpPr>
        <p:spPr>
          <a:xfrm>
            <a:off x="8439912" y="3465576"/>
            <a:ext cx="2990088" cy="393192"/>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Necessity within a stated model; bounds; impossibility.</a:t>
            </a:r>
            <a:endParaRPr lang="en-US" sz="1050" dirty="0"/>
          </a:p>
        </p:txBody>
      </p:sp>
      <p:sp>
        <p:nvSpPr>
          <p:cNvPr id="35" name="Text 33"/>
          <p:cNvSpPr txBox="1"/>
          <p:nvPr/>
        </p:nvSpPr>
        <p:spPr>
          <a:xfrm>
            <a:off x="8439912" y="3913632"/>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INSTRUMENT</a:t>
            </a:r>
            <a:endParaRPr lang="en-US" sz="750" dirty="0"/>
          </a:p>
        </p:txBody>
      </p:sp>
      <p:sp>
        <p:nvSpPr>
          <p:cNvPr id="36" name="Text 34"/>
          <p:cNvSpPr txBox="1"/>
          <p:nvPr/>
        </p:nvSpPr>
        <p:spPr>
          <a:xfrm>
            <a:off x="8439912" y="4087368"/>
            <a:ext cx="2990088" cy="5394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Deductive derivation from explicit assumptions.</a:t>
            </a:r>
            <a:endParaRPr lang="en-US" sz="1050" dirty="0"/>
          </a:p>
        </p:txBody>
      </p:sp>
      <p:sp>
        <p:nvSpPr>
          <p:cNvPr id="37" name="Text 35"/>
          <p:cNvSpPr txBox="1"/>
          <p:nvPr/>
        </p:nvSpPr>
        <p:spPr>
          <a:xfrm>
            <a:off x="8439912" y="4681728"/>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LOGICAL FORM</a:t>
            </a:r>
            <a:endParaRPr lang="en-US" sz="750" dirty="0"/>
          </a:p>
        </p:txBody>
      </p:sp>
      <p:sp>
        <p:nvSpPr>
          <p:cNvPr id="38" name="Text 36"/>
          <p:cNvSpPr txBox="1"/>
          <p:nvPr/>
        </p:nvSpPr>
        <p:spPr>
          <a:xfrm>
            <a:off x="8439912" y="4855464"/>
            <a:ext cx="2990088" cy="429768"/>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 inputs of class I, property P holds — no exceptions.</a:t>
            </a:r>
            <a:endParaRPr lang="en-US" sz="1050" dirty="0"/>
          </a:p>
        </p:txBody>
      </p:sp>
      <p:sp>
        <p:nvSpPr>
          <p:cNvPr id="39" name="Text 37"/>
          <p:cNvSpPr txBox="1"/>
          <p:nvPr/>
        </p:nvSpPr>
        <p:spPr>
          <a:xfrm>
            <a:off x="8439912" y="5340096"/>
            <a:ext cx="2990088"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HOME FIELDS</a:t>
            </a:r>
            <a:endParaRPr lang="en-US" sz="750" dirty="0"/>
          </a:p>
        </p:txBody>
      </p:sp>
      <p:sp>
        <p:nvSpPr>
          <p:cNvPr id="40" name="Text 38"/>
          <p:cNvSpPr txBox="1"/>
          <p:nvPr/>
        </p:nvSpPr>
        <p:spPr>
          <a:xfrm>
            <a:off x="8439912" y="5513832"/>
            <a:ext cx="2990088" cy="37490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Algorithms, complexity, verification, cryptography.</a:t>
            </a:r>
            <a:endParaRPr lang="en-US" sz="1050" dirty="0"/>
          </a:p>
        </p:txBody>
      </p:sp>
      <p:sp>
        <p:nvSpPr>
          <p:cNvPr id="41" name="Text 39"/>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The three are not a hierarchy — they answer different questions. Ranking evidence is Shaw's taxonomy (Lecture 1); matching evidence to a claim is your job as an author.</a:t>
            </a:r>
            <a:endParaRPr lang="en-US" sz="1150" dirty="0"/>
          </a:p>
        </p:txBody>
      </p:sp>
      <p:sp>
        <p:nvSpPr>
          <p:cNvPr id="42" name="Text 4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43" name="Text 4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3 / 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WHAT “PROOF” MEANS IN CS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What Each Mode Can — and Cannot — Establish</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Read the third column as the reviewer's opening question, and the fourth as the way papers most often fail it.</a:t>
            </a:r>
            <a:endParaRPr lang="en-US" sz="1250" dirty="0"/>
          </a:p>
        </p:txBody>
      </p:sp>
      <p:sp>
        <p:nvSpPr>
          <p:cNvPr id="5" name="Shape 3"/>
          <p:cNvSpPr/>
          <p:nvPr/>
        </p:nvSpPr>
        <p:spPr>
          <a:xfrm>
            <a:off x="502920" y="1938528"/>
            <a:ext cx="196596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6733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MODE</a:t>
            </a:r>
            <a:endParaRPr lang="en-US" sz="850" dirty="0"/>
          </a:p>
        </p:txBody>
      </p:sp>
      <p:sp>
        <p:nvSpPr>
          <p:cNvPr id="7" name="Shape 5"/>
          <p:cNvSpPr/>
          <p:nvPr/>
        </p:nvSpPr>
        <p:spPr>
          <a:xfrm>
            <a:off x="2468880" y="1938528"/>
            <a:ext cx="3108960" cy="384048"/>
          </a:xfrm>
          <a:prstGeom prst="rect">
            <a:avLst/>
          </a:prstGeom>
          <a:solidFill>
            <a:srgbClr val="241A4C"/>
          </a:solidFill>
          <a:ln w="19050">
            <a:solidFill>
              <a:srgbClr val="FFFFFF"/>
            </a:solidFill>
            <a:prstDash val="solid"/>
          </a:ln>
        </p:spPr>
      </p:sp>
      <p:sp>
        <p:nvSpPr>
          <p:cNvPr id="8" name="Text 6"/>
          <p:cNvSpPr txBox="1"/>
          <p:nvPr/>
        </p:nvSpPr>
        <p:spPr>
          <a:xfrm>
            <a:off x="2615184" y="1938528"/>
            <a:ext cx="28163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ESTABLISHES</a:t>
            </a:r>
            <a:endParaRPr lang="en-US" sz="850" dirty="0"/>
          </a:p>
        </p:txBody>
      </p:sp>
      <p:sp>
        <p:nvSpPr>
          <p:cNvPr id="9" name="Shape 7"/>
          <p:cNvSpPr/>
          <p:nvPr/>
        </p:nvSpPr>
        <p:spPr>
          <a:xfrm>
            <a:off x="5577840" y="1938528"/>
            <a:ext cx="2999232" cy="384048"/>
          </a:xfrm>
          <a:prstGeom prst="rect">
            <a:avLst/>
          </a:prstGeom>
          <a:solidFill>
            <a:srgbClr val="241A4C"/>
          </a:solidFill>
          <a:ln w="19050">
            <a:solidFill>
              <a:srgbClr val="FFFFFF"/>
            </a:solidFill>
            <a:prstDash val="solid"/>
          </a:ln>
        </p:spPr>
      </p:sp>
      <p:sp>
        <p:nvSpPr>
          <p:cNvPr id="10" name="Text 8"/>
          <p:cNvSpPr txBox="1"/>
          <p:nvPr/>
        </p:nvSpPr>
        <p:spPr>
          <a:xfrm>
            <a:off x="5724144" y="1938528"/>
            <a:ext cx="270662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CANNOT ESTABLISH</a:t>
            </a:r>
            <a:endParaRPr lang="en-US" sz="850" dirty="0"/>
          </a:p>
        </p:txBody>
      </p:sp>
      <p:sp>
        <p:nvSpPr>
          <p:cNvPr id="11" name="Shape 9"/>
          <p:cNvSpPr/>
          <p:nvPr/>
        </p:nvSpPr>
        <p:spPr>
          <a:xfrm>
            <a:off x="8577072" y="1938528"/>
            <a:ext cx="3108960" cy="384048"/>
          </a:xfrm>
          <a:prstGeom prst="rect">
            <a:avLst/>
          </a:prstGeom>
          <a:solidFill>
            <a:srgbClr val="241A4C"/>
          </a:solidFill>
          <a:ln w="19050">
            <a:solidFill>
              <a:srgbClr val="FFFFFF"/>
            </a:solidFill>
            <a:prstDash val="solid"/>
          </a:ln>
        </p:spPr>
      </p:sp>
      <p:sp>
        <p:nvSpPr>
          <p:cNvPr id="12" name="Text 10"/>
          <p:cNvSpPr txBox="1"/>
          <p:nvPr/>
        </p:nvSpPr>
        <p:spPr>
          <a:xfrm>
            <a:off x="8723376" y="1938528"/>
            <a:ext cx="28163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CHARACTERISTIC FAILURE</a:t>
            </a:r>
            <a:endParaRPr lang="en-US" sz="850" dirty="0"/>
          </a:p>
        </p:txBody>
      </p:sp>
      <p:sp>
        <p:nvSpPr>
          <p:cNvPr id="13" name="Shape 11"/>
          <p:cNvSpPr/>
          <p:nvPr/>
        </p:nvSpPr>
        <p:spPr>
          <a:xfrm>
            <a:off x="502920" y="2377440"/>
            <a:ext cx="11183112" cy="1078992"/>
          </a:xfrm>
          <a:prstGeom prst="rect">
            <a:avLst/>
          </a:prstGeom>
          <a:solidFill>
            <a:srgbClr val="F3F1FC"/>
          </a:solidFill>
          <a:ln/>
        </p:spPr>
      </p:sp>
      <p:sp>
        <p:nvSpPr>
          <p:cNvPr id="14" name="Shape 12"/>
          <p:cNvSpPr/>
          <p:nvPr/>
        </p:nvSpPr>
        <p:spPr>
          <a:xfrm>
            <a:off x="502920" y="2377440"/>
            <a:ext cx="50292" cy="1078992"/>
          </a:xfrm>
          <a:prstGeom prst="rect">
            <a:avLst/>
          </a:prstGeom>
          <a:solidFill>
            <a:srgbClr val="B4522B"/>
          </a:solidFill>
          <a:ln/>
        </p:spPr>
      </p:sp>
      <p:sp>
        <p:nvSpPr>
          <p:cNvPr id="15" name="Text 13"/>
          <p:cNvSpPr txBox="1"/>
          <p:nvPr/>
        </p:nvSpPr>
        <p:spPr>
          <a:xfrm>
            <a:off x="722376" y="2377440"/>
            <a:ext cx="1581912" cy="10789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Demonstration</a:t>
            </a:r>
            <a:endParaRPr lang="en-US" sz="1200" dirty="0"/>
          </a:p>
        </p:txBody>
      </p:sp>
      <p:sp>
        <p:nvSpPr>
          <p:cNvPr id="16" name="Text 14"/>
          <p:cNvSpPr txBox="1"/>
          <p:nvPr/>
        </p:nvSpPr>
        <p:spPr>
          <a:xfrm>
            <a:off x="2633472" y="2377440"/>
            <a:ext cx="27797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Existence and feasibility. A constructive proof that the design is realizable and its constraints are jointly satisfiable.</a:t>
            </a:r>
            <a:endParaRPr lang="en-US" sz="1050" dirty="0"/>
          </a:p>
        </p:txBody>
      </p:sp>
      <p:sp>
        <p:nvSpPr>
          <p:cNvPr id="17" name="Text 15"/>
          <p:cNvSpPr txBox="1"/>
          <p:nvPr/>
        </p:nvSpPr>
        <p:spPr>
          <a:xfrm>
            <a:off x="5742432" y="2377440"/>
            <a:ext cx="2670048"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Generality, comparative superiority, or any performance guarantee beyond the configuration actually exercised.</a:t>
            </a:r>
            <a:endParaRPr lang="en-US" sz="1050" dirty="0"/>
          </a:p>
        </p:txBody>
      </p:sp>
      <p:sp>
        <p:nvSpPr>
          <p:cNvPr id="18" name="Text 16"/>
          <p:cNvSpPr txBox="1"/>
          <p:nvPr/>
        </p:nvSpPr>
        <p:spPr>
          <a:xfrm>
            <a:off x="8741664" y="2377440"/>
            <a:ext cx="27797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Reporting one working configuration as though it were a universal property of the approach.</a:t>
            </a:r>
            <a:endParaRPr lang="en-US" sz="1050" dirty="0"/>
          </a:p>
        </p:txBody>
      </p:sp>
      <p:sp>
        <p:nvSpPr>
          <p:cNvPr id="19" name="Shape 17"/>
          <p:cNvSpPr/>
          <p:nvPr/>
        </p:nvSpPr>
        <p:spPr>
          <a:xfrm>
            <a:off x="502920" y="3511296"/>
            <a:ext cx="11183112" cy="1078992"/>
          </a:xfrm>
          <a:prstGeom prst="rect">
            <a:avLst/>
          </a:prstGeom>
          <a:solidFill>
            <a:srgbClr val="FFFFFF"/>
          </a:solidFill>
          <a:ln/>
        </p:spPr>
      </p:sp>
      <p:sp>
        <p:nvSpPr>
          <p:cNvPr id="20" name="Shape 18"/>
          <p:cNvSpPr/>
          <p:nvPr/>
        </p:nvSpPr>
        <p:spPr>
          <a:xfrm>
            <a:off x="502920" y="3511296"/>
            <a:ext cx="50292" cy="1078992"/>
          </a:xfrm>
          <a:prstGeom prst="rect">
            <a:avLst/>
          </a:prstGeom>
          <a:solidFill>
            <a:srgbClr val="3D6EA6"/>
          </a:solidFill>
          <a:ln/>
        </p:spPr>
      </p:sp>
      <p:sp>
        <p:nvSpPr>
          <p:cNvPr id="21" name="Text 19"/>
          <p:cNvSpPr txBox="1"/>
          <p:nvPr/>
        </p:nvSpPr>
        <p:spPr>
          <a:xfrm>
            <a:off x="722376" y="3511296"/>
            <a:ext cx="1581912" cy="10789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Empirical</a:t>
            </a:r>
            <a:endParaRPr lang="en-US" sz="1200" dirty="0"/>
          </a:p>
        </p:txBody>
      </p:sp>
      <p:sp>
        <p:nvSpPr>
          <p:cNvPr id="22" name="Text 20"/>
          <p:cNvSpPr txBox="1"/>
          <p:nvPr/>
        </p:nvSpPr>
        <p:spPr>
          <a:xfrm>
            <a:off x="2633472" y="3511296"/>
            <a:ext cx="27797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Behaviour over a sampled population: effect size, comparative performance, variance, and the conditions each holds under.</a:t>
            </a:r>
            <a:endParaRPr lang="en-US" sz="1050" dirty="0"/>
          </a:p>
        </p:txBody>
      </p:sp>
      <p:sp>
        <p:nvSpPr>
          <p:cNvPr id="23" name="Text 21"/>
          <p:cNvSpPr txBox="1"/>
          <p:nvPr/>
        </p:nvSpPr>
        <p:spPr>
          <a:xfrm>
            <a:off x="5742432" y="3511296"/>
            <a:ext cx="2670048"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Necessity, and behaviour outside the sampled distribution of workloads, datasets, hardware, or users.</a:t>
            </a:r>
            <a:endParaRPr lang="en-US" sz="1050" dirty="0"/>
          </a:p>
        </p:txBody>
      </p:sp>
      <p:sp>
        <p:nvSpPr>
          <p:cNvPr id="24" name="Text 22"/>
          <p:cNvSpPr txBox="1"/>
          <p:nvPr/>
        </p:nvSpPr>
        <p:spPr>
          <a:xfrm>
            <a:off x="8741664" y="3511296"/>
            <a:ext cx="27797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Generalising past the benchmark population — or comparing against a baseline nobody tuned.</a:t>
            </a:r>
            <a:endParaRPr lang="en-US" sz="1050" dirty="0"/>
          </a:p>
        </p:txBody>
      </p:sp>
      <p:sp>
        <p:nvSpPr>
          <p:cNvPr id="25" name="Shape 23"/>
          <p:cNvSpPr/>
          <p:nvPr/>
        </p:nvSpPr>
        <p:spPr>
          <a:xfrm>
            <a:off x="502920" y="4645152"/>
            <a:ext cx="11183112" cy="1078992"/>
          </a:xfrm>
          <a:prstGeom prst="rect">
            <a:avLst/>
          </a:prstGeom>
          <a:solidFill>
            <a:srgbClr val="F3F1FC"/>
          </a:solidFill>
          <a:ln/>
        </p:spPr>
      </p:sp>
      <p:sp>
        <p:nvSpPr>
          <p:cNvPr id="26" name="Shape 24"/>
          <p:cNvSpPr/>
          <p:nvPr/>
        </p:nvSpPr>
        <p:spPr>
          <a:xfrm>
            <a:off x="502920" y="4645152"/>
            <a:ext cx="50292" cy="1078992"/>
          </a:xfrm>
          <a:prstGeom prst="rect">
            <a:avLst/>
          </a:prstGeom>
          <a:solidFill>
            <a:srgbClr val="D8A73E"/>
          </a:solidFill>
          <a:ln/>
        </p:spPr>
      </p:sp>
      <p:sp>
        <p:nvSpPr>
          <p:cNvPr id="27" name="Text 25"/>
          <p:cNvSpPr txBox="1"/>
          <p:nvPr/>
        </p:nvSpPr>
        <p:spPr>
          <a:xfrm>
            <a:off x="722376" y="4645152"/>
            <a:ext cx="1581912" cy="10789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Mathematical</a:t>
            </a:r>
            <a:endParaRPr lang="en-US" sz="1200" dirty="0"/>
          </a:p>
        </p:txBody>
      </p:sp>
      <p:sp>
        <p:nvSpPr>
          <p:cNvPr id="28" name="Text 26"/>
          <p:cNvSpPr txBox="1"/>
          <p:nvPr/>
        </p:nvSpPr>
        <p:spPr>
          <a:xfrm>
            <a:off x="2633472" y="4645152"/>
            <a:ext cx="27797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Necessity inside the stated model: worst-case bounds, correctness, security reductions, impossibility results.</a:t>
            </a:r>
            <a:endParaRPr lang="en-US" sz="1050" dirty="0"/>
          </a:p>
        </p:txBody>
      </p:sp>
      <p:sp>
        <p:nvSpPr>
          <p:cNvPr id="29" name="Text 27"/>
          <p:cNvSpPr txBox="1"/>
          <p:nvPr/>
        </p:nvSpPr>
        <p:spPr>
          <a:xfrm>
            <a:off x="5742432" y="4645152"/>
            <a:ext cx="2670048"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That the model matches deployment. Constants, cache behaviour, and specification errors sit outside the proof.</a:t>
            </a:r>
            <a:endParaRPr lang="en-US" sz="1050" dirty="0"/>
          </a:p>
        </p:txBody>
      </p:sp>
      <p:sp>
        <p:nvSpPr>
          <p:cNvPr id="30" name="Text 28"/>
          <p:cNvSpPr txBox="1"/>
          <p:nvPr/>
        </p:nvSpPr>
        <p:spPr>
          <a:xfrm>
            <a:off x="8741664" y="4645152"/>
            <a:ext cx="27797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theorem about a machine model no real system inhabits, with the load-bearing premise stated once and never revisited.</a:t>
            </a:r>
            <a:endParaRPr lang="en-US" sz="1050" dirty="0"/>
          </a:p>
        </p:txBody>
      </p:sp>
      <p:sp>
        <p:nvSpPr>
          <p:cNvPr id="31" name="Text 29"/>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Every claim carries a quantifier — “there exists,” “on average under C,” “for all.” The quantifier tells you which row you are in.</a:t>
            </a:r>
            <a:endParaRPr lang="en-US" sz="1150" dirty="0"/>
          </a:p>
        </p:txBody>
      </p:sp>
      <p:sp>
        <p:nvSpPr>
          <p:cNvPr id="32" name="Text 3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3" name="Text 3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4 / 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Text 1"/>
          <p:cNvSpPr txBox="1"/>
          <p:nvPr/>
        </p:nvSpPr>
        <p:spPr>
          <a:xfrm>
            <a:off x="804672" y="1920240"/>
            <a:ext cx="7315200" cy="256032"/>
          </a:xfrm>
          <a:prstGeom prst="rect">
            <a:avLst/>
          </a:prstGeom>
          <a:noFill/>
          <a:ln/>
        </p:spPr>
        <p:txBody>
          <a:bodyPr wrap="square" lIns="0" tIns="0" rIns="0" bIns="0" rtlCol="0" anchor="ctr"/>
          <a:lstStyle/>
          <a:p>
            <a:pPr indent="0" marL="0">
              <a:buNone/>
            </a:pPr>
            <a:r>
              <a:rPr lang="en-US" sz="1100" b="1" spc="200" kern="0" dirty="0">
                <a:solidFill>
                  <a:srgbClr val="D8A73E"/>
                </a:solidFill>
                <a:latin typeface="Calibri" pitchFamily="34" charset="0"/>
                <a:ea typeface="Calibri" pitchFamily="34" charset="-122"/>
                <a:cs typeface="Calibri" pitchFamily="34" charset="-120"/>
              </a:rPr>
              <a:t>PART 1  →  PART 2</a:t>
            </a:r>
            <a:endParaRPr lang="en-US" sz="1100" dirty="0"/>
          </a:p>
        </p:txBody>
      </p:sp>
      <p:sp>
        <p:nvSpPr>
          <p:cNvPr id="4" name="Text 2"/>
          <p:cNvSpPr txBox="1"/>
          <p:nvPr/>
        </p:nvSpPr>
        <p:spPr>
          <a:xfrm>
            <a:off x="768096" y="2395728"/>
            <a:ext cx="9509760" cy="128016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From a taxonomy of proof</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to the first instrument: building it</a:t>
            </a:r>
            <a:endParaRPr lang="en-US" sz="3200" dirty="0"/>
          </a:p>
        </p:txBody>
      </p:sp>
      <p:sp>
        <p:nvSpPr>
          <p:cNvPr id="5" name="Text 3"/>
          <p:cNvSpPr txBox="1"/>
          <p:nvPr/>
        </p:nvSpPr>
        <p:spPr>
          <a:xfrm>
            <a:off x="804672" y="3877056"/>
            <a:ext cx="8412480" cy="658368"/>
          </a:xfrm>
          <a:prstGeom prst="rect">
            <a:avLst/>
          </a:prstGeom>
          <a:noFill/>
          <a:ln/>
        </p:spPr>
        <p:txBody>
          <a:bodyPr wrap="square" lIns="0" tIns="0" rIns="0" bIns="0" rtlCol="0" anchor="t"/>
          <a:lstStyle/>
          <a:p>
            <a:pPr indent="0" marL="0">
              <a:lnSpc>
                <a:spcPct val="125000"/>
              </a:lnSpc>
              <a:buNone/>
            </a:pPr>
            <a:r>
              <a:rPr lang="en-US" sz="1400" i="1" dirty="0">
                <a:solidFill>
                  <a:srgbClr val="E4DFFA"/>
                </a:solidFill>
                <a:latin typeface="Cambria" pitchFamily="34" charset="0"/>
                <a:ea typeface="Cambria" pitchFamily="34" charset="-122"/>
                <a:cs typeface="Cambria" pitchFamily="34" charset="-120"/>
              </a:rPr>
              <a:t>If a claim can be settled by exhibiting a working thing, what exactly has been settled — and what has quietly not been?</a:t>
            </a:r>
            <a:endParaRPr lang="en-US" sz="1400" dirty="0"/>
          </a:p>
        </p:txBody>
      </p:sp>
      <p:sp>
        <p:nvSpPr>
          <p:cNvPr id="6" name="Text 4"/>
          <p:cNvSpPr txBox="1"/>
          <p:nvPr/>
        </p:nvSpPr>
        <p:spPr>
          <a:xfrm>
            <a:off x="804672" y="4828032"/>
            <a:ext cx="8412480" cy="274320"/>
          </a:xfrm>
          <a:prstGeom prst="rect">
            <a:avLst/>
          </a:prstGeom>
          <a:noFill/>
          <a:ln/>
        </p:spPr>
        <p:txBody>
          <a:bodyPr wrap="square" lIns="0" tIns="0" rIns="0" bIns="0" rtlCol="0" anchor="ctr"/>
          <a:lstStyle/>
          <a:p>
            <a:pPr indent="0" marL="0">
              <a:buNone/>
            </a:pPr>
            <a:r>
              <a:rPr lang="en-US" sz="1100" dirty="0">
                <a:solidFill>
                  <a:srgbClr val="D8A73E"/>
                </a:solidFill>
                <a:latin typeface="Calibri" pitchFamily="34" charset="0"/>
                <a:ea typeface="Calibri" pitchFamily="34" charset="-122"/>
                <a:cs typeface="Calibri" pitchFamily="34" charset="-120"/>
              </a:rPr>
              <a:t>Next: proof by demonstration — the constructive existence proof of engineering.</a:t>
            </a:r>
            <a:endParaRPr lang="en-US" sz="1100" dirty="0"/>
          </a:p>
        </p:txBody>
      </p:sp>
      <p:sp>
        <p:nvSpPr>
          <p:cNvPr id="7" name="Text 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6E688F"/>
                </a:solidFill>
                <a:latin typeface="Calibri" pitchFamily="34" charset="0"/>
                <a:ea typeface="Calibri" pitchFamily="34" charset="-122"/>
                <a:cs typeface="Calibri" pitchFamily="34" charset="-120"/>
              </a:rPr>
              <a:t>PROOF METHODS IN CS</a:t>
            </a:r>
            <a:endParaRPr lang="en-US" sz="800" dirty="0"/>
          </a:p>
        </p:txBody>
      </p:sp>
      <p:sp>
        <p:nvSpPr>
          <p:cNvPr id="8" name="Text 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6E688F"/>
                </a:solidFill>
                <a:latin typeface="Calibri" pitchFamily="34" charset="0"/>
                <a:ea typeface="Calibri" pitchFamily="34" charset="-122"/>
                <a:cs typeface="Calibri" pitchFamily="34" charset="-120"/>
              </a:rPr>
              <a:t>5 / 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PROOF BY DEMONSTRATION</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Proof by Demonstration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Establishing a claim by constructing an artifact and exercising it under conditions that make the claimed behaviour directly observable.</a:t>
            </a:r>
            <a:endParaRPr lang="en-US" sz="1250" dirty="0"/>
          </a:p>
        </p:txBody>
      </p:sp>
      <p:sp>
        <p:nvSpPr>
          <p:cNvPr id="5" name="Shape 3"/>
          <p:cNvSpPr/>
          <p:nvPr/>
        </p:nvSpPr>
        <p:spPr>
          <a:xfrm>
            <a:off x="502920" y="1938528"/>
            <a:ext cx="2039112" cy="1883664"/>
          </a:xfrm>
          <a:prstGeom prst="roundRect">
            <a:avLst>
              <a:gd name="adj" fmla="val 2913"/>
            </a:avLst>
          </a:prstGeom>
          <a:solidFill>
            <a:srgbClr val="F3F1FC"/>
          </a:solidFill>
          <a:ln/>
        </p:spPr>
      </p:sp>
      <p:sp>
        <p:nvSpPr>
          <p:cNvPr id="6" name="Text 4"/>
          <p:cNvSpPr txBox="1"/>
          <p:nvPr/>
        </p:nvSpPr>
        <p:spPr>
          <a:xfrm>
            <a:off x="685800" y="2157984"/>
            <a:ext cx="1673352" cy="219456"/>
          </a:xfrm>
          <a:prstGeom prst="rect">
            <a:avLst/>
          </a:prstGeom>
          <a:noFill/>
          <a:ln/>
        </p:spPr>
        <p:txBody>
          <a:bodyPr wrap="square" lIns="0" tIns="0" rIns="0" bIns="0" rtlCol="0" anchor="ctr"/>
          <a:lstStyle/>
          <a:p>
            <a:pPr indent="0" marL="0">
              <a:buNone/>
            </a:pPr>
            <a:r>
              <a:rPr lang="en-US" sz="900" b="1" spc="130" kern="0" dirty="0">
                <a:solidFill>
                  <a:srgbClr val="B4522B"/>
                </a:solidFill>
                <a:latin typeface="Calibri" pitchFamily="34" charset="0"/>
                <a:ea typeface="Calibri" pitchFamily="34" charset="-122"/>
                <a:cs typeface="Calibri" pitchFamily="34" charset="-120"/>
              </a:rPr>
              <a:t>CLAIM</a:t>
            </a:r>
            <a:endParaRPr lang="en-US" sz="900" dirty="0"/>
          </a:p>
        </p:txBody>
      </p:sp>
      <p:sp>
        <p:nvSpPr>
          <p:cNvPr id="7" name="Text 5"/>
          <p:cNvSpPr txBox="1"/>
          <p:nvPr/>
        </p:nvSpPr>
        <p:spPr>
          <a:xfrm>
            <a:off x="685800" y="2487168"/>
            <a:ext cx="1673352" cy="1152144"/>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An existential assertion: this can be built, and it will do P.</a:t>
            </a:r>
            <a:endParaRPr lang="en-US" sz="1050" dirty="0"/>
          </a:p>
        </p:txBody>
      </p:sp>
      <p:sp>
        <p:nvSpPr>
          <p:cNvPr id="8" name="Text 6"/>
          <p:cNvSpPr txBox="1"/>
          <p:nvPr/>
        </p:nvSpPr>
        <p:spPr>
          <a:xfrm>
            <a:off x="2542032" y="2688336"/>
            <a:ext cx="246888"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788920" y="1938528"/>
            <a:ext cx="2039112" cy="1883664"/>
          </a:xfrm>
          <a:prstGeom prst="roundRect">
            <a:avLst>
              <a:gd name="adj" fmla="val 2913"/>
            </a:avLst>
          </a:prstGeom>
          <a:solidFill>
            <a:srgbClr val="F3F1FC"/>
          </a:solidFill>
          <a:ln/>
        </p:spPr>
      </p:sp>
      <p:sp>
        <p:nvSpPr>
          <p:cNvPr id="10" name="Text 8"/>
          <p:cNvSpPr txBox="1"/>
          <p:nvPr/>
        </p:nvSpPr>
        <p:spPr>
          <a:xfrm>
            <a:off x="2971800" y="2157984"/>
            <a:ext cx="1673352" cy="219456"/>
          </a:xfrm>
          <a:prstGeom prst="rect">
            <a:avLst/>
          </a:prstGeom>
          <a:noFill/>
          <a:ln/>
        </p:spPr>
        <p:txBody>
          <a:bodyPr wrap="square" lIns="0" tIns="0" rIns="0" bIns="0" rtlCol="0" anchor="ctr"/>
          <a:lstStyle/>
          <a:p>
            <a:pPr indent="0" marL="0">
              <a:buNone/>
            </a:pPr>
            <a:r>
              <a:rPr lang="en-US" sz="900" b="1" spc="130" kern="0" dirty="0">
                <a:solidFill>
                  <a:srgbClr val="B4522B"/>
                </a:solidFill>
                <a:latin typeface="Calibri" pitchFamily="34" charset="0"/>
                <a:ea typeface="Calibri" pitchFamily="34" charset="-122"/>
                <a:cs typeface="Calibri" pitchFamily="34" charset="-120"/>
              </a:rPr>
              <a:t>ARTIFACT</a:t>
            </a:r>
            <a:endParaRPr lang="en-US" sz="900" dirty="0"/>
          </a:p>
        </p:txBody>
      </p:sp>
      <p:sp>
        <p:nvSpPr>
          <p:cNvPr id="11" name="Text 9"/>
          <p:cNvSpPr txBox="1"/>
          <p:nvPr/>
        </p:nvSpPr>
        <p:spPr>
          <a:xfrm>
            <a:off x="2971800" y="2487168"/>
            <a:ext cx="1673352" cy="1152144"/>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prototype, system, tool, language, or attack — actually implemented.</a:t>
            </a:r>
            <a:endParaRPr lang="en-US" sz="1050" dirty="0"/>
          </a:p>
        </p:txBody>
      </p:sp>
      <p:sp>
        <p:nvSpPr>
          <p:cNvPr id="12" name="Text 10"/>
          <p:cNvSpPr txBox="1"/>
          <p:nvPr/>
        </p:nvSpPr>
        <p:spPr>
          <a:xfrm>
            <a:off x="4828032" y="2688336"/>
            <a:ext cx="246888"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5074920" y="1938528"/>
            <a:ext cx="2039112" cy="1883664"/>
          </a:xfrm>
          <a:prstGeom prst="roundRect">
            <a:avLst>
              <a:gd name="adj" fmla="val 2913"/>
            </a:avLst>
          </a:prstGeom>
          <a:solidFill>
            <a:srgbClr val="F3F1FC"/>
          </a:solidFill>
          <a:ln/>
        </p:spPr>
      </p:sp>
      <p:sp>
        <p:nvSpPr>
          <p:cNvPr id="14" name="Text 12"/>
          <p:cNvSpPr txBox="1"/>
          <p:nvPr/>
        </p:nvSpPr>
        <p:spPr>
          <a:xfrm>
            <a:off x="5257800" y="2157984"/>
            <a:ext cx="1673352" cy="219456"/>
          </a:xfrm>
          <a:prstGeom prst="rect">
            <a:avLst/>
          </a:prstGeom>
          <a:noFill/>
          <a:ln/>
        </p:spPr>
        <p:txBody>
          <a:bodyPr wrap="square" lIns="0" tIns="0" rIns="0" bIns="0" rtlCol="0" anchor="ctr"/>
          <a:lstStyle/>
          <a:p>
            <a:pPr indent="0" marL="0">
              <a:buNone/>
            </a:pPr>
            <a:r>
              <a:rPr lang="en-US" sz="900" b="1" spc="130" kern="0" dirty="0">
                <a:solidFill>
                  <a:srgbClr val="B4522B"/>
                </a:solidFill>
                <a:latin typeface="Calibri" pitchFamily="34" charset="0"/>
                <a:ea typeface="Calibri" pitchFamily="34" charset="-122"/>
                <a:cs typeface="Calibri" pitchFamily="34" charset="-120"/>
              </a:rPr>
              <a:t>EXERCISE</a:t>
            </a:r>
            <a:endParaRPr lang="en-US" sz="900" dirty="0"/>
          </a:p>
        </p:txBody>
      </p:sp>
      <p:sp>
        <p:nvSpPr>
          <p:cNvPr id="15" name="Text 13"/>
          <p:cNvSpPr txBox="1"/>
          <p:nvPr/>
        </p:nvSpPr>
        <p:spPr>
          <a:xfrm>
            <a:off x="5257800" y="2487168"/>
            <a:ext cx="1673352" cy="1152144"/>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Run it on the case that made the claim doubtful, not the easy case.</a:t>
            </a:r>
            <a:endParaRPr lang="en-US" sz="1050" dirty="0"/>
          </a:p>
        </p:txBody>
      </p:sp>
      <p:sp>
        <p:nvSpPr>
          <p:cNvPr id="16" name="Text 14"/>
          <p:cNvSpPr txBox="1"/>
          <p:nvPr/>
        </p:nvSpPr>
        <p:spPr>
          <a:xfrm>
            <a:off x="7114032" y="2688336"/>
            <a:ext cx="246888"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7360920" y="1938528"/>
            <a:ext cx="2039112" cy="1883664"/>
          </a:xfrm>
          <a:prstGeom prst="roundRect">
            <a:avLst>
              <a:gd name="adj" fmla="val 2913"/>
            </a:avLst>
          </a:prstGeom>
          <a:solidFill>
            <a:srgbClr val="F3F1FC"/>
          </a:solidFill>
          <a:ln/>
        </p:spPr>
      </p:sp>
      <p:sp>
        <p:nvSpPr>
          <p:cNvPr id="18" name="Text 16"/>
          <p:cNvSpPr txBox="1"/>
          <p:nvPr/>
        </p:nvSpPr>
        <p:spPr>
          <a:xfrm>
            <a:off x="7543800" y="2157984"/>
            <a:ext cx="1673352" cy="219456"/>
          </a:xfrm>
          <a:prstGeom prst="rect">
            <a:avLst/>
          </a:prstGeom>
          <a:noFill/>
          <a:ln/>
        </p:spPr>
        <p:txBody>
          <a:bodyPr wrap="square" lIns="0" tIns="0" rIns="0" bIns="0" rtlCol="0" anchor="ctr"/>
          <a:lstStyle/>
          <a:p>
            <a:pPr indent="0" marL="0">
              <a:buNone/>
            </a:pPr>
            <a:r>
              <a:rPr lang="en-US" sz="900" b="1" spc="130" kern="0" dirty="0">
                <a:solidFill>
                  <a:srgbClr val="B4522B"/>
                </a:solidFill>
                <a:latin typeface="Calibri" pitchFamily="34" charset="0"/>
                <a:ea typeface="Calibri" pitchFamily="34" charset="-122"/>
                <a:cs typeface="Calibri" pitchFamily="34" charset="-120"/>
              </a:rPr>
              <a:t>WITNESS</a:t>
            </a:r>
            <a:endParaRPr lang="en-US" sz="900" dirty="0"/>
          </a:p>
        </p:txBody>
      </p:sp>
      <p:sp>
        <p:nvSpPr>
          <p:cNvPr id="19" name="Text 17"/>
          <p:cNvSpPr txBox="1"/>
          <p:nvPr/>
        </p:nvSpPr>
        <p:spPr>
          <a:xfrm>
            <a:off x="7543800" y="2487168"/>
            <a:ext cx="1673352" cy="1152144"/>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Observed behaviour that P holds of this artifact, in this configuration.</a:t>
            </a:r>
            <a:endParaRPr lang="en-US" sz="1050" dirty="0"/>
          </a:p>
        </p:txBody>
      </p:sp>
      <p:sp>
        <p:nvSpPr>
          <p:cNvPr id="20" name="Text 18"/>
          <p:cNvSpPr txBox="1"/>
          <p:nvPr/>
        </p:nvSpPr>
        <p:spPr>
          <a:xfrm>
            <a:off x="9400032" y="2688336"/>
            <a:ext cx="246888"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9646920" y="1938528"/>
            <a:ext cx="2039112" cy="1883664"/>
          </a:xfrm>
          <a:prstGeom prst="roundRect">
            <a:avLst>
              <a:gd name="adj" fmla="val 2913"/>
            </a:avLst>
          </a:prstGeom>
          <a:solidFill>
            <a:srgbClr val="F6EFE4"/>
          </a:solidFill>
          <a:ln/>
        </p:spPr>
      </p:sp>
      <p:sp>
        <p:nvSpPr>
          <p:cNvPr id="22" name="Text 20"/>
          <p:cNvSpPr txBox="1"/>
          <p:nvPr/>
        </p:nvSpPr>
        <p:spPr>
          <a:xfrm>
            <a:off x="9829800" y="2157984"/>
            <a:ext cx="1673352" cy="219456"/>
          </a:xfrm>
          <a:prstGeom prst="rect">
            <a:avLst/>
          </a:prstGeom>
          <a:noFill/>
          <a:ln/>
        </p:spPr>
        <p:txBody>
          <a:bodyPr wrap="square" lIns="0" tIns="0" rIns="0" bIns="0" rtlCol="0" anchor="ctr"/>
          <a:lstStyle/>
          <a:p>
            <a:pPr indent="0" marL="0">
              <a:buNone/>
            </a:pPr>
            <a:r>
              <a:rPr lang="en-US" sz="900" b="1" spc="130" kern="0" dirty="0">
                <a:solidFill>
                  <a:srgbClr val="B08C3A"/>
                </a:solidFill>
                <a:latin typeface="Calibri" pitchFamily="34" charset="0"/>
                <a:ea typeface="Calibri" pitchFamily="34" charset="-122"/>
                <a:cs typeface="Calibri" pitchFamily="34" charset="-120"/>
              </a:rPr>
              <a:t>CONCLUSION</a:t>
            </a:r>
            <a:endParaRPr lang="en-US" sz="900" dirty="0"/>
          </a:p>
        </p:txBody>
      </p:sp>
      <p:sp>
        <p:nvSpPr>
          <p:cNvPr id="23" name="Text 21"/>
          <p:cNvSpPr txBox="1"/>
          <p:nvPr/>
        </p:nvSpPr>
        <p:spPr>
          <a:xfrm>
            <a:off x="9829800" y="2487168"/>
            <a:ext cx="1673352" cy="1152144"/>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 S : P(S). Feasibility settled; generality untouched.</a:t>
            </a:r>
            <a:endParaRPr lang="en-US" sz="1050" dirty="0"/>
          </a:p>
        </p:txBody>
      </p:sp>
      <p:sp>
        <p:nvSpPr>
          <p:cNvPr id="24" name="Text 22"/>
          <p:cNvSpPr txBox="1"/>
          <p:nvPr/>
        </p:nvSpPr>
        <p:spPr>
          <a:xfrm>
            <a:off x="502920" y="4334256"/>
            <a:ext cx="3502152" cy="475488"/>
          </a:xfrm>
          <a:prstGeom prst="rect">
            <a:avLst/>
          </a:prstGeom>
          <a:noFill/>
          <a:ln/>
        </p:spPr>
        <p:txBody>
          <a:bodyPr wrap="square" lIns="0" tIns="0" rIns="0" bIns="0" rtlCol="0" anchor="t"/>
          <a:lstStyle/>
          <a:p>
            <a:pPr indent="0" marL="0">
              <a:lnSpc>
                <a:spcPct val="110000"/>
              </a:lnSpc>
              <a:buNone/>
            </a:pPr>
            <a:r>
              <a:rPr lang="en-US" sz="1350" b="1" dirty="0">
                <a:solidFill>
                  <a:srgbClr val="241A4C"/>
                </a:solidFill>
                <a:latin typeface="Cambria" pitchFamily="34" charset="0"/>
                <a:ea typeface="Cambria" pitchFamily="34" charset="-122"/>
                <a:cs typeface="Cambria" pitchFamily="34" charset="-120"/>
              </a:rPr>
              <a:t>The engineer's existence proof</a:t>
            </a:r>
            <a:endParaRPr lang="en-US" sz="1350" dirty="0"/>
          </a:p>
        </p:txBody>
      </p:sp>
      <p:sp>
        <p:nvSpPr>
          <p:cNvPr id="25" name="Text 23"/>
          <p:cNvSpPr txBox="1"/>
          <p:nvPr/>
        </p:nvSpPr>
        <p:spPr>
          <a:xfrm>
            <a:off x="502920" y="4901184"/>
            <a:ext cx="3502152" cy="1243584"/>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Where a mathematician writes “such an object exists,” a systems researcher builds one and switches it on. Both are constructive arguments; only the medium differs.</a:t>
            </a:r>
            <a:endParaRPr lang="en-US" sz="1100" dirty="0"/>
          </a:p>
        </p:txBody>
      </p:sp>
      <p:sp>
        <p:nvSpPr>
          <p:cNvPr id="26" name="Text 24"/>
          <p:cNvSpPr txBox="1"/>
          <p:nvPr/>
        </p:nvSpPr>
        <p:spPr>
          <a:xfrm>
            <a:off x="4343400" y="4334256"/>
            <a:ext cx="3502152" cy="475488"/>
          </a:xfrm>
          <a:prstGeom prst="rect">
            <a:avLst/>
          </a:prstGeom>
          <a:noFill/>
          <a:ln/>
        </p:spPr>
        <p:txBody>
          <a:bodyPr wrap="square" lIns="0" tIns="0" rIns="0" bIns="0" rtlCol="0" anchor="t"/>
          <a:lstStyle/>
          <a:p>
            <a:pPr indent="0" marL="0">
              <a:lnSpc>
                <a:spcPct val="110000"/>
              </a:lnSpc>
              <a:buNone/>
            </a:pPr>
            <a:r>
              <a:rPr lang="en-US" sz="1350" b="1" dirty="0">
                <a:solidFill>
                  <a:srgbClr val="241A4C"/>
                </a:solidFill>
                <a:latin typeface="Cambria" pitchFamily="34" charset="0"/>
                <a:ea typeface="Cambria" pitchFamily="34" charset="-122"/>
                <a:cs typeface="Cambria" pitchFamily="34" charset="-120"/>
              </a:rPr>
              <a:t>Strongest for “can”, weakest for “is”</a:t>
            </a:r>
            <a:endParaRPr lang="en-US" sz="1350" dirty="0"/>
          </a:p>
        </p:txBody>
      </p:sp>
      <p:sp>
        <p:nvSpPr>
          <p:cNvPr id="27" name="Text 25"/>
          <p:cNvSpPr txBox="1"/>
          <p:nvPr/>
        </p:nvSpPr>
        <p:spPr>
          <a:xfrm>
            <a:off x="4343400" y="4901184"/>
            <a:ext cx="3502152" cy="1243584"/>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A demonstration is the most direct answer to “is this possible?” and the least informative answer to “is this generally true?”</a:t>
            </a:r>
            <a:endParaRPr lang="en-US" sz="1100" dirty="0"/>
          </a:p>
        </p:txBody>
      </p:sp>
      <p:sp>
        <p:nvSpPr>
          <p:cNvPr id="28" name="Text 26"/>
          <p:cNvSpPr txBox="1"/>
          <p:nvPr/>
        </p:nvSpPr>
        <p:spPr>
          <a:xfrm>
            <a:off x="8183880" y="4334256"/>
            <a:ext cx="3502152" cy="475488"/>
          </a:xfrm>
          <a:prstGeom prst="rect">
            <a:avLst/>
          </a:prstGeom>
          <a:noFill/>
          <a:ln/>
        </p:spPr>
        <p:txBody>
          <a:bodyPr wrap="square" lIns="0" tIns="0" rIns="0" bIns="0" rtlCol="0" anchor="t"/>
          <a:lstStyle/>
          <a:p>
            <a:pPr indent="0" marL="0">
              <a:lnSpc>
                <a:spcPct val="110000"/>
              </a:lnSpc>
              <a:buNone/>
            </a:pPr>
            <a:r>
              <a:rPr lang="en-US" sz="1350" b="1" dirty="0">
                <a:solidFill>
                  <a:srgbClr val="241A4C"/>
                </a:solidFill>
                <a:latin typeface="Cambria" pitchFamily="34" charset="0"/>
                <a:ea typeface="Cambria" pitchFamily="34" charset="-122"/>
                <a:cs typeface="Cambria" pitchFamily="34" charset="-120"/>
              </a:rPr>
              <a:t>Why whole fields rely on it</a:t>
            </a:r>
            <a:endParaRPr lang="en-US" sz="1350" dirty="0"/>
          </a:p>
        </p:txBody>
      </p:sp>
      <p:sp>
        <p:nvSpPr>
          <p:cNvPr id="29" name="Text 27"/>
          <p:cNvSpPr txBox="1"/>
          <p:nvPr/>
        </p:nvSpPr>
        <p:spPr>
          <a:xfrm>
            <a:off x="8183880" y="4901184"/>
            <a:ext cx="3502152" cy="1243584"/>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In systems, HCI, PL and security, what is theoretically possible and what is practically achievable diverge sharply. The artifact is the only witness that closes that gap.</a:t>
            </a:r>
            <a:endParaRPr lang="en-US" sz="110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6 / 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PROOF BY DEMONSTRATION</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What a Demonstration Proves — and What It Doesn't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The same artifact, read as evidence for two different claims, is decisive for one and silent on the other.</a:t>
            </a:r>
            <a:endParaRPr lang="en-US" sz="1250" dirty="0"/>
          </a:p>
        </p:txBody>
      </p:sp>
      <p:sp>
        <p:nvSpPr>
          <p:cNvPr id="5" name="Shape 3"/>
          <p:cNvSpPr/>
          <p:nvPr/>
        </p:nvSpPr>
        <p:spPr>
          <a:xfrm>
            <a:off x="502920" y="1938528"/>
            <a:ext cx="5477256" cy="3621024"/>
          </a:xfrm>
          <a:prstGeom prst="roundRect">
            <a:avLst>
              <a:gd name="adj" fmla="val 1263"/>
            </a:avLst>
          </a:prstGeom>
          <a:solidFill>
            <a:srgbClr val="EEF3F9"/>
          </a:solidFill>
          <a:ln/>
        </p:spPr>
      </p:sp>
      <p:sp>
        <p:nvSpPr>
          <p:cNvPr id="6" name="Text 4"/>
          <p:cNvSpPr txBox="1"/>
          <p:nvPr/>
        </p:nvSpPr>
        <p:spPr>
          <a:xfrm>
            <a:off x="795528" y="2176272"/>
            <a:ext cx="4892040" cy="256032"/>
          </a:xfrm>
          <a:prstGeom prst="rect">
            <a:avLst/>
          </a:prstGeom>
          <a:noFill/>
          <a:ln/>
        </p:spPr>
        <p:txBody>
          <a:bodyPr wrap="square" lIns="0" tIns="0" rIns="0" bIns="0" rtlCol="0" anchor="ctr"/>
          <a:lstStyle/>
          <a:p>
            <a:pPr indent="0" marL="0">
              <a:buNone/>
            </a:pPr>
            <a:r>
              <a:rPr lang="en-US" sz="1000" b="1" spc="150" kern="0" dirty="0">
                <a:solidFill>
                  <a:srgbClr val="3D6EA6"/>
                </a:solidFill>
                <a:latin typeface="Calibri" pitchFamily="34" charset="0"/>
                <a:ea typeface="Calibri" pitchFamily="34" charset="-122"/>
                <a:cs typeface="Calibri" pitchFamily="34" charset="-120"/>
              </a:rPr>
              <a:t>IT DOES PROVE</a:t>
            </a:r>
            <a:endParaRPr lang="en-US" sz="1000" dirty="0"/>
          </a:p>
        </p:txBody>
      </p:sp>
      <p:sp>
        <p:nvSpPr>
          <p:cNvPr id="7" name="Shape 5"/>
          <p:cNvSpPr/>
          <p:nvPr/>
        </p:nvSpPr>
        <p:spPr>
          <a:xfrm>
            <a:off x="813816" y="2724912"/>
            <a:ext cx="91440" cy="91440"/>
          </a:xfrm>
          <a:prstGeom prst="ellipse">
            <a:avLst/>
          </a:prstGeom>
          <a:solidFill>
            <a:srgbClr val="3D6EA6"/>
          </a:solidFill>
          <a:ln/>
        </p:spPr>
      </p:sp>
      <p:sp>
        <p:nvSpPr>
          <p:cNvPr id="8" name="Text 6"/>
          <p:cNvSpPr txBox="1"/>
          <p:nvPr/>
        </p:nvSpPr>
        <p:spPr>
          <a:xfrm>
            <a:off x="1069848" y="259689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Realizability — the design is not merely a diagram; the constraints can be met simultaneously.</a:t>
            </a:r>
            <a:endParaRPr lang="en-US" sz="1100" dirty="0"/>
          </a:p>
        </p:txBody>
      </p:sp>
      <p:sp>
        <p:nvSpPr>
          <p:cNvPr id="9" name="Shape 7"/>
          <p:cNvSpPr/>
          <p:nvPr/>
        </p:nvSpPr>
        <p:spPr>
          <a:xfrm>
            <a:off x="813816" y="3456432"/>
            <a:ext cx="91440" cy="91440"/>
          </a:xfrm>
          <a:prstGeom prst="ellipse">
            <a:avLst/>
          </a:prstGeom>
          <a:solidFill>
            <a:srgbClr val="3D6EA6"/>
          </a:solidFill>
          <a:ln/>
        </p:spPr>
      </p:sp>
      <p:sp>
        <p:nvSpPr>
          <p:cNvPr id="10" name="Text 8"/>
          <p:cNvSpPr txBox="1"/>
          <p:nvPr/>
        </p:nvSpPr>
        <p:spPr>
          <a:xfrm>
            <a:off x="1069848" y="332841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That an assumed barrier is not fundamental — “this was thought impractical” is refuted by a running counter-instance.</a:t>
            </a:r>
            <a:endParaRPr lang="en-US" sz="1100" dirty="0"/>
          </a:p>
        </p:txBody>
      </p:sp>
      <p:sp>
        <p:nvSpPr>
          <p:cNvPr id="11" name="Shape 9"/>
          <p:cNvSpPr/>
          <p:nvPr/>
        </p:nvSpPr>
        <p:spPr>
          <a:xfrm>
            <a:off x="813816" y="4187952"/>
            <a:ext cx="91440" cy="91440"/>
          </a:xfrm>
          <a:prstGeom prst="ellipse">
            <a:avLst/>
          </a:prstGeom>
          <a:solidFill>
            <a:srgbClr val="3D6EA6"/>
          </a:solidFill>
          <a:ln/>
        </p:spPr>
      </p:sp>
      <p:sp>
        <p:nvSpPr>
          <p:cNvPr id="12" name="Text 10"/>
          <p:cNvSpPr txBox="1"/>
          <p:nvPr/>
        </p:nvSpPr>
        <p:spPr>
          <a:xfrm>
            <a:off x="1069848" y="405993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An upper bound on difficulty — the problem is at most as hard as the effort this artifact took.</a:t>
            </a:r>
            <a:endParaRPr lang="en-US" sz="1100" dirty="0"/>
          </a:p>
        </p:txBody>
      </p:sp>
      <p:sp>
        <p:nvSpPr>
          <p:cNvPr id="13" name="Shape 11"/>
          <p:cNvSpPr/>
          <p:nvPr/>
        </p:nvSpPr>
        <p:spPr>
          <a:xfrm>
            <a:off x="813816" y="4919472"/>
            <a:ext cx="91440" cy="91440"/>
          </a:xfrm>
          <a:prstGeom prst="ellipse">
            <a:avLst/>
          </a:prstGeom>
          <a:solidFill>
            <a:srgbClr val="3D6EA6"/>
          </a:solidFill>
          <a:ln/>
        </p:spPr>
      </p:sp>
      <p:sp>
        <p:nvSpPr>
          <p:cNvPr id="14" name="Text 12"/>
          <p:cNvSpPr txBox="1"/>
          <p:nvPr/>
        </p:nvSpPr>
        <p:spPr>
          <a:xfrm>
            <a:off x="1069848" y="479145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Existence of a design point — a concrete location in the design space that others can now measure against.</a:t>
            </a:r>
            <a:endParaRPr lang="en-US" sz="1100" dirty="0"/>
          </a:p>
        </p:txBody>
      </p:sp>
      <p:sp>
        <p:nvSpPr>
          <p:cNvPr id="15" name="Shape 13"/>
          <p:cNvSpPr/>
          <p:nvPr/>
        </p:nvSpPr>
        <p:spPr>
          <a:xfrm>
            <a:off x="6208776" y="1938528"/>
            <a:ext cx="5477256" cy="3621024"/>
          </a:xfrm>
          <a:prstGeom prst="roundRect">
            <a:avLst>
              <a:gd name="adj" fmla="val 1263"/>
            </a:avLst>
          </a:prstGeom>
          <a:solidFill>
            <a:srgbClr val="F8EEEA"/>
          </a:solidFill>
          <a:ln/>
        </p:spPr>
      </p:sp>
      <p:sp>
        <p:nvSpPr>
          <p:cNvPr id="16" name="Text 14"/>
          <p:cNvSpPr txBox="1"/>
          <p:nvPr/>
        </p:nvSpPr>
        <p:spPr>
          <a:xfrm>
            <a:off x="6501384" y="2176272"/>
            <a:ext cx="4892040" cy="256032"/>
          </a:xfrm>
          <a:prstGeom prst="rect">
            <a:avLst/>
          </a:prstGeom>
          <a:noFill/>
          <a:ln/>
        </p:spPr>
        <p:txBody>
          <a:bodyPr wrap="square" lIns="0" tIns="0" rIns="0" bIns="0" rtlCol="0" anchor="ctr"/>
          <a:lstStyle/>
          <a:p>
            <a:pPr indent="0" marL="0">
              <a:buNone/>
            </a:pPr>
            <a:r>
              <a:rPr lang="en-US" sz="1000" b="1" spc="150" kern="0" dirty="0">
                <a:solidFill>
                  <a:srgbClr val="B4522B"/>
                </a:solidFill>
                <a:latin typeface="Calibri" pitchFamily="34" charset="0"/>
                <a:ea typeface="Calibri" pitchFamily="34" charset="-122"/>
                <a:cs typeface="Calibri" pitchFamily="34" charset="-120"/>
              </a:rPr>
              <a:t>IT DOES NOT PROVE</a:t>
            </a:r>
            <a:endParaRPr lang="en-US" sz="1000" dirty="0"/>
          </a:p>
        </p:txBody>
      </p:sp>
      <p:sp>
        <p:nvSpPr>
          <p:cNvPr id="17" name="Shape 15"/>
          <p:cNvSpPr/>
          <p:nvPr/>
        </p:nvSpPr>
        <p:spPr>
          <a:xfrm>
            <a:off x="6519672" y="2724912"/>
            <a:ext cx="91440" cy="91440"/>
          </a:xfrm>
          <a:prstGeom prst="ellipse">
            <a:avLst/>
          </a:prstGeom>
          <a:solidFill>
            <a:srgbClr val="B4522B"/>
          </a:solidFill>
          <a:ln/>
        </p:spPr>
      </p:sp>
      <p:sp>
        <p:nvSpPr>
          <p:cNvPr id="18" name="Text 16"/>
          <p:cNvSpPr txBox="1"/>
          <p:nvPr/>
        </p:nvSpPr>
        <p:spPr>
          <a:xfrm>
            <a:off x="6775704" y="259689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Superiority — “better than X” is a comparative claim, and it silently switches you into the empirical mode.</a:t>
            </a:r>
            <a:endParaRPr lang="en-US" sz="1100" dirty="0"/>
          </a:p>
        </p:txBody>
      </p:sp>
      <p:sp>
        <p:nvSpPr>
          <p:cNvPr id="19" name="Shape 17"/>
          <p:cNvSpPr/>
          <p:nvPr/>
        </p:nvSpPr>
        <p:spPr>
          <a:xfrm>
            <a:off x="6519672" y="3456432"/>
            <a:ext cx="91440" cy="91440"/>
          </a:xfrm>
          <a:prstGeom prst="ellipse">
            <a:avLst/>
          </a:prstGeom>
          <a:solidFill>
            <a:srgbClr val="B4522B"/>
          </a:solidFill>
          <a:ln/>
        </p:spPr>
      </p:sp>
      <p:sp>
        <p:nvSpPr>
          <p:cNvPr id="20" name="Text 18"/>
          <p:cNvSpPr txBox="1"/>
          <p:nvPr/>
        </p:nvSpPr>
        <p:spPr>
          <a:xfrm>
            <a:off x="6775704" y="332841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Generality — behaviour outside the demonstrated workload, scale, dataset, or hardware is simply unobserved.</a:t>
            </a:r>
            <a:endParaRPr lang="en-US" sz="1100" dirty="0"/>
          </a:p>
        </p:txBody>
      </p:sp>
      <p:sp>
        <p:nvSpPr>
          <p:cNvPr id="21" name="Shape 19"/>
          <p:cNvSpPr/>
          <p:nvPr/>
        </p:nvSpPr>
        <p:spPr>
          <a:xfrm>
            <a:off x="6519672" y="4187952"/>
            <a:ext cx="91440" cy="91440"/>
          </a:xfrm>
          <a:prstGeom prst="ellipse">
            <a:avLst/>
          </a:prstGeom>
          <a:solidFill>
            <a:srgbClr val="B4522B"/>
          </a:solidFill>
          <a:ln/>
        </p:spPr>
      </p:sp>
      <p:sp>
        <p:nvSpPr>
          <p:cNvPr id="22" name="Text 20"/>
          <p:cNvSpPr txBox="1"/>
          <p:nvPr/>
        </p:nvSpPr>
        <p:spPr>
          <a:xfrm>
            <a:off x="6775704" y="405993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Optimality or necessity — that this is the best way, or the only way, is a mathematical claim.</a:t>
            </a:r>
            <a:endParaRPr lang="en-US" sz="1100" dirty="0"/>
          </a:p>
        </p:txBody>
      </p:sp>
      <p:sp>
        <p:nvSpPr>
          <p:cNvPr id="23" name="Shape 21"/>
          <p:cNvSpPr/>
          <p:nvPr/>
        </p:nvSpPr>
        <p:spPr>
          <a:xfrm>
            <a:off x="6519672" y="4919472"/>
            <a:ext cx="91440" cy="91440"/>
          </a:xfrm>
          <a:prstGeom prst="ellipse">
            <a:avLst/>
          </a:prstGeom>
          <a:solidFill>
            <a:srgbClr val="B4522B"/>
          </a:solidFill>
          <a:ln/>
        </p:spPr>
      </p:sp>
      <p:sp>
        <p:nvSpPr>
          <p:cNvPr id="24" name="Text 22"/>
          <p:cNvSpPr txBox="1"/>
          <p:nvPr/>
        </p:nvSpPr>
        <p:spPr>
          <a:xfrm>
            <a:off x="6775704" y="4791456"/>
            <a:ext cx="4599432" cy="676656"/>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Robustness — that it survives adversarial, degraded, or long-running conditions you never exercised.</a:t>
            </a:r>
            <a:endParaRPr lang="en-US" sz="1100" dirty="0"/>
          </a:p>
        </p:txBody>
      </p:sp>
      <p:sp>
        <p:nvSpPr>
          <p:cNvPr id="25" name="Text 23"/>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A demonstration answers “is it possible?” Every “is it better?” sentence in your paper has quietly changed instruments — and now owes a baseline.</a:t>
            </a:r>
            <a:endParaRPr lang="en-US" sz="1150" dirty="0"/>
          </a:p>
        </p:txBody>
      </p:sp>
      <p:sp>
        <p:nvSpPr>
          <p:cNvPr id="26" name="Text 24"/>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7" name="Text 25"/>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7 / 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PROOF BY DEMONSTRATION</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Making a Demonstration Admissible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Six moves that separate Shaw's “Analysis” from Shaw's “Example” — the difference between evidence and an anecdote.</a:t>
            </a:r>
            <a:endParaRPr lang="en-US" sz="1250" dirty="0"/>
          </a:p>
        </p:txBody>
      </p:sp>
      <p:sp>
        <p:nvSpPr>
          <p:cNvPr id="5" name="Shape 3"/>
          <p:cNvSpPr/>
          <p:nvPr/>
        </p:nvSpPr>
        <p:spPr>
          <a:xfrm>
            <a:off x="502920" y="1938528"/>
            <a:ext cx="3502152" cy="1883664"/>
          </a:xfrm>
          <a:prstGeom prst="roundRect">
            <a:avLst>
              <a:gd name="adj" fmla="val 2427"/>
            </a:avLst>
          </a:prstGeom>
          <a:solidFill>
            <a:srgbClr val="F3F1FC"/>
          </a:solidFill>
          <a:ln/>
        </p:spPr>
      </p:sp>
      <p:sp>
        <p:nvSpPr>
          <p:cNvPr id="6" name="Shape 4"/>
          <p:cNvSpPr/>
          <p:nvPr/>
        </p:nvSpPr>
        <p:spPr>
          <a:xfrm>
            <a:off x="758952" y="2157984"/>
            <a:ext cx="292608" cy="292608"/>
          </a:xfrm>
          <a:prstGeom prst="ellipse">
            <a:avLst/>
          </a:prstGeom>
          <a:solidFill>
            <a:srgbClr val="B4522B"/>
          </a:solidFill>
          <a:ln/>
        </p:spPr>
      </p:sp>
      <p:sp>
        <p:nvSpPr>
          <p:cNvPr id="7" name="Text 5"/>
          <p:cNvSpPr txBox="1"/>
          <p:nvPr/>
        </p:nvSpPr>
        <p:spPr>
          <a:xfrm>
            <a:off x="758952" y="215798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143000" y="2121408"/>
            <a:ext cx="2606040" cy="384048"/>
          </a:xfrm>
          <a:prstGeom prst="rect">
            <a:avLst/>
          </a:prstGeom>
          <a:noFill/>
          <a:ln/>
        </p:spPr>
        <p:txBody>
          <a:bodyPr wrap="square" lIns="0" tIns="0" rIns="0" bIns="0" rtlCol="0" anchor="ctr"/>
          <a:lstStyle/>
          <a:p>
            <a:pPr indent="0" marL="0">
              <a:lnSpc>
                <a:spcPct val="105000"/>
              </a:lnSpc>
              <a:buNone/>
            </a:pPr>
            <a:r>
              <a:rPr lang="en-US" sz="1250" b="1" dirty="0">
                <a:solidFill>
                  <a:srgbClr val="241A4C"/>
                </a:solidFill>
                <a:latin typeface="Cambria" pitchFamily="34" charset="0"/>
                <a:ea typeface="Cambria" pitchFamily="34" charset="-122"/>
                <a:cs typeface="Cambria" pitchFamily="34" charset="-120"/>
              </a:rPr>
              <a:t>State the existential claim</a:t>
            </a:r>
            <a:endParaRPr lang="en-US" sz="1250" dirty="0"/>
          </a:p>
        </p:txBody>
      </p:sp>
      <p:sp>
        <p:nvSpPr>
          <p:cNvPr id="9" name="Text 7"/>
          <p:cNvSpPr txBox="1"/>
          <p:nvPr/>
        </p:nvSpPr>
        <p:spPr>
          <a:xfrm>
            <a:off x="758952" y="2651760"/>
            <a:ext cx="2990088" cy="100584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Name the property the artifact is meant to witness, in one sentence, before any implementation detail. If you cannot write it, the demonstration has no target.</a:t>
            </a:r>
            <a:endParaRPr lang="en-US" sz="1050" dirty="0"/>
          </a:p>
        </p:txBody>
      </p:sp>
      <p:sp>
        <p:nvSpPr>
          <p:cNvPr id="10" name="Shape 8"/>
          <p:cNvSpPr/>
          <p:nvPr/>
        </p:nvSpPr>
        <p:spPr>
          <a:xfrm>
            <a:off x="4343400" y="1938528"/>
            <a:ext cx="3502152" cy="1883664"/>
          </a:xfrm>
          <a:prstGeom prst="roundRect">
            <a:avLst>
              <a:gd name="adj" fmla="val 2427"/>
            </a:avLst>
          </a:prstGeom>
          <a:solidFill>
            <a:srgbClr val="F3F1FC"/>
          </a:solidFill>
          <a:ln/>
        </p:spPr>
      </p:sp>
      <p:sp>
        <p:nvSpPr>
          <p:cNvPr id="11" name="Shape 9"/>
          <p:cNvSpPr/>
          <p:nvPr/>
        </p:nvSpPr>
        <p:spPr>
          <a:xfrm>
            <a:off x="4599432" y="2157984"/>
            <a:ext cx="292608" cy="292608"/>
          </a:xfrm>
          <a:prstGeom prst="ellipse">
            <a:avLst/>
          </a:prstGeom>
          <a:solidFill>
            <a:srgbClr val="B4522B"/>
          </a:solidFill>
          <a:ln/>
        </p:spPr>
      </p:sp>
      <p:sp>
        <p:nvSpPr>
          <p:cNvPr id="12" name="Text 10"/>
          <p:cNvSpPr txBox="1"/>
          <p:nvPr/>
        </p:nvSpPr>
        <p:spPr>
          <a:xfrm>
            <a:off x="4599432" y="215798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4983480" y="2121408"/>
            <a:ext cx="2606040" cy="384048"/>
          </a:xfrm>
          <a:prstGeom prst="rect">
            <a:avLst/>
          </a:prstGeom>
          <a:noFill/>
          <a:ln/>
        </p:spPr>
        <p:txBody>
          <a:bodyPr wrap="square" lIns="0" tIns="0" rIns="0" bIns="0" rtlCol="0" anchor="ctr"/>
          <a:lstStyle/>
          <a:p>
            <a:pPr indent="0" marL="0">
              <a:lnSpc>
                <a:spcPct val="105000"/>
              </a:lnSpc>
              <a:buNone/>
            </a:pPr>
            <a:r>
              <a:rPr lang="en-US" sz="1250" b="1" dirty="0">
                <a:solidFill>
                  <a:srgbClr val="241A4C"/>
                </a:solidFill>
                <a:latin typeface="Cambria" pitchFamily="34" charset="0"/>
                <a:ea typeface="Cambria" pitchFamily="34" charset="-122"/>
                <a:cs typeface="Cambria" pitchFamily="34" charset="-120"/>
              </a:rPr>
              <a:t>Report the configuration fully</a:t>
            </a:r>
            <a:endParaRPr lang="en-US" sz="1250" dirty="0"/>
          </a:p>
        </p:txBody>
      </p:sp>
      <p:sp>
        <p:nvSpPr>
          <p:cNvPr id="14" name="Text 12"/>
          <p:cNvSpPr txBox="1"/>
          <p:nvPr/>
        </p:nvSpPr>
        <p:spPr>
          <a:xfrm>
            <a:off x="4599432" y="2651760"/>
            <a:ext cx="2990088" cy="100584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Versions, hardware, dataset, parameters, seeds. An unreproducible demonstration is not admissible evidence — it is a story about a machine nobody else has.</a:t>
            </a:r>
            <a:endParaRPr lang="en-US" sz="1050" dirty="0"/>
          </a:p>
        </p:txBody>
      </p:sp>
      <p:sp>
        <p:nvSpPr>
          <p:cNvPr id="15" name="Shape 13"/>
          <p:cNvSpPr/>
          <p:nvPr/>
        </p:nvSpPr>
        <p:spPr>
          <a:xfrm>
            <a:off x="8183880" y="1938528"/>
            <a:ext cx="3502152" cy="1883664"/>
          </a:xfrm>
          <a:prstGeom prst="roundRect">
            <a:avLst>
              <a:gd name="adj" fmla="val 2427"/>
            </a:avLst>
          </a:prstGeom>
          <a:solidFill>
            <a:srgbClr val="F3F1FC"/>
          </a:solidFill>
          <a:ln/>
        </p:spPr>
      </p:sp>
      <p:sp>
        <p:nvSpPr>
          <p:cNvPr id="16" name="Shape 14"/>
          <p:cNvSpPr/>
          <p:nvPr/>
        </p:nvSpPr>
        <p:spPr>
          <a:xfrm>
            <a:off x="8439912" y="2157984"/>
            <a:ext cx="292608" cy="292608"/>
          </a:xfrm>
          <a:prstGeom prst="ellipse">
            <a:avLst/>
          </a:prstGeom>
          <a:solidFill>
            <a:srgbClr val="B4522B"/>
          </a:solidFill>
          <a:ln/>
        </p:spPr>
      </p:sp>
      <p:sp>
        <p:nvSpPr>
          <p:cNvPr id="17" name="Text 15"/>
          <p:cNvSpPr txBox="1"/>
          <p:nvPr/>
        </p:nvSpPr>
        <p:spPr>
          <a:xfrm>
            <a:off x="8439912" y="215798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8823960" y="2121408"/>
            <a:ext cx="2606040" cy="384048"/>
          </a:xfrm>
          <a:prstGeom prst="rect">
            <a:avLst/>
          </a:prstGeom>
          <a:noFill/>
          <a:ln/>
        </p:spPr>
        <p:txBody>
          <a:bodyPr wrap="square" lIns="0" tIns="0" rIns="0" bIns="0" rtlCol="0" anchor="ctr"/>
          <a:lstStyle/>
          <a:p>
            <a:pPr indent="0" marL="0">
              <a:lnSpc>
                <a:spcPct val="105000"/>
              </a:lnSpc>
              <a:buNone/>
            </a:pPr>
            <a:r>
              <a:rPr lang="en-US" sz="1250" b="1" dirty="0">
                <a:solidFill>
                  <a:srgbClr val="241A4C"/>
                </a:solidFill>
                <a:latin typeface="Cambria" pitchFamily="34" charset="0"/>
                <a:ea typeface="Cambria" pitchFamily="34" charset="-122"/>
                <a:cs typeface="Cambria" pitchFamily="34" charset="-120"/>
              </a:rPr>
              <a:t>Ship the artifact</a:t>
            </a:r>
            <a:endParaRPr lang="en-US" sz="1250" dirty="0"/>
          </a:p>
        </p:txBody>
      </p:sp>
      <p:sp>
        <p:nvSpPr>
          <p:cNvPr id="19" name="Text 17"/>
          <p:cNvSpPr txBox="1"/>
          <p:nvPr/>
        </p:nvSpPr>
        <p:spPr>
          <a:xfrm>
            <a:off x="8439912" y="2651760"/>
            <a:ext cx="2990088" cy="100584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Code, data, and run scripts. Artifact-evaluation badges at ICSE, PLDI, OSDI and SOSP exist precisely because a demonstration is only checkable when it is re-runnable.</a:t>
            </a:r>
            <a:endParaRPr lang="en-US" sz="1050" dirty="0"/>
          </a:p>
        </p:txBody>
      </p:sp>
      <p:sp>
        <p:nvSpPr>
          <p:cNvPr id="20" name="Shape 18"/>
          <p:cNvSpPr/>
          <p:nvPr/>
        </p:nvSpPr>
        <p:spPr>
          <a:xfrm>
            <a:off x="502920" y="4096512"/>
            <a:ext cx="3502152" cy="1883664"/>
          </a:xfrm>
          <a:prstGeom prst="roundRect">
            <a:avLst>
              <a:gd name="adj" fmla="val 2427"/>
            </a:avLst>
          </a:prstGeom>
          <a:solidFill>
            <a:srgbClr val="F3F1FC"/>
          </a:solidFill>
          <a:ln/>
        </p:spPr>
      </p:sp>
      <p:sp>
        <p:nvSpPr>
          <p:cNvPr id="21" name="Shape 19"/>
          <p:cNvSpPr/>
          <p:nvPr/>
        </p:nvSpPr>
        <p:spPr>
          <a:xfrm>
            <a:off x="758952" y="4315968"/>
            <a:ext cx="292608" cy="292608"/>
          </a:xfrm>
          <a:prstGeom prst="ellipse">
            <a:avLst/>
          </a:prstGeom>
          <a:solidFill>
            <a:srgbClr val="241A4C"/>
          </a:solidFill>
          <a:ln/>
        </p:spPr>
      </p:sp>
      <p:sp>
        <p:nvSpPr>
          <p:cNvPr id="22" name="Text 20"/>
          <p:cNvSpPr txBox="1"/>
          <p:nvPr/>
        </p:nvSpPr>
        <p:spPr>
          <a:xfrm>
            <a:off x="758952" y="43159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143000" y="4279392"/>
            <a:ext cx="2606040" cy="384048"/>
          </a:xfrm>
          <a:prstGeom prst="rect">
            <a:avLst/>
          </a:prstGeom>
          <a:noFill/>
          <a:ln/>
        </p:spPr>
        <p:txBody>
          <a:bodyPr wrap="square" lIns="0" tIns="0" rIns="0" bIns="0" rtlCol="0" anchor="ctr"/>
          <a:lstStyle/>
          <a:p>
            <a:pPr indent="0" marL="0">
              <a:lnSpc>
                <a:spcPct val="105000"/>
              </a:lnSpc>
              <a:buNone/>
            </a:pPr>
            <a:r>
              <a:rPr lang="en-US" sz="1250" b="1" dirty="0">
                <a:solidFill>
                  <a:srgbClr val="241A4C"/>
                </a:solidFill>
                <a:latin typeface="Cambria" pitchFamily="34" charset="0"/>
                <a:ea typeface="Cambria" pitchFamily="34" charset="-122"/>
                <a:cs typeface="Cambria" pitchFamily="34" charset="-120"/>
              </a:rPr>
              <a:t>Exercise the hard case</a:t>
            </a:r>
            <a:endParaRPr lang="en-US" sz="1250" dirty="0"/>
          </a:p>
        </p:txBody>
      </p:sp>
      <p:sp>
        <p:nvSpPr>
          <p:cNvPr id="24" name="Text 22"/>
          <p:cNvSpPr txBox="1"/>
          <p:nvPr/>
        </p:nvSpPr>
        <p:spPr>
          <a:xfrm>
            <a:off x="758952" y="4809744"/>
            <a:ext cx="2990088" cy="100584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The demonstration must cover the condition that made the claim doubtful. A prototype shown only on the easy input witnesses nothing that was ever in question.</a:t>
            </a:r>
            <a:endParaRPr lang="en-US" sz="1050" dirty="0"/>
          </a:p>
        </p:txBody>
      </p:sp>
      <p:sp>
        <p:nvSpPr>
          <p:cNvPr id="25" name="Shape 23"/>
          <p:cNvSpPr/>
          <p:nvPr/>
        </p:nvSpPr>
        <p:spPr>
          <a:xfrm>
            <a:off x="4343400" y="4096512"/>
            <a:ext cx="3502152" cy="1883664"/>
          </a:xfrm>
          <a:prstGeom prst="roundRect">
            <a:avLst>
              <a:gd name="adj" fmla="val 2427"/>
            </a:avLst>
          </a:prstGeom>
          <a:solidFill>
            <a:srgbClr val="F3F1FC"/>
          </a:solidFill>
          <a:ln/>
        </p:spPr>
      </p:sp>
      <p:sp>
        <p:nvSpPr>
          <p:cNvPr id="26" name="Shape 24"/>
          <p:cNvSpPr/>
          <p:nvPr/>
        </p:nvSpPr>
        <p:spPr>
          <a:xfrm>
            <a:off x="4599432" y="4315968"/>
            <a:ext cx="292608" cy="292608"/>
          </a:xfrm>
          <a:prstGeom prst="ellipse">
            <a:avLst/>
          </a:prstGeom>
          <a:solidFill>
            <a:srgbClr val="241A4C"/>
          </a:solidFill>
          <a:ln/>
        </p:spPr>
      </p:sp>
      <p:sp>
        <p:nvSpPr>
          <p:cNvPr id="27" name="Text 25"/>
          <p:cNvSpPr txBox="1"/>
          <p:nvPr/>
        </p:nvSpPr>
        <p:spPr>
          <a:xfrm>
            <a:off x="4599432" y="43159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4983480" y="4279392"/>
            <a:ext cx="2606040" cy="384048"/>
          </a:xfrm>
          <a:prstGeom prst="rect">
            <a:avLst/>
          </a:prstGeom>
          <a:noFill/>
          <a:ln/>
        </p:spPr>
        <p:txBody>
          <a:bodyPr wrap="square" lIns="0" tIns="0" rIns="0" bIns="0" rtlCol="0" anchor="ctr"/>
          <a:lstStyle/>
          <a:p>
            <a:pPr indent="0" marL="0">
              <a:lnSpc>
                <a:spcPct val="105000"/>
              </a:lnSpc>
              <a:buNone/>
            </a:pPr>
            <a:r>
              <a:rPr lang="en-US" sz="1250" b="1" dirty="0">
                <a:solidFill>
                  <a:srgbClr val="241A4C"/>
                </a:solidFill>
                <a:latin typeface="Cambria" pitchFamily="34" charset="0"/>
                <a:ea typeface="Cambria" pitchFamily="34" charset="-122"/>
                <a:cs typeface="Cambria" pitchFamily="34" charset="-120"/>
              </a:rPr>
              <a:t>Ablate the novel component</a:t>
            </a:r>
            <a:endParaRPr lang="en-US" sz="1250" dirty="0"/>
          </a:p>
        </p:txBody>
      </p:sp>
      <p:sp>
        <p:nvSpPr>
          <p:cNvPr id="29" name="Text 27"/>
          <p:cNvSpPr txBox="1"/>
          <p:nvPr/>
        </p:nvSpPr>
        <p:spPr>
          <a:xfrm>
            <a:off x="4599432" y="4809744"/>
            <a:ext cx="2990088" cy="100584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Remove each new mechanism and show the property degrades or fails. Without ablation you have shown that a system works, not that your idea is what made it work.</a:t>
            </a:r>
            <a:endParaRPr lang="en-US" sz="1050" dirty="0"/>
          </a:p>
        </p:txBody>
      </p:sp>
      <p:sp>
        <p:nvSpPr>
          <p:cNvPr id="30" name="Shape 28"/>
          <p:cNvSpPr/>
          <p:nvPr/>
        </p:nvSpPr>
        <p:spPr>
          <a:xfrm>
            <a:off x="8183880" y="4096512"/>
            <a:ext cx="3502152" cy="1883664"/>
          </a:xfrm>
          <a:prstGeom prst="roundRect">
            <a:avLst>
              <a:gd name="adj" fmla="val 2427"/>
            </a:avLst>
          </a:prstGeom>
          <a:solidFill>
            <a:srgbClr val="F3F1FC"/>
          </a:solidFill>
          <a:ln/>
        </p:spPr>
      </p:sp>
      <p:sp>
        <p:nvSpPr>
          <p:cNvPr id="31" name="Shape 29"/>
          <p:cNvSpPr/>
          <p:nvPr/>
        </p:nvSpPr>
        <p:spPr>
          <a:xfrm>
            <a:off x="8439912" y="4315968"/>
            <a:ext cx="292608" cy="292608"/>
          </a:xfrm>
          <a:prstGeom prst="ellipse">
            <a:avLst/>
          </a:prstGeom>
          <a:solidFill>
            <a:srgbClr val="241A4C"/>
          </a:solidFill>
          <a:ln/>
        </p:spPr>
      </p:sp>
      <p:sp>
        <p:nvSpPr>
          <p:cNvPr id="32" name="Text 30"/>
          <p:cNvSpPr txBox="1"/>
          <p:nvPr/>
        </p:nvSpPr>
        <p:spPr>
          <a:xfrm>
            <a:off x="8439912" y="43159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txBox="1"/>
          <p:nvPr/>
        </p:nvSpPr>
        <p:spPr>
          <a:xfrm>
            <a:off x="8823960" y="4279392"/>
            <a:ext cx="2606040" cy="384048"/>
          </a:xfrm>
          <a:prstGeom prst="rect">
            <a:avLst/>
          </a:prstGeom>
          <a:noFill/>
          <a:ln/>
        </p:spPr>
        <p:txBody>
          <a:bodyPr wrap="square" lIns="0" tIns="0" rIns="0" bIns="0" rtlCol="0" anchor="ctr"/>
          <a:lstStyle/>
          <a:p>
            <a:pPr indent="0" marL="0">
              <a:lnSpc>
                <a:spcPct val="105000"/>
              </a:lnSpc>
              <a:buNone/>
            </a:pPr>
            <a:r>
              <a:rPr lang="en-US" sz="1250" b="1" dirty="0">
                <a:solidFill>
                  <a:srgbClr val="241A4C"/>
                </a:solidFill>
                <a:latin typeface="Cambria" pitchFamily="34" charset="0"/>
                <a:ea typeface="Cambria" pitchFamily="34" charset="-122"/>
                <a:cs typeface="Cambria" pitchFamily="34" charset="-120"/>
              </a:rPr>
              <a:t>Name the boundary</a:t>
            </a:r>
            <a:endParaRPr lang="en-US" sz="1250" dirty="0"/>
          </a:p>
        </p:txBody>
      </p:sp>
      <p:sp>
        <p:nvSpPr>
          <p:cNvPr id="34" name="Text 32"/>
          <p:cNvSpPr txBox="1"/>
          <p:nvPr/>
        </p:nvSpPr>
        <p:spPr>
          <a:xfrm>
            <a:off x="8439912" y="4809744"/>
            <a:ext cx="2990088" cy="100584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State the configuration beyond which you did not demonstrate anything. This is Toulmin's rebuttal component, doing its job in advance.</a:t>
            </a:r>
            <a:endParaRPr lang="en-US" sz="1050" dirty="0"/>
          </a:p>
        </p:txBody>
      </p:sp>
      <p:sp>
        <p:nvSpPr>
          <p:cNvPr id="35" name="Text 3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6" name="Text 3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8 / 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PROOF BY DEMONSTRATION</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A Demonstration, Read as an Argument</a:t>
            </a:r>
            <a:endParaRPr lang="en-US" sz="2800" dirty="0"/>
          </a:p>
        </p:txBody>
      </p:sp>
      <p:sp>
        <p:nvSpPr>
          <p:cNvPr id="4" name="Text 2"/>
          <p:cNvSpPr txBox="1"/>
          <p:nvPr/>
        </p:nvSpPr>
        <p:spPr>
          <a:xfrm>
            <a:off x="502920" y="1225296"/>
            <a:ext cx="11183112" cy="457200"/>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Claim under test:  </a:t>
            </a:r>
            <a:pPr indent="0" marL="0">
              <a:buNone/>
            </a:pPr>
            <a:r>
              <a:rPr lang="en-US" sz="1150" dirty="0">
                <a:solidFill>
                  <a:srgbClr val="5C5A66"/>
                </a:solidFill>
                <a:latin typeface="Calibri" pitchFamily="34" charset="0"/>
                <a:ea typeface="Calibri" pitchFamily="34" charset="-122"/>
                <a:cs typeface="Calibri" pitchFamily="34" charset="-120"/>
              </a:rPr>
              <a:t>“A general-purpose programming model can let non-specialists write fault-tolerant computations over thousands of commodity machines.”   </a:t>
            </a:r>
            <a:pPr indent="0" marL="0">
              <a:buNone/>
            </a:pPr>
            <a:r>
              <a:rPr lang="en-US" sz="1050" i="1" dirty="0">
                <a:solidFill>
                  <a:srgbClr val="8A8894"/>
                </a:solidFill>
                <a:latin typeface="Calibri" pitchFamily="34" charset="0"/>
                <a:ea typeface="Calibri" pitchFamily="34" charset="-122"/>
                <a:cs typeface="Calibri" pitchFamily="34" charset="-120"/>
              </a:rPr>
              <a:t>— Dean &amp; Ghemawat, MapReduce, OSDI 2004</a:t>
            </a:r>
            <a:endParaRPr lang="en-US" sz="1150" dirty="0"/>
          </a:p>
        </p:txBody>
      </p:sp>
      <p:sp>
        <p:nvSpPr>
          <p:cNvPr id="5" name="Shape 3"/>
          <p:cNvSpPr/>
          <p:nvPr/>
        </p:nvSpPr>
        <p:spPr>
          <a:xfrm>
            <a:off x="502920" y="1792224"/>
            <a:ext cx="2377440" cy="384048"/>
          </a:xfrm>
          <a:prstGeom prst="rect">
            <a:avLst/>
          </a:prstGeom>
          <a:solidFill>
            <a:srgbClr val="241A4C"/>
          </a:solidFill>
          <a:ln w="19050">
            <a:solidFill>
              <a:srgbClr val="FFFFFF"/>
            </a:solidFill>
            <a:prstDash val="solid"/>
          </a:ln>
        </p:spPr>
      </p:sp>
      <p:sp>
        <p:nvSpPr>
          <p:cNvPr id="6" name="Text 4"/>
          <p:cNvSpPr txBox="1"/>
          <p:nvPr/>
        </p:nvSpPr>
        <p:spPr>
          <a:xfrm>
            <a:off x="649224" y="1792224"/>
            <a:ext cx="20848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TOULMIN COMPONENT</a:t>
            </a:r>
            <a:endParaRPr lang="en-US" sz="850" dirty="0"/>
          </a:p>
        </p:txBody>
      </p:sp>
      <p:sp>
        <p:nvSpPr>
          <p:cNvPr id="7" name="Shape 5"/>
          <p:cNvSpPr/>
          <p:nvPr/>
        </p:nvSpPr>
        <p:spPr>
          <a:xfrm>
            <a:off x="2880360" y="1792224"/>
            <a:ext cx="8805672" cy="384048"/>
          </a:xfrm>
          <a:prstGeom prst="rect">
            <a:avLst/>
          </a:prstGeom>
          <a:solidFill>
            <a:srgbClr val="241A4C"/>
          </a:solidFill>
          <a:ln w="19050">
            <a:solidFill>
              <a:srgbClr val="FFFFFF"/>
            </a:solidFill>
            <a:prstDash val="solid"/>
          </a:ln>
        </p:spPr>
      </p:sp>
      <p:sp>
        <p:nvSpPr>
          <p:cNvPr id="8" name="Text 6"/>
          <p:cNvSpPr txBox="1"/>
          <p:nvPr/>
        </p:nvSpPr>
        <p:spPr>
          <a:xfrm>
            <a:off x="3026664" y="1792224"/>
            <a:ext cx="851306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HOW THE DEMONSTRATION SUPPLIES IT</a:t>
            </a:r>
            <a:endParaRPr lang="en-US" sz="850" dirty="0"/>
          </a:p>
        </p:txBody>
      </p:sp>
      <p:sp>
        <p:nvSpPr>
          <p:cNvPr id="9" name="Shape 7"/>
          <p:cNvSpPr/>
          <p:nvPr/>
        </p:nvSpPr>
        <p:spPr>
          <a:xfrm>
            <a:off x="502920" y="2231136"/>
            <a:ext cx="11183112" cy="502920"/>
          </a:xfrm>
          <a:prstGeom prst="rect">
            <a:avLst/>
          </a:prstGeom>
          <a:solidFill>
            <a:srgbClr val="F3F1FC"/>
          </a:solidFill>
          <a:ln/>
        </p:spPr>
      </p:sp>
      <p:sp>
        <p:nvSpPr>
          <p:cNvPr id="10" name="Shape 8"/>
          <p:cNvSpPr/>
          <p:nvPr/>
        </p:nvSpPr>
        <p:spPr>
          <a:xfrm>
            <a:off x="502920" y="2231136"/>
            <a:ext cx="50292" cy="502920"/>
          </a:xfrm>
          <a:prstGeom prst="rect">
            <a:avLst/>
          </a:prstGeom>
          <a:solidFill>
            <a:srgbClr val="B4522B"/>
          </a:solidFill>
          <a:ln/>
        </p:spPr>
      </p:sp>
      <p:sp>
        <p:nvSpPr>
          <p:cNvPr id="11" name="Text 9"/>
          <p:cNvSpPr txBox="1"/>
          <p:nvPr/>
        </p:nvSpPr>
        <p:spPr>
          <a:xfrm>
            <a:off x="722376" y="2231136"/>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Claim</a:t>
            </a:r>
            <a:endParaRPr lang="en-US" sz="1200" dirty="0"/>
          </a:p>
        </p:txBody>
      </p:sp>
      <p:sp>
        <p:nvSpPr>
          <p:cNvPr id="12" name="Text 10"/>
          <p:cNvSpPr txBox="1"/>
          <p:nvPr/>
        </p:nvSpPr>
        <p:spPr>
          <a:xfrm>
            <a:off x="3044952" y="2231136"/>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programming model is feasible and adoptable at production scale — an existential, not a comparative, assertion.</a:t>
            </a:r>
            <a:endParaRPr lang="en-US" sz="1050" dirty="0"/>
          </a:p>
        </p:txBody>
      </p:sp>
      <p:sp>
        <p:nvSpPr>
          <p:cNvPr id="13" name="Shape 11"/>
          <p:cNvSpPr/>
          <p:nvPr/>
        </p:nvSpPr>
        <p:spPr>
          <a:xfrm>
            <a:off x="502920" y="2788920"/>
            <a:ext cx="11183112" cy="502920"/>
          </a:xfrm>
          <a:prstGeom prst="rect">
            <a:avLst/>
          </a:prstGeom>
          <a:solidFill>
            <a:srgbClr val="FFFFFF"/>
          </a:solidFill>
          <a:ln/>
        </p:spPr>
      </p:sp>
      <p:sp>
        <p:nvSpPr>
          <p:cNvPr id="14" name="Shape 12"/>
          <p:cNvSpPr/>
          <p:nvPr/>
        </p:nvSpPr>
        <p:spPr>
          <a:xfrm>
            <a:off x="502920" y="2788920"/>
            <a:ext cx="50292" cy="502920"/>
          </a:xfrm>
          <a:prstGeom prst="rect">
            <a:avLst/>
          </a:prstGeom>
          <a:solidFill>
            <a:srgbClr val="3D6EA6"/>
          </a:solidFill>
          <a:ln/>
        </p:spPr>
      </p:sp>
      <p:sp>
        <p:nvSpPr>
          <p:cNvPr id="15" name="Text 13"/>
          <p:cNvSpPr txBox="1"/>
          <p:nvPr/>
        </p:nvSpPr>
        <p:spPr>
          <a:xfrm>
            <a:off x="722376" y="2788920"/>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Grounds</a:t>
            </a:r>
            <a:endParaRPr lang="en-US" sz="1200" dirty="0"/>
          </a:p>
        </p:txBody>
      </p:sp>
      <p:sp>
        <p:nvSpPr>
          <p:cNvPr id="16" name="Text 14"/>
          <p:cNvSpPr txBox="1"/>
          <p:nvPr/>
        </p:nvSpPr>
        <p:spPr>
          <a:xfrm>
            <a:off x="3044952" y="2788920"/>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working implementation, plus roughly a thousand distinct jobs written in the model and run inside Google over the reporting period.</a:t>
            </a:r>
            <a:endParaRPr lang="en-US" sz="1050" dirty="0"/>
          </a:p>
        </p:txBody>
      </p:sp>
      <p:sp>
        <p:nvSpPr>
          <p:cNvPr id="17" name="Shape 15"/>
          <p:cNvSpPr/>
          <p:nvPr/>
        </p:nvSpPr>
        <p:spPr>
          <a:xfrm>
            <a:off x="502920" y="3346704"/>
            <a:ext cx="11183112" cy="502920"/>
          </a:xfrm>
          <a:prstGeom prst="rect">
            <a:avLst/>
          </a:prstGeom>
          <a:solidFill>
            <a:srgbClr val="F3F1FC"/>
          </a:solidFill>
          <a:ln/>
        </p:spPr>
      </p:sp>
      <p:sp>
        <p:nvSpPr>
          <p:cNvPr id="18" name="Shape 16"/>
          <p:cNvSpPr/>
          <p:nvPr/>
        </p:nvSpPr>
        <p:spPr>
          <a:xfrm>
            <a:off x="502920" y="3346704"/>
            <a:ext cx="50292" cy="502920"/>
          </a:xfrm>
          <a:prstGeom prst="rect">
            <a:avLst/>
          </a:prstGeom>
          <a:solidFill>
            <a:srgbClr val="3D6EA6"/>
          </a:solidFill>
          <a:ln/>
        </p:spPr>
      </p:sp>
      <p:sp>
        <p:nvSpPr>
          <p:cNvPr id="19" name="Text 17"/>
          <p:cNvSpPr txBox="1"/>
          <p:nvPr/>
        </p:nvSpPr>
        <p:spPr>
          <a:xfrm>
            <a:off x="722376" y="3346704"/>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Warrant</a:t>
            </a:r>
            <a:endParaRPr lang="en-US" sz="1200" dirty="0"/>
          </a:p>
        </p:txBody>
      </p:sp>
      <p:sp>
        <p:nvSpPr>
          <p:cNvPr id="20" name="Text 18"/>
          <p:cNvSpPr txBox="1"/>
          <p:nvPr/>
        </p:nvSpPr>
        <p:spPr>
          <a:xfrm>
            <a:off x="3044952" y="3346704"/>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If the model is realizable and non-specialists actually express real jobs in it at this scale, then the feasibility claim is settled.</a:t>
            </a:r>
            <a:endParaRPr lang="en-US" sz="1050" dirty="0"/>
          </a:p>
        </p:txBody>
      </p:sp>
      <p:sp>
        <p:nvSpPr>
          <p:cNvPr id="21" name="Shape 19"/>
          <p:cNvSpPr/>
          <p:nvPr/>
        </p:nvSpPr>
        <p:spPr>
          <a:xfrm>
            <a:off x="502920" y="3904488"/>
            <a:ext cx="11183112" cy="502920"/>
          </a:xfrm>
          <a:prstGeom prst="rect">
            <a:avLst/>
          </a:prstGeom>
          <a:solidFill>
            <a:srgbClr val="FFFFFF"/>
          </a:solidFill>
          <a:ln/>
        </p:spPr>
      </p:sp>
      <p:sp>
        <p:nvSpPr>
          <p:cNvPr id="22" name="Shape 20"/>
          <p:cNvSpPr/>
          <p:nvPr/>
        </p:nvSpPr>
        <p:spPr>
          <a:xfrm>
            <a:off x="502920" y="3904488"/>
            <a:ext cx="50292" cy="502920"/>
          </a:xfrm>
          <a:prstGeom prst="rect">
            <a:avLst/>
          </a:prstGeom>
          <a:solidFill>
            <a:srgbClr val="D8A73E"/>
          </a:solidFill>
          <a:ln/>
        </p:spPr>
      </p:sp>
      <p:sp>
        <p:nvSpPr>
          <p:cNvPr id="23" name="Text 21"/>
          <p:cNvSpPr txBox="1"/>
          <p:nvPr/>
        </p:nvSpPr>
        <p:spPr>
          <a:xfrm>
            <a:off x="722376" y="3904488"/>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Backing</a:t>
            </a:r>
            <a:endParaRPr lang="en-US" sz="1200" dirty="0"/>
          </a:p>
        </p:txBody>
      </p:sp>
      <p:sp>
        <p:nvSpPr>
          <p:cNvPr id="24" name="Text 22"/>
          <p:cNvSpPr txBox="1"/>
          <p:nvPr/>
        </p:nvSpPr>
        <p:spPr>
          <a:xfrm>
            <a:off x="3044952" y="3904488"/>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Established functional-programming primitives (map, reduce) and an existing distributed filesystem substrate the design could rest on.</a:t>
            </a:r>
            <a:endParaRPr lang="en-US" sz="1050" dirty="0"/>
          </a:p>
        </p:txBody>
      </p:sp>
      <p:sp>
        <p:nvSpPr>
          <p:cNvPr id="25" name="Shape 23"/>
          <p:cNvSpPr/>
          <p:nvPr/>
        </p:nvSpPr>
        <p:spPr>
          <a:xfrm>
            <a:off x="502920" y="4462272"/>
            <a:ext cx="11183112" cy="502920"/>
          </a:xfrm>
          <a:prstGeom prst="rect">
            <a:avLst/>
          </a:prstGeom>
          <a:solidFill>
            <a:srgbClr val="F3F1FC"/>
          </a:solidFill>
          <a:ln/>
        </p:spPr>
      </p:sp>
      <p:sp>
        <p:nvSpPr>
          <p:cNvPr id="26" name="Shape 24"/>
          <p:cNvSpPr/>
          <p:nvPr/>
        </p:nvSpPr>
        <p:spPr>
          <a:xfrm>
            <a:off x="502920" y="4462272"/>
            <a:ext cx="50292" cy="502920"/>
          </a:xfrm>
          <a:prstGeom prst="rect">
            <a:avLst/>
          </a:prstGeom>
          <a:solidFill>
            <a:srgbClr val="D8A73E"/>
          </a:solidFill>
          <a:ln/>
        </p:spPr>
      </p:sp>
      <p:sp>
        <p:nvSpPr>
          <p:cNvPr id="27" name="Text 25"/>
          <p:cNvSpPr txBox="1"/>
          <p:nvPr/>
        </p:nvSpPr>
        <p:spPr>
          <a:xfrm>
            <a:off x="722376" y="4462272"/>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Qualifier</a:t>
            </a:r>
            <a:endParaRPr lang="en-US" sz="1200" dirty="0"/>
          </a:p>
        </p:txBody>
      </p:sp>
      <p:sp>
        <p:nvSpPr>
          <p:cNvPr id="28" name="Text 26"/>
          <p:cNvSpPr txBox="1"/>
          <p:nvPr/>
        </p:nvSpPr>
        <p:spPr>
          <a:xfrm>
            <a:off x="3044952" y="4462272"/>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Holds for batch, data-parallel workloads on large commodity clusters — the scope the deployment actually covers.</a:t>
            </a:r>
            <a:endParaRPr lang="en-US" sz="1050" dirty="0"/>
          </a:p>
        </p:txBody>
      </p:sp>
      <p:sp>
        <p:nvSpPr>
          <p:cNvPr id="29" name="Shape 27"/>
          <p:cNvSpPr/>
          <p:nvPr/>
        </p:nvSpPr>
        <p:spPr>
          <a:xfrm>
            <a:off x="502920" y="5020056"/>
            <a:ext cx="11183112" cy="502920"/>
          </a:xfrm>
          <a:prstGeom prst="rect">
            <a:avLst/>
          </a:prstGeom>
          <a:solidFill>
            <a:srgbClr val="FFFFFF"/>
          </a:solidFill>
          <a:ln/>
        </p:spPr>
      </p:sp>
      <p:sp>
        <p:nvSpPr>
          <p:cNvPr id="30" name="Shape 28"/>
          <p:cNvSpPr/>
          <p:nvPr/>
        </p:nvSpPr>
        <p:spPr>
          <a:xfrm>
            <a:off x="502920" y="5020056"/>
            <a:ext cx="50292" cy="502920"/>
          </a:xfrm>
          <a:prstGeom prst="rect">
            <a:avLst/>
          </a:prstGeom>
          <a:solidFill>
            <a:srgbClr val="8E3F20"/>
          </a:solidFill>
          <a:ln/>
        </p:spPr>
      </p:sp>
      <p:sp>
        <p:nvSpPr>
          <p:cNvPr id="31" name="Text 29"/>
          <p:cNvSpPr txBox="1"/>
          <p:nvPr/>
        </p:nvSpPr>
        <p:spPr>
          <a:xfrm>
            <a:off x="722376" y="5020056"/>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Rebuttal</a:t>
            </a:r>
            <a:endParaRPr lang="en-US" sz="1200" dirty="0"/>
          </a:p>
        </p:txBody>
      </p:sp>
      <p:sp>
        <p:nvSpPr>
          <p:cNvPr id="32" name="Text 30"/>
          <p:cNvSpPr txBox="1"/>
          <p:nvPr/>
        </p:nvSpPr>
        <p:spPr>
          <a:xfrm>
            <a:off x="3044952" y="5020056"/>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Says nothing about iterative or low-latency workloads — precisely the gap that Spark, Dryad and their successors were later built to attack.</a:t>
            </a:r>
            <a:endParaRPr lang="en-US" sz="1050" dirty="0"/>
          </a:p>
        </p:txBody>
      </p:sp>
      <p:sp>
        <p:nvSpPr>
          <p:cNvPr id="33" name="Text 3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Notice what is never claimed: no optimality, no proof, no head-to-head benchmark against alternatives that did not yet exist. The paper's power comes from a correctly bounded claim.</a:t>
            </a:r>
            <a:endParaRPr lang="en-US" sz="1150" dirty="0"/>
          </a:p>
        </p:txBody>
      </p:sp>
      <p:sp>
        <p:nvSpPr>
          <p:cNvPr id="34" name="Text 3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5" name="Text 3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9 / 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EMPIRICAL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Empirical Proof: The Inductive Leap</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Establishing a claim by systematic observation of instances, then inferring a regularity that extends beyond the instances observed.</a:t>
            </a:r>
            <a:endParaRPr lang="en-US" sz="1250" dirty="0"/>
          </a:p>
        </p:txBody>
      </p:sp>
      <p:sp>
        <p:nvSpPr>
          <p:cNvPr id="5" name="Shape 3"/>
          <p:cNvSpPr/>
          <p:nvPr/>
        </p:nvSpPr>
        <p:spPr>
          <a:xfrm>
            <a:off x="502920" y="1938528"/>
            <a:ext cx="2834640" cy="1133856"/>
          </a:xfrm>
          <a:prstGeom prst="roundRect">
            <a:avLst>
              <a:gd name="adj" fmla="val 4839"/>
            </a:avLst>
          </a:prstGeom>
          <a:solidFill>
            <a:srgbClr val="F3F1FC"/>
          </a:solidFill>
          <a:ln/>
        </p:spPr>
      </p:sp>
      <p:sp>
        <p:nvSpPr>
          <p:cNvPr id="6" name="Text 4"/>
          <p:cNvSpPr txBox="1"/>
          <p:nvPr/>
        </p:nvSpPr>
        <p:spPr>
          <a:xfrm>
            <a:off x="722376" y="2139696"/>
            <a:ext cx="2395728" cy="219456"/>
          </a:xfrm>
          <a:prstGeom prst="rect">
            <a:avLst/>
          </a:prstGeom>
          <a:noFill/>
          <a:ln/>
        </p:spPr>
        <p:txBody>
          <a:bodyPr wrap="square" lIns="0" tIns="0" rIns="0" bIns="0" rtlCol="0" anchor="ctr"/>
          <a:lstStyle/>
          <a:p>
            <a:pPr indent="0" marL="0">
              <a:buNone/>
            </a:pPr>
            <a:r>
              <a:rPr lang="en-US" sz="850" b="1" spc="120" kern="0" dirty="0">
                <a:solidFill>
                  <a:srgbClr val="3D6EA6"/>
                </a:solidFill>
                <a:latin typeface="Calibri" pitchFamily="34" charset="0"/>
                <a:ea typeface="Calibri" pitchFamily="34" charset="-122"/>
                <a:cs typeface="Calibri" pitchFamily="34" charset="-120"/>
              </a:rPr>
              <a:t>OBSERVED SAMPLE</a:t>
            </a:r>
            <a:endParaRPr lang="en-US" sz="850" dirty="0"/>
          </a:p>
        </p:txBody>
      </p:sp>
      <p:sp>
        <p:nvSpPr>
          <p:cNvPr id="7" name="Text 5"/>
          <p:cNvSpPr txBox="1"/>
          <p:nvPr/>
        </p:nvSpPr>
        <p:spPr>
          <a:xfrm>
            <a:off x="722376" y="2414016"/>
            <a:ext cx="2395728" cy="658368"/>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runs you actually made: these traces, this hardware, these seeds, these participants.</a:t>
            </a:r>
            <a:endParaRPr lang="en-US" sz="1050" dirty="0"/>
          </a:p>
        </p:txBody>
      </p:sp>
      <p:sp>
        <p:nvSpPr>
          <p:cNvPr id="8" name="Text 6"/>
          <p:cNvSpPr txBox="1"/>
          <p:nvPr/>
        </p:nvSpPr>
        <p:spPr>
          <a:xfrm>
            <a:off x="3337560" y="2212848"/>
            <a:ext cx="1371600" cy="219456"/>
          </a:xfrm>
          <a:prstGeom prst="rect">
            <a:avLst/>
          </a:prstGeom>
          <a:noFill/>
          <a:ln/>
        </p:spPr>
        <p:txBody>
          <a:bodyPr wrap="square" lIns="0" tIns="0" rIns="0" bIns="0" rtlCol="0" anchor="ctr"/>
          <a:lstStyle/>
          <a:p>
            <a:pPr algn="ctr" indent="0" marL="0">
              <a:buNone/>
            </a:pPr>
            <a:r>
              <a:rPr lang="en-US" sz="900" i="1" dirty="0">
                <a:solidFill>
                  <a:srgbClr val="B08C3A"/>
                </a:solidFill>
                <a:latin typeface="Calibri" pitchFamily="34" charset="0"/>
                <a:ea typeface="Calibri" pitchFamily="34" charset="-122"/>
                <a:cs typeface="Calibri" pitchFamily="34" charset="-120"/>
              </a:rPr>
              <a:t>induction</a:t>
            </a:r>
            <a:endParaRPr lang="en-US" sz="900" dirty="0"/>
          </a:p>
        </p:txBody>
      </p:sp>
      <p:sp>
        <p:nvSpPr>
          <p:cNvPr id="9" name="Text 7"/>
          <p:cNvSpPr txBox="1"/>
          <p:nvPr/>
        </p:nvSpPr>
        <p:spPr>
          <a:xfrm>
            <a:off x="3337560" y="2450592"/>
            <a:ext cx="1371600" cy="274320"/>
          </a:xfrm>
          <a:prstGeom prst="rect">
            <a:avLst/>
          </a:prstGeom>
          <a:noFill/>
          <a:ln/>
        </p:spPr>
        <p:txBody>
          <a:bodyPr wrap="square" lIns="0" tIns="0" rIns="0" bIns="0" rtlCol="0" anchor="ctr"/>
          <a:lstStyle/>
          <a:p>
            <a:pPr algn="ctr" indent="0" marL="0">
              <a:buNone/>
            </a:pPr>
            <a:r>
              <a:rPr lang="en-US" sz="1200" dirty="0">
                <a:solidFill>
                  <a:srgbClr val="D8A73E"/>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3337560" y="2743200"/>
            <a:ext cx="1371600" cy="219456"/>
          </a:xfrm>
          <a:prstGeom prst="rect">
            <a:avLst/>
          </a:prstGeom>
          <a:noFill/>
          <a:ln/>
        </p:spPr>
        <p:txBody>
          <a:bodyPr wrap="square" lIns="0" tIns="0" rIns="0" bIns="0" rtlCol="0" anchor="ctr"/>
          <a:lstStyle/>
          <a:p>
            <a:pPr algn="ctr" indent="0" marL="0">
              <a:buNone/>
            </a:pPr>
            <a:r>
              <a:rPr lang="en-US" sz="900" i="1" dirty="0">
                <a:solidFill>
                  <a:srgbClr val="8A8894"/>
                </a:solidFill>
                <a:latin typeface="Calibri" pitchFamily="34" charset="0"/>
                <a:ea typeface="Calibri" pitchFamily="34" charset="-122"/>
                <a:cs typeface="Calibri" pitchFamily="34" charset="-120"/>
              </a:rPr>
              <a:t>the warrant</a:t>
            </a:r>
            <a:endParaRPr lang="en-US" sz="900" dirty="0"/>
          </a:p>
        </p:txBody>
      </p:sp>
      <p:sp>
        <p:nvSpPr>
          <p:cNvPr id="11" name="Shape 9"/>
          <p:cNvSpPr/>
          <p:nvPr/>
        </p:nvSpPr>
        <p:spPr>
          <a:xfrm>
            <a:off x="4709160" y="1938528"/>
            <a:ext cx="2834640" cy="1133856"/>
          </a:xfrm>
          <a:prstGeom prst="roundRect">
            <a:avLst>
              <a:gd name="adj" fmla="val 4839"/>
            </a:avLst>
          </a:prstGeom>
          <a:solidFill>
            <a:srgbClr val="F6EFE4"/>
          </a:solidFill>
          <a:ln/>
        </p:spPr>
      </p:sp>
      <p:sp>
        <p:nvSpPr>
          <p:cNvPr id="12" name="Text 10"/>
          <p:cNvSpPr txBox="1"/>
          <p:nvPr/>
        </p:nvSpPr>
        <p:spPr>
          <a:xfrm>
            <a:off x="4928616" y="2139696"/>
            <a:ext cx="2395728" cy="219456"/>
          </a:xfrm>
          <a:prstGeom prst="rect">
            <a:avLst/>
          </a:prstGeom>
          <a:noFill/>
          <a:ln/>
        </p:spPr>
        <p:txBody>
          <a:bodyPr wrap="square" lIns="0" tIns="0" rIns="0" bIns="0" rtlCol="0" anchor="ctr"/>
          <a:lstStyle/>
          <a:p>
            <a:pPr indent="0" marL="0">
              <a:buNone/>
            </a:pPr>
            <a:r>
              <a:rPr lang="en-US" sz="850" b="1" spc="120" kern="0" dirty="0">
                <a:solidFill>
                  <a:srgbClr val="B08C3A"/>
                </a:solidFill>
                <a:latin typeface="Calibri" pitchFamily="34" charset="0"/>
                <a:ea typeface="Calibri" pitchFamily="34" charset="-122"/>
                <a:cs typeface="Calibri" pitchFamily="34" charset="-120"/>
              </a:rPr>
              <a:t>UNOBSERVED POPULATION</a:t>
            </a:r>
            <a:endParaRPr lang="en-US" sz="850" dirty="0"/>
          </a:p>
        </p:txBody>
      </p:sp>
      <p:sp>
        <p:nvSpPr>
          <p:cNvPr id="13" name="Text 11"/>
          <p:cNvSpPr txBox="1"/>
          <p:nvPr/>
        </p:nvSpPr>
        <p:spPr>
          <a:xfrm>
            <a:off x="4928616" y="2414016"/>
            <a:ext cx="2395728" cy="658368"/>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Every workload, machine, dataset and user your claim silently ranges over.</a:t>
            </a:r>
            <a:endParaRPr lang="en-US" sz="1050" dirty="0"/>
          </a:p>
        </p:txBody>
      </p:sp>
      <p:sp>
        <p:nvSpPr>
          <p:cNvPr id="14" name="Shape 12"/>
          <p:cNvSpPr/>
          <p:nvPr/>
        </p:nvSpPr>
        <p:spPr>
          <a:xfrm>
            <a:off x="502920" y="3502152"/>
            <a:ext cx="109728" cy="109728"/>
          </a:xfrm>
          <a:prstGeom prst="ellipse">
            <a:avLst/>
          </a:prstGeom>
          <a:solidFill>
            <a:srgbClr val="3D6EA6"/>
          </a:solidFill>
          <a:ln/>
        </p:spPr>
      </p:sp>
      <p:sp>
        <p:nvSpPr>
          <p:cNvPr id="15" name="Text 13"/>
          <p:cNvSpPr txBox="1"/>
          <p:nvPr/>
        </p:nvSpPr>
        <p:spPr>
          <a:xfrm>
            <a:off x="813816" y="3419856"/>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Every result is a sample; every claim is about a population.</a:t>
            </a:r>
            <a:endParaRPr lang="en-US" sz="1300" dirty="0"/>
          </a:p>
        </p:txBody>
      </p:sp>
      <p:sp>
        <p:nvSpPr>
          <p:cNvPr id="16" name="Text 14"/>
          <p:cNvSpPr txBox="1"/>
          <p:nvPr/>
        </p:nvSpPr>
        <p:spPr>
          <a:xfrm>
            <a:off x="813816" y="3712464"/>
            <a:ext cx="6729984" cy="676656"/>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The measurement is not the contested part. The inference from the sample to the population is — and that inference is exactly Toulmin's warrant.</a:t>
            </a:r>
            <a:endParaRPr lang="en-US" sz="1050" dirty="0"/>
          </a:p>
        </p:txBody>
      </p:sp>
      <p:sp>
        <p:nvSpPr>
          <p:cNvPr id="17" name="Shape 15"/>
          <p:cNvSpPr/>
          <p:nvPr/>
        </p:nvSpPr>
        <p:spPr>
          <a:xfrm>
            <a:off x="502920" y="4507992"/>
            <a:ext cx="109728" cy="109728"/>
          </a:xfrm>
          <a:prstGeom prst="ellipse">
            <a:avLst/>
          </a:prstGeom>
          <a:solidFill>
            <a:srgbClr val="3D6EA6"/>
          </a:solidFill>
          <a:ln/>
        </p:spPr>
      </p:sp>
      <p:sp>
        <p:nvSpPr>
          <p:cNvPr id="18" name="Text 16"/>
          <p:cNvSpPr txBox="1"/>
          <p:nvPr/>
        </p:nvSpPr>
        <p:spPr>
          <a:xfrm>
            <a:off x="813816" y="4425696"/>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The warrant is never free.</a:t>
            </a:r>
            <a:endParaRPr lang="en-US" sz="1300" dirty="0"/>
          </a:p>
        </p:txBody>
      </p:sp>
      <p:sp>
        <p:nvSpPr>
          <p:cNvPr id="19" name="Text 17"/>
          <p:cNvSpPr txBox="1"/>
          <p:nvPr/>
        </p:nvSpPr>
        <p:spPr>
          <a:xfrm>
            <a:off x="813816" y="4718304"/>
            <a:ext cx="6729984" cy="676656"/>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It is bought with sampling design, controls, repetition and statistics. Skip the purchase and the leap is unlicensed, however carefully the numbers were collected.</a:t>
            </a:r>
            <a:endParaRPr lang="en-US" sz="1050" dirty="0"/>
          </a:p>
        </p:txBody>
      </p:sp>
      <p:sp>
        <p:nvSpPr>
          <p:cNvPr id="20" name="Shape 18"/>
          <p:cNvSpPr/>
          <p:nvPr/>
        </p:nvSpPr>
        <p:spPr>
          <a:xfrm>
            <a:off x="502920" y="5513832"/>
            <a:ext cx="109728" cy="109728"/>
          </a:xfrm>
          <a:prstGeom prst="ellipse">
            <a:avLst/>
          </a:prstGeom>
          <a:solidFill>
            <a:srgbClr val="3D6EA6"/>
          </a:solidFill>
          <a:ln/>
        </p:spPr>
      </p:sp>
      <p:sp>
        <p:nvSpPr>
          <p:cNvPr id="21" name="Text 19"/>
          <p:cNvSpPr txBox="1"/>
          <p:nvPr/>
        </p:nvSpPr>
        <p:spPr>
          <a:xfrm>
            <a:off x="813816" y="5431536"/>
            <a:ext cx="6729984" cy="256032"/>
          </a:xfrm>
          <a:prstGeom prst="rect">
            <a:avLst/>
          </a:prstGeom>
          <a:noFill/>
          <a:ln/>
        </p:spPr>
        <p:txBody>
          <a:bodyPr wrap="square" lIns="0" tIns="0" rIns="0" bIns="0" rtlCol="0" anchor="t"/>
          <a:lstStyle/>
          <a:p>
            <a:pPr indent="0" marL="0">
              <a:buNone/>
            </a:pPr>
            <a:r>
              <a:rPr lang="en-US" sz="1300" b="1" dirty="0">
                <a:solidFill>
                  <a:srgbClr val="241A4C"/>
                </a:solidFill>
                <a:latin typeface="Cambria" pitchFamily="34" charset="0"/>
                <a:ea typeface="Cambria" pitchFamily="34" charset="-122"/>
                <a:cs typeface="Cambria" pitchFamily="34" charset="-120"/>
              </a:rPr>
              <a:t>Hume's problem, in modern dress.</a:t>
            </a:r>
            <a:endParaRPr lang="en-US" sz="1300" dirty="0"/>
          </a:p>
        </p:txBody>
      </p:sp>
      <p:sp>
        <p:nvSpPr>
          <p:cNvPr id="22" name="Text 20"/>
          <p:cNvSpPr txBox="1"/>
          <p:nvPr/>
        </p:nvSpPr>
        <p:spPr>
          <a:xfrm>
            <a:off x="813816" y="5724144"/>
            <a:ext cx="6729984" cy="676656"/>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No finite set of benchmark runs entails the next one. Empirical proof buys graded confidence, never necessity — which is why its claims must carry qualifiers.</a:t>
            </a:r>
            <a:endParaRPr lang="en-US" sz="1050" dirty="0"/>
          </a:p>
        </p:txBody>
      </p:sp>
      <p:sp>
        <p:nvSpPr>
          <p:cNvPr id="23" name="Shape 21"/>
          <p:cNvSpPr/>
          <p:nvPr/>
        </p:nvSpPr>
        <p:spPr>
          <a:xfrm>
            <a:off x="7818120" y="1938528"/>
            <a:ext cx="3867912" cy="4114800"/>
          </a:xfrm>
          <a:prstGeom prst="roundRect">
            <a:avLst>
              <a:gd name="adj" fmla="val 1182"/>
            </a:avLst>
          </a:prstGeom>
          <a:solidFill>
            <a:srgbClr val="F3F1FC"/>
          </a:solidFill>
          <a:ln/>
        </p:spPr>
      </p:sp>
      <p:sp>
        <p:nvSpPr>
          <p:cNvPr id="24" name="Text 22"/>
          <p:cNvSpPr txBox="1"/>
          <p:nvPr/>
        </p:nvSpPr>
        <p:spPr>
          <a:xfrm>
            <a:off x="8092440" y="2212848"/>
            <a:ext cx="3319272"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DISTINCTION THAT MATTERS</a:t>
            </a:r>
            <a:endParaRPr lang="en-US" sz="850" dirty="0"/>
          </a:p>
        </p:txBody>
      </p:sp>
      <p:sp>
        <p:nvSpPr>
          <p:cNvPr id="25" name="Text 23"/>
          <p:cNvSpPr txBox="1"/>
          <p:nvPr/>
        </p:nvSpPr>
        <p:spPr>
          <a:xfrm>
            <a:off x="8092440" y="2615184"/>
            <a:ext cx="3319272" cy="1737360"/>
          </a:xfrm>
          <a:prstGeom prst="rect">
            <a:avLst/>
          </a:prstGeom>
          <a:noFill/>
          <a:ln/>
        </p:spPr>
        <p:txBody>
          <a:bodyPr wrap="square" lIns="0" tIns="0" rIns="0" bIns="0" rtlCol="0" anchor="t"/>
          <a:lstStyle/>
          <a:p>
            <a:pPr indent="0" marL="0">
              <a:lnSpc>
                <a:spcPct val="115000"/>
              </a:lnSpc>
              <a:buNone/>
            </a:pPr>
            <a:r>
              <a:rPr lang="en-US" sz="1500" dirty="0">
                <a:solidFill>
                  <a:srgbClr val="241A4C"/>
                </a:solidFill>
                <a:latin typeface="Cambria" pitchFamily="34" charset="0"/>
                <a:ea typeface="Cambria" pitchFamily="34" charset="-122"/>
                <a:cs typeface="Cambria" pitchFamily="34" charset="-120"/>
              </a:rPr>
              <a:t>A benchmark result is a measurement.</a:t>
            </a:r>
            <a:endParaRPr lang="en-US" sz="1500" dirty="0"/>
          </a:p>
          <a:p>
            <a:pPr indent="0" marL="0">
              <a:lnSpc>
                <a:spcPct val="115000"/>
              </a:lnSpc>
              <a:buNone/>
            </a:pPr>
            <a:endParaRPr lang="en-US" sz="1500" dirty="0"/>
          </a:p>
          <a:p>
            <a:pPr indent="0" marL="0">
              <a:lnSpc>
                <a:spcPct val="115000"/>
              </a:lnSpc>
              <a:buNone/>
            </a:pPr>
            <a:r>
              <a:rPr lang="en-US" sz="1500" dirty="0">
                <a:solidFill>
                  <a:srgbClr val="241A4C"/>
                </a:solidFill>
                <a:latin typeface="Cambria" pitchFamily="34" charset="0"/>
                <a:ea typeface="Cambria" pitchFamily="34" charset="-122"/>
                <a:cs typeface="Cambria" pitchFamily="34" charset="-120"/>
              </a:rPr>
              <a:t>A benchmark claim is an inference.</a:t>
            </a:r>
            <a:endParaRPr lang="en-US" sz="1500" dirty="0"/>
          </a:p>
          <a:p>
            <a:pPr indent="0" marL="0">
              <a:lnSpc>
                <a:spcPct val="115000"/>
              </a:lnSpc>
              <a:buNone/>
            </a:pPr>
            <a:endParaRPr lang="en-US" sz="1500" dirty="0"/>
          </a:p>
          <a:p>
            <a:pPr indent="0" marL="0">
              <a:lnSpc>
                <a:spcPct val="115000"/>
              </a:lnSpc>
              <a:buNone/>
            </a:pPr>
            <a:r>
              <a:rPr lang="en-US" sz="1500" dirty="0">
                <a:solidFill>
                  <a:srgbClr val="241A4C"/>
                </a:solidFill>
                <a:latin typeface="Cambria" pitchFamily="34" charset="0"/>
                <a:ea typeface="Cambria" pitchFamily="34" charset="-122"/>
                <a:cs typeface="Cambria" pitchFamily="34" charset="-120"/>
              </a:rPr>
              <a:t>Reviewers attack the second.</a:t>
            </a:r>
            <a:endParaRPr lang="en-US" sz="1500" dirty="0"/>
          </a:p>
        </p:txBody>
      </p:sp>
      <p:sp>
        <p:nvSpPr>
          <p:cNvPr id="26" name="Shape 24"/>
          <p:cNvSpPr/>
          <p:nvPr/>
        </p:nvSpPr>
        <p:spPr>
          <a:xfrm>
            <a:off x="8092440" y="4480560"/>
            <a:ext cx="1371600" cy="0"/>
          </a:xfrm>
          <a:prstGeom prst="line">
            <a:avLst/>
          </a:prstGeom>
          <a:noFill/>
          <a:ln w="15875">
            <a:solidFill>
              <a:srgbClr val="D8A73E"/>
            </a:solidFill>
            <a:prstDash val="solid"/>
          </a:ln>
        </p:spPr>
      </p:sp>
      <p:sp>
        <p:nvSpPr>
          <p:cNvPr id="27" name="Text 25"/>
          <p:cNvSpPr txBox="1"/>
          <p:nvPr/>
        </p:nvSpPr>
        <p:spPr>
          <a:xfrm>
            <a:off x="8092440" y="4663440"/>
            <a:ext cx="3319272" cy="118872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This is why an empirical claim with no stated population is not merely imprecise — it is unfalsifiable. Nothing could count against a claim that never said what it was about.</a:t>
            </a:r>
            <a:endParaRPr lang="en-US" sz="1100" dirty="0"/>
          </a:p>
        </p:txBody>
      </p:sp>
      <p:sp>
        <p:nvSpPr>
          <p:cNvPr id="28" name="Text 2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9" name="Text 2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10 / 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EMPIRICAL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Anatomy of an Empirical Study</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Five stages. The order is not a convention — it is what makes the result falsifiable at all.</a:t>
            </a:r>
            <a:endParaRPr lang="en-US" sz="1250" dirty="0"/>
          </a:p>
        </p:txBody>
      </p:sp>
      <p:sp>
        <p:nvSpPr>
          <p:cNvPr id="5" name="Shape 3"/>
          <p:cNvSpPr/>
          <p:nvPr/>
        </p:nvSpPr>
        <p:spPr>
          <a:xfrm>
            <a:off x="502920" y="1938528"/>
            <a:ext cx="384048" cy="384048"/>
          </a:xfrm>
          <a:prstGeom prst="ellipse">
            <a:avLst/>
          </a:prstGeom>
          <a:solidFill>
            <a:srgbClr val="3D6EA6"/>
          </a:solidFill>
          <a:ln/>
        </p:spPr>
      </p:sp>
      <p:sp>
        <p:nvSpPr>
          <p:cNvPr id="6" name="Text 4"/>
          <p:cNvSpPr txBox="1"/>
          <p:nvPr/>
        </p:nvSpPr>
        <p:spPr>
          <a:xfrm>
            <a:off x="502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502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Hypothesis</a:t>
            </a:r>
            <a:endParaRPr lang="en-US" sz="1450" dirty="0"/>
          </a:p>
        </p:txBody>
      </p:sp>
      <p:sp>
        <p:nvSpPr>
          <p:cNvPr id="8" name="Text 6"/>
          <p:cNvSpPr txBox="1"/>
          <p:nvPr/>
        </p:nvSpPr>
        <p:spPr>
          <a:xfrm>
            <a:off x="502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A falsifiable statement naming the comparison, the metric, and the expected direction. “X reduces P99 latency versus Y on read-heavy traces.”</a:t>
            </a:r>
            <a:endParaRPr lang="en-US" sz="1050" dirty="0"/>
          </a:p>
        </p:txBody>
      </p:sp>
      <p:sp>
        <p:nvSpPr>
          <p:cNvPr id="9" name="Text 7"/>
          <p:cNvSpPr txBox="1"/>
          <p:nvPr/>
        </p:nvSpPr>
        <p:spPr>
          <a:xfrm>
            <a:off x="2487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788920" y="1938528"/>
            <a:ext cx="384048" cy="384048"/>
          </a:xfrm>
          <a:prstGeom prst="ellipse">
            <a:avLst/>
          </a:prstGeom>
          <a:solidFill>
            <a:srgbClr val="3D6EA6"/>
          </a:solidFill>
          <a:ln/>
        </p:spPr>
      </p:sp>
      <p:sp>
        <p:nvSpPr>
          <p:cNvPr id="11" name="Text 9"/>
          <p:cNvSpPr txBox="1"/>
          <p:nvPr/>
        </p:nvSpPr>
        <p:spPr>
          <a:xfrm>
            <a:off x="2788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2788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Design</a:t>
            </a:r>
            <a:endParaRPr lang="en-US" sz="1450" dirty="0"/>
          </a:p>
        </p:txBody>
      </p:sp>
      <p:sp>
        <p:nvSpPr>
          <p:cNvPr id="13" name="Text 11"/>
          <p:cNvSpPr txBox="1"/>
          <p:nvPr/>
        </p:nvSpPr>
        <p:spPr>
          <a:xfrm>
            <a:off x="2788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Subjects, factors, levels, controls, and sample size — fixed before any data is seen. Pre-registration in SE and HCI formalises exactly this.</a:t>
            </a:r>
            <a:endParaRPr lang="en-US" sz="1050" dirty="0"/>
          </a:p>
        </p:txBody>
      </p:sp>
      <p:sp>
        <p:nvSpPr>
          <p:cNvPr id="14" name="Text 12"/>
          <p:cNvSpPr txBox="1"/>
          <p:nvPr/>
        </p:nvSpPr>
        <p:spPr>
          <a:xfrm>
            <a:off x="4773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074920" y="1938528"/>
            <a:ext cx="384048" cy="384048"/>
          </a:xfrm>
          <a:prstGeom prst="ellipse">
            <a:avLst/>
          </a:prstGeom>
          <a:solidFill>
            <a:srgbClr val="3D6EA6"/>
          </a:solidFill>
          <a:ln/>
        </p:spPr>
      </p:sp>
      <p:sp>
        <p:nvSpPr>
          <p:cNvPr id="16" name="Text 14"/>
          <p:cNvSpPr txBox="1"/>
          <p:nvPr/>
        </p:nvSpPr>
        <p:spPr>
          <a:xfrm>
            <a:off x="5074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5074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Measurement</a:t>
            </a:r>
            <a:endParaRPr lang="en-US" sz="1450" dirty="0"/>
          </a:p>
        </p:txBody>
      </p:sp>
      <p:sp>
        <p:nvSpPr>
          <p:cNvPr id="18" name="Text 16"/>
          <p:cNvSpPr txBox="1"/>
          <p:nvPr/>
        </p:nvSpPr>
        <p:spPr>
          <a:xfrm>
            <a:off x="5074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Instrumented, repeated runs. Warm-up discarded, confounds held constant, seeds recorded, environment pinned.</a:t>
            </a:r>
            <a:endParaRPr lang="en-US" sz="1050" dirty="0"/>
          </a:p>
        </p:txBody>
      </p:sp>
      <p:sp>
        <p:nvSpPr>
          <p:cNvPr id="19" name="Text 17"/>
          <p:cNvSpPr txBox="1"/>
          <p:nvPr/>
        </p:nvSpPr>
        <p:spPr>
          <a:xfrm>
            <a:off x="7059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7360920" y="1938528"/>
            <a:ext cx="384048" cy="384048"/>
          </a:xfrm>
          <a:prstGeom prst="ellipse">
            <a:avLst/>
          </a:prstGeom>
          <a:solidFill>
            <a:srgbClr val="3D6EA6"/>
          </a:solidFill>
          <a:ln/>
        </p:spPr>
      </p:sp>
      <p:sp>
        <p:nvSpPr>
          <p:cNvPr id="21" name="Text 19"/>
          <p:cNvSpPr txBox="1"/>
          <p:nvPr/>
        </p:nvSpPr>
        <p:spPr>
          <a:xfrm>
            <a:off x="7360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7360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Analysis</a:t>
            </a:r>
            <a:endParaRPr lang="en-US" sz="1450" dirty="0"/>
          </a:p>
        </p:txBody>
      </p:sp>
      <p:sp>
        <p:nvSpPr>
          <p:cNvPr id="23" name="Text 21"/>
          <p:cNvSpPr txBox="1"/>
          <p:nvPr/>
        </p:nvSpPr>
        <p:spPr>
          <a:xfrm>
            <a:off x="7360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Effect size first, significance second, dispersion always. Tests chosen for the data's actual distribution, not for convenience.</a:t>
            </a:r>
            <a:endParaRPr lang="en-US" sz="1050" dirty="0"/>
          </a:p>
        </p:txBody>
      </p:sp>
      <p:sp>
        <p:nvSpPr>
          <p:cNvPr id="24" name="Text 22"/>
          <p:cNvSpPr txBox="1"/>
          <p:nvPr/>
        </p:nvSpPr>
        <p:spPr>
          <a:xfrm>
            <a:off x="9345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9646920" y="1938528"/>
            <a:ext cx="384048" cy="384048"/>
          </a:xfrm>
          <a:prstGeom prst="ellipse">
            <a:avLst/>
          </a:prstGeom>
          <a:solidFill>
            <a:srgbClr val="B08C3A"/>
          </a:solidFill>
          <a:ln/>
        </p:spPr>
      </p:sp>
      <p:sp>
        <p:nvSpPr>
          <p:cNvPr id="26" name="Text 24"/>
          <p:cNvSpPr txBox="1"/>
          <p:nvPr/>
        </p:nvSpPr>
        <p:spPr>
          <a:xfrm>
            <a:off x="9646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7" name="Text 25"/>
          <p:cNvSpPr txBox="1"/>
          <p:nvPr/>
        </p:nvSpPr>
        <p:spPr>
          <a:xfrm>
            <a:off x="9646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Inference</a:t>
            </a:r>
            <a:endParaRPr lang="en-US" sz="1450" dirty="0"/>
          </a:p>
        </p:txBody>
      </p:sp>
      <p:sp>
        <p:nvSpPr>
          <p:cNvPr id="28" name="Text 26"/>
          <p:cNvSpPr txBox="1"/>
          <p:nvPr/>
        </p:nvSpPr>
        <p:spPr>
          <a:xfrm>
            <a:off x="9646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The claim, qualified down to the population the design can genuinely support — and no further than that.</a:t>
            </a:r>
            <a:endParaRPr lang="en-US" sz="1050" dirty="0"/>
          </a:p>
        </p:txBody>
      </p:sp>
      <p:sp>
        <p:nvSpPr>
          <p:cNvPr id="29" name="Shape 27"/>
          <p:cNvSpPr/>
          <p:nvPr/>
        </p:nvSpPr>
        <p:spPr>
          <a:xfrm>
            <a:off x="502920" y="4681728"/>
            <a:ext cx="11183112" cy="1133856"/>
          </a:xfrm>
          <a:prstGeom prst="roundRect">
            <a:avLst>
              <a:gd name="adj" fmla="val 4032"/>
            </a:avLst>
          </a:prstGeom>
          <a:solidFill>
            <a:srgbClr val="F3F1FC"/>
          </a:solidFill>
          <a:ln/>
        </p:spPr>
      </p:sp>
      <p:sp>
        <p:nvSpPr>
          <p:cNvPr id="30" name="Text 28"/>
          <p:cNvSpPr txBox="1"/>
          <p:nvPr/>
        </p:nvSpPr>
        <p:spPr>
          <a:xfrm>
            <a:off x="795528" y="4846320"/>
            <a:ext cx="4572000"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WHY THE ORDER IS LOAD-BEARING</a:t>
            </a:r>
            <a:endParaRPr lang="en-US" sz="850" dirty="0"/>
          </a:p>
        </p:txBody>
      </p:sp>
      <p:sp>
        <p:nvSpPr>
          <p:cNvPr id="31" name="Text 29"/>
          <p:cNvSpPr txBox="1"/>
          <p:nvPr/>
        </p:nvSpPr>
        <p:spPr>
          <a:xfrm>
            <a:off x="795528" y="5084064"/>
            <a:ext cx="10597896" cy="603504"/>
          </a:xfrm>
          <a:prstGeom prst="rect">
            <a:avLst/>
          </a:prstGeom>
          <a:noFill/>
          <a:ln/>
        </p:spPr>
        <p:txBody>
          <a:bodyPr wrap="square" lIns="0" tIns="0" rIns="0" bIns="0" rtlCol="0" anchor="t"/>
          <a:lstStyle/>
          <a:p>
            <a:pPr indent="0" marL="0">
              <a:lnSpc>
                <a:spcPct val="118000"/>
              </a:lnSpc>
              <a:buNone/>
            </a:pPr>
            <a:r>
              <a:rPr lang="en-US" sz="1100" dirty="0">
                <a:solidFill>
                  <a:srgbClr val="5C5A66"/>
                </a:solidFill>
                <a:latin typeface="Calibri" pitchFamily="34" charset="0"/>
                <a:ea typeface="Calibri" pitchFamily="34" charset="-122"/>
                <a:cs typeface="Calibri" pitchFamily="34" charset="-120"/>
              </a:rPr>
              <a:t>Stages 1 and 2 must precede stage 3. Fix the hypothesis after seeing the data and every subsequent p-value is meaningless: the analysis is now guaranteed to confirm whatever the data happened to show. Reordering these stages is the mechanism behind HARKing, p-hacking, and the replication crisis — and it silently converts an empirical study into an elaborate description of noise.</a:t>
            </a:r>
            <a:endParaRPr lang="en-US" sz="1100" dirty="0"/>
          </a:p>
        </p:txBody>
      </p:sp>
      <p:sp>
        <p:nvSpPr>
          <p:cNvPr id="32" name="Text 3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3" name="Text 3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11 / 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EMPIRICAL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Benchmarks, Baselines, and Controls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Three design decisions that determine whether measurements are admissible at all — made before the first run, not defended after the last.</a:t>
            </a:r>
            <a:endParaRPr lang="en-US" sz="1250" dirty="0"/>
          </a:p>
        </p:txBody>
      </p:sp>
      <p:sp>
        <p:nvSpPr>
          <p:cNvPr id="5" name="Shape 3"/>
          <p:cNvSpPr/>
          <p:nvPr/>
        </p:nvSpPr>
        <p:spPr>
          <a:xfrm>
            <a:off x="502920" y="1938528"/>
            <a:ext cx="3502152" cy="3200400"/>
          </a:xfrm>
          <a:prstGeom prst="roundRect">
            <a:avLst>
              <a:gd name="adj" fmla="val 1429"/>
            </a:avLst>
          </a:prstGeom>
          <a:solidFill>
            <a:srgbClr val="F3F1FC"/>
          </a:solidFill>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THE POPULATION, MADE CONCRETE</a:t>
            </a:r>
            <a:endParaRPr lang="en-US" sz="800" dirty="0"/>
          </a:p>
        </p:txBody>
      </p:sp>
      <p:sp>
        <p:nvSpPr>
          <p:cNvPr id="7" name="Text 5"/>
          <p:cNvSpPr txBox="1"/>
          <p:nvPr/>
        </p:nvSpPr>
        <p:spPr>
          <a:xfrm>
            <a:off x="758952" y="2395728"/>
            <a:ext cx="2990088" cy="347472"/>
          </a:xfrm>
          <a:prstGeom prst="rect">
            <a:avLst/>
          </a:prstGeom>
          <a:noFill/>
          <a:ln/>
        </p:spPr>
        <p:txBody>
          <a:bodyPr wrap="square" lIns="0" tIns="0" rIns="0" bIns="0" rtlCol="0" anchor="ctr"/>
          <a:lstStyle/>
          <a:p>
            <a:pPr indent="0" marL="0">
              <a:buNone/>
            </a:pPr>
            <a:r>
              <a:rPr lang="en-US" sz="1900" b="1" dirty="0">
                <a:solidFill>
                  <a:srgbClr val="241A4C"/>
                </a:solidFill>
                <a:latin typeface="Cambria" pitchFamily="34" charset="0"/>
                <a:ea typeface="Cambria" pitchFamily="34" charset="-122"/>
                <a:cs typeface="Cambria" pitchFamily="34" charset="-120"/>
              </a:rPr>
              <a:t>Benchmark</a:t>
            </a:r>
            <a:endParaRPr lang="en-US" sz="1900" dirty="0"/>
          </a:p>
        </p:txBody>
      </p:sp>
      <p:sp>
        <p:nvSpPr>
          <p:cNvPr id="8" name="Text 6"/>
          <p:cNvSpPr txBox="1"/>
          <p:nvPr/>
        </p:nvSpPr>
        <p:spPr>
          <a:xfrm>
            <a:off x="758952" y="2834640"/>
            <a:ext cx="2990088" cy="13716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workload standing in for everything your claim ranges over. It must be representative of that population, publicly available so others can re-run it, and chosen before you see which one flatters your method.</a:t>
            </a:r>
            <a:endParaRPr lang="en-US" sz="1100" dirty="0"/>
          </a:p>
        </p:txBody>
      </p:sp>
      <p:sp>
        <p:nvSpPr>
          <p:cNvPr id="9" name="Text 7"/>
          <p:cNvSpPr txBox="1"/>
          <p:nvPr/>
        </p:nvSpPr>
        <p:spPr>
          <a:xfrm>
            <a:off x="758952" y="4261104"/>
            <a:ext cx="2990088" cy="713232"/>
          </a:xfrm>
          <a:prstGeom prst="rect">
            <a:avLst/>
          </a:prstGeom>
          <a:noFill/>
          <a:ln/>
        </p:spPr>
        <p:txBody>
          <a:bodyPr wrap="square" lIns="0" tIns="0" rIns="0" bIns="0" rtlCol="0" anchor="t"/>
          <a:lstStyle/>
          <a:p>
            <a:pPr indent="0" marL="0">
              <a:lnSpc>
                <a:spcPct val="118000"/>
              </a:lnSpc>
              <a:buNone/>
            </a:pPr>
            <a:r>
              <a:rPr lang="en-US" sz="1000" i="1" dirty="0">
                <a:solidFill>
                  <a:srgbClr val="3D6EA6"/>
                </a:solidFill>
                <a:latin typeface="Calibri" pitchFamily="34" charset="0"/>
                <a:ea typeface="Calibri" pitchFamily="34" charset="-122"/>
                <a:cs typeface="Calibri" pitchFamily="34" charset="-120"/>
              </a:rPr>
              <a:t>Risk: a whole subfield over-fitting to one dataset, until progress on the benchmark stops tracking progress on the problem.</a:t>
            </a:r>
            <a:endParaRPr lang="en-US" sz="1000" dirty="0"/>
          </a:p>
        </p:txBody>
      </p:sp>
      <p:sp>
        <p:nvSpPr>
          <p:cNvPr id="10" name="Shape 8"/>
          <p:cNvSpPr/>
          <p:nvPr/>
        </p:nvSpPr>
        <p:spPr>
          <a:xfrm>
            <a:off x="4343400" y="1938528"/>
            <a:ext cx="3502152" cy="3200400"/>
          </a:xfrm>
          <a:prstGeom prst="roundRect">
            <a:avLst>
              <a:gd name="adj" fmla="val 1429"/>
            </a:avLst>
          </a:prstGeom>
          <a:solidFill>
            <a:srgbClr val="F3F1FC"/>
          </a:solidFill>
          <a:ln/>
        </p:spPr>
      </p:sp>
      <p:sp>
        <p:nvSpPr>
          <p:cNvPr id="11" name="Text 9"/>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THE ALTERNATIVE, AT FULL STRENGTH</a:t>
            </a:r>
            <a:endParaRPr lang="en-US" sz="800" dirty="0"/>
          </a:p>
        </p:txBody>
      </p:sp>
      <p:sp>
        <p:nvSpPr>
          <p:cNvPr id="12" name="Text 10"/>
          <p:cNvSpPr txBox="1"/>
          <p:nvPr/>
        </p:nvSpPr>
        <p:spPr>
          <a:xfrm>
            <a:off x="4599432" y="2395728"/>
            <a:ext cx="2990088" cy="347472"/>
          </a:xfrm>
          <a:prstGeom prst="rect">
            <a:avLst/>
          </a:prstGeom>
          <a:noFill/>
          <a:ln/>
        </p:spPr>
        <p:txBody>
          <a:bodyPr wrap="square" lIns="0" tIns="0" rIns="0" bIns="0" rtlCol="0" anchor="ctr"/>
          <a:lstStyle/>
          <a:p>
            <a:pPr indent="0" marL="0">
              <a:buNone/>
            </a:pPr>
            <a:r>
              <a:rPr lang="en-US" sz="1900" b="1" dirty="0">
                <a:solidFill>
                  <a:srgbClr val="241A4C"/>
                </a:solidFill>
                <a:latin typeface="Cambria" pitchFamily="34" charset="0"/>
                <a:ea typeface="Cambria" pitchFamily="34" charset="-122"/>
                <a:cs typeface="Cambria" pitchFamily="34" charset="-120"/>
              </a:rPr>
              <a:t>Baseline</a:t>
            </a:r>
            <a:endParaRPr lang="en-US" sz="1900" dirty="0"/>
          </a:p>
        </p:txBody>
      </p:sp>
      <p:sp>
        <p:nvSpPr>
          <p:cNvPr id="13" name="Text 11"/>
          <p:cNvSpPr txBox="1"/>
          <p:nvPr/>
        </p:nvSpPr>
        <p:spPr>
          <a:xfrm>
            <a:off x="4599432" y="2834640"/>
            <a:ext cx="2990088" cy="13716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strongest reasonable competitor, tuned with the same care and the same effort budget as your own system. Use the current state of the art, not the version that was current when you started.</a:t>
            </a:r>
            <a:endParaRPr lang="en-US" sz="1100" dirty="0"/>
          </a:p>
        </p:txBody>
      </p:sp>
      <p:sp>
        <p:nvSpPr>
          <p:cNvPr id="14" name="Text 12"/>
          <p:cNvSpPr txBox="1"/>
          <p:nvPr/>
        </p:nvSpPr>
        <p:spPr>
          <a:xfrm>
            <a:off x="4599432" y="4261104"/>
            <a:ext cx="2990088" cy="713232"/>
          </a:xfrm>
          <a:prstGeom prst="rect">
            <a:avLst/>
          </a:prstGeom>
          <a:noFill/>
          <a:ln/>
        </p:spPr>
        <p:txBody>
          <a:bodyPr wrap="square" lIns="0" tIns="0" rIns="0" bIns="0" rtlCol="0" anchor="t"/>
          <a:lstStyle/>
          <a:p>
            <a:pPr indent="0" marL="0">
              <a:lnSpc>
                <a:spcPct val="118000"/>
              </a:lnSpc>
              <a:buNone/>
            </a:pPr>
            <a:r>
              <a:rPr lang="en-US" sz="1000" i="1" dirty="0">
                <a:solidFill>
                  <a:srgbClr val="B4522B"/>
                </a:solidFill>
                <a:latin typeface="Calibri" pitchFamily="34" charset="0"/>
                <a:ea typeface="Calibri" pitchFamily="34" charset="-122"/>
                <a:cs typeface="Calibri" pitchFamily="34" charset="-120"/>
              </a:rPr>
              <a:t>Risk: an untuned or outdated baseline turns a comparison into a strawman, and the result evaporates the moment someone tunes it.</a:t>
            </a:r>
            <a:endParaRPr lang="en-US" sz="1000" dirty="0"/>
          </a:p>
        </p:txBody>
      </p:sp>
      <p:sp>
        <p:nvSpPr>
          <p:cNvPr id="15" name="Shape 13"/>
          <p:cNvSpPr/>
          <p:nvPr/>
        </p:nvSpPr>
        <p:spPr>
          <a:xfrm>
            <a:off x="8183880" y="1938528"/>
            <a:ext cx="3502152" cy="3200400"/>
          </a:xfrm>
          <a:prstGeom prst="roundRect">
            <a:avLst>
              <a:gd name="adj" fmla="val 1429"/>
            </a:avLst>
          </a:prstGeom>
          <a:solidFill>
            <a:srgbClr val="F3F1FC"/>
          </a:solidFill>
          <a:ln/>
        </p:spPr>
      </p:sp>
      <p:sp>
        <p:nvSpPr>
          <p:cNvPr id="16" name="Text 14"/>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EVERYTHING ELSE, HELD STILL</a:t>
            </a:r>
            <a:endParaRPr lang="en-US" sz="800" dirty="0"/>
          </a:p>
        </p:txBody>
      </p:sp>
      <p:sp>
        <p:nvSpPr>
          <p:cNvPr id="17" name="Text 15"/>
          <p:cNvSpPr txBox="1"/>
          <p:nvPr/>
        </p:nvSpPr>
        <p:spPr>
          <a:xfrm>
            <a:off x="8439912" y="2395728"/>
            <a:ext cx="2990088" cy="347472"/>
          </a:xfrm>
          <a:prstGeom prst="rect">
            <a:avLst/>
          </a:prstGeom>
          <a:noFill/>
          <a:ln/>
        </p:spPr>
        <p:txBody>
          <a:bodyPr wrap="square" lIns="0" tIns="0" rIns="0" bIns="0" rtlCol="0" anchor="ctr"/>
          <a:lstStyle/>
          <a:p>
            <a:pPr indent="0" marL="0">
              <a:buNone/>
            </a:pPr>
            <a:r>
              <a:rPr lang="en-US" sz="1900" b="1" dirty="0">
                <a:solidFill>
                  <a:srgbClr val="241A4C"/>
                </a:solidFill>
                <a:latin typeface="Cambria" pitchFamily="34" charset="0"/>
                <a:ea typeface="Cambria" pitchFamily="34" charset="-122"/>
                <a:cs typeface="Cambria" pitchFamily="34" charset="-120"/>
              </a:rPr>
              <a:t>Control</a:t>
            </a:r>
            <a:endParaRPr lang="en-US" sz="1900" dirty="0"/>
          </a:p>
        </p:txBody>
      </p:sp>
      <p:sp>
        <p:nvSpPr>
          <p:cNvPr id="18" name="Text 16"/>
          <p:cNvSpPr txBox="1"/>
          <p:nvPr/>
        </p:nvSpPr>
        <p:spPr>
          <a:xfrm>
            <a:off x="8439912" y="2834640"/>
            <a:ext cx="2990088" cy="13716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All variables except the factor under study, fixed: hardware and thermal state, compiler flags, warm-up, dataset order, random seeds, background load, and library versions.</a:t>
            </a:r>
            <a:endParaRPr lang="en-US" sz="1100" dirty="0"/>
          </a:p>
        </p:txBody>
      </p:sp>
      <p:sp>
        <p:nvSpPr>
          <p:cNvPr id="19" name="Text 17"/>
          <p:cNvSpPr txBox="1"/>
          <p:nvPr/>
        </p:nvSpPr>
        <p:spPr>
          <a:xfrm>
            <a:off x="8439912" y="4261104"/>
            <a:ext cx="2990088" cy="713232"/>
          </a:xfrm>
          <a:prstGeom prst="rect">
            <a:avLst/>
          </a:prstGeom>
          <a:noFill/>
          <a:ln/>
        </p:spPr>
        <p:txBody>
          <a:bodyPr wrap="square" lIns="0" tIns="0" rIns="0" bIns="0" rtlCol="0" anchor="t"/>
          <a:lstStyle/>
          <a:p>
            <a:pPr indent="0" marL="0">
              <a:lnSpc>
                <a:spcPct val="118000"/>
              </a:lnSpc>
              <a:buNone/>
            </a:pPr>
            <a:r>
              <a:rPr lang="en-US" sz="1000" i="1" dirty="0">
                <a:solidFill>
                  <a:srgbClr val="B08C3A"/>
                </a:solidFill>
                <a:latin typeface="Calibri" pitchFamily="34" charset="0"/>
                <a:ea typeface="Calibri" pitchFamily="34" charset="-122"/>
                <a:cs typeface="Calibri" pitchFamily="34" charset="-120"/>
              </a:rPr>
              <a:t>Risk: an uncontrolled confound means the difference you measured may have nothing to do with the change you made.</a:t>
            </a:r>
            <a:endParaRPr lang="en-US" sz="1000" dirty="0"/>
          </a:p>
        </p:txBody>
      </p:sp>
      <p:sp>
        <p:nvSpPr>
          <p:cNvPr id="20" name="Shape 18"/>
          <p:cNvSpPr/>
          <p:nvPr/>
        </p:nvSpPr>
        <p:spPr>
          <a:xfrm>
            <a:off x="502920" y="5504688"/>
            <a:ext cx="11183112" cy="658368"/>
          </a:xfrm>
          <a:prstGeom prst="roundRect">
            <a:avLst>
              <a:gd name="adj" fmla="val 6944"/>
            </a:avLst>
          </a:prstGeom>
          <a:solidFill>
            <a:srgbClr val="F6EFE4"/>
          </a:solidFill>
          <a:ln/>
        </p:spPr>
      </p:sp>
      <p:sp>
        <p:nvSpPr>
          <p:cNvPr id="21" name="Text 19"/>
          <p:cNvSpPr txBox="1"/>
          <p:nvPr/>
        </p:nvSpPr>
        <p:spPr>
          <a:xfrm>
            <a:off x="795528" y="5504688"/>
            <a:ext cx="10597896" cy="658368"/>
          </a:xfrm>
          <a:prstGeom prst="rect">
            <a:avLst/>
          </a:prstGeom>
          <a:noFill/>
          <a:ln/>
        </p:spPr>
        <p:txBody>
          <a:bodyPr wrap="square" lIns="0" tIns="0" rIns="0" bIns="0" rtlCol="0" anchor="ctr"/>
          <a:lstStyle/>
          <a:p>
            <a:pPr indent="0" marL="0">
              <a:buNone/>
            </a:pPr>
            <a:r>
              <a:rPr lang="en-US" sz="1150" i="1" dirty="0">
                <a:solidFill>
                  <a:srgbClr val="241A4C"/>
                </a:solidFill>
                <a:latin typeface="Calibri" pitchFamily="34" charset="0"/>
                <a:ea typeface="Calibri" pitchFamily="34" charset="-122"/>
                <a:cs typeface="Calibri" pitchFamily="34" charset="-120"/>
              </a:rPr>
              <a:t>The most common objection in empirical CS review is not “your numbers are wrong.” It is “your baseline was weak,” or “your benchmark was chosen after the fact.”</a:t>
            </a:r>
            <a:endParaRPr lang="en-US" sz="115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12 / 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EMPIRICAL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Statistics: The Warrant Made Explicit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Statistical reporting is not decoration on a result. It is the written form of the reason your evidence supports your claim.</a:t>
            </a:r>
            <a:endParaRPr lang="en-US" sz="1250" dirty="0"/>
          </a:p>
        </p:txBody>
      </p:sp>
      <p:sp>
        <p:nvSpPr>
          <p:cNvPr id="5" name="Shape 3"/>
          <p:cNvSpPr/>
          <p:nvPr/>
        </p:nvSpPr>
        <p:spPr>
          <a:xfrm>
            <a:off x="502920" y="1938528"/>
            <a:ext cx="5477256" cy="2688336"/>
          </a:xfrm>
          <a:prstGeom prst="roundRect">
            <a:avLst>
              <a:gd name="adj" fmla="val 1701"/>
            </a:avLst>
          </a:prstGeom>
          <a:solidFill>
            <a:srgbClr val="F8EEEA"/>
          </a:solidFill>
          <a:ln/>
        </p:spPr>
      </p:sp>
      <p:sp>
        <p:nvSpPr>
          <p:cNvPr id="6" name="Text 4"/>
          <p:cNvSpPr txBox="1"/>
          <p:nvPr/>
        </p:nvSpPr>
        <p:spPr>
          <a:xfrm>
            <a:off x="795528" y="2157984"/>
            <a:ext cx="1828800" cy="237744"/>
          </a:xfrm>
          <a:prstGeom prst="rect">
            <a:avLst/>
          </a:prstGeom>
          <a:noFill/>
          <a:ln/>
        </p:spPr>
        <p:txBody>
          <a:bodyPr wrap="square" lIns="0" tIns="0" rIns="0" bIns="0" rtlCol="0" anchor="ctr"/>
          <a:lstStyle/>
          <a:p>
            <a:pPr indent="0" marL="0">
              <a:buNone/>
            </a:pPr>
            <a:r>
              <a:rPr lang="en-US" sz="1000" b="1" spc="160" kern="0" dirty="0">
                <a:solidFill>
                  <a:srgbClr val="B4522B"/>
                </a:solidFill>
                <a:latin typeface="Calibri" pitchFamily="34" charset="0"/>
                <a:ea typeface="Calibri" pitchFamily="34" charset="-122"/>
                <a:cs typeface="Calibri" pitchFamily="34" charset="-120"/>
              </a:rPr>
              <a:t>WEAK</a:t>
            </a:r>
            <a:endParaRPr lang="en-US" sz="1000" dirty="0"/>
          </a:p>
        </p:txBody>
      </p:sp>
      <p:sp>
        <p:nvSpPr>
          <p:cNvPr id="7" name="Text 5"/>
          <p:cNvSpPr txBox="1"/>
          <p:nvPr/>
        </p:nvSpPr>
        <p:spPr>
          <a:xfrm>
            <a:off x="795528" y="2487168"/>
            <a:ext cx="4892040" cy="786384"/>
          </a:xfrm>
          <a:prstGeom prst="rect">
            <a:avLst/>
          </a:prstGeom>
          <a:noFill/>
          <a:ln/>
        </p:spPr>
        <p:txBody>
          <a:bodyPr wrap="square" lIns="0" tIns="0" rIns="0" bIns="0" rtlCol="0" anchor="t"/>
          <a:lstStyle/>
          <a:p>
            <a:pPr indent="0" marL="0">
              <a:lnSpc>
                <a:spcPct val="118000"/>
              </a:lnSpc>
              <a:buNone/>
            </a:pPr>
            <a:r>
              <a:rPr lang="en-US" sz="1300" dirty="0">
                <a:solidFill>
                  <a:srgbClr val="241A4C"/>
                </a:solidFill>
                <a:latin typeface="Cambria" pitchFamily="34" charset="0"/>
                <a:ea typeface="Cambria" pitchFamily="34" charset="-122"/>
                <a:cs typeface="Cambria" pitchFamily="34" charset="-120"/>
              </a:rPr>
              <a:t>“Our method is 12% faster than the baseline.”</a:t>
            </a:r>
            <a:endParaRPr lang="en-US" sz="1300" dirty="0"/>
          </a:p>
        </p:txBody>
      </p:sp>
      <p:sp>
        <p:nvSpPr>
          <p:cNvPr id="8" name="Text 6"/>
          <p:cNvSpPr txBox="1"/>
          <p:nvPr/>
        </p:nvSpPr>
        <p:spPr>
          <a:xfrm>
            <a:off x="795528" y="3328416"/>
            <a:ext cx="4892040"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One run per configuration, no dispersion, no test, no effect size. Nothing in the sentence distinguishes a real improvement from ordinary run-to-run variance on a shared machine — and timing noise on modern hardware routinely exceeds 12%.</a:t>
            </a:r>
            <a:endParaRPr lang="en-US" sz="1050" dirty="0"/>
          </a:p>
        </p:txBody>
      </p:sp>
      <p:sp>
        <p:nvSpPr>
          <p:cNvPr id="9" name="Text 7"/>
          <p:cNvSpPr txBox="1"/>
          <p:nvPr/>
        </p:nvSpPr>
        <p:spPr>
          <a:xfrm>
            <a:off x="795528" y="4151376"/>
            <a:ext cx="4892040" cy="384048"/>
          </a:xfrm>
          <a:prstGeom prst="rect">
            <a:avLst/>
          </a:prstGeom>
          <a:noFill/>
          <a:ln/>
        </p:spPr>
        <p:txBody>
          <a:bodyPr wrap="square" lIns="0" tIns="0" rIns="0" bIns="0" rtlCol="0" anchor="t"/>
          <a:lstStyle/>
          <a:p>
            <a:pPr indent="0" marL="0">
              <a:lnSpc>
                <a:spcPct val="115000"/>
              </a:lnSpc>
              <a:buNone/>
            </a:pPr>
            <a:r>
              <a:rPr lang="en-US" sz="1000" i="1" dirty="0">
                <a:solidFill>
                  <a:srgbClr val="B4522B"/>
                </a:solidFill>
                <a:latin typeface="Calibri" pitchFamily="34" charset="0"/>
                <a:ea typeface="Calibri" pitchFamily="34" charset="-122"/>
                <a:cs typeface="Calibri" pitchFamily="34" charset="-120"/>
              </a:rPr>
              <a:t>The warrant is missing entirely. The reader is asked to make the inductive leap on trust.</a:t>
            </a:r>
            <a:endParaRPr lang="en-US" sz="1000" dirty="0"/>
          </a:p>
        </p:txBody>
      </p:sp>
      <p:sp>
        <p:nvSpPr>
          <p:cNvPr id="10" name="Shape 8"/>
          <p:cNvSpPr/>
          <p:nvPr/>
        </p:nvSpPr>
        <p:spPr>
          <a:xfrm>
            <a:off x="6208776" y="1938528"/>
            <a:ext cx="5477256" cy="2688336"/>
          </a:xfrm>
          <a:prstGeom prst="roundRect">
            <a:avLst>
              <a:gd name="adj" fmla="val 1701"/>
            </a:avLst>
          </a:prstGeom>
          <a:solidFill>
            <a:srgbClr val="EEF3F9"/>
          </a:solidFill>
          <a:ln/>
        </p:spPr>
      </p:sp>
      <p:sp>
        <p:nvSpPr>
          <p:cNvPr id="11" name="Text 9"/>
          <p:cNvSpPr txBox="1"/>
          <p:nvPr/>
        </p:nvSpPr>
        <p:spPr>
          <a:xfrm>
            <a:off x="6501384" y="2157984"/>
            <a:ext cx="1828800" cy="237744"/>
          </a:xfrm>
          <a:prstGeom prst="rect">
            <a:avLst/>
          </a:prstGeom>
          <a:noFill/>
          <a:ln/>
        </p:spPr>
        <p:txBody>
          <a:bodyPr wrap="square" lIns="0" tIns="0" rIns="0" bIns="0" rtlCol="0" anchor="ctr"/>
          <a:lstStyle/>
          <a:p>
            <a:pPr indent="0" marL="0">
              <a:buNone/>
            </a:pPr>
            <a:r>
              <a:rPr lang="en-US" sz="1000" b="1" spc="160" kern="0" dirty="0">
                <a:solidFill>
                  <a:srgbClr val="3D6EA6"/>
                </a:solidFill>
                <a:latin typeface="Calibri" pitchFamily="34" charset="0"/>
                <a:ea typeface="Calibri" pitchFamily="34" charset="-122"/>
                <a:cs typeface="Calibri" pitchFamily="34" charset="-120"/>
              </a:rPr>
              <a:t>STRONG</a:t>
            </a:r>
            <a:endParaRPr lang="en-US" sz="1000" dirty="0"/>
          </a:p>
        </p:txBody>
      </p:sp>
      <p:sp>
        <p:nvSpPr>
          <p:cNvPr id="12" name="Text 10"/>
          <p:cNvSpPr txBox="1"/>
          <p:nvPr/>
        </p:nvSpPr>
        <p:spPr>
          <a:xfrm>
            <a:off x="6501384" y="2487168"/>
            <a:ext cx="4892040" cy="786384"/>
          </a:xfrm>
          <a:prstGeom prst="rect">
            <a:avLst/>
          </a:prstGeom>
          <a:noFill/>
          <a:ln/>
        </p:spPr>
        <p:txBody>
          <a:bodyPr wrap="square" lIns="0" tIns="0" rIns="0" bIns="0" rtlCol="0" anchor="t"/>
          <a:lstStyle/>
          <a:p>
            <a:pPr indent="0" marL="0">
              <a:lnSpc>
                <a:spcPct val="118000"/>
              </a:lnSpc>
              <a:buNone/>
            </a:pPr>
            <a:r>
              <a:rPr lang="en-US" sz="1300" dirty="0">
                <a:solidFill>
                  <a:srgbClr val="241A4C"/>
                </a:solidFill>
                <a:latin typeface="Cambria" pitchFamily="34" charset="0"/>
                <a:ea typeface="Cambria" pitchFamily="34" charset="-122"/>
                <a:cs typeface="Cambria" pitchFamily="34" charset="-120"/>
              </a:rPr>
              <a:t>“Across 30 runs per configuration on 3 hardware generations, median speed-up 1.12× (IQR 1.08–1.17); Mann–Whitney U, p &lt; 0.01; Cliff's δ = 0.61 (large).”</a:t>
            </a:r>
            <a:endParaRPr lang="en-US" sz="1300" dirty="0"/>
          </a:p>
        </p:txBody>
      </p:sp>
      <p:sp>
        <p:nvSpPr>
          <p:cNvPr id="13" name="Text 11"/>
          <p:cNvSpPr txBox="1"/>
          <p:nvPr/>
        </p:nvSpPr>
        <p:spPr>
          <a:xfrm>
            <a:off x="6501384" y="3328416"/>
            <a:ext cx="4892040"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Sample size, dispersion, a test appropriate to skewed timing data, and a magnitude the reader can weigh against engineering cost. The population is named, and the qualifier is visible in the sentence itself.</a:t>
            </a:r>
            <a:endParaRPr lang="en-US" sz="1050" dirty="0"/>
          </a:p>
        </p:txBody>
      </p:sp>
      <p:sp>
        <p:nvSpPr>
          <p:cNvPr id="14" name="Text 12"/>
          <p:cNvSpPr txBox="1"/>
          <p:nvPr/>
        </p:nvSpPr>
        <p:spPr>
          <a:xfrm>
            <a:off x="6501384" y="4151376"/>
            <a:ext cx="4892040" cy="384048"/>
          </a:xfrm>
          <a:prstGeom prst="rect">
            <a:avLst/>
          </a:prstGeom>
          <a:noFill/>
          <a:ln/>
        </p:spPr>
        <p:txBody>
          <a:bodyPr wrap="square" lIns="0" tIns="0" rIns="0" bIns="0" rtlCol="0" anchor="t"/>
          <a:lstStyle/>
          <a:p>
            <a:pPr indent="0" marL="0">
              <a:lnSpc>
                <a:spcPct val="115000"/>
              </a:lnSpc>
              <a:buNone/>
            </a:pPr>
            <a:r>
              <a:rPr lang="en-US" sz="1000" i="1" dirty="0">
                <a:solidFill>
                  <a:srgbClr val="3D6EA6"/>
                </a:solidFill>
                <a:latin typeface="Calibri" pitchFamily="34" charset="0"/>
                <a:ea typeface="Calibri" pitchFamily="34" charset="-122"/>
                <a:cs typeface="Calibri" pitchFamily="34" charset="-120"/>
              </a:rPr>
              <a:t>The warrant is stated, backed, and bounded — Toulmin's components, in statistical clothing.</a:t>
            </a:r>
            <a:endParaRPr lang="en-US" sz="1000" dirty="0"/>
          </a:p>
        </p:txBody>
      </p:sp>
      <p:sp>
        <p:nvSpPr>
          <p:cNvPr id="15" name="Text 13"/>
          <p:cNvSpPr txBox="1"/>
          <p:nvPr/>
        </p:nvSpPr>
        <p:spPr>
          <a:xfrm>
            <a:off x="502920"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Report distributions, not points</a:t>
            </a:r>
            <a:endParaRPr lang="en-US" sz="1200" dirty="0"/>
          </a:p>
        </p:txBody>
      </p:sp>
      <p:sp>
        <p:nvSpPr>
          <p:cNvPr id="16" name="Text 14"/>
          <p:cNvSpPr txBox="1"/>
          <p:nvPr/>
        </p:nvSpPr>
        <p:spPr>
          <a:xfrm>
            <a:off x="502920"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Execution times are skewed and rarely normal. Give median and spread; a mean alone hides the tail your users will actually feel.</a:t>
            </a:r>
            <a:endParaRPr lang="en-US" sz="1000" dirty="0"/>
          </a:p>
        </p:txBody>
      </p:sp>
      <p:sp>
        <p:nvSpPr>
          <p:cNvPr id="17" name="Text 15"/>
          <p:cNvSpPr txBox="1"/>
          <p:nvPr/>
        </p:nvSpPr>
        <p:spPr>
          <a:xfrm>
            <a:off x="3355848"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Effect size, then significance</a:t>
            </a:r>
            <a:endParaRPr lang="en-US" sz="1200" dirty="0"/>
          </a:p>
        </p:txBody>
      </p:sp>
      <p:sp>
        <p:nvSpPr>
          <p:cNvPr id="18" name="Text 16"/>
          <p:cNvSpPr txBox="1"/>
          <p:nvPr/>
        </p:nvSpPr>
        <p:spPr>
          <a:xfrm>
            <a:off x="3355848"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A p-value answers “distinguishable from noise?”. Effect size answers “does it matter?”. Only the second is a research finding.</a:t>
            </a:r>
            <a:endParaRPr lang="en-US" sz="1000" dirty="0"/>
          </a:p>
        </p:txBody>
      </p:sp>
      <p:sp>
        <p:nvSpPr>
          <p:cNvPr id="19" name="Text 17"/>
          <p:cNvSpPr txBox="1"/>
          <p:nvPr/>
        </p:nvSpPr>
        <p:spPr>
          <a:xfrm>
            <a:off x="6208776"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Fix and publish your seeds</a:t>
            </a:r>
            <a:endParaRPr lang="en-US" sz="1200" dirty="0"/>
          </a:p>
        </p:txBody>
      </p:sp>
      <p:sp>
        <p:nvSpPr>
          <p:cNvPr id="20" name="Text 18"/>
          <p:cNvSpPr txBox="1"/>
          <p:nvPr/>
        </p:nvSpPr>
        <p:spPr>
          <a:xfrm>
            <a:off x="6208776"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An unreported random seed is an uncontrolled variable. Reporting the best of many seeds is a selection effect, not a result.</a:t>
            </a:r>
            <a:endParaRPr lang="en-US" sz="1000" dirty="0"/>
          </a:p>
        </p:txBody>
      </p:sp>
      <p:sp>
        <p:nvSpPr>
          <p:cNvPr id="21" name="Text 19"/>
          <p:cNvSpPr txBox="1"/>
          <p:nvPr/>
        </p:nvSpPr>
        <p:spPr>
          <a:xfrm>
            <a:off x="9061704" y="4882896"/>
            <a:ext cx="2624328" cy="420624"/>
          </a:xfrm>
          <a:prstGeom prst="rect">
            <a:avLst/>
          </a:prstGeom>
          <a:noFill/>
          <a:ln/>
        </p:spPr>
        <p:txBody>
          <a:bodyPr wrap="square" lIns="0" tIns="0" rIns="0" bIns="0" rtlCol="0" anchor="t"/>
          <a:lstStyle/>
          <a:p>
            <a:pPr indent="0" marL="0">
              <a:lnSpc>
                <a:spcPct val="105000"/>
              </a:lnSpc>
              <a:buNone/>
            </a:pPr>
            <a:r>
              <a:rPr lang="en-US" sz="1200" b="1" dirty="0">
                <a:solidFill>
                  <a:srgbClr val="241A4C"/>
                </a:solidFill>
                <a:latin typeface="Cambria" pitchFamily="34" charset="0"/>
                <a:ea typeface="Cambria" pitchFamily="34" charset="-122"/>
                <a:cs typeface="Cambria" pitchFamily="34" charset="-120"/>
              </a:rPr>
              <a:t>Correct for multiple comparisons</a:t>
            </a:r>
            <a:endParaRPr lang="en-US" sz="1200" dirty="0"/>
          </a:p>
        </p:txBody>
      </p:sp>
      <p:sp>
        <p:nvSpPr>
          <p:cNvPr id="22" name="Text 20"/>
          <p:cNvSpPr txBox="1"/>
          <p:nvPr/>
        </p:nvSpPr>
        <p:spPr>
          <a:xfrm>
            <a:off x="9061704" y="5358384"/>
            <a:ext cx="2624328" cy="859536"/>
          </a:xfrm>
          <a:prstGeom prst="rect">
            <a:avLst/>
          </a:prstGeom>
          <a:noFill/>
          <a:ln/>
        </p:spPr>
        <p:txBody>
          <a:bodyPr wrap="square" lIns="0" tIns="0" rIns="0" bIns="0" rtlCol="0" anchor="t"/>
          <a:lstStyle/>
          <a:p>
            <a:pPr indent="0" marL="0">
              <a:lnSpc>
                <a:spcPct val="118000"/>
              </a:lnSpc>
              <a:buNone/>
            </a:pPr>
            <a:r>
              <a:rPr lang="en-US" sz="1000" dirty="0">
                <a:solidFill>
                  <a:srgbClr val="5C5A66"/>
                </a:solidFill>
                <a:latin typeface="Calibri" pitchFamily="34" charset="0"/>
                <a:ea typeface="Calibri" pitchFamily="34" charset="-122"/>
                <a:cs typeface="Calibri" pitchFamily="34" charset="-120"/>
              </a:rPr>
              <a:t>Test twenty configurations at α = 0.05 and one will look significant by construction. Adjust, or pre-register the one you meant.</a:t>
            </a:r>
            <a:endParaRPr lang="en-US" sz="100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13 / 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EMPIRICAL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Threats to Validity</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Four standing questions any empirical claim must answer. Each maps to a different link in the chain from measurement to conclusion.</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THREAT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700" b="1" dirty="0">
                <a:solidFill>
                  <a:srgbClr val="241A4C"/>
                </a:solidFill>
                <a:latin typeface="Cambria" pitchFamily="34" charset="0"/>
                <a:ea typeface="Cambria" pitchFamily="34" charset="-122"/>
                <a:cs typeface="Cambria" pitchFamily="34" charset="-120"/>
              </a:rPr>
              <a:t>Internal validity</a:t>
            </a:r>
            <a:endParaRPr lang="en-US" sz="170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Did the factor you changed actually cause the difference you measured?</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TYPICAL THREATS</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Warm-up and JIT effects · thermal throttling · hardware drift between runs · dataset ordering · a change shipped alongside yours.</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THREAT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700" b="1" dirty="0">
                <a:solidFill>
                  <a:srgbClr val="241A4C"/>
                </a:solidFill>
                <a:latin typeface="Cambria" pitchFamily="34" charset="0"/>
                <a:ea typeface="Cambria" pitchFamily="34" charset="-122"/>
                <a:cs typeface="Cambria" pitchFamily="34" charset="-120"/>
              </a:rPr>
              <a:t>External validity</a:t>
            </a:r>
            <a:endParaRPr lang="en-US" sz="170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Does the result extend beyond the workloads, machines, and users you sampled?</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TYPICAL THREATS</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A single benchmark suite · one hardware generation · one dataset scale · students standing in for professional developers.</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THREAT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700" b="1" dirty="0">
                <a:solidFill>
                  <a:srgbClr val="241A4C"/>
                </a:solidFill>
                <a:latin typeface="Cambria" pitchFamily="34" charset="0"/>
                <a:ea typeface="Cambria" pitchFamily="34" charset="-122"/>
                <a:cs typeface="Cambria" pitchFamily="34" charset="-120"/>
              </a:rPr>
              <a:t>Construct validity</a:t>
            </a:r>
            <a:endParaRPr lang="en-US" sz="170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Does your metric measure the property your claim is actually about?</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TYPICAL THREATS</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Throughput as a proxy for user-perceived latency · raw accuracy on an imbalanced set · lines of code as a proxy for effort.</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THREAT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700" b="1" dirty="0">
                <a:solidFill>
                  <a:srgbClr val="241A4C"/>
                </a:solidFill>
                <a:latin typeface="Cambria" pitchFamily="34" charset="0"/>
                <a:ea typeface="Cambria" pitchFamily="34" charset="-122"/>
                <a:cs typeface="Cambria" pitchFamily="34" charset="-120"/>
              </a:rPr>
              <a:t>Conclusion validity</a:t>
            </a:r>
            <a:endParaRPr lang="en-US" sz="170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Do the statistics support the strength of the claim you drew from them?</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TYPICAL THREATS</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Too few runs · no reported variance · violated test assumptions · p-hacking · HARKing · fishing across many configurations.</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In Toulmin's terms, a threats-to-validity section is the paper naming its own rebuttals before a reviewer gets to name them — on the author's terms rather than the reviewer's.</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14 / 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MATHEMATICAL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Mathematical Proof: Deductive Certainty</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Establishing a claim by deriving it from explicitly stated assumptions, using truth-preserving rules of inference.</a:t>
            </a:r>
            <a:endParaRPr lang="en-US" sz="1250" dirty="0"/>
          </a:p>
        </p:txBody>
      </p:sp>
      <p:sp>
        <p:nvSpPr>
          <p:cNvPr id="5" name="Shape 3"/>
          <p:cNvSpPr/>
          <p:nvPr/>
        </p:nvSpPr>
        <p:spPr>
          <a:xfrm>
            <a:off x="502920" y="2029968"/>
            <a:ext cx="109728" cy="109728"/>
          </a:xfrm>
          <a:prstGeom prst="ellipse">
            <a:avLst/>
          </a:prstGeom>
          <a:solidFill>
            <a:srgbClr val="D8A73E"/>
          </a:solidFill>
          <a:ln/>
        </p:spPr>
      </p:sp>
      <p:sp>
        <p:nvSpPr>
          <p:cNvPr id="6" name="Text 4"/>
          <p:cNvSpPr txBox="1"/>
          <p:nvPr/>
        </p:nvSpPr>
        <p:spPr>
          <a:xfrm>
            <a:off x="813816" y="1938528"/>
            <a:ext cx="6729984" cy="292608"/>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What it buys you: universality.</a:t>
            </a:r>
            <a:endParaRPr lang="en-US" sz="1400" dirty="0"/>
          </a:p>
        </p:txBody>
      </p:sp>
      <p:sp>
        <p:nvSpPr>
          <p:cNvPr id="7" name="Text 5"/>
          <p:cNvSpPr txBox="1"/>
          <p:nvPr/>
        </p:nvSpPr>
        <p:spPr>
          <a:xfrm>
            <a:off x="813816" y="2267712"/>
            <a:ext cx="6729984" cy="804672"/>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A theorem holds for every input in its scope — including the inputs nobody has run, will run, or could afford to run. No amount of measurement reaches that far.</a:t>
            </a:r>
            <a:endParaRPr lang="en-US" sz="1150" dirty="0"/>
          </a:p>
        </p:txBody>
      </p:sp>
      <p:sp>
        <p:nvSpPr>
          <p:cNvPr id="8" name="Shape 6"/>
          <p:cNvSpPr/>
          <p:nvPr/>
        </p:nvSpPr>
        <p:spPr>
          <a:xfrm>
            <a:off x="502920" y="3218688"/>
            <a:ext cx="109728" cy="109728"/>
          </a:xfrm>
          <a:prstGeom prst="ellipse">
            <a:avLst/>
          </a:prstGeom>
          <a:solidFill>
            <a:srgbClr val="D8A73E"/>
          </a:solidFill>
          <a:ln/>
        </p:spPr>
      </p:sp>
      <p:sp>
        <p:nvSpPr>
          <p:cNvPr id="9" name="Text 7"/>
          <p:cNvSpPr txBox="1"/>
          <p:nvPr/>
        </p:nvSpPr>
        <p:spPr>
          <a:xfrm>
            <a:off x="813816" y="3127248"/>
            <a:ext cx="6729984" cy="292608"/>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What it costs you: the model.</a:t>
            </a:r>
            <a:endParaRPr lang="en-US" sz="1400" dirty="0"/>
          </a:p>
        </p:txBody>
      </p:sp>
      <p:sp>
        <p:nvSpPr>
          <p:cNvPr id="10" name="Text 8"/>
          <p:cNvSpPr txBox="1"/>
          <p:nvPr/>
        </p:nvSpPr>
        <p:spPr>
          <a:xfrm>
            <a:off x="813816" y="3456432"/>
            <a:ext cx="6729984" cy="804672"/>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The conclusion is only as true as its premises. The RAM cost model, uniform memory access, an adversary's bounded power, an independence assumption — each is a premise smuggled in with the notation.</a:t>
            </a:r>
            <a:endParaRPr lang="en-US" sz="1150" dirty="0"/>
          </a:p>
        </p:txBody>
      </p:sp>
      <p:sp>
        <p:nvSpPr>
          <p:cNvPr id="11" name="Shape 9"/>
          <p:cNvSpPr/>
          <p:nvPr/>
        </p:nvSpPr>
        <p:spPr>
          <a:xfrm>
            <a:off x="502920" y="4407408"/>
            <a:ext cx="109728" cy="109728"/>
          </a:xfrm>
          <a:prstGeom prst="ellipse">
            <a:avLst/>
          </a:prstGeom>
          <a:solidFill>
            <a:srgbClr val="D8A73E"/>
          </a:solidFill>
          <a:ln/>
        </p:spPr>
      </p:sp>
      <p:sp>
        <p:nvSpPr>
          <p:cNvPr id="12" name="Text 10"/>
          <p:cNvSpPr txBox="1"/>
          <p:nvPr/>
        </p:nvSpPr>
        <p:spPr>
          <a:xfrm>
            <a:off x="813816" y="4315968"/>
            <a:ext cx="6729984" cy="292608"/>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What only it can do: impossibility.</a:t>
            </a:r>
            <a:endParaRPr lang="en-US" sz="1400" dirty="0"/>
          </a:p>
        </p:txBody>
      </p:sp>
      <p:sp>
        <p:nvSpPr>
          <p:cNvPr id="13" name="Text 11"/>
          <p:cNvSpPr txBox="1"/>
          <p:nvPr/>
        </p:nvSpPr>
        <p:spPr>
          <a:xfrm>
            <a:off x="813816" y="4645152"/>
            <a:ext cx="6729984" cy="804672"/>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No experiment shows that something cannot be done; a failed search is not a proof of absence. Impossibility results are mathematics' unique contribution to engineering.</a:t>
            </a:r>
            <a:endParaRPr lang="en-US" sz="1150" dirty="0"/>
          </a:p>
        </p:txBody>
      </p:sp>
      <p:sp>
        <p:nvSpPr>
          <p:cNvPr id="14" name="Shape 12"/>
          <p:cNvSpPr/>
          <p:nvPr/>
        </p:nvSpPr>
        <p:spPr>
          <a:xfrm>
            <a:off x="502920" y="5486400"/>
            <a:ext cx="7040880" cy="749808"/>
          </a:xfrm>
          <a:prstGeom prst="roundRect">
            <a:avLst>
              <a:gd name="adj" fmla="val 6098"/>
            </a:avLst>
          </a:prstGeom>
          <a:solidFill>
            <a:srgbClr val="F3F1FC"/>
          </a:solidFill>
          <a:ln/>
        </p:spPr>
      </p:sp>
      <p:sp>
        <p:nvSpPr>
          <p:cNvPr id="15" name="Text 13"/>
          <p:cNvSpPr txBox="1"/>
          <p:nvPr/>
        </p:nvSpPr>
        <p:spPr>
          <a:xfrm>
            <a:off x="777240" y="5486400"/>
            <a:ext cx="6492240" cy="749808"/>
          </a:xfrm>
          <a:prstGeom prst="rect">
            <a:avLst/>
          </a:prstGeom>
          <a:noFill/>
          <a:ln/>
        </p:spPr>
        <p:txBody>
          <a:bodyPr wrap="square" lIns="0" tIns="0" rIns="0" bIns="0" rtlCol="0" anchor="ctr"/>
          <a:lstStyle/>
          <a:p>
            <a:pPr indent="0" marL="0">
              <a:lnSpc>
                <a:spcPct val="118000"/>
              </a:lnSpc>
              <a:buNone/>
            </a:pPr>
            <a:r>
              <a:rPr lang="en-US" sz="1150" i="1" dirty="0">
                <a:solidFill>
                  <a:srgbClr val="241A4C"/>
                </a:solidFill>
                <a:latin typeface="Calibri" pitchFamily="34" charset="0"/>
                <a:ea typeface="Calibri" pitchFamily="34" charset="-122"/>
                <a:cs typeface="Calibri" pitchFamily="34" charset="-120"/>
              </a:rPr>
              <a:t>A CS claim is “mathematically proved” when it follows necessarily from stated assumptions — not when it is merely expressed in symbols. Notation is not proof.</a:t>
            </a:r>
            <a:endParaRPr lang="en-US" sz="1150" dirty="0"/>
          </a:p>
        </p:txBody>
      </p:sp>
      <p:sp>
        <p:nvSpPr>
          <p:cNvPr id="16" name="Shape 14"/>
          <p:cNvSpPr/>
          <p:nvPr/>
        </p:nvSpPr>
        <p:spPr>
          <a:xfrm>
            <a:off x="7818120" y="1938528"/>
            <a:ext cx="3867912" cy="4114800"/>
          </a:xfrm>
          <a:prstGeom prst="roundRect">
            <a:avLst>
              <a:gd name="adj" fmla="val 1182"/>
            </a:avLst>
          </a:prstGeom>
          <a:solidFill>
            <a:srgbClr val="F6EFE4"/>
          </a:solidFill>
          <a:ln/>
        </p:spPr>
      </p:sp>
      <p:sp>
        <p:nvSpPr>
          <p:cNvPr id="17" name="Text 15"/>
          <p:cNvSpPr txBox="1"/>
          <p:nvPr/>
        </p:nvSpPr>
        <p:spPr>
          <a:xfrm>
            <a:off x="8092440" y="2212848"/>
            <a:ext cx="3319272"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WHERE THE CONTENT ACTUALLY SITS</a:t>
            </a:r>
            <a:endParaRPr lang="en-US" sz="850" dirty="0"/>
          </a:p>
        </p:txBody>
      </p:sp>
      <p:sp>
        <p:nvSpPr>
          <p:cNvPr id="18" name="Text 16"/>
          <p:cNvSpPr txBox="1"/>
          <p:nvPr/>
        </p:nvSpPr>
        <p:spPr>
          <a:xfrm>
            <a:off x="8092440" y="2615184"/>
            <a:ext cx="3319272" cy="1097280"/>
          </a:xfrm>
          <a:prstGeom prst="rect">
            <a:avLst/>
          </a:prstGeom>
          <a:noFill/>
          <a:ln/>
        </p:spPr>
        <p:txBody>
          <a:bodyPr wrap="square" lIns="0" tIns="0" rIns="0" bIns="0" rtlCol="0" anchor="t"/>
          <a:lstStyle/>
          <a:p>
            <a:pPr indent="0" marL="0">
              <a:lnSpc>
                <a:spcPct val="118000"/>
              </a:lnSpc>
              <a:buNone/>
            </a:pPr>
            <a:r>
              <a:rPr lang="en-US" sz="1550" dirty="0">
                <a:solidFill>
                  <a:srgbClr val="241A4C"/>
                </a:solidFill>
                <a:latin typeface="Cambria" pitchFamily="34" charset="0"/>
                <a:ea typeface="Cambria" pitchFamily="34" charset="-122"/>
                <a:cs typeface="Cambria" pitchFamily="34" charset="-120"/>
              </a:rPr>
              <a:t>A proof transfers certainty from premises to conclusion. It does not create certainty.</a:t>
            </a:r>
            <a:endParaRPr lang="en-US" sz="1550" dirty="0"/>
          </a:p>
        </p:txBody>
      </p:sp>
      <p:sp>
        <p:nvSpPr>
          <p:cNvPr id="19" name="Shape 17"/>
          <p:cNvSpPr/>
          <p:nvPr/>
        </p:nvSpPr>
        <p:spPr>
          <a:xfrm>
            <a:off x="8092440" y="3840480"/>
            <a:ext cx="1371600" cy="0"/>
          </a:xfrm>
          <a:prstGeom prst="line">
            <a:avLst/>
          </a:prstGeom>
          <a:noFill/>
          <a:ln w="15875">
            <a:solidFill>
              <a:srgbClr val="D8A73E"/>
            </a:solidFill>
            <a:prstDash val="solid"/>
          </a:ln>
        </p:spPr>
      </p:sp>
      <p:sp>
        <p:nvSpPr>
          <p:cNvPr id="20" name="Text 18"/>
          <p:cNvSpPr txBox="1"/>
          <p:nvPr/>
        </p:nvSpPr>
        <p:spPr>
          <a:xfrm>
            <a:off x="8092440" y="4023360"/>
            <a:ext cx="3319272" cy="173736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So the real content of any theorem lives in its assumptions. When you read a proof critically, you are rarely hunting for an invalid inference step — you are hunting for the premise that quietly did all the work, and asking whether any real system satisfies it.</a:t>
            </a:r>
            <a:endParaRPr lang="en-US" sz="1100" dirty="0"/>
          </a:p>
        </p:txBody>
      </p:sp>
      <p:sp>
        <p:nvSpPr>
          <p:cNvPr id="21" name="Text 19"/>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2" name="Text 20"/>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15 / 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MATHEMATICAL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Proof-Technique Toolkit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Eight techniques that cover most of what a CS paper or thesis needs. The skill is not executing them — it is recognising which one the claim calls for.</a:t>
            </a:r>
            <a:endParaRPr lang="en-US" sz="1250" dirty="0"/>
          </a:p>
        </p:txBody>
      </p:sp>
      <p:sp>
        <p:nvSpPr>
          <p:cNvPr id="5" name="Shape 3"/>
          <p:cNvSpPr/>
          <p:nvPr/>
        </p:nvSpPr>
        <p:spPr>
          <a:xfrm>
            <a:off x="502920" y="1938528"/>
            <a:ext cx="2624328" cy="1572768"/>
          </a:xfrm>
          <a:prstGeom prst="roundRect">
            <a:avLst>
              <a:gd name="adj" fmla="val 2907"/>
            </a:avLst>
          </a:prstGeom>
          <a:solidFill>
            <a:srgbClr val="F3F1FC"/>
          </a:solidFill>
          <a:ln w="12700">
            <a:solidFill>
              <a:srgbClr val="E6E2F5"/>
            </a:solidFill>
            <a:prstDash val="solid"/>
          </a:ln>
        </p:spPr>
      </p:sp>
      <p:sp>
        <p:nvSpPr>
          <p:cNvPr id="6" name="Text 4"/>
          <p:cNvSpPr txBox="1"/>
          <p:nvPr/>
        </p:nvSpPr>
        <p:spPr>
          <a:xfrm>
            <a:off x="740664" y="2121408"/>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Direct proof</a:t>
            </a:r>
            <a:endParaRPr lang="en-US" sz="1350" dirty="0"/>
          </a:p>
        </p:txBody>
      </p:sp>
      <p:sp>
        <p:nvSpPr>
          <p:cNvPr id="7" name="Text 5"/>
          <p:cNvSpPr txBox="1"/>
          <p:nvPr/>
        </p:nvSpPr>
        <p:spPr>
          <a:xfrm>
            <a:off x="740664"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Chain the assumptions forward to the conclusion.</a:t>
            </a:r>
            <a:endParaRPr lang="en-US" sz="1050" dirty="0"/>
          </a:p>
        </p:txBody>
      </p:sp>
      <p:sp>
        <p:nvSpPr>
          <p:cNvPr id="8" name="Text 6"/>
          <p:cNvSpPr txBox="1"/>
          <p:nvPr/>
        </p:nvSpPr>
        <p:spPr>
          <a:xfrm>
            <a:off x="740664"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Correctness of a straight-line transformation; closure properties.</a:t>
            </a:r>
            <a:endParaRPr lang="en-US" sz="950" dirty="0"/>
          </a:p>
        </p:txBody>
      </p:sp>
      <p:sp>
        <p:nvSpPr>
          <p:cNvPr id="9" name="Shape 7"/>
          <p:cNvSpPr/>
          <p:nvPr/>
        </p:nvSpPr>
        <p:spPr>
          <a:xfrm>
            <a:off x="3355848" y="1938528"/>
            <a:ext cx="2624328" cy="1572768"/>
          </a:xfrm>
          <a:prstGeom prst="roundRect">
            <a:avLst>
              <a:gd name="adj" fmla="val 2907"/>
            </a:avLst>
          </a:prstGeom>
          <a:solidFill>
            <a:srgbClr val="F3F1FC"/>
          </a:solidFill>
          <a:ln w="12700">
            <a:solidFill>
              <a:srgbClr val="E6E2F5"/>
            </a:solidFill>
            <a:prstDash val="solid"/>
          </a:ln>
        </p:spPr>
      </p:sp>
      <p:sp>
        <p:nvSpPr>
          <p:cNvPr id="10" name="Text 8"/>
          <p:cNvSpPr txBox="1"/>
          <p:nvPr/>
        </p:nvSpPr>
        <p:spPr>
          <a:xfrm>
            <a:off x="3593592" y="2121408"/>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Contraposition</a:t>
            </a:r>
            <a:endParaRPr lang="en-US" sz="1350" dirty="0"/>
          </a:p>
        </p:txBody>
      </p:sp>
      <p:sp>
        <p:nvSpPr>
          <p:cNvPr id="11" name="Text 9"/>
          <p:cNvSpPr txBox="1"/>
          <p:nvPr/>
        </p:nvSpPr>
        <p:spPr>
          <a:xfrm>
            <a:off x="3593592"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Prove ¬Q ⇒ ¬P instead of P ⇒ Q.</a:t>
            </a:r>
            <a:endParaRPr lang="en-US" sz="1050" dirty="0"/>
          </a:p>
        </p:txBody>
      </p:sp>
      <p:sp>
        <p:nvSpPr>
          <p:cNvPr id="12" name="Text 10"/>
          <p:cNvSpPr txBox="1"/>
          <p:nvPr/>
        </p:nvSpPr>
        <p:spPr>
          <a:xfrm>
            <a:off x="3593592"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When the negated statement is the tractable one to reason about.</a:t>
            </a:r>
            <a:endParaRPr lang="en-US" sz="950" dirty="0"/>
          </a:p>
        </p:txBody>
      </p:sp>
      <p:sp>
        <p:nvSpPr>
          <p:cNvPr id="13" name="Shape 11"/>
          <p:cNvSpPr/>
          <p:nvPr/>
        </p:nvSpPr>
        <p:spPr>
          <a:xfrm>
            <a:off x="6208776" y="1938528"/>
            <a:ext cx="2624328" cy="1572768"/>
          </a:xfrm>
          <a:prstGeom prst="roundRect">
            <a:avLst>
              <a:gd name="adj" fmla="val 2907"/>
            </a:avLst>
          </a:prstGeom>
          <a:solidFill>
            <a:srgbClr val="F3F1FC"/>
          </a:solidFill>
          <a:ln w="12700">
            <a:solidFill>
              <a:srgbClr val="E6E2F5"/>
            </a:solidFill>
            <a:prstDash val="solid"/>
          </a:ln>
        </p:spPr>
      </p:sp>
      <p:sp>
        <p:nvSpPr>
          <p:cNvPr id="14" name="Text 12"/>
          <p:cNvSpPr txBox="1"/>
          <p:nvPr/>
        </p:nvSpPr>
        <p:spPr>
          <a:xfrm>
            <a:off x="6446520" y="2121408"/>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Contradiction</a:t>
            </a:r>
            <a:endParaRPr lang="en-US" sz="1350" dirty="0"/>
          </a:p>
        </p:txBody>
      </p:sp>
      <p:sp>
        <p:nvSpPr>
          <p:cNvPr id="15" name="Text 13"/>
          <p:cNvSpPr txBox="1"/>
          <p:nvPr/>
        </p:nvSpPr>
        <p:spPr>
          <a:xfrm>
            <a:off x="6446520"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Assume ¬P and derive an absurdity.</a:t>
            </a:r>
            <a:endParaRPr lang="en-US" sz="1050" dirty="0"/>
          </a:p>
        </p:txBody>
      </p:sp>
      <p:sp>
        <p:nvSpPr>
          <p:cNvPr id="16" name="Text 14"/>
          <p:cNvSpPr txBox="1"/>
          <p:nvPr/>
        </p:nvSpPr>
        <p:spPr>
          <a:xfrm>
            <a:off x="6446520"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Non-existence claims; minimal-counterexample arguments.</a:t>
            </a:r>
            <a:endParaRPr lang="en-US" sz="950" dirty="0"/>
          </a:p>
        </p:txBody>
      </p:sp>
      <p:sp>
        <p:nvSpPr>
          <p:cNvPr id="17" name="Shape 15"/>
          <p:cNvSpPr/>
          <p:nvPr/>
        </p:nvSpPr>
        <p:spPr>
          <a:xfrm>
            <a:off x="9061704" y="1938528"/>
            <a:ext cx="2624328" cy="1572768"/>
          </a:xfrm>
          <a:prstGeom prst="roundRect">
            <a:avLst>
              <a:gd name="adj" fmla="val 2907"/>
            </a:avLst>
          </a:prstGeom>
          <a:solidFill>
            <a:srgbClr val="F3F1FC"/>
          </a:solidFill>
          <a:ln w="12700">
            <a:solidFill>
              <a:srgbClr val="E6E2F5"/>
            </a:solidFill>
            <a:prstDash val="solid"/>
          </a:ln>
        </p:spPr>
      </p:sp>
      <p:sp>
        <p:nvSpPr>
          <p:cNvPr id="18" name="Text 16"/>
          <p:cNvSpPr txBox="1"/>
          <p:nvPr/>
        </p:nvSpPr>
        <p:spPr>
          <a:xfrm>
            <a:off x="9299448" y="2121408"/>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Induction</a:t>
            </a:r>
            <a:endParaRPr lang="en-US" sz="1350" dirty="0"/>
          </a:p>
        </p:txBody>
      </p:sp>
      <p:sp>
        <p:nvSpPr>
          <p:cNvPr id="19" name="Text 17"/>
          <p:cNvSpPr txBox="1"/>
          <p:nvPr/>
        </p:nvSpPr>
        <p:spPr>
          <a:xfrm>
            <a:off x="9299448"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Base case plus inductive step, over ℕ or over structure.</a:t>
            </a:r>
            <a:endParaRPr lang="en-US" sz="1050" dirty="0"/>
          </a:p>
        </p:txBody>
      </p:sp>
      <p:sp>
        <p:nvSpPr>
          <p:cNvPr id="20" name="Text 18"/>
          <p:cNvSpPr txBox="1"/>
          <p:nvPr/>
        </p:nvSpPr>
        <p:spPr>
          <a:xfrm>
            <a:off x="9299448"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Recursion, recursive data types, algorithm correctness in n.</a:t>
            </a:r>
            <a:endParaRPr lang="en-US" sz="950" dirty="0"/>
          </a:p>
        </p:txBody>
      </p:sp>
      <p:sp>
        <p:nvSpPr>
          <p:cNvPr id="21" name="Shape 19"/>
          <p:cNvSpPr/>
          <p:nvPr/>
        </p:nvSpPr>
        <p:spPr>
          <a:xfrm>
            <a:off x="502920" y="3712464"/>
            <a:ext cx="2624328" cy="1572768"/>
          </a:xfrm>
          <a:prstGeom prst="roundRect">
            <a:avLst>
              <a:gd name="adj" fmla="val 2907"/>
            </a:avLst>
          </a:prstGeom>
          <a:solidFill>
            <a:srgbClr val="FAF9FE"/>
          </a:solidFill>
          <a:ln w="12700">
            <a:solidFill>
              <a:srgbClr val="E6E2F5"/>
            </a:solidFill>
            <a:prstDash val="solid"/>
          </a:ln>
        </p:spPr>
      </p:sp>
      <p:sp>
        <p:nvSpPr>
          <p:cNvPr id="22" name="Text 20"/>
          <p:cNvSpPr txBox="1"/>
          <p:nvPr/>
        </p:nvSpPr>
        <p:spPr>
          <a:xfrm>
            <a:off x="740664" y="3895344"/>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Loop invariant</a:t>
            </a:r>
            <a:endParaRPr lang="en-US" sz="1350" dirty="0"/>
          </a:p>
        </p:txBody>
      </p:sp>
      <p:sp>
        <p:nvSpPr>
          <p:cNvPr id="23" name="Text 21"/>
          <p:cNvSpPr txBox="1"/>
          <p:nvPr/>
        </p:nvSpPr>
        <p:spPr>
          <a:xfrm>
            <a:off x="740664"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Initialisation, maintenance, termination.</a:t>
            </a:r>
            <a:endParaRPr lang="en-US" sz="1050" dirty="0"/>
          </a:p>
        </p:txBody>
      </p:sp>
      <p:sp>
        <p:nvSpPr>
          <p:cNvPr id="24" name="Text 22"/>
          <p:cNvSpPr txBox="1"/>
          <p:nvPr/>
        </p:nvSpPr>
        <p:spPr>
          <a:xfrm>
            <a:off x="740664"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Correctness of iterative algorithms — induction, specialised to loops.</a:t>
            </a:r>
            <a:endParaRPr lang="en-US" sz="950" dirty="0"/>
          </a:p>
        </p:txBody>
      </p:sp>
      <p:sp>
        <p:nvSpPr>
          <p:cNvPr id="25" name="Shape 23"/>
          <p:cNvSpPr/>
          <p:nvPr/>
        </p:nvSpPr>
        <p:spPr>
          <a:xfrm>
            <a:off x="3355848" y="3712464"/>
            <a:ext cx="2624328" cy="1572768"/>
          </a:xfrm>
          <a:prstGeom prst="roundRect">
            <a:avLst>
              <a:gd name="adj" fmla="val 2907"/>
            </a:avLst>
          </a:prstGeom>
          <a:solidFill>
            <a:srgbClr val="FAF9FE"/>
          </a:solidFill>
          <a:ln w="12700">
            <a:solidFill>
              <a:srgbClr val="E6E2F5"/>
            </a:solidFill>
            <a:prstDash val="solid"/>
          </a:ln>
        </p:spPr>
      </p:sp>
      <p:sp>
        <p:nvSpPr>
          <p:cNvPr id="26" name="Text 24"/>
          <p:cNvSpPr txBox="1"/>
          <p:nvPr/>
        </p:nvSpPr>
        <p:spPr>
          <a:xfrm>
            <a:off x="3593592" y="3895344"/>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Construction</a:t>
            </a:r>
            <a:endParaRPr lang="en-US" sz="1350" dirty="0"/>
          </a:p>
        </p:txBody>
      </p:sp>
      <p:sp>
        <p:nvSpPr>
          <p:cNvPr id="27" name="Text 25"/>
          <p:cNvSpPr txBox="1"/>
          <p:nvPr/>
        </p:nvSpPr>
        <p:spPr>
          <a:xfrm>
            <a:off x="3593592"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Exhibit the object the claim says exists.</a:t>
            </a:r>
            <a:endParaRPr lang="en-US" sz="1050" dirty="0"/>
          </a:p>
        </p:txBody>
      </p:sp>
      <p:sp>
        <p:nvSpPr>
          <p:cNvPr id="28" name="Text 26"/>
          <p:cNvSpPr txBox="1"/>
          <p:nvPr/>
        </p:nvSpPr>
        <p:spPr>
          <a:xfrm>
            <a:off x="3593592"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Achievability results and upper bounds; the theorist's demonstration.</a:t>
            </a:r>
            <a:endParaRPr lang="en-US" sz="950" dirty="0"/>
          </a:p>
        </p:txBody>
      </p:sp>
      <p:sp>
        <p:nvSpPr>
          <p:cNvPr id="29" name="Shape 27"/>
          <p:cNvSpPr/>
          <p:nvPr/>
        </p:nvSpPr>
        <p:spPr>
          <a:xfrm>
            <a:off x="6208776" y="3712464"/>
            <a:ext cx="2624328" cy="1572768"/>
          </a:xfrm>
          <a:prstGeom prst="roundRect">
            <a:avLst>
              <a:gd name="adj" fmla="val 2907"/>
            </a:avLst>
          </a:prstGeom>
          <a:solidFill>
            <a:srgbClr val="FAF9FE"/>
          </a:solidFill>
          <a:ln w="12700">
            <a:solidFill>
              <a:srgbClr val="E6E2F5"/>
            </a:solidFill>
            <a:prstDash val="solid"/>
          </a:ln>
        </p:spPr>
      </p:sp>
      <p:sp>
        <p:nvSpPr>
          <p:cNvPr id="30" name="Text 28"/>
          <p:cNvSpPr txBox="1"/>
          <p:nvPr/>
        </p:nvSpPr>
        <p:spPr>
          <a:xfrm>
            <a:off x="6446520" y="3895344"/>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Counter-example</a:t>
            </a:r>
            <a:endParaRPr lang="en-US" sz="1350" dirty="0"/>
          </a:p>
        </p:txBody>
      </p:sp>
      <p:sp>
        <p:nvSpPr>
          <p:cNvPr id="31" name="Text 29"/>
          <p:cNvSpPr txBox="1"/>
          <p:nvPr/>
        </p:nvSpPr>
        <p:spPr>
          <a:xfrm>
            <a:off x="6446520"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One instance refutes a universal claim.</a:t>
            </a:r>
            <a:endParaRPr lang="en-US" sz="1050" dirty="0"/>
          </a:p>
        </p:txBody>
      </p:sp>
      <p:sp>
        <p:nvSpPr>
          <p:cNvPr id="32" name="Text 30"/>
          <p:cNvSpPr txBox="1"/>
          <p:nvPr/>
        </p:nvSpPr>
        <p:spPr>
          <a:xfrm>
            <a:off x="6446520"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Killing a conjecture, or a guarantee someone stated too broadly.</a:t>
            </a:r>
            <a:endParaRPr lang="en-US" sz="950" dirty="0"/>
          </a:p>
        </p:txBody>
      </p:sp>
      <p:sp>
        <p:nvSpPr>
          <p:cNvPr id="33" name="Shape 31"/>
          <p:cNvSpPr/>
          <p:nvPr/>
        </p:nvSpPr>
        <p:spPr>
          <a:xfrm>
            <a:off x="9061704" y="3712464"/>
            <a:ext cx="2624328" cy="1572768"/>
          </a:xfrm>
          <a:prstGeom prst="roundRect">
            <a:avLst>
              <a:gd name="adj" fmla="val 2907"/>
            </a:avLst>
          </a:prstGeom>
          <a:solidFill>
            <a:srgbClr val="FAF9FE"/>
          </a:solidFill>
          <a:ln w="12700">
            <a:solidFill>
              <a:srgbClr val="E6E2F5"/>
            </a:solidFill>
            <a:prstDash val="solid"/>
          </a:ln>
        </p:spPr>
      </p:sp>
      <p:sp>
        <p:nvSpPr>
          <p:cNvPr id="34" name="Text 32"/>
          <p:cNvSpPr txBox="1"/>
          <p:nvPr/>
        </p:nvSpPr>
        <p:spPr>
          <a:xfrm>
            <a:off x="9299448" y="3895344"/>
            <a:ext cx="2148840" cy="292608"/>
          </a:xfrm>
          <a:prstGeom prst="rect">
            <a:avLst/>
          </a:prstGeom>
          <a:noFill/>
          <a:ln/>
        </p:spPr>
        <p:txBody>
          <a:bodyPr wrap="square" lIns="0" tIns="0" rIns="0" bIns="0" rtlCol="0" anchor="ctr"/>
          <a:lstStyle/>
          <a:p>
            <a:pPr indent="0" marL="0">
              <a:buNone/>
            </a:pPr>
            <a:r>
              <a:rPr lang="en-US" sz="1350" b="1" dirty="0">
                <a:solidFill>
                  <a:srgbClr val="241A4C"/>
                </a:solidFill>
                <a:latin typeface="Cambria" pitchFamily="34" charset="0"/>
                <a:ea typeface="Cambria" pitchFamily="34" charset="-122"/>
                <a:cs typeface="Cambria" pitchFamily="34" charset="-120"/>
              </a:rPr>
              <a:t>Reduction</a:t>
            </a:r>
            <a:endParaRPr lang="en-US" sz="1350" dirty="0"/>
          </a:p>
        </p:txBody>
      </p:sp>
      <p:sp>
        <p:nvSpPr>
          <p:cNvPr id="35" name="Text 33"/>
          <p:cNvSpPr txBox="1"/>
          <p:nvPr/>
        </p:nvSpPr>
        <p:spPr>
          <a:xfrm>
            <a:off x="9299448"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Transform problem A into problem B.</a:t>
            </a:r>
            <a:endParaRPr lang="en-US" sz="1050" dirty="0"/>
          </a:p>
        </p:txBody>
      </p:sp>
      <p:sp>
        <p:nvSpPr>
          <p:cNvPr id="36" name="Text 34"/>
          <p:cNvSpPr txBox="1"/>
          <p:nvPr/>
        </p:nvSpPr>
        <p:spPr>
          <a:xfrm>
            <a:off x="9299448"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NP-hardness, undecidability, lower bounds, cryptographic security.</a:t>
            </a:r>
            <a:endParaRPr lang="en-US" sz="950" dirty="0"/>
          </a:p>
        </p:txBody>
      </p:sp>
      <p:sp>
        <p:nvSpPr>
          <p:cNvPr id="37" name="Text 35"/>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Also in regular use: exhaustive case analysis, the probabilistic method, adversary arguments, and diagonalisation — the last of which we meet again three slides from now.</a:t>
            </a:r>
            <a:endParaRPr lang="en-US" sz="1150" dirty="0"/>
          </a:p>
        </p:txBody>
      </p:sp>
      <p:sp>
        <p:nvSpPr>
          <p:cNvPr id="38" name="Text 3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9" name="Text 3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16 / 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MATHEMATICAL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Correctness by Loop Invariant</a:t>
            </a:r>
            <a:endParaRPr lang="en-US" sz="2800" dirty="0"/>
          </a:p>
        </p:txBody>
      </p:sp>
      <p:sp>
        <p:nvSpPr>
          <p:cNvPr id="4" name="Text 2"/>
          <p:cNvSpPr txBox="1"/>
          <p:nvPr/>
        </p:nvSpPr>
        <p:spPr>
          <a:xfrm>
            <a:off x="502920" y="1078992"/>
            <a:ext cx="11183112" cy="384048"/>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Claim under test:  </a:t>
            </a:r>
            <a:pPr indent="0" marL="0">
              <a:buNone/>
            </a:pPr>
            <a:r>
              <a:rPr lang="en-US" sz="1150" dirty="0">
                <a:solidFill>
                  <a:srgbClr val="5C5A66"/>
                </a:solidFill>
                <a:latin typeface="Calibri" pitchFamily="34" charset="0"/>
                <a:ea typeface="Calibri" pitchFamily="34" charset="-122"/>
                <a:cs typeface="Calibri" pitchFamily="34" charset="-120"/>
              </a:rPr>
              <a:t>“Insertion sort terminates, and on termination the array is a sorted permutation of its input.”</a:t>
            </a:r>
            <a:endParaRPr lang="en-US" sz="1150" dirty="0"/>
          </a:p>
        </p:txBody>
      </p:sp>
      <p:sp>
        <p:nvSpPr>
          <p:cNvPr id="5" name="Shape 3"/>
          <p:cNvSpPr/>
          <p:nvPr/>
        </p:nvSpPr>
        <p:spPr>
          <a:xfrm>
            <a:off x="502920" y="1627632"/>
            <a:ext cx="4206240" cy="2286000"/>
          </a:xfrm>
          <a:prstGeom prst="roundRect">
            <a:avLst>
              <a:gd name="adj" fmla="val 2000"/>
            </a:avLst>
          </a:prstGeom>
          <a:solidFill>
            <a:srgbClr val="F5F4FB"/>
          </a:solidFill>
          <a:ln/>
        </p:spPr>
      </p:sp>
      <p:sp>
        <p:nvSpPr>
          <p:cNvPr id="6" name="Text 4"/>
          <p:cNvSpPr txBox="1"/>
          <p:nvPr/>
        </p:nvSpPr>
        <p:spPr>
          <a:xfrm>
            <a:off x="777240" y="1792224"/>
            <a:ext cx="3657600" cy="1956816"/>
          </a:xfrm>
          <a:prstGeom prst="rect">
            <a:avLst/>
          </a:prstGeom>
          <a:noFill/>
          <a:ln/>
        </p:spPr>
        <p:txBody>
          <a:bodyPr wrap="square" lIns="0" tIns="0" rIns="0" bIns="0" rtlCol="0" anchor="t"/>
          <a:lstStyle/>
          <a:p>
            <a:pPr indent="0" marL="0">
              <a:lnSpc>
                <a:spcPct val="124000"/>
              </a:lnSpc>
              <a:buNone/>
            </a:pPr>
            <a:r>
              <a:rPr lang="en-US" sz="1150" dirty="0">
                <a:solidFill>
                  <a:srgbClr val="241A4C"/>
                </a:solidFill>
                <a:latin typeface="Courier New" pitchFamily="34" charset="0"/>
                <a:ea typeface="Courier New" pitchFamily="34" charset="-122"/>
                <a:cs typeface="Courier New" pitchFamily="34" charset="-120"/>
              </a:rPr>
              <a:t>for j = 2 to A.length</a:t>
            </a:r>
            <a:endParaRPr lang="en-US" sz="1150" dirty="0"/>
          </a:p>
          <a:p>
            <a:pPr indent="0" marL="0">
              <a:lnSpc>
                <a:spcPct val="124000"/>
              </a:lnSpc>
              <a:buNone/>
            </a:pPr>
            <a:r>
              <a:rPr lang="en-US" sz="1150" dirty="0">
                <a:solidFill>
                  <a:srgbClr val="241A4C"/>
                </a:solidFill>
                <a:latin typeface="Courier New" pitchFamily="34" charset="0"/>
                <a:ea typeface="Courier New" pitchFamily="34" charset="-122"/>
                <a:cs typeface="Courier New" pitchFamily="34" charset="-120"/>
              </a:rPr>
              <a:t>    key = A[j]</a:t>
            </a:r>
            <a:endParaRPr lang="en-US" sz="1150" dirty="0"/>
          </a:p>
          <a:p>
            <a:pPr indent="0" marL="0">
              <a:lnSpc>
                <a:spcPct val="124000"/>
              </a:lnSpc>
              <a:buNone/>
            </a:pPr>
            <a:r>
              <a:rPr lang="en-US" sz="1150" dirty="0">
                <a:solidFill>
                  <a:srgbClr val="241A4C"/>
                </a:solidFill>
                <a:latin typeface="Courier New" pitchFamily="34" charset="0"/>
                <a:ea typeface="Courier New" pitchFamily="34" charset="-122"/>
                <a:cs typeface="Courier New" pitchFamily="34" charset="-120"/>
              </a:rPr>
              <a:t>    i = j - 1</a:t>
            </a:r>
            <a:endParaRPr lang="en-US" sz="1150" dirty="0"/>
          </a:p>
          <a:p>
            <a:pPr indent="0" marL="0">
              <a:lnSpc>
                <a:spcPct val="124000"/>
              </a:lnSpc>
              <a:buNone/>
            </a:pPr>
            <a:r>
              <a:rPr lang="en-US" sz="1150" dirty="0">
                <a:solidFill>
                  <a:srgbClr val="241A4C"/>
                </a:solidFill>
                <a:latin typeface="Courier New" pitchFamily="34" charset="0"/>
                <a:ea typeface="Courier New" pitchFamily="34" charset="-122"/>
                <a:cs typeface="Courier New" pitchFamily="34" charset="-120"/>
              </a:rPr>
              <a:t>    while i &gt; 0 and A[i] &gt; key</a:t>
            </a:r>
            <a:endParaRPr lang="en-US" sz="1150" dirty="0"/>
          </a:p>
          <a:p>
            <a:pPr indent="0" marL="0">
              <a:lnSpc>
                <a:spcPct val="124000"/>
              </a:lnSpc>
              <a:buNone/>
            </a:pPr>
            <a:r>
              <a:rPr lang="en-US" sz="1150" dirty="0">
                <a:solidFill>
                  <a:srgbClr val="241A4C"/>
                </a:solidFill>
                <a:latin typeface="Courier New" pitchFamily="34" charset="0"/>
                <a:ea typeface="Courier New" pitchFamily="34" charset="-122"/>
                <a:cs typeface="Courier New" pitchFamily="34" charset="-120"/>
              </a:rPr>
              <a:t>        A[i+1] = A[i]</a:t>
            </a:r>
            <a:endParaRPr lang="en-US" sz="1150" dirty="0"/>
          </a:p>
          <a:p>
            <a:pPr indent="0" marL="0">
              <a:lnSpc>
                <a:spcPct val="124000"/>
              </a:lnSpc>
              <a:buNone/>
            </a:pPr>
            <a:r>
              <a:rPr lang="en-US" sz="1150" dirty="0">
                <a:solidFill>
                  <a:srgbClr val="241A4C"/>
                </a:solidFill>
                <a:latin typeface="Courier New" pitchFamily="34" charset="0"/>
                <a:ea typeface="Courier New" pitchFamily="34" charset="-122"/>
                <a:cs typeface="Courier New" pitchFamily="34" charset="-120"/>
              </a:rPr>
              <a:t>        i = i - 1</a:t>
            </a:r>
            <a:endParaRPr lang="en-US" sz="1150" dirty="0"/>
          </a:p>
          <a:p>
            <a:pPr indent="0" marL="0">
              <a:lnSpc>
                <a:spcPct val="124000"/>
              </a:lnSpc>
              <a:buNone/>
            </a:pPr>
            <a:r>
              <a:rPr lang="en-US" sz="1150" dirty="0">
                <a:solidFill>
                  <a:srgbClr val="241A4C"/>
                </a:solidFill>
                <a:latin typeface="Courier New" pitchFamily="34" charset="0"/>
                <a:ea typeface="Courier New" pitchFamily="34" charset="-122"/>
                <a:cs typeface="Courier New" pitchFamily="34" charset="-120"/>
              </a:rPr>
              <a:t>    A[i+1] = key</a:t>
            </a:r>
            <a:endParaRPr lang="en-US" sz="1150" dirty="0"/>
          </a:p>
        </p:txBody>
      </p:sp>
      <p:sp>
        <p:nvSpPr>
          <p:cNvPr id="7" name="Shape 5"/>
          <p:cNvSpPr/>
          <p:nvPr/>
        </p:nvSpPr>
        <p:spPr>
          <a:xfrm>
            <a:off x="502920" y="4096512"/>
            <a:ext cx="4206240" cy="1371600"/>
          </a:xfrm>
          <a:prstGeom prst="roundRect">
            <a:avLst>
              <a:gd name="adj" fmla="val 3333"/>
            </a:avLst>
          </a:prstGeom>
          <a:solidFill>
            <a:srgbClr val="F6EFE4"/>
          </a:solidFill>
          <a:ln/>
        </p:spPr>
      </p:sp>
      <p:sp>
        <p:nvSpPr>
          <p:cNvPr id="8" name="Text 6"/>
          <p:cNvSpPr txBox="1"/>
          <p:nvPr/>
        </p:nvSpPr>
        <p:spPr>
          <a:xfrm>
            <a:off x="777240" y="4261104"/>
            <a:ext cx="365760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INVARIANT</a:t>
            </a:r>
            <a:endParaRPr lang="en-US" sz="850" dirty="0"/>
          </a:p>
        </p:txBody>
      </p:sp>
      <p:sp>
        <p:nvSpPr>
          <p:cNvPr id="9" name="Text 7"/>
          <p:cNvSpPr txBox="1"/>
          <p:nvPr/>
        </p:nvSpPr>
        <p:spPr>
          <a:xfrm>
            <a:off x="777240" y="4498848"/>
            <a:ext cx="3657600" cy="859536"/>
          </a:xfrm>
          <a:prstGeom prst="rect">
            <a:avLst/>
          </a:prstGeom>
          <a:noFill/>
          <a:ln/>
        </p:spPr>
        <p:txBody>
          <a:bodyPr wrap="square" lIns="0" tIns="0" rIns="0" bIns="0" rtlCol="0" anchor="t"/>
          <a:lstStyle/>
          <a:p>
            <a:pPr indent="0" marL="0">
              <a:lnSpc>
                <a:spcPct val="120000"/>
              </a:lnSpc>
              <a:buNone/>
            </a:pPr>
            <a:r>
              <a:rPr lang="en-US" sz="1100" dirty="0">
                <a:solidFill>
                  <a:srgbClr val="241A4C"/>
                </a:solidFill>
                <a:latin typeface="Calibri" pitchFamily="34" charset="0"/>
                <a:ea typeface="Calibri" pitchFamily="34" charset="-122"/>
                <a:cs typeface="Calibri" pitchFamily="34" charset="-120"/>
              </a:rPr>
              <a:t>At the start of each iteration of the for loop, A[1 .. j−1] contains exactly the elements originally in A[1 .. j−1], in sorted order.</a:t>
            </a:r>
            <a:endParaRPr lang="en-US" sz="1100" dirty="0"/>
          </a:p>
        </p:txBody>
      </p:sp>
      <p:sp>
        <p:nvSpPr>
          <p:cNvPr id="10" name="Shape 8"/>
          <p:cNvSpPr/>
          <p:nvPr/>
        </p:nvSpPr>
        <p:spPr>
          <a:xfrm>
            <a:off x="5029200" y="1645920"/>
            <a:ext cx="310896" cy="310896"/>
          </a:xfrm>
          <a:prstGeom prst="ellipse">
            <a:avLst/>
          </a:prstGeom>
          <a:solidFill>
            <a:srgbClr val="B08C3A"/>
          </a:solidFill>
          <a:ln/>
        </p:spPr>
      </p:sp>
      <p:sp>
        <p:nvSpPr>
          <p:cNvPr id="11" name="Text 9"/>
          <p:cNvSpPr txBox="1"/>
          <p:nvPr/>
        </p:nvSpPr>
        <p:spPr>
          <a:xfrm>
            <a:off x="5029200" y="16459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txBox="1"/>
          <p:nvPr/>
        </p:nvSpPr>
        <p:spPr>
          <a:xfrm>
            <a:off x="5541264" y="1627632"/>
            <a:ext cx="6144768" cy="274320"/>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Initialisation</a:t>
            </a:r>
            <a:endParaRPr lang="en-US" sz="1400" dirty="0"/>
          </a:p>
        </p:txBody>
      </p:sp>
      <p:sp>
        <p:nvSpPr>
          <p:cNvPr id="13" name="Text 11"/>
          <p:cNvSpPr txBox="1"/>
          <p:nvPr/>
        </p:nvSpPr>
        <p:spPr>
          <a:xfrm>
            <a:off x="5541264" y="1956816"/>
            <a:ext cx="6144768" cy="96926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Before the first iteration j = 2, so A[1 .. 1] is a single element — trivially sorted, and trivially a permutation of itself. The invariant holds on entry.</a:t>
            </a:r>
            <a:endParaRPr lang="en-US" sz="1100" dirty="0"/>
          </a:p>
        </p:txBody>
      </p:sp>
      <p:sp>
        <p:nvSpPr>
          <p:cNvPr id="14" name="Shape 12"/>
          <p:cNvSpPr/>
          <p:nvPr/>
        </p:nvSpPr>
        <p:spPr>
          <a:xfrm>
            <a:off x="5029200" y="3017520"/>
            <a:ext cx="310896" cy="310896"/>
          </a:xfrm>
          <a:prstGeom prst="ellipse">
            <a:avLst/>
          </a:prstGeom>
          <a:solidFill>
            <a:srgbClr val="B08C3A"/>
          </a:solidFill>
          <a:ln/>
        </p:spPr>
      </p:sp>
      <p:sp>
        <p:nvSpPr>
          <p:cNvPr id="15" name="Text 13"/>
          <p:cNvSpPr txBox="1"/>
          <p:nvPr/>
        </p:nvSpPr>
        <p:spPr>
          <a:xfrm>
            <a:off x="5029200" y="30175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5541264" y="2999232"/>
            <a:ext cx="6144768" cy="274320"/>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Maintenance</a:t>
            </a:r>
            <a:endParaRPr lang="en-US" sz="1400" dirty="0"/>
          </a:p>
        </p:txBody>
      </p:sp>
      <p:sp>
        <p:nvSpPr>
          <p:cNvPr id="17" name="Text 15"/>
          <p:cNvSpPr txBox="1"/>
          <p:nvPr/>
        </p:nvSpPr>
        <p:spPr>
          <a:xfrm>
            <a:off x="5541264" y="3328416"/>
            <a:ext cx="6144768" cy="96926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while loop shifts every element of A[1 .. j−1] greater than key one position right, then places key in the vacated slot. Only positions change, so the multiset is preserved; key lands after all smaller elements and before all larger ones, so A[1 .. j] is sorted when j is incremented.</a:t>
            </a:r>
            <a:endParaRPr lang="en-US" sz="1100" dirty="0"/>
          </a:p>
        </p:txBody>
      </p:sp>
      <p:sp>
        <p:nvSpPr>
          <p:cNvPr id="18" name="Shape 16"/>
          <p:cNvSpPr/>
          <p:nvPr/>
        </p:nvSpPr>
        <p:spPr>
          <a:xfrm>
            <a:off x="5029200" y="4389120"/>
            <a:ext cx="310896" cy="310896"/>
          </a:xfrm>
          <a:prstGeom prst="ellipse">
            <a:avLst/>
          </a:prstGeom>
          <a:solidFill>
            <a:srgbClr val="B08C3A"/>
          </a:solidFill>
          <a:ln/>
        </p:spPr>
      </p:sp>
      <p:sp>
        <p:nvSpPr>
          <p:cNvPr id="19" name="Text 17"/>
          <p:cNvSpPr txBox="1"/>
          <p:nvPr/>
        </p:nvSpPr>
        <p:spPr>
          <a:xfrm>
            <a:off x="5029200" y="43891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5541264" y="4370832"/>
            <a:ext cx="6144768" cy="274320"/>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Termination</a:t>
            </a:r>
            <a:endParaRPr lang="en-US" sz="1400" dirty="0"/>
          </a:p>
        </p:txBody>
      </p:sp>
      <p:sp>
        <p:nvSpPr>
          <p:cNvPr id="21" name="Text 19"/>
          <p:cNvSpPr txBox="1"/>
          <p:nvPr/>
        </p:nvSpPr>
        <p:spPr>
          <a:xfrm>
            <a:off x="5541264" y="4700016"/>
            <a:ext cx="6144768" cy="96926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The for loop ends with j = n + 1. Substituting into the invariant gives: A[1 .. n] contains the original elements, in sorted order — which is exactly the postcondition, so insertion sort is correct.</a:t>
            </a:r>
            <a:endParaRPr lang="en-US" sz="1100" dirty="0"/>
          </a:p>
        </p:txBody>
      </p:sp>
      <p:sp>
        <p:nvSpPr>
          <p:cNvPr id="22" name="Text 20"/>
          <p:cNvSpPr txBox="1"/>
          <p:nvPr/>
        </p:nvSpPr>
        <p:spPr>
          <a:xfrm>
            <a:off x="5541264" y="5724144"/>
            <a:ext cx="6144768" cy="658368"/>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Termination of the inner loop needs its own argument: i strictly decreases on each pass and is bounded below by 0, so the while loop cannot run forever. A correctness proof that skips this step establishes only partial correctness.</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17 / 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MATHEMATICAL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A Lower Bound No Benchmark Could Give</a:t>
            </a:r>
            <a:endParaRPr lang="en-US" sz="2800" dirty="0"/>
          </a:p>
        </p:txBody>
      </p:sp>
      <p:sp>
        <p:nvSpPr>
          <p:cNvPr id="4" name="Text 2"/>
          <p:cNvSpPr txBox="1"/>
          <p:nvPr/>
        </p:nvSpPr>
        <p:spPr>
          <a:xfrm>
            <a:off x="502920" y="1078992"/>
            <a:ext cx="11183112" cy="384048"/>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Claim under test:  </a:t>
            </a:r>
            <a:pPr indent="0" marL="0">
              <a:buNone/>
            </a:pPr>
            <a:r>
              <a:rPr lang="en-US" sz="1150" dirty="0">
                <a:solidFill>
                  <a:srgbClr val="5C5A66"/>
                </a:solidFill>
                <a:latin typeface="Calibri" pitchFamily="34" charset="0"/>
                <a:ea typeface="Calibri" pitchFamily="34" charset="-122"/>
                <a:cs typeface="Calibri" pitchFamily="34" charset="-120"/>
              </a:rPr>
              <a:t>“Any comparison-based sorting algorithm requires Ω(n log n) comparisons in the worst case.”</a:t>
            </a:r>
            <a:endParaRPr lang="en-US" sz="1150" dirty="0"/>
          </a:p>
        </p:txBody>
      </p:sp>
      <p:sp>
        <p:nvSpPr>
          <p:cNvPr id="5" name="Shape 3"/>
          <p:cNvSpPr/>
          <p:nvPr/>
        </p:nvSpPr>
        <p:spPr>
          <a:xfrm>
            <a:off x="502920" y="1627632"/>
            <a:ext cx="2624328" cy="2432304"/>
          </a:xfrm>
          <a:prstGeom prst="roundRect">
            <a:avLst>
              <a:gd name="adj" fmla="val 1880"/>
            </a:avLst>
          </a:prstGeom>
          <a:solidFill>
            <a:srgbClr val="F3F1FC"/>
          </a:solidFill>
          <a:ln/>
        </p:spPr>
      </p:sp>
      <p:sp>
        <p:nvSpPr>
          <p:cNvPr id="6" name="Shape 4"/>
          <p:cNvSpPr/>
          <p:nvPr/>
        </p:nvSpPr>
        <p:spPr>
          <a:xfrm>
            <a:off x="740664" y="1847088"/>
            <a:ext cx="310896" cy="310896"/>
          </a:xfrm>
          <a:prstGeom prst="ellipse">
            <a:avLst/>
          </a:prstGeom>
          <a:solidFill>
            <a:srgbClr val="B08C3A"/>
          </a:solidFill>
          <a:ln/>
        </p:spPr>
      </p:sp>
      <p:sp>
        <p:nvSpPr>
          <p:cNvPr id="7" name="Text 5"/>
          <p:cNvSpPr txBox="1"/>
          <p:nvPr/>
        </p:nvSpPr>
        <p:spPr>
          <a:xfrm>
            <a:off x="740664" y="1847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740664" y="2267712"/>
            <a:ext cx="2148840" cy="292608"/>
          </a:xfrm>
          <a:prstGeom prst="rect">
            <a:avLst/>
          </a:prstGeom>
          <a:noFill/>
          <a:ln/>
        </p:spPr>
        <p:txBody>
          <a:bodyPr wrap="square" lIns="0" tIns="0" rIns="0" bIns="0" rtlCol="0" anchor="ctr"/>
          <a:lstStyle/>
          <a:p>
            <a:pPr indent="0" marL="0">
              <a:buNone/>
            </a:pPr>
            <a:r>
              <a:rPr lang="en-US" sz="1400" b="1" dirty="0">
                <a:solidFill>
                  <a:srgbClr val="241A4C"/>
                </a:solidFill>
                <a:latin typeface="Cambria" pitchFamily="34" charset="0"/>
                <a:ea typeface="Cambria" pitchFamily="34" charset="-122"/>
                <a:cs typeface="Cambria" pitchFamily="34" charset="-120"/>
              </a:rPr>
              <a:t>Model</a:t>
            </a:r>
            <a:endParaRPr lang="en-US" sz="1400" dirty="0"/>
          </a:p>
        </p:txBody>
      </p:sp>
      <p:sp>
        <p:nvSpPr>
          <p:cNvPr id="9" name="Text 7"/>
          <p:cNvSpPr txBox="1"/>
          <p:nvPr/>
        </p:nvSpPr>
        <p:spPr>
          <a:xfrm>
            <a:off x="740664" y="2615184"/>
            <a:ext cx="2148840" cy="1316736"/>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Represent any comparison sort as a binary decision tree. Internal nodes are comparisons, the two children are the two outcomes, and each leaf is one permutation the algorithm can output.</a:t>
            </a:r>
            <a:endParaRPr lang="en-US" sz="1050" dirty="0"/>
          </a:p>
        </p:txBody>
      </p:sp>
      <p:sp>
        <p:nvSpPr>
          <p:cNvPr id="10" name="Shape 8"/>
          <p:cNvSpPr/>
          <p:nvPr/>
        </p:nvSpPr>
        <p:spPr>
          <a:xfrm>
            <a:off x="3355848" y="1627632"/>
            <a:ext cx="2624328" cy="2432304"/>
          </a:xfrm>
          <a:prstGeom prst="roundRect">
            <a:avLst>
              <a:gd name="adj" fmla="val 1880"/>
            </a:avLst>
          </a:prstGeom>
          <a:solidFill>
            <a:srgbClr val="F3F1FC"/>
          </a:solidFill>
          <a:ln/>
        </p:spPr>
      </p:sp>
      <p:sp>
        <p:nvSpPr>
          <p:cNvPr id="11" name="Shape 9"/>
          <p:cNvSpPr/>
          <p:nvPr/>
        </p:nvSpPr>
        <p:spPr>
          <a:xfrm>
            <a:off x="3593592" y="1847088"/>
            <a:ext cx="310896" cy="310896"/>
          </a:xfrm>
          <a:prstGeom prst="ellipse">
            <a:avLst/>
          </a:prstGeom>
          <a:solidFill>
            <a:srgbClr val="B08C3A"/>
          </a:solidFill>
          <a:ln/>
        </p:spPr>
      </p:sp>
      <p:sp>
        <p:nvSpPr>
          <p:cNvPr id="12" name="Text 10"/>
          <p:cNvSpPr txBox="1"/>
          <p:nvPr/>
        </p:nvSpPr>
        <p:spPr>
          <a:xfrm>
            <a:off x="3593592" y="1847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3593592" y="2267712"/>
            <a:ext cx="2148840" cy="292608"/>
          </a:xfrm>
          <a:prstGeom prst="rect">
            <a:avLst/>
          </a:prstGeom>
          <a:noFill/>
          <a:ln/>
        </p:spPr>
        <p:txBody>
          <a:bodyPr wrap="square" lIns="0" tIns="0" rIns="0" bIns="0" rtlCol="0" anchor="ctr"/>
          <a:lstStyle/>
          <a:p>
            <a:pPr indent="0" marL="0">
              <a:buNone/>
            </a:pPr>
            <a:r>
              <a:rPr lang="en-US" sz="1400" b="1" dirty="0">
                <a:solidFill>
                  <a:srgbClr val="241A4C"/>
                </a:solidFill>
                <a:latin typeface="Cambria" pitchFamily="34" charset="0"/>
                <a:ea typeface="Cambria" pitchFamily="34" charset="-122"/>
                <a:cs typeface="Cambria" pitchFamily="34" charset="-120"/>
              </a:rPr>
              <a:t>Count the leaves</a:t>
            </a:r>
            <a:endParaRPr lang="en-US" sz="1400" dirty="0"/>
          </a:p>
        </p:txBody>
      </p:sp>
      <p:sp>
        <p:nvSpPr>
          <p:cNvPr id="14" name="Text 12"/>
          <p:cNvSpPr txBox="1"/>
          <p:nvPr/>
        </p:nvSpPr>
        <p:spPr>
          <a:xfrm>
            <a:off x="3593592" y="2615184"/>
            <a:ext cx="2148840" cy="1316736"/>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To sort correctly, the algorithm must be able to produce every one of the n! possible orderings. So the tree has at least n! reachable leaves.</a:t>
            </a:r>
            <a:endParaRPr lang="en-US" sz="1050" dirty="0"/>
          </a:p>
        </p:txBody>
      </p:sp>
      <p:sp>
        <p:nvSpPr>
          <p:cNvPr id="15" name="Shape 13"/>
          <p:cNvSpPr/>
          <p:nvPr/>
        </p:nvSpPr>
        <p:spPr>
          <a:xfrm>
            <a:off x="6208776" y="1627632"/>
            <a:ext cx="2624328" cy="2432304"/>
          </a:xfrm>
          <a:prstGeom prst="roundRect">
            <a:avLst>
              <a:gd name="adj" fmla="val 1880"/>
            </a:avLst>
          </a:prstGeom>
          <a:solidFill>
            <a:srgbClr val="F3F1FC"/>
          </a:solidFill>
          <a:ln/>
        </p:spPr>
      </p:sp>
      <p:sp>
        <p:nvSpPr>
          <p:cNvPr id="16" name="Shape 14"/>
          <p:cNvSpPr/>
          <p:nvPr/>
        </p:nvSpPr>
        <p:spPr>
          <a:xfrm>
            <a:off x="6446520" y="1847088"/>
            <a:ext cx="310896" cy="310896"/>
          </a:xfrm>
          <a:prstGeom prst="ellipse">
            <a:avLst/>
          </a:prstGeom>
          <a:solidFill>
            <a:srgbClr val="B08C3A"/>
          </a:solidFill>
          <a:ln/>
        </p:spPr>
      </p:sp>
      <p:sp>
        <p:nvSpPr>
          <p:cNvPr id="17" name="Text 15"/>
          <p:cNvSpPr txBox="1"/>
          <p:nvPr/>
        </p:nvSpPr>
        <p:spPr>
          <a:xfrm>
            <a:off x="6446520" y="1847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6446520" y="2267712"/>
            <a:ext cx="2148840" cy="292608"/>
          </a:xfrm>
          <a:prstGeom prst="rect">
            <a:avLst/>
          </a:prstGeom>
          <a:noFill/>
          <a:ln/>
        </p:spPr>
        <p:txBody>
          <a:bodyPr wrap="square" lIns="0" tIns="0" rIns="0" bIns="0" rtlCol="0" anchor="ctr"/>
          <a:lstStyle/>
          <a:p>
            <a:pPr indent="0" marL="0">
              <a:buNone/>
            </a:pPr>
            <a:r>
              <a:rPr lang="en-US" sz="1400" b="1" dirty="0">
                <a:solidFill>
                  <a:srgbClr val="241A4C"/>
                </a:solidFill>
                <a:latin typeface="Cambria" pitchFamily="34" charset="0"/>
                <a:ea typeface="Cambria" pitchFamily="34" charset="-122"/>
                <a:cs typeface="Cambria" pitchFamily="34" charset="-120"/>
              </a:rPr>
              <a:t>Bound the height</a:t>
            </a:r>
            <a:endParaRPr lang="en-US" sz="1400" dirty="0"/>
          </a:p>
        </p:txBody>
      </p:sp>
      <p:sp>
        <p:nvSpPr>
          <p:cNvPr id="19" name="Text 17"/>
          <p:cNvSpPr txBox="1"/>
          <p:nvPr/>
        </p:nvSpPr>
        <p:spPr>
          <a:xfrm>
            <a:off x="6446520" y="2615184"/>
            <a:ext cx="2148840" cy="1316736"/>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A binary tree of height h has at most 2^h leaves. Therefore 2^h ≥ n!, and so h ≥ log₂(n!).</a:t>
            </a:r>
            <a:endParaRPr lang="en-US" sz="1050" dirty="0"/>
          </a:p>
        </p:txBody>
      </p:sp>
      <p:sp>
        <p:nvSpPr>
          <p:cNvPr id="20" name="Shape 18"/>
          <p:cNvSpPr/>
          <p:nvPr/>
        </p:nvSpPr>
        <p:spPr>
          <a:xfrm>
            <a:off x="9061704" y="1627632"/>
            <a:ext cx="2624328" cy="2432304"/>
          </a:xfrm>
          <a:prstGeom prst="roundRect">
            <a:avLst>
              <a:gd name="adj" fmla="val 1880"/>
            </a:avLst>
          </a:prstGeom>
          <a:solidFill>
            <a:srgbClr val="F3F1FC"/>
          </a:solidFill>
          <a:ln/>
        </p:spPr>
      </p:sp>
      <p:sp>
        <p:nvSpPr>
          <p:cNvPr id="21" name="Shape 19"/>
          <p:cNvSpPr/>
          <p:nvPr/>
        </p:nvSpPr>
        <p:spPr>
          <a:xfrm>
            <a:off x="9299448" y="1847088"/>
            <a:ext cx="310896" cy="310896"/>
          </a:xfrm>
          <a:prstGeom prst="ellipse">
            <a:avLst/>
          </a:prstGeom>
          <a:solidFill>
            <a:srgbClr val="B08C3A"/>
          </a:solidFill>
          <a:ln/>
        </p:spPr>
      </p:sp>
      <p:sp>
        <p:nvSpPr>
          <p:cNvPr id="22" name="Text 20"/>
          <p:cNvSpPr txBox="1"/>
          <p:nvPr/>
        </p:nvSpPr>
        <p:spPr>
          <a:xfrm>
            <a:off x="9299448" y="1847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9299448" y="2267712"/>
            <a:ext cx="2148840" cy="292608"/>
          </a:xfrm>
          <a:prstGeom prst="rect">
            <a:avLst/>
          </a:prstGeom>
          <a:noFill/>
          <a:ln/>
        </p:spPr>
        <p:txBody>
          <a:bodyPr wrap="square" lIns="0" tIns="0" rIns="0" bIns="0" rtlCol="0" anchor="ctr"/>
          <a:lstStyle/>
          <a:p>
            <a:pPr indent="0" marL="0">
              <a:buNone/>
            </a:pPr>
            <a:r>
              <a:rPr lang="en-US" sz="1400" b="1" dirty="0">
                <a:solidFill>
                  <a:srgbClr val="241A4C"/>
                </a:solidFill>
                <a:latin typeface="Cambria" pitchFamily="34" charset="0"/>
                <a:ea typeface="Cambria" pitchFamily="34" charset="-122"/>
                <a:cs typeface="Cambria" pitchFamily="34" charset="-120"/>
              </a:rPr>
              <a:t>Estimate</a:t>
            </a:r>
            <a:endParaRPr lang="en-US" sz="1400" dirty="0"/>
          </a:p>
        </p:txBody>
      </p:sp>
      <p:sp>
        <p:nvSpPr>
          <p:cNvPr id="24" name="Text 22"/>
          <p:cNvSpPr txBox="1"/>
          <p:nvPr/>
        </p:nvSpPr>
        <p:spPr>
          <a:xfrm>
            <a:off x="9299448" y="2615184"/>
            <a:ext cx="2148840" cy="1316736"/>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By Stirling's approximation, log₂(n!) = Θ(n log n). The longest root-to-leaf path is the worst-case comparison count, so that count is Ω(n log n) — as claimed.</a:t>
            </a:r>
            <a:endParaRPr lang="en-US" sz="1050" dirty="0"/>
          </a:p>
        </p:txBody>
      </p:sp>
      <p:sp>
        <p:nvSpPr>
          <p:cNvPr id="25" name="Shape 23"/>
          <p:cNvSpPr/>
          <p:nvPr/>
        </p:nvSpPr>
        <p:spPr>
          <a:xfrm>
            <a:off x="502920" y="4224528"/>
            <a:ext cx="5477256" cy="1536192"/>
          </a:xfrm>
          <a:prstGeom prst="roundRect">
            <a:avLst>
              <a:gd name="adj" fmla="val 2976"/>
            </a:avLst>
          </a:prstGeom>
          <a:solidFill>
            <a:srgbClr val="F6EFE4"/>
          </a:solidFill>
          <a:ln/>
        </p:spPr>
      </p:sp>
      <p:sp>
        <p:nvSpPr>
          <p:cNvPr id="26" name="Text 24"/>
          <p:cNvSpPr txBox="1"/>
          <p:nvPr/>
        </p:nvSpPr>
        <p:spPr>
          <a:xfrm>
            <a:off x="795528" y="4407408"/>
            <a:ext cx="489204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WHAT THIS BUYS</a:t>
            </a:r>
            <a:endParaRPr lang="en-US" sz="850" dirty="0"/>
          </a:p>
        </p:txBody>
      </p:sp>
      <p:sp>
        <p:nvSpPr>
          <p:cNvPr id="27" name="Text 25"/>
          <p:cNvSpPr txBox="1"/>
          <p:nvPr/>
        </p:nvSpPr>
        <p:spPr>
          <a:xfrm>
            <a:off x="795528" y="4663440"/>
            <a:ext cx="4892040" cy="96926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 statement about every comparison sort that will ever be written, including ones nobody has thought of yet. No quantity of benchmarking could establish this — measurement can only ever report on algorithms that already exist.</a:t>
            </a:r>
            <a:endParaRPr lang="en-US" sz="1100" dirty="0"/>
          </a:p>
        </p:txBody>
      </p:sp>
      <p:sp>
        <p:nvSpPr>
          <p:cNvPr id="28" name="Shape 26"/>
          <p:cNvSpPr/>
          <p:nvPr/>
        </p:nvSpPr>
        <p:spPr>
          <a:xfrm>
            <a:off x="6208776" y="4224528"/>
            <a:ext cx="5477256" cy="1536192"/>
          </a:xfrm>
          <a:prstGeom prst="roundRect">
            <a:avLst>
              <a:gd name="adj" fmla="val 2976"/>
            </a:avLst>
          </a:prstGeom>
          <a:solidFill>
            <a:srgbClr val="F8EEEA"/>
          </a:solidFill>
          <a:ln/>
        </p:spPr>
      </p:sp>
      <p:sp>
        <p:nvSpPr>
          <p:cNvPr id="29" name="Text 27"/>
          <p:cNvSpPr txBox="1"/>
          <p:nvPr/>
        </p:nvSpPr>
        <p:spPr>
          <a:xfrm>
            <a:off x="6501384" y="4407408"/>
            <a:ext cx="4892040" cy="201168"/>
          </a:xfrm>
          <a:prstGeom prst="rect">
            <a:avLst/>
          </a:prstGeom>
          <a:noFill/>
          <a:ln/>
        </p:spPr>
        <p:txBody>
          <a:bodyPr wrap="square" lIns="0" tIns="0" rIns="0" bIns="0" rtlCol="0" anchor="ctr"/>
          <a:lstStyle/>
          <a:p>
            <a:pPr indent="0" marL="0">
              <a:buNone/>
            </a:pPr>
            <a:r>
              <a:rPr lang="en-US" sz="850" b="1" spc="130" kern="0" dirty="0">
                <a:solidFill>
                  <a:srgbClr val="B4522B"/>
                </a:solidFill>
                <a:latin typeface="Calibri" pitchFamily="34" charset="0"/>
                <a:ea typeface="Calibri" pitchFamily="34" charset="-122"/>
                <a:cs typeface="Calibri" pitchFamily="34" charset="-120"/>
              </a:rPr>
              <a:t>WHAT IT COSTS</a:t>
            </a:r>
            <a:endParaRPr lang="en-US" sz="850" dirty="0"/>
          </a:p>
        </p:txBody>
      </p:sp>
      <p:sp>
        <p:nvSpPr>
          <p:cNvPr id="30" name="Text 28"/>
          <p:cNvSpPr txBox="1"/>
          <p:nvPr/>
        </p:nvSpPr>
        <p:spPr>
          <a:xfrm>
            <a:off x="6501384" y="4663440"/>
            <a:ext cx="4892040" cy="969264"/>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Notice the premise doing all the work: comparison-based. Counting sort and radix sort run in linear time precisely because they leave that model. The theorem is airtight and, for the right input, entirely escapable.</a:t>
            </a:r>
            <a:endParaRPr lang="en-US" sz="1100" dirty="0"/>
          </a:p>
        </p:txBody>
      </p:sp>
      <p:sp>
        <p:nvSpPr>
          <p:cNvPr id="31" name="Text 29"/>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2" name="Text 30"/>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18 / 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MATHEMATICAL PROOF</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Reduction and Impossibility</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The two mathematical results that most directly change what engineers do next — by telling them which doors are locked.</a:t>
            </a:r>
            <a:endParaRPr lang="en-US" sz="1250" dirty="0"/>
          </a:p>
        </p:txBody>
      </p:sp>
      <p:sp>
        <p:nvSpPr>
          <p:cNvPr id="5" name="Shape 3"/>
          <p:cNvSpPr/>
          <p:nvPr/>
        </p:nvSpPr>
        <p:spPr>
          <a:xfrm>
            <a:off x="502920" y="1938528"/>
            <a:ext cx="3502152" cy="3529584"/>
          </a:xfrm>
          <a:prstGeom prst="roundRect">
            <a:avLst>
              <a:gd name="adj" fmla="val 1305"/>
            </a:avLst>
          </a:prstGeom>
          <a:solidFill>
            <a:srgbClr val="F3F1FC"/>
          </a:solidFill>
          <a:ln/>
        </p:spPr>
      </p:sp>
      <p:sp>
        <p:nvSpPr>
          <p:cNvPr id="6" name="Text 4"/>
          <p:cNvSpPr txBox="1"/>
          <p:nvPr/>
        </p:nvSpPr>
        <p:spPr>
          <a:xfrm>
            <a:off x="758952" y="2157984"/>
            <a:ext cx="2990088"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TECHNIQUE</a:t>
            </a:r>
            <a:endParaRPr lang="en-US" sz="800" dirty="0"/>
          </a:p>
        </p:txBody>
      </p:sp>
      <p:sp>
        <p:nvSpPr>
          <p:cNvPr id="7" name="Text 5"/>
          <p:cNvSpPr txBox="1"/>
          <p:nvPr/>
        </p:nvSpPr>
        <p:spPr>
          <a:xfrm>
            <a:off x="758952" y="2395728"/>
            <a:ext cx="2990088" cy="585216"/>
          </a:xfrm>
          <a:prstGeom prst="rect">
            <a:avLst/>
          </a:prstGeom>
          <a:noFill/>
          <a:ln/>
        </p:spPr>
        <p:txBody>
          <a:bodyPr wrap="square" lIns="0" tIns="0" rIns="0" bIns="0" rtlCol="0" anchor="t"/>
          <a:lstStyle/>
          <a:p>
            <a:pPr indent="0" marL="0">
              <a:lnSpc>
                <a:spcPct val="106000"/>
              </a:lnSpc>
              <a:buNone/>
            </a:pPr>
            <a:r>
              <a:rPr lang="en-US" sz="1600" b="1" dirty="0">
                <a:solidFill>
                  <a:srgbClr val="241A4C"/>
                </a:solidFill>
                <a:latin typeface="Cambria" pitchFamily="34" charset="0"/>
                <a:ea typeface="Cambria" pitchFamily="34" charset="-122"/>
                <a:cs typeface="Cambria" pitchFamily="34" charset="-120"/>
              </a:rPr>
              <a:t>Reduction for hardness</a:t>
            </a:r>
            <a:endParaRPr lang="en-US" sz="1600" dirty="0"/>
          </a:p>
        </p:txBody>
      </p:sp>
      <p:sp>
        <p:nvSpPr>
          <p:cNvPr id="8" name="Text 6"/>
          <p:cNvSpPr txBox="1"/>
          <p:nvPr/>
        </p:nvSpPr>
        <p:spPr>
          <a:xfrm>
            <a:off x="758952" y="3054096"/>
            <a:ext cx="2990088" cy="1298448"/>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If a known-hard problem B can be transformed into your problem A in polynomial time, then A is at least as hard as B. Cook–Levin gave the first NP-complete problem; every later NP-completeness result is a chain of reductions back to it.</a:t>
            </a:r>
            <a:endParaRPr lang="en-US" sz="1050" dirty="0"/>
          </a:p>
        </p:txBody>
      </p:sp>
      <p:sp>
        <p:nvSpPr>
          <p:cNvPr id="9" name="Text 7"/>
          <p:cNvSpPr txBox="1"/>
          <p:nvPr/>
        </p:nvSpPr>
        <p:spPr>
          <a:xfrm>
            <a:off x="758952" y="4407408"/>
            <a:ext cx="2990088" cy="914400"/>
          </a:xfrm>
          <a:prstGeom prst="rect">
            <a:avLst/>
          </a:prstGeom>
          <a:noFill/>
          <a:ln/>
        </p:spPr>
        <p:txBody>
          <a:bodyPr wrap="square" lIns="0" tIns="0" rIns="0" bIns="0" rtlCol="0" anchor="t"/>
          <a:lstStyle/>
          <a:p>
            <a:pPr indent="0" marL="0">
              <a:lnSpc>
                <a:spcPct val="118000"/>
              </a:lnSpc>
              <a:buNone/>
            </a:pPr>
            <a:r>
              <a:rPr lang="en-US" sz="1000" i="1" dirty="0">
                <a:solidFill>
                  <a:srgbClr val="3D6EA6"/>
                </a:solidFill>
                <a:latin typeface="Calibri" pitchFamily="34" charset="0"/>
                <a:ea typeface="Calibri" pitchFamily="34" charset="-122"/>
                <a:cs typeface="Calibri" pitchFamily="34" charset="-120"/>
              </a:rPr>
              <a:t>Consequence for practice: stop searching for an efficient exact algorithm. Redirect the effort to approximation, heuristics, parameterised algorithms, or restricted input classes.</a:t>
            </a:r>
            <a:endParaRPr lang="en-US" sz="1000" dirty="0"/>
          </a:p>
        </p:txBody>
      </p:sp>
      <p:sp>
        <p:nvSpPr>
          <p:cNvPr id="10" name="Shape 8"/>
          <p:cNvSpPr/>
          <p:nvPr/>
        </p:nvSpPr>
        <p:spPr>
          <a:xfrm>
            <a:off x="4343400" y="1938528"/>
            <a:ext cx="3502152" cy="3529584"/>
          </a:xfrm>
          <a:prstGeom prst="roundRect">
            <a:avLst>
              <a:gd name="adj" fmla="val 1305"/>
            </a:avLst>
          </a:prstGeom>
          <a:solidFill>
            <a:srgbClr val="F3F1FC"/>
          </a:solidFill>
          <a:ln/>
        </p:spPr>
      </p:sp>
      <p:sp>
        <p:nvSpPr>
          <p:cNvPr id="11" name="Text 9"/>
          <p:cNvSpPr txBox="1"/>
          <p:nvPr/>
        </p:nvSpPr>
        <p:spPr>
          <a:xfrm>
            <a:off x="4599432" y="2157984"/>
            <a:ext cx="2990088"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TECHNIQUE</a:t>
            </a:r>
            <a:endParaRPr lang="en-US" sz="800" dirty="0"/>
          </a:p>
        </p:txBody>
      </p:sp>
      <p:sp>
        <p:nvSpPr>
          <p:cNvPr id="12" name="Text 10"/>
          <p:cNvSpPr txBox="1"/>
          <p:nvPr/>
        </p:nvSpPr>
        <p:spPr>
          <a:xfrm>
            <a:off x="4599432" y="2395728"/>
            <a:ext cx="2990088" cy="585216"/>
          </a:xfrm>
          <a:prstGeom prst="rect">
            <a:avLst/>
          </a:prstGeom>
          <a:noFill/>
          <a:ln/>
        </p:spPr>
        <p:txBody>
          <a:bodyPr wrap="square" lIns="0" tIns="0" rIns="0" bIns="0" rtlCol="0" anchor="t"/>
          <a:lstStyle/>
          <a:p>
            <a:pPr indent="0" marL="0">
              <a:lnSpc>
                <a:spcPct val="106000"/>
              </a:lnSpc>
              <a:buNone/>
            </a:pPr>
            <a:r>
              <a:rPr lang="en-US" sz="1600" b="1" dirty="0">
                <a:solidFill>
                  <a:srgbClr val="241A4C"/>
                </a:solidFill>
                <a:latin typeface="Cambria" pitchFamily="34" charset="0"/>
                <a:ea typeface="Cambria" pitchFamily="34" charset="-122"/>
                <a:cs typeface="Cambria" pitchFamily="34" charset="-120"/>
              </a:rPr>
              <a:t>Diagonalisation for undecidability</a:t>
            </a:r>
            <a:endParaRPr lang="en-US" sz="1600" dirty="0"/>
          </a:p>
        </p:txBody>
      </p:sp>
      <p:sp>
        <p:nvSpPr>
          <p:cNvPr id="13" name="Text 11"/>
          <p:cNvSpPr txBox="1"/>
          <p:nvPr/>
        </p:nvSpPr>
        <p:spPr>
          <a:xfrm>
            <a:off x="4599432" y="3054096"/>
            <a:ext cx="2990088" cy="1298448"/>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Turing's halting argument constructs a program that contradicts any supposed universal decider. Rice's theorem generalises it: every non-trivial semantic property of programs is undecidable.</a:t>
            </a:r>
            <a:endParaRPr lang="en-US" sz="1050" dirty="0"/>
          </a:p>
        </p:txBody>
      </p:sp>
      <p:sp>
        <p:nvSpPr>
          <p:cNvPr id="14" name="Text 12"/>
          <p:cNvSpPr txBox="1"/>
          <p:nvPr/>
        </p:nvSpPr>
        <p:spPr>
          <a:xfrm>
            <a:off x="4599432" y="4407408"/>
            <a:ext cx="2990088" cy="914400"/>
          </a:xfrm>
          <a:prstGeom prst="rect">
            <a:avLst/>
          </a:prstGeom>
          <a:noFill/>
          <a:ln/>
        </p:spPr>
        <p:txBody>
          <a:bodyPr wrap="square" lIns="0" tIns="0" rIns="0" bIns="0" rtlCol="0" anchor="t"/>
          <a:lstStyle/>
          <a:p>
            <a:pPr indent="0" marL="0">
              <a:lnSpc>
                <a:spcPct val="118000"/>
              </a:lnSpc>
              <a:buNone/>
            </a:pPr>
            <a:r>
              <a:rPr lang="en-US" sz="1000" i="1" dirty="0">
                <a:solidFill>
                  <a:srgbClr val="B4522B"/>
                </a:solidFill>
                <a:latin typeface="Calibri" pitchFamily="34" charset="0"/>
                <a:ea typeface="Calibri" pitchFamily="34" charset="-122"/>
                <a:cs typeface="Calibri" pitchFamily="34" charset="-120"/>
              </a:rPr>
              <a:t>Consequence for practice: static analysers and verifiers must be approximate by necessity. Soundness and completeness cannot both be had, so every tool chooses which to sacrifice — and must say which.</a:t>
            </a:r>
            <a:endParaRPr lang="en-US" sz="1000" dirty="0"/>
          </a:p>
        </p:txBody>
      </p:sp>
      <p:sp>
        <p:nvSpPr>
          <p:cNvPr id="15" name="Shape 13"/>
          <p:cNvSpPr/>
          <p:nvPr/>
        </p:nvSpPr>
        <p:spPr>
          <a:xfrm>
            <a:off x="8183880" y="1938528"/>
            <a:ext cx="3502152" cy="3529584"/>
          </a:xfrm>
          <a:prstGeom prst="roundRect">
            <a:avLst>
              <a:gd name="adj" fmla="val 1305"/>
            </a:avLst>
          </a:prstGeom>
          <a:solidFill>
            <a:srgbClr val="F3F1FC"/>
          </a:solidFill>
          <a:ln/>
        </p:spPr>
      </p:sp>
      <p:sp>
        <p:nvSpPr>
          <p:cNvPr id="16" name="Text 14"/>
          <p:cNvSpPr txBox="1"/>
          <p:nvPr/>
        </p:nvSpPr>
        <p:spPr>
          <a:xfrm>
            <a:off x="8439912" y="2157984"/>
            <a:ext cx="2990088"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RESULT CLASS</a:t>
            </a:r>
            <a:endParaRPr lang="en-US" sz="800" dirty="0"/>
          </a:p>
        </p:txBody>
      </p:sp>
      <p:sp>
        <p:nvSpPr>
          <p:cNvPr id="17" name="Text 15"/>
          <p:cNvSpPr txBox="1"/>
          <p:nvPr/>
        </p:nvSpPr>
        <p:spPr>
          <a:xfrm>
            <a:off x="8439912" y="2395728"/>
            <a:ext cx="2990088" cy="585216"/>
          </a:xfrm>
          <a:prstGeom prst="rect">
            <a:avLst/>
          </a:prstGeom>
          <a:noFill/>
          <a:ln/>
        </p:spPr>
        <p:txBody>
          <a:bodyPr wrap="square" lIns="0" tIns="0" rIns="0" bIns="0" rtlCol="0" anchor="t"/>
          <a:lstStyle/>
          <a:p>
            <a:pPr indent="0" marL="0">
              <a:lnSpc>
                <a:spcPct val="106000"/>
              </a:lnSpc>
              <a:buNone/>
            </a:pPr>
            <a:r>
              <a:rPr lang="en-US" sz="1600" b="1" dirty="0">
                <a:solidFill>
                  <a:srgbClr val="241A4C"/>
                </a:solidFill>
                <a:latin typeface="Cambria" pitchFamily="34" charset="0"/>
                <a:ea typeface="Cambria" pitchFamily="34" charset="-122"/>
                <a:cs typeface="Cambria" pitchFamily="34" charset="-120"/>
              </a:rPr>
              <a:t>Impossibility results</a:t>
            </a:r>
            <a:endParaRPr lang="en-US" sz="1600" dirty="0"/>
          </a:p>
        </p:txBody>
      </p:sp>
      <p:sp>
        <p:nvSpPr>
          <p:cNvPr id="18" name="Text 16"/>
          <p:cNvSpPr txBox="1"/>
          <p:nvPr/>
        </p:nvSpPr>
        <p:spPr>
          <a:xfrm>
            <a:off x="8439912" y="3054096"/>
            <a:ext cx="2990088" cy="1298448"/>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FLP (1985) proves that no deterministic protocol solves consensus in an asynchronous system if even one process may crash. Cryptographic lower bounds and distributed-systems trade-offs work the same way.</a:t>
            </a:r>
            <a:endParaRPr lang="en-US" sz="1050" dirty="0"/>
          </a:p>
        </p:txBody>
      </p:sp>
      <p:sp>
        <p:nvSpPr>
          <p:cNvPr id="19" name="Text 17"/>
          <p:cNvSpPr txBox="1"/>
          <p:nvPr/>
        </p:nvSpPr>
        <p:spPr>
          <a:xfrm>
            <a:off x="8439912" y="4407408"/>
            <a:ext cx="2990088" cy="914400"/>
          </a:xfrm>
          <a:prstGeom prst="rect">
            <a:avLst/>
          </a:prstGeom>
          <a:noFill/>
          <a:ln/>
        </p:spPr>
        <p:txBody>
          <a:bodyPr wrap="square" lIns="0" tIns="0" rIns="0" bIns="0" rtlCol="0" anchor="t"/>
          <a:lstStyle/>
          <a:p>
            <a:pPr indent="0" marL="0">
              <a:lnSpc>
                <a:spcPct val="118000"/>
              </a:lnSpc>
              <a:buNone/>
            </a:pPr>
            <a:r>
              <a:rPr lang="en-US" sz="1000" i="1" dirty="0">
                <a:solidFill>
                  <a:srgbClr val="B08C3A"/>
                </a:solidFill>
                <a:latin typeface="Calibri" pitchFamily="34" charset="0"/>
                <a:ea typeface="Calibri" pitchFamily="34" charset="-122"/>
                <a:cs typeface="Calibri" pitchFamily="34" charset="-120"/>
              </a:rPr>
              <a:t>Consequence for practice: real systems adopt randomisation, partial synchrony, or failure detectors — engineered escapes from a premise, not refutations of the theorem.</a:t>
            </a:r>
            <a:endParaRPr lang="en-US" sz="1000" dirty="0"/>
          </a:p>
        </p:txBody>
      </p:sp>
      <p:sp>
        <p:nvSpPr>
          <p:cNvPr id="20" name="Text 18"/>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An impossibility proof is a contribution because it redirects a field's effort. It does not tell you what to build — it tells you to stop pushing on a door that is locked, and go find the window.</a:t>
            </a:r>
            <a:endParaRPr lang="en-US" sz="1150" dirty="0"/>
          </a:p>
        </p:txBody>
      </p:sp>
      <p:sp>
        <p:nvSpPr>
          <p:cNvPr id="21" name="Text 19"/>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2" name="Text 20"/>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19 / 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Where Proof Meets Practice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Four places where the mathematical mode and the empirical mode disagree — and why the disagreement is information, not a defect.</a:t>
            </a:r>
            <a:endParaRPr lang="en-US" sz="1250" dirty="0"/>
          </a:p>
        </p:txBody>
      </p:sp>
      <p:sp>
        <p:nvSpPr>
          <p:cNvPr id="5" name="Shape 3"/>
          <p:cNvSpPr/>
          <p:nvPr/>
        </p:nvSpPr>
        <p:spPr>
          <a:xfrm>
            <a:off x="502920" y="1938528"/>
            <a:ext cx="288036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25877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TENSION</a:t>
            </a:r>
            <a:endParaRPr lang="en-US" sz="850" dirty="0"/>
          </a:p>
        </p:txBody>
      </p:sp>
      <p:sp>
        <p:nvSpPr>
          <p:cNvPr id="7" name="Shape 5"/>
          <p:cNvSpPr/>
          <p:nvPr/>
        </p:nvSpPr>
        <p:spPr>
          <a:xfrm>
            <a:off x="3383280" y="1938528"/>
            <a:ext cx="4828032" cy="384048"/>
          </a:xfrm>
          <a:prstGeom prst="rect">
            <a:avLst/>
          </a:prstGeom>
          <a:solidFill>
            <a:srgbClr val="241A4C"/>
          </a:solidFill>
          <a:ln w="19050">
            <a:solidFill>
              <a:srgbClr val="FFFFFF"/>
            </a:solidFill>
            <a:prstDash val="solid"/>
          </a:ln>
        </p:spPr>
      </p:sp>
      <p:sp>
        <p:nvSpPr>
          <p:cNvPr id="8" name="Text 6"/>
          <p:cNvSpPr txBox="1"/>
          <p:nvPr/>
        </p:nvSpPr>
        <p:spPr>
          <a:xfrm>
            <a:off x="3529584" y="1938528"/>
            <a:ext cx="453542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ACTUALLY HAPPENS</a:t>
            </a:r>
            <a:endParaRPr lang="en-US" sz="850" dirty="0"/>
          </a:p>
        </p:txBody>
      </p:sp>
      <p:sp>
        <p:nvSpPr>
          <p:cNvPr id="9" name="Shape 7"/>
          <p:cNvSpPr/>
          <p:nvPr/>
        </p:nvSpPr>
        <p:spPr>
          <a:xfrm>
            <a:off x="8211312" y="1938528"/>
            <a:ext cx="3474720" cy="384048"/>
          </a:xfrm>
          <a:prstGeom prst="rect">
            <a:avLst/>
          </a:prstGeom>
          <a:solidFill>
            <a:srgbClr val="241A4C"/>
          </a:solidFill>
          <a:ln w="19050">
            <a:solidFill>
              <a:srgbClr val="FFFFFF"/>
            </a:solidFill>
            <a:prstDash val="solid"/>
          </a:ln>
        </p:spPr>
      </p:sp>
      <p:sp>
        <p:nvSpPr>
          <p:cNvPr id="10" name="Text 8"/>
          <p:cNvSpPr txBox="1"/>
          <p:nvPr/>
        </p:nvSpPr>
        <p:spPr>
          <a:xfrm>
            <a:off x="8357616" y="1938528"/>
            <a:ext cx="31821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AN HONEST PAPER DOES</a:t>
            </a:r>
            <a:endParaRPr lang="en-US" sz="850" dirty="0"/>
          </a:p>
        </p:txBody>
      </p:sp>
      <p:sp>
        <p:nvSpPr>
          <p:cNvPr id="11" name="Shape 9"/>
          <p:cNvSpPr/>
          <p:nvPr/>
        </p:nvSpPr>
        <p:spPr>
          <a:xfrm>
            <a:off x="502920" y="2377440"/>
            <a:ext cx="11183112" cy="786384"/>
          </a:xfrm>
          <a:prstGeom prst="rect">
            <a:avLst/>
          </a:prstGeom>
          <a:solidFill>
            <a:srgbClr val="F3F1FC"/>
          </a:solidFill>
          <a:ln/>
        </p:spPr>
      </p:sp>
      <p:sp>
        <p:nvSpPr>
          <p:cNvPr id="12" name="Shape 10"/>
          <p:cNvSpPr/>
          <p:nvPr/>
        </p:nvSpPr>
        <p:spPr>
          <a:xfrm>
            <a:off x="502920" y="2377440"/>
            <a:ext cx="50292" cy="786384"/>
          </a:xfrm>
          <a:prstGeom prst="rect">
            <a:avLst/>
          </a:prstGeom>
          <a:solidFill>
            <a:srgbClr val="D8A73E"/>
          </a:solidFill>
          <a:ln/>
        </p:spPr>
      </p:sp>
      <p:sp>
        <p:nvSpPr>
          <p:cNvPr id="13" name="Text 11"/>
          <p:cNvSpPr txBox="1"/>
          <p:nvPr/>
        </p:nvSpPr>
        <p:spPr>
          <a:xfrm>
            <a:off x="722376" y="2377440"/>
            <a:ext cx="2496312" cy="786384"/>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Asymptotics hide constants</a:t>
            </a:r>
            <a:endParaRPr lang="en-US" sz="1200" dirty="0"/>
          </a:p>
        </p:txBody>
      </p:sp>
      <p:sp>
        <p:nvSpPr>
          <p:cNvPr id="14" name="Text 12"/>
          <p:cNvSpPr txBox="1"/>
          <p:nvPr/>
        </p:nvSpPr>
        <p:spPr>
          <a:xfrm>
            <a:off x="3547872" y="2377440"/>
            <a:ext cx="4498848"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Θ(n log n) with a constant of 10⁶ loses to Θ(n²) at every input size you will ever deploy. Complexity classes rank growth, not running time.</a:t>
            </a:r>
            <a:endParaRPr lang="en-US" sz="1050" dirty="0"/>
          </a:p>
        </p:txBody>
      </p:sp>
      <p:sp>
        <p:nvSpPr>
          <p:cNvPr id="15" name="Text 13"/>
          <p:cNvSpPr txBox="1"/>
          <p:nvPr/>
        </p:nvSpPr>
        <p:spPr>
          <a:xfrm>
            <a:off x="8375904" y="2377440"/>
            <a:ext cx="3145536"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Report the crossover point, or say plainly that the claim is asymptotic only.</a:t>
            </a:r>
            <a:endParaRPr lang="en-US" sz="1050" dirty="0"/>
          </a:p>
        </p:txBody>
      </p:sp>
      <p:sp>
        <p:nvSpPr>
          <p:cNvPr id="16" name="Shape 14"/>
          <p:cNvSpPr/>
          <p:nvPr/>
        </p:nvSpPr>
        <p:spPr>
          <a:xfrm>
            <a:off x="502920" y="3218688"/>
            <a:ext cx="11183112" cy="786384"/>
          </a:xfrm>
          <a:prstGeom prst="rect">
            <a:avLst/>
          </a:prstGeom>
          <a:solidFill>
            <a:srgbClr val="FFFFFF"/>
          </a:solidFill>
          <a:ln/>
        </p:spPr>
      </p:sp>
      <p:sp>
        <p:nvSpPr>
          <p:cNvPr id="17" name="Shape 15"/>
          <p:cNvSpPr/>
          <p:nvPr/>
        </p:nvSpPr>
        <p:spPr>
          <a:xfrm>
            <a:off x="502920" y="3218688"/>
            <a:ext cx="50292" cy="786384"/>
          </a:xfrm>
          <a:prstGeom prst="rect">
            <a:avLst/>
          </a:prstGeom>
          <a:solidFill>
            <a:srgbClr val="3D6EA6"/>
          </a:solidFill>
          <a:ln/>
        </p:spPr>
      </p:sp>
      <p:sp>
        <p:nvSpPr>
          <p:cNvPr id="18" name="Text 16"/>
          <p:cNvSpPr txBox="1"/>
          <p:nvPr/>
        </p:nvSpPr>
        <p:spPr>
          <a:xfrm>
            <a:off x="722376" y="3218688"/>
            <a:ext cx="2496312" cy="786384"/>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The cost model is a premise</a:t>
            </a:r>
            <a:endParaRPr lang="en-US" sz="1200" dirty="0"/>
          </a:p>
        </p:txBody>
      </p:sp>
      <p:sp>
        <p:nvSpPr>
          <p:cNvPr id="19" name="Text 17"/>
          <p:cNvSpPr txBox="1"/>
          <p:nvPr/>
        </p:nvSpPr>
        <p:spPr>
          <a:xfrm>
            <a:off x="3547872" y="3218688"/>
            <a:ext cx="4498848"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RAM model prices every memory access identically. Cache hierarchies, branch prediction, NUMA and prefetching do not — and the gap is orders of magnitude.</a:t>
            </a:r>
            <a:endParaRPr lang="en-US" sz="1050" dirty="0"/>
          </a:p>
        </p:txBody>
      </p:sp>
      <p:sp>
        <p:nvSpPr>
          <p:cNvPr id="20" name="Text 18"/>
          <p:cNvSpPr txBox="1"/>
          <p:nvPr/>
        </p:nvSpPr>
        <p:spPr>
          <a:xfrm>
            <a:off x="8375904" y="3218688"/>
            <a:ext cx="3145536"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State the model. If it is violated in deployment, measure the violation instead of ignoring it.</a:t>
            </a:r>
            <a:endParaRPr lang="en-US" sz="1050" dirty="0"/>
          </a:p>
        </p:txBody>
      </p:sp>
      <p:sp>
        <p:nvSpPr>
          <p:cNvPr id="21" name="Shape 19"/>
          <p:cNvSpPr/>
          <p:nvPr/>
        </p:nvSpPr>
        <p:spPr>
          <a:xfrm>
            <a:off x="502920" y="4059936"/>
            <a:ext cx="11183112" cy="786384"/>
          </a:xfrm>
          <a:prstGeom prst="rect">
            <a:avLst/>
          </a:prstGeom>
          <a:solidFill>
            <a:srgbClr val="F3F1FC"/>
          </a:solidFill>
          <a:ln/>
        </p:spPr>
      </p:sp>
      <p:sp>
        <p:nvSpPr>
          <p:cNvPr id="22" name="Shape 20"/>
          <p:cNvSpPr/>
          <p:nvPr/>
        </p:nvSpPr>
        <p:spPr>
          <a:xfrm>
            <a:off x="502920" y="4059936"/>
            <a:ext cx="50292" cy="786384"/>
          </a:xfrm>
          <a:prstGeom prst="rect">
            <a:avLst/>
          </a:prstGeom>
          <a:solidFill>
            <a:srgbClr val="B4522B"/>
          </a:solidFill>
          <a:ln/>
        </p:spPr>
      </p:sp>
      <p:sp>
        <p:nvSpPr>
          <p:cNvPr id="23" name="Text 21"/>
          <p:cNvSpPr txBox="1"/>
          <p:nvPr/>
        </p:nvSpPr>
        <p:spPr>
          <a:xfrm>
            <a:off x="722376" y="4059936"/>
            <a:ext cx="2496312" cy="786384"/>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Worst case versus observed case</a:t>
            </a:r>
            <a:endParaRPr lang="en-US" sz="1200" dirty="0"/>
          </a:p>
        </p:txBody>
      </p:sp>
      <p:sp>
        <p:nvSpPr>
          <p:cNvPr id="24" name="Text 22"/>
          <p:cNvSpPr txBox="1"/>
          <p:nvPr/>
        </p:nvSpPr>
        <p:spPr>
          <a:xfrm>
            <a:off x="3547872" y="4059936"/>
            <a:ext cx="4498848"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Simplex is exponential in the worst case and fast in practice; SAT is NP-complete, and solvers routinely dispatch instances with millions of variables.</a:t>
            </a:r>
            <a:endParaRPr lang="en-US" sz="1050" dirty="0"/>
          </a:p>
        </p:txBody>
      </p:sp>
      <p:sp>
        <p:nvSpPr>
          <p:cNvPr id="25" name="Text 23"/>
          <p:cNvSpPr txBox="1"/>
          <p:nvPr/>
        </p:nvSpPr>
        <p:spPr>
          <a:xfrm>
            <a:off x="8375904" y="4059936"/>
            <a:ext cx="3145536"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Pair the bound with a distributional or empirical claim about the inputs that actually occur.</a:t>
            </a:r>
            <a:endParaRPr lang="en-US" sz="1050" dirty="0"/>
          </a:p>
        </p:txBody>
      </p:sp>
      <p:sp>
        <p:nvSpPr>
          <p:cNvPr id="26" name="Shape 24"/>
          <p:cNvSpPr/>
          <p:nvPr/>
        </p:nvSpPr>
        <p:spPr>
          <a:xfrm>
            <a:off x="502920" y="4901184"/>
            <a:ext cx="11183112" cy="786384"/>
          </a:xfrm>
          <a:prstGeom prst="rect">
            <a:avLst/>
          </a:prstGeom>
          <a:solidFill>
            <a:srgbClr val="FFFFFF"/>
          </a:solidFill>
          <a:ln/>
        </p:spPr>
      </p:sp>
      <p:sp>
        <p:nvSpPr>
          <p:cNvPr id="27" name="Shape 25"/>
          <p:cNvSpPr/>
          <p:nvPr/>
        </p:nvSpPr>
        <p:spPr>
          <a:xfrm>
            <a:off x="502920" y="4901184"/>
            <a:ext cx="50292" cy="786384"/>
          </a:xfrm>
          <a:prstGeom prst="rect">
            <a:avLst/>
          </a:prstGeom>
          <a:solidFill>
            <a:srgbClr val="241A4C"/>
          </a:solidFill>
          <a:ln/>
        </p:spPr>
      </p:sp>
      <p:sp>
        <p:nvSpPr>
          <p:cNvPr id="28" name="Text 26"/>
          <p:cNvSpPr txBox="1"/>
          <p:nvPr/>
        </p:nvSpPr>
        <p:spPr>
          <a:xfrm>
            <a:off x="722376" y="4901184"/>
            <a:ext cx="2496312" cy="786384"/>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Verified is not the same as correct</a:t>
            </a:r>
            <a:endParaRPr lang="en-US" sz="1200" dirty="0"/>
          </a:p>
        </p:txBody>
      </p:sp>
      <p:sp>
        <p:nvSpPr>
          <p:cNvPr id="29" name="Text 27"/>
          <p:cNvSpPr txBox="1"/>
          <p:nvPr/>
        </p:nvSpPr>
        <p:spPr>
          <a:xfrm>
            <a:off x="3547872" y="4901184"/>
            <a:ext cx="4498848"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proof is about a model of the program. Bugs then live in the gap: the specification, the compiler, the hardware, or an assumption the deployment quietly violates.</a:t>
            </a:r>
            <a:endParaRPr lang="en-US" sz="1050" dirty="0"/>
          </a:p>
        </p:txBody>
      </p:sp>
      <p:sp>
        <p:nvSpPr>
          <p:cNvPr id="30" name="Text 28"/>
          <p:cNvSpPr txBox="1"/>
          <p:nvPr/>
        </p:nvSpPr>
        <p:spPr>
          <a:xfrm>
            <a:off x="8375904" y="4901184"/>
            <a:ext cx="3145536" cy="786384"/>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Name what was verified, and against which specification — CompCert and seL4 both do this carefully.</a:t>
            </a:r>
            <a:endParaRPr lang="en-US" sz="1050" dirty="0"/>
          </a:p>
        </p:txBody>
      </p:sp>
      <p:sp>
        <p:nvSpPr>
          <p:cNvPr id="31" name="Text 29"/>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None of this is an argument against proof. It is an argument for saying explicitly which mode carries which part of your claim — and where you handed off from one to the other.</a:t>
            </a:r>
            <a:endParaRPr lang="en-US" sz="1150" dirty="0"/>
          </a:p>
        </p:txBody>
      </p:sp>
      <p:sp>
        <p:nvSpPr>
          <p:cNvPr id="32" name="Text 3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33" name="Text 3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20 / 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Triangulation: Matching Claim to Proof Mode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Find the sentence carrying your contribution, read its quantifier, then read across.</a:t>
            </a:r>
            <a:endParaRPr lang="en-US" sz="1250" dirty="0"/>
          </a:p>
        </p:txBody>
      </p:sp>
      <p:sp>
        <p:nvSpPr>
          <p:cNvPr id="5" name="Shape 3"/>
          <p:cNvSpPr/>
          <p:nvPr/>
        </p:nvSpPr>
        <p:spPr>
          <a:xfrm>
            <a:off x="502920" y="1938528"/>
            <a:ext cx="329184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29992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CLAIM YOU ARE MAKING</a:t>
            </a:r>
            <a:endParaRPr lang="en-US" sz="850" dirty="0"/>
          </a:p>
        </p:txBody>
      </p:sp>
      <p:sp>
        <p:nvSpPr>
          <p:cNvPr id="7" name="Shape 5"/>
          <p:cNvSpPr/>
          <p:nvPr/>
        </p:nvSpPr>
        <p:spPr>
          <a:xfrm>
            <a:off x="3794760" y="1938528"/>
            <a:ext cx="1874520" cy="384048"/>
          </a:xfrm>
          <a:prstGeom prst="rect">
            <a:avLst/>
          </a:prstGeom>
          <a:solidFill>
            <a:srgbClr val="241A4C"/>
          </a:solidFill>
          <a:ln w="19050">
            <a:solidFill>
              <a:srgbClr val="FFFFFF"/>
            </a:solidFill>
            <a:prstDash val="solid"/>
          </a:ln>
        </p:spPr>
      </p:sp>
      <p:sp>
        <p:nvSpPr>
          <p:cNvPr id="8" name="Text 6"/>
          <p:cNvSpPr txBox="1"/>
          <p:nvPr/>
        </p:nvSpPr>
        <p:spPr>
          <a:xfrm>
            <a:off x="3941064" y="1938528"/>
            <a:ext cx="15819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PRIMARY MODE</a:t>
            </a:r>
            <a:endParaRPr lang="en-US" sz="850" dirty="0"/>
          </a:p>
        </p:txBody>
      </p:sp>
      <p:sp>
        <p:nvSpPr>
          <p:cNvPr id="9" name="Shape 7"/>
          <p:cNvSpPr/>
          <p:nvPr/>
        </p:nvSpPr>
        <p:spPr>
          <a:xfrm>
            <a:off x="5669280" y="1938528"/>
            <a:ext cx="2240280" cy="384048"/>
          </a:xfrm>
          <a:prstGeom prst="rect">
            <a:avLst/>
          </a:prstGeom>
          <a:solidFill>
            <a:srgbClr val="241A4C"/>
          </a:solidFill>
          <a:ln w="19050">
            <a:solidFill>
              <a:srgbClr val="FFFFFF"/>
            </a:solidFill>
            <a:prstDash val="solid"/>
          </a:ln>
        </p:spPr>
      </p:sp>
      <p:sp>
        <p:nvSpPr>
          <p:cNvPr id="10" name="Text 8"/>
          <p:cNvSpPr txBox="1"/>
          <p:nvPr/>
        </p:nvSpPr>
        <p:spPr>
          <a:xfrm>
            <a:off x="5815584" y="1938528"/>
            <a:ext cx="194767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SUPPORTING MODE</a:t>
            </a:r>
            <a:endParaRPr lang="en-US" sz="850" dirty="0"/>
          </a:p>
        </p:txBody>
      </p:sp>
      <p:sp>
        <p:nvSpPr>
          <p:cNvPr id="11" name="Shape 9"/>
          <p:cNvSpPr/>
          <p:nvPr/>
        </p:nvSpPr>
        <p:spPr>
          <a:xfrm>
            <a:off x="7909560" y="1938528"/>
            <a:ext cx="3776472" cy="384048"/>
          </a:xfrm>
          <a:prstGeom prst="rect">
            <a:avLst/>
          </a:prstGeom>
          <a:solidFill>
            <a:srgbClr val="241A4C"/>
          </a:solidFill>
          <a:ln w="19050">
            <a:solidFill>
              <a:srgbClr val="FFFFFF"/>
            </a:solidFill>
            <a:prstDash val="solid"/>
          </a:ln>
        </p:spPr>
      </p:sp>
      <p:sp>
        <p:nvSpPr>
          <p:cNvPr id="12" name="Text 10"/>
          <p:cNvSpPr txBox="1"/>
          <p:nvPr/>
        </p:nvSpPr>
        <p:spPr>
          <a:xfrm>
            <a:off x="8055864" y="1938528"/>
            <a:ext cx="348386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A REVIEWER WILL ASK FIRST</a:t>
            </a:r>
            <a:endParaRPr lang="en-US" sz="850" dirty="0"/>
          </a:p>
        </p:txBody>
      </p:sp>
      <p:sp>
        <p:nvSpPr>
          <p:cNvPr id="13" name="Shape 11"/>
          <p:cNvSpPr/>
          <p:nvPr/>
        </p:nvSpPr>
        <p:spPr>
          <a:xfrm>
            <a:off x="502920" y="2377440"/>
            <a:ext cx="11183112" cy="621792"/>
          </a:xfrm>
          <a:prstGeom prst="rect">
            <a:avLst/>
          </a:prstGeom>
          <a:solidFill>
            <a:srgbClr val="F3F1FC"/>
          </a:solidFill>
          <a:ln/>
        </p:spPr>
      </p:sp>
      <p:sp>
        <p:nvSpPr>
          <p:cNvPr id="14" name="Shape 12"/>
          <p:cNvSpPr/>
          <p:nvPr/>
        </p:nvSpPr>
        <p:spPr>
          <a:xfrm>
            <a:off x="502920" y="2377440"/>
            <a:ext cx="50292" cy="621792"/>
          </a:xfrm>
          <a:prstGeom prst="rect">
            <a:avLst/>
          </a:prstGeom>
          <a:solidFill>
            <a:srgbClr val="B4522B"/>
          </a:solidFill>
          <a:ln/>
        </p:spPr>
      </p:sp>
      <p:sp>
        <p:nvSpPr>
          <p:cNvPr id="15" name="Text 13"/>
          <p:cNvSpPr txBox="1"/>
          <p:nvPr/>
        </p:nvSpPr>
        <p:spPr>
          <a:xfrm>
            <a:off x="722376" y="2377440"/>
            <a:ext cx="29077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is possible.”</a:t>
            </a:r>
            <a:endParaRPr lang="en-US" sz="1200" dirty="0"/>
          </a:p>
        </p:txBody>
      </p:sp>
      <p:sp>
        <p:nvSpPr>
          <p:cNvPr id="16" name="Text 14"/>
          <p:cNvSpPr txBox="1"/>
          <p:nvPr/>
        </p:nvSpPr>
        <p:spPr>
          <a:xfrm>
            <a:off x="3959352" y="2377440"/>
            <a:ext cx="15453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Demonstration</a:t>
            </a:r>
            <a:endParaRPr lang="en-US" sz="1050" dirty="0"/>
          </a:p>
        </p:txBody>
      </p:sp>
      <p:sp>
        <p:nvSpPr>
          <p:cNvPr id="17" name="Text 15"/>
          <p:cNvSpPr txBox="1"/>
          <p:nvPr/>
        </p:nvSpPr>
        <p:spPr>
          <a:xfrm>
            <a:off x="5833872" y="2377440"/>
            <a:ext cx="19110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t>
            </a:r>
            <a:endParaRPr lang="en-US" sz="1050" dirty="0"/>
          </a:p>
        </p:txBody>
      </p:sp>
      <p:sp>
        <p:nvSpPr>
          <p:cNvPr id="18" name="Text 16"/>
          <p:cNvSpPr txBox="1"/>
          <p:nvPr/>
        </p:nvSpPr>
        <p:spPr>
          <a:xfrm>
            <a:off x="8074152" y="2377440"/>
            <a:ext cx="34472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Is the artifact available, re-runnable, and exercised on the hard case?</a:t>
            </a:r>
            <a:endParaRPr lang="en-US" sz="1050" dirty="0"/>
          </a:p>
        </p:txBody>
      </p:sp>
      <p:sp>
        <p:nvSpPr>
          <p:cNvPr id="19" name="Shape 17"/>
          <p:cNvSpPr/>
          <p:nvPr/>
        </p:nvSpPr>
        <p:spPr>
          <a:xfrm>
            <a:off x="502920" y="3054096"/>
            <a:ext cx="11183112" cy="621792"/>
          </a:xfrm>
          <a:prstGeom prst="rect">
            <a:avLst/>
          </a:prstGeom>
          <a:solidFill>
            <a:srgbClr val="FFFFFF"/>
          </a:solidFill>
          <a:ln/>
        </p:spPr>
      </p:sp>
      <p:sp>
        <p:nvSpPr>
          <p:cNvPr id="20" name="Shape 18"/>
          <p:cNvSpPr/>
          <p:nvPr/>
        </p:nvSpPr>
        <p:spPr>
          <a:xfrm>
            <a:off x="502920" y="3054096"/>
            <a:ext cx="50292" cy="621792"/>
          </a:xfrm>
          <a:prstGeom prst="rect">
            <a:avLst/>
          </a:prstGeom>
          <a:solidFill>
            <a:srgbClr val="3D6EA6"/>
          </a:solidFill>
          <a:ln/>
        </p:spPr>
      </p:sp>
      <p:sp>
        <p:nvSpPr>
          <p:cNvPr id="21" name="Text 19"/>
          <p:cNvSpPr txBox="1"/>
          <p:nvPr/>
        </p:nvSpPr>
        <p:spPr>
          <a:xfrm>
            <a:off x="722376" y="3054096"/>
            <a:ext cx="29077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is faster / more accurate.”</a:t>
            </a:r>
            <a:endParaRPr lang="en-US" sz="1200" dirty="0"/>
          </a:p>
        </p:txBody>
      </p:sp>
      <p:sp>
        <p:nvSpPr>
          <p:cNvPr id="22" name="Text 20"/>
          <p:cNvSpPr txBox="1"/>
          <p:nvPr/>
        </p:nvSpPr>
        <p:spPr>
          <a:xfrm>
            <a:off x="3959352" y="3054096"/>
            <a:ext cx="15453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Empirical</a:t>
            </a:r>
            <a:endParaRPr lang="en-US" sz="1050" dirty="0"/>
          </a:p>
        </p:txBody>
      </p:sp>
      <p:sp>
        <p:nvSpPr>
          <p:cNvPr id="23" name="Text 21"/>
          <p:cNvSpPr txBox="1"/>
          <p:nvPr/>
        </p:nvSpPr>
        <p:spPr>
          <a:xfrm>
            <a:off x="5833872" y="3054096"/>
            <a:ext cx="19110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Demonstration</a:t>
            </a:r>
            <a:endParaRPr lang="en-US" sz="1050" dirty="0"/>
          </a:p>
        </p:txBody>
      </p:sp>
      <p:sp>
        <p:nvSpPr>
          <p:cNvPr id="24" name="Text 22"/>
          <p:cNvSpPr txBox="1"/>
          <p:nvPr/>
        </p:nvSpPr>
        <p:spPr>
          <a:xfrm>
            <a:off x="8074152" y="3054096"/>
            <a:ext cx="34472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Was the baseline tuned, and was the benchmark fixed before you saw results?</a:t>
            </a:r>
            <a:endParaRPr lang="en-US" sz="1050" dirty="0"/>
          </a:p>
        </p:txBody>
      </p:sp>
      <p:sp>
        <p:nvSpPr>
          <p:cNvPr id="25" name="Shape 23"/>
          <p:cNvSpPr/>
          <p:nvPr/>
        </p:nvSpPr>
        <p:spPr>
          <a:xfrm>
            <a:off x="502920" y="3730752"/>
            <a:ext cx="11183112" cy="621792"/>
          </a:xfrm>
          <a:prstGeom prst="rect">
            <a:avLst/>
          </a:prstGeom>
          <a:solidFill>
            <a:srgbClr val="F3F1FC"/>
          </a:solidFill>
          <a:ln/>
        </p:spPr>
      </p:sp>
      <p:sp>
        <p:nvSpPr>
          <p:cNvPr id="26" name="Shape 24"/>
          <p:cNvSpPr/>
          <p:nvPr/>
        </p:nvSpPr>
        <p:spPr>
          <a:xfrm>
            <a:off x="502920" y="3730752"/>
            <a:ext cx="50292" cy="621792"/>
          </a:xfrm>
          <a:prstGeom prst="rect">
            <a:avLst/>
          </a:prstGeom>
          <a:solidFill>
            <a:srgbClr val="D8A73E"/>
          </a:solidFill>
          <a:ln/>
        </p:spPr>
      </p:sp>
      <p:sp>
        <p:nvSpPr>
          <p:cNvPr id="27" name="Text 25"/>
          <p:cNvSpPr txBox="1"/>
          <p:nvPr/>
        </p:nvSpPr>
        <p:spPr>
          <a:xfrm>
            <a:off x="722376" y="3730752"/>
            <a:ext cx="29077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always holds.”</a:t>
            </a:r>
            <a:endParaRPr lang="en-US" sz="1200" dirty="0"/>
          </a:p>
        </p:txBody>
      </p:sp>
      <p:sp>
        <p:nvSpPr>
          <p:cNvPr id="28" name="Text 26"/>
          <p:cNvSpPr txBox="1"/>
          <p:nvPr/>
        </p:nvSpPr>
        <p:spPr>
          <a:xfrm>
            <a:off x="3959352" y="3730752"/>
            <a:ext cx="15453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Mathematical</a:t>
            </a:r>
            <a:endParaRPr lang="en-US" sz="1050" dirty="0"/>
          </a:p>
        </p:txBody>
      </p:sp>
      <p:sp>
        <p:nvSpPr>
          <p:cNvPr id="29" name="Text 27"/>
          <p:cNvSpPr txBox="1"/>
          <p:nvPr/>
        </p:nvSpPr>
        <p:spPr>
          <a:xfrm>
            <a:off x="5833872" y="3730752"/>
            <a:ext cx="19110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Empirical</a:t>
            </a:r>
            <a:endParaRPr lang="en-US" sz="1050" dirty="0"/>
          </a:p>
        </p:txBody>
      </p:sp>
      <p:sp>
        <p:nvSpPr>
          <p:cNvPr id="30" name="Text 28"/>
          <p:cNvSpPr txBox="1"/>
          <p:nvPr/>
        </p:nvSpPr>
        <p:spPr>
          <a:xfrm>
            <a:off x="8074152" y="3730752"/>
            <a:ext cx="34472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Do your assumptions hold in any deployment anyone actually runs?</a:t>
            </a:r>
            <a:endParaRPr lang="en-US" sz="1050" dirty="0"/>
          </a:p>
        </p:txBody>
      </p:sp>
      <p:sp>
        <p:nvSpPr>
          <p:cNvPr id="31" name="Shape 29"/>
          <p:cNvSpPr/>
          <p:nvPr/>
        </p:nvSpPr>
        <p:spPr>
          <a:xfrm>
            <a:off x="502920" y="4407408"/>
            <a:ext cx="11183112" cy="621792"/>
          </a:xfrm>
          <a:prstGeom prst="rect">
            <a:avLst/>
          </a:prstGeom>
          <a:solidFill>
            <a:srgbClr val="FFFFFF"/>
          </a:solidFill>
          <a:ln/>
        </p:spPr>
      </p:sp>
      <p:sp>
        <p:nvSpPr>
          <p:cNvPr id="32" name="Shape 30"/>
          <p:cNvSpPr/>
          <p:nvPr/>
        </p:nvSpPr>
        <p:spPr>
          <a:xfrm>
            <a:off x="502920" y="4407408"/>
            <a:ext cx="50292" cy="621792"/>
          </a:xfrm>
          <a:prstGeom prst="rect">
            <a:avLst/>
          </a:prstGeom>
          <a:solidFill>
            <a:srgbClr val="D8A73E"/>
          </a:solidFill>
          <a:ln/>
        </p:spPr>
      </p:sp>
      <p:sp>
        <p:nvSpPr>
          <p:cNvPr id="33" name="Text 31"/>
          <p:cNvSpPr txBox="1"/>
          <p:nvPr/>
        </p:nvSpPr>
        <p:spPr>
          <a:xfrm>
            <a:off x="722376" y="4407408"/>
            <a:ext cx="29077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cannot be done.”</a:t>
            </a:r>
            <a:endParaRPr lang="en-US" sz="1200" dirty="0"/>
          </a:p>
        </p:txBody>
      </p:sp>
      <p:sp>
        <p:nvSpPr>
          <p:cNvPr id="34" name="Text 32"/>
          <p:cNvSpPr txBox="1"/>
          <p:nvPr/>
        </p:nvSpPr>
        <p:spPr>
          <a:xfrm>
            <a:off x="3959352" y="4407408"/>
            <a:ext cx="15453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Mathematical</a:t>
            </a:r>
            <a:endParaRPr lang="en-US" sz="1050" dirty="0"/>
          </a:p>
        </p:txBody>
      </p:sp>
      <p:sp>
        <p:nvSpPr>
          <p:cNvPr id="35" name="Text 33"/>
          <p:cNvSpPr txBox="1"/>
          <p:nvPr/>
        </p:nvSpPr>
        <p:spPr>
          <a:xfrm>
            <a:off x="5833872" y="4407408"/>
            <a:ext cx="19110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t>
            </a:r>
            <a:endParaRPr lang="en-US" sz="1050" dirty="0"/>
          </a:p>
        </p:txBody>
      </p:sp>
      <p:sp>
        <p:nvSpPr>
          <p:cNvPr id="36" name="Text 34"/>
          <p:cNvSpPr txBox="1"/>
          <p:nvPr/>
        </p:nvSpPr>
        <p:spPr>
          <a:xfrm>
            <a:off x="8074152" y="4407408"/>
            <a:ext cx="34472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Is the model general enough for the impossibility to actually bite?</a:t>
            </a:r>
            <a:endParaRPr lang="en-US" sz="1050" dirty="0"/>
          </a:p>
        </p:txBody>
      </p:sp>
      <p:sp>
        <p:nvSpPr>
          <p:cNvPr id="37" name="Shape 35"/>
          <p:cNvSpPr/>
          <p:nvPr/>
        </p:nvSpPr>
        <p:spPr>
          <a:xfrm>
            <a:off x="502920" y="5084064"/>
            <a:ext cx="11183112" cy="621792"/>
          </a:xfrm>
          <a:prstGeom prst="rect">
            <a:avLst/>
          </a:prstGeom>
          <a:solidFill>
            <a:srgbClr val="F3F1FC"/>
          </a:solidFill>
          <a:ln/>
        </p:spPr>
      </p:sp>
      <p:sp>
        <p:nvSpPr>
          <p:cNvPr id="38" name="Shape 36"/>
          <p:cNvSpPr/>
          <p:nvPr/>
        </p:nvSpPr>
        <p:spPr>
          <a:xfrm>
            <a:off x="502920" y="5084064"/>
            <a:ext cx="50292" cy="621792"/>
          </a:xfrm>
          <a:prstGeom prst="rect">
            <a:avLst/>
          </a:prstGeom>
          <a:solidFill>
            <a:srgbClr val="3D6EA6"/>
          </a:solidFill>
          <a:ln/>
        </p:spPr>
      </p:sp>
      <p:sp>
        <p:nvSpPr>
          <p:cNvPr id="39" name="Text 37"/>
          <p:cNvSpPr txBox="1"/>
          <p:nvPr/>
        </p:nvSpPr>
        <p:spPr>
          <a:xfrm>
            <a:off x="722376" y="5084064"/>
            <a:ext cx="29077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“This is usable / adoptable.”</a:t>
            </a:r>
            <a:endParaRPr lang="en-US" sz="1200" dirty="0"/>
          </a:p>
        </p:txBody>
      </p:sp>
      <p:sp>
        <p:nvSpPr>
          <p:cNvPr id="40" name="Text 38"/>
          <p:cNvSpPr txBox="1"/>
          <p:nvPr/>
        </p:nvSpPr>
        <p:spPr>
          <a:xfrm>
            <a:off x="3959352" y="5084064"/>
            <a:ext cx="15453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Empirical (human)</a:t>
            </a:r>
            <a:endParaRPr lang="en-US" sz="1050" dirty="0"/>
          </a:p>
        </p:txBody>
      </p:sp>
      <p:sp>
        <p:nvSpPr>
          <p:cNvPr id="41" name="Text 39"/>
          <p:cNvSpPr txBox="1"/>
          <p:nvPr/>
        </p:nvSpPr>
        <p:spPr>
          <a:xfrm>
            <a:off x="5833872" y="5084064"/>
            <a:ext cx="19110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Demonstration</a:t>
            </a:r>
            <a:endParaRPr lang="en-US" sz="1050" dirty="0"/>
          </a:p>
        </p:txBody>
      </p:sp>
      <p:sp>
        <p:nvSpPr>
          <p:cNvPr id="42" name="Text 40"/>
          <p:cNvSpPr txBox="1"/>
          <p:nvPr/>
        </p:nvSpPr>
        <p:spPr>
          <a:xfrm>
            <a:off x="8074152" y="5084064"/>
            <a:ext cx="344728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Enough participants — and is the construct you measured the one you claim?</a:t>
            </a:r>
            <a:endParaRPr lang="en-US" sz="1050" dirty="0"/>
          </a:p>
        </p:txBody>
      </p:sp>
      <p:sp>
        <p:nvSpPr>
          <p:cNvPr id="43" name="Text 4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Strong papers stack modes: prove the bound, build the system, then measure the gap between the two — Shaw's Analysis and Evaluation, reinforcing each other.</a:t>
            </a:r>
            <a:endParaRPr lang="en-US" sz="1150" dirty="0"/>
          </a:p>
        </p:txBody>
      </p:sp>
      <p:sp>
        <p:nvSpPr>
          <p:cNvPr id="44" name="Text 4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45" name="Text 4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21 / 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Failures of Proof to Watch For</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Lecture 1 catalogued argumentative fallacies. These are their specifically evidential cousins — each one a mode used to support a claim it cannot reach.</a:t>
            </a:r>
            <a:endParaRPr lang="en-US" sz="1250" dirty="0"/>
          </a:p>
        </p:txBody>
      </p:sp>
      <p:sp>
        <p:nvSpPr>
          <p:cNvPr id="5" name="Shape 3"/>
          <p:cNvSpPr/>
          <p:nvPr/>
        </p:nvSpPr>
        <p:spPr>
          <a:xfrm>
            <a:off x="502920" y="1938528"/>
            <a:ext cx="3502152" cy="1737360"/>
          </a:xfrm>
          <a:prstGeom prst="roundRect">
            <a:avLst>
              <a:gd name="adj" fmla="val 2632"/>
            </a:avLst>
          </a:prstGeom>
          <a:solidFill>
            <a:srgbClr val="F3F1FC"/>
          </a:solidFill>
          <a:ln w="12700">
            <a:solidFill>
              <a:srgbClr val="E6E2F5"/>
            </a:solidFill>
            <a:prstDash val="solid"/>
          </a:ln>
        </p:spPr>
      </p:sp>
      <p:sp>
        <p:nvSpPr>
          <p:cNvPr id="6" name="Text 4"/>
          <p:cNvSpPr txBox="1"/>
          <p:nvPr/>
        </p:nvSpPr>
        <p:spPr>
          <a:xfrm>
            <a:off x="75895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4522B"/>
                </a:solidFill>
                <a:latin typeface="Cambria" pitchFamily="34" charset="0"/>
                <a:ea typeface="Cambria" pitchFamily="34" charset="-122"/>
                <a:cs typeface="Cambria" pitchFamily="34" charset="-120"/>
              </a:rPr>
              <a:t>Demonstration as generality</a:t>
            </a:r>
            <a:endParaRPr lang="en-US" sz="1400" dirty="0"/>
          </a:p>
        </p:txBody>
      </p:sp>
      <p:sp>
        <p:nvSpPr>
          <p:cNvPr id="7" name="Text 5"/>
          <p:cNvSpPr txBox="1"/>
          <p:nvPr/>
        </p:nvSpPr>
        <p:spPr>
          <a:xfrm>
            <a:off x="75895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One working configuration reported as though it were a property of the approach. The existential quantifier silently becomes a universal one somewhere between the results section and the abstract.</a:t>
            </a:r>
            <a:endParaRPr lang="en-US" sz="1050" dirty="0"/>
          </a:p>
        </p:txBody>
      </p:sp>
      <p:sp>
        <p:nvSpPr>
          <p:cNvPr id="8" name="Shape 6"/>
          <p:cNvSpPr/>
          <p:nvPr/>
        </p:nvSpPr>
        <p:spPr>
          <a:xfrm>
            <a:off x="4343400" y="1938528"/>
            <a:ext cx="3502152" cy="1737360"/>
          </a:xfrm>
          <a:prstGeom prst="roundRect">
            <a:avLst>
              <a:gd name="adj" fmla="val 2632"/>
            </a:avLst>
          </a:prstGeom>
          <a:solidFill>
            <a:srgbClr val="F3F1FC"/>
          </a:solidFill>
          <a:ln w="12700">
            <a:solidFill>
              <a:srgbClr val="E6E2F5"/>
            </a:solidFill>
            <a:prstDash val="solid"/>
          </a:ln>
        </p:spPr>
      </p:sp>
      <p:sp>
        <p:nvSpPr>
          <p:cNvPr id="9" name="Text 7"/>
          <p:cNvSpPr txBox="1"/>
          <p:nvPr/>
        </p:nvSpPr>
        <p:spPr>
          <a:xfrm>
            <a:off x="459943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4522B"/>
                </a:solidFill>
                <a:latin typeface="Cambria" pitchFamily="34" charset="0"/>
                <a:ea typeface="Cambria" pitchFamily="34" charset="-122"/>
                <a:cs typeface="Cambria" pitchFamily="34" charset="-120"/>
              </a:rPr>
              <a:t>The strawman baseline</a:t>
            </a:r>
            <a:endParaRPr lang="en-US" sz="1400" dirty="0"/>
          </a:p>
        </p:txBody>
      </p:sp>
      <p:sp>
        <p:nvSpPr>
          <p:cNvPr id="10" name="Text 8"/>
          <p:cNvSpPr txBox="1"/>
          <p:nvPr/>
        </p:nvSpPr>
        <p:spPr>
          <a:xfrm>
            <a:off x="459943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comparison against an untuned, outdated, or deliberately naive alternative. The result is real; it just measures the baseline's neglect rather than your contribution.</a:t>
            </a:r>
            <a:endParaRPr lang="en-US" sz="1050" dirty="0"/>
          </a:p>
        </p:txBody>
      </p:sp>
      <p:sp>
        <p:nvSpPr>
          <p:cNvPr id="11" name="Shape 9"/>
          <p:cNvSpPr/>
          <p:nvPr/>
        </p:nvSpPr>
        <p:spPr>
          <a:xfrm>
            <a:off x="8183880" y="1938528"/>
            <a:ext cx="3502152" cy="1737360"/>
          </a:xfrm>
          <a:prstGeom prst="roundRect">
            <a:avLst>
              <a:gd name="adj" fmla="val 2632"/>
            </a:avLst>
          </a:prstGeom>
          <a:solidFill>
            <a:srgbClr val="F3F1FC"/>
          </a:solidFill>
          <a:ln w="12700">
            <a:solidFill>
              <a:srgbClr val="E6E2F5"/>
            </a:solidFill>
            <a:prstDash val="solid"/>
          </a:ln>
        </p:spPr>
      </p:sp>
      <p:sp>
        <p:nvSpPr>
          <p:cNvPr id="12" name="Text 10"/>
          <p:cNvSpPr txBox="1"/>
          <p:nvPr/>
        </p:nvSpPr>
        <p:spPr>
          <a:xfrm>
            <a:off x="843991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Asymptotic sleight of hand</a:t>
            </a:r>
            <a:endParaRPr lang="en-US" sz="1400" dirty="0"/>
          </a:p>
        </p:txBody>
      </p:sp>
      <p:sp>
        <p:nvSpPr>
          <p:cNvPr id="13" name="Text 11"/>
          <p:cNvSpPr txBox="1"/>
          <p:nvPr/>
        </p:nvSpPr>
        <p:spPr>
          <a:xfrm>
            <a:off x="843991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Claiming practical superiority from a complexity class, with constants and lower-order terms left unmentioned — and no measurement offered at the sizes anyone runs.</a:t>
            </a:r>
            <a:endParaRPr lang="en-US" sz="1050" dirty="0"/>
          </a:p>
        </p:txBody>
      </p:sp>
      <p:sp>
        <p:nvSpPr>
          <p:cNvPr id="14" name="Shape 12"/>
          <p:cNvSpPr/>
          <p:nvPr/>
        </p:nvSpPr>
        <p:spPr>
          <a:xfrm>
            <a:off x="502920" y="3895344"/>
            <a:ext cx="3502152" cy="1737360"/>
          </a:xfrm>
          <a:prstGeom prst="roundRect">
            <a:avLst>
              <a:gd name="adj" fmla="val 2632"/>
            </a:avLst>
          </a:prstGeom>
          <a:solidFill>
            <a:srgbClr val="FAF9FE"/>
          </a:solidFill>
          <a:ln w="12700">
            <a:solidFill>
              <a:srgbClr val="E6E2F5"/>
            </a:solidFill>
            <a:prstDash val="solid"/>
          </a:ln>
        </p:spPr>
      </p:sp>
      <p:sp>
        <p:nvSpPr>
          <p:cNvPr id="15" name="Text 13"/>
          <p:cNvSpPr txBox="1"/>
          <p:nvPr/>
        </p:nvSpPr>
        <p:spPr>
          <a:xfrm>
            <a:off x="75895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The seed lottery</a:t>
            </a:r>
            <a:endParaRPr lang="en-US" sz="1400" dirty="0"/>
          </a:p>
        </p:txBody>
      </p:sp>
      <p:sp>
        <p:nvSpPr>
          <p:cNvPr id="16" name="Text 14"/>
          <p:cNvSpPr txBox="1"/>
          <p:nvPr/>
        </p:nvSpPr>
        <p:spPr>
          <a:xfrm>
            <a:off x="75895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Reporting the best random seed, the best run, or the best checkpoint. This is selection, not measurement, and it is invisible unless variance is reported.</a:t>
            </a:r>
            <a:endParaRPr lang="en-US" sz="1050" dirty="0"/>
          </a:p>
        </p:txBody>
      </p:sp>
      <p:sp>
        <p:nvSpPr>
          <p:cNvPr id="17" name="Shape 15"/>
          <p:cNvSpPr/>
          <p:nvPr/>
        </p:nvSpPr>
        <p:spPr>
          <a:xfrm>
            <a:off x="4343400" y="3895344"/>
            <a:ext cx="3502152" cy="1737360"/>
          </a:xfrm>
          <a:prstGeom prst="roundRect">
            <a:avLst>
              <a:gd name="adj" fmla="val 2632"/>
            </a:avLst>
          </a:prstGeom>
          <a:solidFill>
            <a:srgbClr val="FAF9FE"/>
          </a:solidFill>
          <a:ln w="12700">
            <a:solidFill>
              <a:srgbClr val="E6E2F5"/>
            </a:solidFill>
            <a:prstDash val="solid"/>
          </a:ln>
        </p:spPr>
      </p:sp>
      <p:sp>
        <p:nvSpPr>
          <p:cNvPr id="18" name="Text 16"/>
          <p:cNvSpPr txBox="1"/>
          <p:nvPr/>
        </p:nvSpPr>
        <p:spPr>
          <a:xfrm>
            <a:off x="459943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The hidden premise</a:t>
            </a:r>
            <a:endParaRPr lang="en-US" sz="1400" dirty="0"/>
          </a:p>
        </p:txBody>
      </p:sp>
      <p:sp>
        <p:nvSpPr>
          <p:cNvPr id="19" name="Text 17"/>
          <p:cNvSpPr txBox="1"/>
          <p:nvPr/>
        </p:nvSpPr>
        <p:spPr>
          <a:xfrm>
            <a:off x="459943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theorem whose real work is done by an assumption stated once in a preamble and never revisited — independence, synchrony, bounded adversaries, uniform cost.</a:t>
            </a:r>
            <a:endParaRPr lang="en-US" sz="1050" dirty="0"/>
          </a:p>
        </p:txBody>
      </p:sp>
      <p:sp>
        <p:nvSpPr>
          <p:cNvPr id="20" name="Shape 18"/>
          <p:cNvSpPr/>
          <p:nvPr/>
        </p:nvSpPr>
        <p:spPr>
          <a:xfrm>
            <a:off x="8183880" y="3895344"/>
            <a:ext cx="3502152" cy="1737360"/>
          </a:xfrm>
          <a:prstGeom prst="roundRect">
            <a:avLst>
              <a:gd name="adj" fmla="val 2632"/>
            </a:avLst>
          </a:prstGeom>
          <a:solidFill>
            <a:srgbClr val="FAF9FE"/>
          </a:solidFill>
          <a:ln w="12700">
            <a:solidFill>
              <a:srgbClr val="E6E2F5"/>
            </a:solidFill>
            <a:prstDash val="solid"/>
          </a:ln>
        </p:spPr>
      </p:sp>
      <p:sp>
        <p:nvSpPr>
          <p:cNvPr id="21" name="Text 19"/>
          <p:cNvSpPr txBox="1"/>
          <p:nvPr/>
        </p:nvSpPr>
        <p:spPr>
          <a:xfrm>
            <a:off x="843991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HARKing</a:t>
            </a:r>
            <a:endParaRPr lang="en-US" sz="1400" dirty="0"/>
          </a:p>
        </p:txBody>
      </p:sp>
      <p:sp>
        <p:nvSpPr>
          <p:cNvPr id="22" name="Text 20"/>
          <p:cNvSpPr txBox="1"/>
          <p:nvPr/>
        </p:nvSpPr>
        <p:spPr>
          <a:xfrm>
            <a:off x="843991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Hypothesising after the results are known: the finding is chosen from the data, then presented as though it had been predicted. The empirical twin of the post-hoc warrant.</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22 / 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 Checklist for Your Own Proofs</a:t>
            </a:r>
            <a:endParaRPr lang="en-US" sz="2800" dirty="0"/>
          </a:p>
        </p:txBody>
      </p:sp>
      <p:sp>
        <p:nvSpPr>
          <p:cNvPr id="4" name="Shape 2"/>
          <p:cNvSpPr/>
          <p:nvPr/>
        </p:nvSpPr>
        <p:spPr>
          <a:xfrm>
            <a:off x="502920" y="1426464"/>
            <a:ext cx="11183112" cy="694944"/>
          </a:xfrm>
          <a:prstGeom prst="roundRect">
            <a:avLst>
              <a:gd name="adj" fmla="val 5263"/>
            </a:avLst>
          </a:prstGeom>
          <a:solidFill>
            <a:srgbClr val="F3F1FC"/>
          </a:solidFill>
          <a:ln/>
        </p:spPr>
      </p:sp>
      <p:sp>
        <p:nvSpPr>
          <p:cNvPr id="5" name="Text 3"/>
          <p:cNvSpPr txBox="1"/>
          <p:nvPr/>
        </p:nvSpPr>
        <p:spPr>
          <a:xfrm>
            <a:off x="722376" y="142646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1216152" y="142646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Name the mode.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In one sentence: is this claim settled by construction, by measurement, or by derivation? If the answer is “all three, a bit,” none of them is finished.</a:t>
            </a:r>
            <a:endParaRPr lang="en-US" sz="1250" dirty="0"/>
          </a:p>
        </p:txBody>
      </p:sp>
      <p:sp>
        <p:nvSpPr>
          <p:cNvPr id="7" name="Shape 5"/>
          <p:cNvSpPr/>
          <p:nvPr/>
        </p:nvSpPr>
        <p:spPr>
          <a:xfrm>
            <a:off x="502920" y="2194560"/>
            <a:ext cx="11183112" cy="694944"/>
          </a:xfrm>
          <a:prstGeom prst="roundRect">
            <a:avLst>
              <a:gd name="adj" fmla="val 5263"/>
            </a:avLst>
          </a:prstGeom>
          <a:solidFill>
            <a:srgbClr val="FFFFFF"/>
          </a:solidFill>
          <a:ln/>
        </p:spPr>
      </p:sp>
      <p:sp>
        <p:nvSpPr>
          <p:cNvPr id="8" name="Text 6"/>
          <p:cNvSpPr txBox="1"/>
          <p:nvPr/>
        </p:nvSpPr>
        <p:spPr>
          <a:xfrm>
            <a:off x="722376" y="2194560"/>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216152" y="2194560"/>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Match the mode to the quantifier.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“There exists” → demonstration. “On average, under conditions C” → empirical. “For all inputs of class I” → mathematical. A mismatch here is not fixable by better writing.</a:t>
            </a:r>
            <a:endParaRPr lang="en-US" sz="1250" dirty="0"/>
          </a:p>
        </p:txBody>
      </p:sp>
      <p:sp>
        <p:nvSpPr>
          <p:cNvPr id="10" name="Shape 8"/>
          <p:cNvSpPr/>
          <p:nvPr/>
        </p:nvSpPr>
        <p:spPr>
          <a:xfrm>
            <a:off x="502920" y="2962656"/>
            <a:ext cx="11183112" cy="694944"/>
          </a:xfrm>
          <a:prstGeom prst="roundRect">
            <a:avLst>
              <a:gd name="adj" fmla="val 5263"/>
            </a:avLst>
          </a:prstGeom>
          <a:solidFill>
            <a:srgbClr val="F3F1FC"/>
          </a:solidFill>
          <a:ln/>
        </p:spPr>
      </p:sp>
      <p:sp>
        <p:nvSpPr>
          <p:cNvPr id="11" name="Text 9"/>
          <p:cNvSpPr txBox="1"/>
          <p:nvPr/>
        </p:nvSpPr>
        <p:spPr>
          <a:xfrm>
            <a:off x="722376" y="2962656"/>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216152" y="2962656"/>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Make the assumptions visible.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Every theorem's premises, every study's population, every demonstration's configuration — stated where a reader will find them, not buried in a footnote.</a:t>
            </a:r>
            <a:endParaRPr lang="en-US" sz="1250" dirty="0"/>
          </a:p>
        </p:txBody>
      </p:sp>
      <p:sp>
        <p:nvSpPr>
          <p:cNvPr id="13" name="Shape 11"/>
          <p:cNvSpPr/>
          <p:nvPr/>
        </p:nvSpPr>
        <p:spPr>
          <a:xfrm>
            <a:off x="502920" y="3730752"/>
            <a:ext cx="11183112" cy="694944"/>
          </a:xfrm>
          <a:prstGeom prst="roundRect">
            <a:avLst>
              <a:gd name="adj" fmla="val 5263"/>
            </a:avLst>
          </a:prstGeom>
          <a:solidFill>
            <a:srgbClr val="FFFFFF"/>
          </a:solidFill>
          <a:ln/>
        </p:spPr>
      </p:sp>
      <p:sp>
        <p:nvSpPr>
          <p:cNvPr id="14" name="Text 12"/>
          <p:cNvSpPr txBox="1"/>
          <p:nvPr/>
        </p:nvSpPr>
        <p:spPr>
          <a:xfrm>
            <a:off x="722376" y="3730752"/>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1216152" y="3730752"/>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Strengthen the alternative before you publish.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Tune the baseline. Hunt for the counter-example. Attack your own model. Whatever you skip here, a reviewer will do for you, less charitably.</a:t>
            </a:r>
            <a:endParaRPr lang="en-US" sz="1250" dirty="0"/>
          </a:p>
        </p:txBody>
      </p:sp>
      <p:sp>
        <p:nvSpPr>
          <p:cNvPr id="16" name="Shape 14"/>
          <p:cNvSpPr/>
          <p:nvPr/>
        </p:nvSpPr>
        <p:spPr>
          <a:xfrm>
            <a:off x="502920" y="4498848"/>
            <a:ext cx="11183112" cy="694944"/>
          </a:xfrm>
          <a:prstGeom prst="roundRect">
            <a:avLst>
              <a:gd name="adj" fmla="val 5263"/>
            </a:avLst>
          </a:prstGeom>
          <a:solidFill>
            <a:srgbClr val="F3F1FC"/>
          </a:solidFill>
          <a:ln/>
        </p:spPr>
      </p:sp>
      <p:sp>
        <p:nvSpPr>
          <p:cNvPr id="17" name="Text 15"/>
          <p:cNvSpPr txBox="1"/>
          <p:nvPr/>
        </p:nvSpPr>
        <p:spPr>
          <a:xfrm>
            <a:off x="722376" y="4498848"/>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216152" y="4498848"/>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Report dispersion, not just the centre.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Runs, variance, effect size, confidence. If you cannot supply them, say plainly that you have an existence proof rather than a comparison.</a:t>
            </a:r>
            <a:endParaRPr lang="en-US" sz="1250" dirty="0"/>
          </a:p>
        </p:txBody>
      </p:sp>
      <p:sp>
        <p:nvSpPr>
          <p:cNvPr id="19" name="Shape 17"/>
          <p:cNvSpPr/>
          <p:nvPr/>
        </p:nvSpPr>
        <p:spPr>
          <a:xfrm>
            <a:off x="502920" y="5266944"/>
            <a:ext cx="11183112" cy="694944"/>
          </a:xfrm>
          <a:prstGeom prst="roundRect">
            <a:avLst>
              <a:gd name="adj" fmla="val 5263"/>
            </a:avLst>
          </a:prstGeom>
          <a:solidFill>
            <a:srgbClr val="FFFFFF"/>
          </a:solidFill>
          <a:ln/>
        </p:spPr>
      </p:sp>
      <p:sp>
        <p:nvSpPr>
          <p:cNvPr id="20" name="Text 18"/>
          <p:cNvSpPr txBox="1"/>
          <p:nvPr/>
        </p:nvSpPr>
        <p:spPr>
          <a:xfrm>
            <a:off x="722376" y="526694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1216152" y="526694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Say where it stops.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The workload, the scale, the assumption, the input class beyond which you proved, measured, and built nothing at all.</a:t>
            </a:r>
            <a:endParaRPr lang="en-US" sz="125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23 / 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Discussion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In pairs, ten minutes. Bring one answer back for class critique.</a:t>
            </a:r>
            <a:endParaRPr lang="en-US" sz="1250" dirty="0"/>
          </a:p>
        </p:txBody>
      </p:sp>
      <p:sp>
        <p:nvSpPr>
          <p:cNvPr id="5" name="Shape 3"/>
          <p:cNvSpPr/>
          <p:nvPr/>
        </p:nvSpPr>
        <p:spPr>
          <a:xfrm>
            <a:off x="594360" y="2029968"/>
            <a:ext cx="384048" cy="384048"/>
          </a:xfrm>
          <a:prstGeom prst="ellipse">
            <a:avLst/>
          </a:prstGeom>
          <a:solidFill>
            <a:srgbClr val="241A4C"/>
          </a:solidFill>
          <a:ln/>
        </p:spPr>
      </p:sp>
      <p:sp>
        <p:nvSpPr>
          <p:cNvPr id="6" name="Text 4"/>
          <p:cNvSpPr txBox="1"/>
          <p:nvPr/>
        </p:nvSpPr>
        <p:spPr>
          <a:xfrm>
            <a:off x="594360"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252728" y="1975104"/>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Take a paper from your own area. Which of the three modes carries its central claim — and does the quantifier in the abstract match the mode used in the evaluation?</a:t>
            </a:r>
            <a:endParaRPr lang="en-US" sz="1300" dirty="0"/>
          </a:p>
        </p:txBody>
      </p:sp>
      <p:sp>
        <p:nvSpPr>
          <p:cNvPr id="8" name="Shape 6"/>
          <p:cNvSpPr/>
          <p:nvPr/>
        </p:nvSpPr>
        <p:spPr>
          <a:xfrm>
            <a:off x="594360" y="3072384"/>
            <a:ext cx="384048" cy="384048"/>
          </a:xfrm>
          <a:prstGeom prst="ellipse">
            <a:avLst/>
          </a:prstGeom>
          <a:solidFill>
            <a:srgbClr val="B08C3A"/>
          </a:solidFill>
          <a:ln/>
        </p:spPr>
      </p:sp>
      <p:sp>
        <p:nvSpPr>
          <p:cNvPr id="9" name="Text 7"/>
          <p:cNvSpPr txBox="1"/>
          <p:nvPr/>
        </p:nvSpPr>
        <p:spPr>
          <a:xfrm>
            <a:off x="594360" y="3072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252728" y="3017520"/>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Find an empirical CS paper whose headline claim is stated universally (“X is faster than Y”). Rewrite it with the qualifier its evidence actually supports. How much of the claim survives?</a:t>
            </a:r>
            <a:endParaRPr lang="en-US" sz="1300" dirty="0"/>
          </a:p>
        </p:txBody>
      </p:sp>
      <p:sp>
        <p:nvSpPr>
          <p:cNvPr id="11" name="Shape 9"/>
          <p:cNvSpPr/>
          <p:nvPr/>
        </p:nvSpPr>
        <p:spPr>
          <a:xfrm>
            <a:off x="594360" y="4114800"/>
            <a:ext cx="384048" cy="384048"/>
          </a:xfrm>
          <a:prstGeom prst="ellipse">
            <a:avLst/>
          </a:prstGeom>
          <a:solidFill>
            <a:srgbClr val="241A4C"/>
          </a:solidFill>
          <a:ln/>
        </p:spPr>
      </p:sp>
      <p:sp>
        <p:nvSpPr>
          <p:cNvPr id="12" name="Text 10"/>
          <p:cNvSpPr txBox="1"/>
          <p:nvPr/>
        </p:nvSpPr>
        <p:spPr>
          <a:xfrm>
            <a:off x="59436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252728" y="4059936"/>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Pick an impossibility result you know — FLP, the halting problem, the Ω(n log n) sorting bound. Which premise would you have to break to escape it, and is that premise breakable in a real system?</a:t>
            </a:r>
            <a:endParaRPr lang="en-US" sz="1300" dirty="0"/>
          </a:p>
        </p:txBody>
      </p:sp>
      <p:sp>
        <p:nvSpPr>
          <p:cNvPr id="14" name="Shape 12"/>
          <p:cNvSpPr/>
          <p:nvPr/>
        </p:nvSpPr>
        <p:spPr>
          <a:xfrm>
            <a:off x="594360" y="5157216"/>
            <a:ext cx="384048" cy="384048"/>
          </a:xfrm>
          <a:prstGeom prst="ellipse">
            <a:avLst/>
          </a:prstGeom>
          <a:solidFill>
            <a:srgbClr val="B08C3A"/>
          </a:solidFill>
          <a:ln/>
        </p:spPr>
      </p:sp>
      <p:sp>
        <p:nvSpPr>
          <p:cNvPr id="15" name="Text 13"/>
          <p:cNvSpPr txBox="1"/>
          <p:nvPr/>
        </p:nvSpPr>
        <p:spPr>
          <a:xfrm>
            <a:off x="59436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252728" y="5102352"/>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When is a demonstration sufficient on its own? Name a subfield where “we built it and it runs” is a complete contribution, and defend that position against someone who wants a benchmark.</a:t>
            </a:r>
            <a:endParaRPr lang="en-US" sz="130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24 / 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RECAP</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Key Takeaways</a:t>
            </a:r>
            <a:endParaRPr lang="en-US" sz="2800" dirty="0"/>
          </a:p>
        </p:txBody>
      </p:sp>
      <p:sp>
        <p:nvSpPr>
          <p:cNvPr id="4" name="Shape 2"/>
          <p:cNvSpPr/>
          <p:nvPr/>
        </p:nvSpPr>
        <p:spPr>
          <a:xfrm>
            <a:off x="594360" y="1517904"/>
            <a:ext cx="384048" cy="384048"/>
          </a:xfrm>
          <a:prstGeom prst="ellipse">
            <a:avLst/>
          </a:prstGeom>
          <a:solidFill>
            <a:srgbClr val="B08C3A"/>
          </a:solidFill>
          <a:ln/>
        </p:spPr>
      </p:sp>
      <p:sp>
        <p:nvSpPr>
          <p:cNvPr id="5" name="Text 3"/>
          <p:cNvSpPr txBox="1"/>
          <p:nvPr/>
        </p:nvSpPr>
        <p:spPr>
          <a:xfrm>
            <a:off x="594360"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252728" y="1463040"/>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Computing science settles claims three ways — by demonstration, by empirical study, and by mathematical derivation — and each licenses a different strength of conclusion.</a:t>
            </a:r>
            <a:endParaRPr lang="en-US" sz="1250" dirty="0"/>
          </a:p>
        </p:txBody>
      </p:sp>
      <p:sp>
        <p:nvSpPr>
          <p:cNvPr id="7" name="Shape 5"/>
          <p:cNvSpPr/>
          <p:nvPr/>
        </p:nvSpPr>
        <p:spPr>
          <a:xfrm>
            <a:off x="594360" y="2487168"/>
            <a:ext cx="384048" cy="384048"/>
          </a:xfrm>
          <a:prstGeom prst="ellipse">
            <a:avLst/>
          </a:prstGeom>
          <a:solidFill>
            <a:srgbClr val="241A4C"/>
          </a:solidFill>
          <a:ln/>
        </p:spPr>
      </p:sp>
      <p:sp>
        <p:nvSpPr>
          <p:cNvPr id="8" name="Text 6"/>
          <p:cNvSpPr txBox="1"/>
          <p:nvPr/>
        </p:nvSpPr>
        <p:spPr>
          <a:xfrm>
            <a:off x="59436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txBox="1"/>
          <p:nvPr/>
        </p:nvSpPr>
        <p:spPr>
          <a:xfrm>
            <a:off x="1252728" y="2432304"/>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A demonstration settles existence and feasibility. It never settles generality or superiority; the moment your sentence turns comparative, you owe a baseline.</a:t>
            </a:r>
            <a:endParaRPr lang="en-US" sz="1250" dirty="0"/>
          </a:p>
        </p:txBody>
      </p:sp>
      <p:sp>
        <p:nvSpPr>
          <p:cNvPr id="10" name="Shape 8"/>
          <p:cNvSpPr/>
          <p:nvPr/>
        </p:nvSpPr>
        <p:spPr>
          <a:xfrm>
            <a:off x="594360" y="3456432"/>
            <a:ext cx="384048" cy="384048"/>
          </a:xfrm>
          <a:prstGeom prst="ellipse">
            <a:avLst/>
          </a:prstGeom>
          <a:solidFill>
            <a:srgbClr val="B08C3A"/>
          </a:solidFill>
          <a:ln/>
        </p:spPr>
      </p:sp>
      <p:sp>
        <p:nvSpPr>
          <p:cNvPr id="11" name="Text 9"/>
          <p:cNvSpPr txBox="1"/>
          <p:nvPr/>
        </p:nvSpPr>
        <p:spPr>
          <a:xfrm>
            <a:off x="594360"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2" name="Text 10"/>
          <p:cNvSpPr txBox="1"/>
          <p:nvPr/>
        </p:nvSpPr>
        <p:spPr>
          <a:xfrm>
            <a:off x="1252728" y="3401568"/>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Empirical proof is an inference from a sample to a population. Its warrant is bought with design, control, repetition and statistics — and reported as effect size and dispersion, not significance alone.</a:t>
            </a:r>
            <a:endParaRPr lang="en-US" sz="1250" dirty="0"/>
          </a:p>
        </p:txBody>
      </p:sp>
      <p:sp>
        <p:nvSpPr>
          <p:cNvPr id="13" name="Shape 11"/>
          <p:cNvSpPr/>
          <p:nvPr/>
        </p:nvSpPr>
        <p:spPr>
          <a:xfrm>
            <a:off x="594360" y="4425696"/>
            <a:ext cx="384048" cy="384048"/>
          </a:xfrm>
          <a:prstGeom prst="ellipse">
            <a:avLst/>
          </a:prstGeom>
          <a:solidFill>
            <a:srgbClr val="241A4C"/>
          </a:solidFill>
          <a:ln/>
        </p:spPr>
      </p:sp>
      <p:sp>
        <p:nvSpPr>
          <p:cNvPr id="14" name="Text 12"/>
          <p:cNvSpPr txBox="1"/>
          <p:nvPr/>
        </p:nvSpPr>
        <p:spPr>
          <a:xfrm>
            <a:off x="594360" y="4425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5" name="Text 13"/>
          <p:cNvSpPr txBox="1"/>
          <p:nvPr/>
        </p:nvSpPr>
        <p:spPr>
          <a:xfrm>
            <a:off x="1252728" y="4370832"/>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Mathematical proof gives universality inside a model, and is the only mode that can establish impossibility — but it inherits the truth of its assumptions, which is where critical reading should aim.</a:t>
            </a:r>
            <a:endParaRPr lang="en-US" sz="1250" dirty="0"/>
          </a:p>
        </p:txBody>
      </p:sp>
      <p:sp>
        <p:nvSpPr>
          <p:cNvPr id="16" name="Shape 14"/>
          <p:cNvSpPr/>
          <p:nvPr/>
        </p:nvSpPr>
        <p:spPr>
          <a:xfrm>
            <a:off x="594360" y="5394960"/>
            <a:ext cx="384048" cy="384048"/>
          </a:xfrm>
          <a:prstGeom prst="ellipse">
            <a:avLst/>
          </a:prstGeom>
          <a:solidFill>
            <a:srgbClr val="B08C3A"/>
          </a:solidFill>
          <a:ln/>
        </p:spPr>
      </p:sp>
      <p:sp>
        <p:nvSpPr>
          <p:cNvPr id="17" name="Text 15"/>
          <p:cNvSpPr txBox="1"/>
          <p:nvPr/>
        </p:nvSpPr>
        <p:spPr>
          <a:xfrm>
            <a:off x="594360" y="5394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6"/>
          <p:cNvSpPr txBox="1"/>
          <p:nvPr/>
        </p:nvSpPr>
        <p:spPr>
          <a:xfrm>
            <a:off x="1252728" y="5340096"/>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The category error to avoid is a mismatch between the claim's quantifier and the mode used to support it. The mark of strong work is stacking modes, and saying honestly where each one stops.</a:t>
            </a:r>
            <a:endParaRPr lang="en-US" sz="1250" dirty="0"/>
          </a:p>
        </p:txBody>
      </p:sp>
      <p:sp>
        <p:nvSpPr>
          <p:cNvPr id="19" name="Text 17"/>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20" name="Text 18"/>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25 / 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Further Reading</a:t>
            </a:r>
            <a:endParaRPr lang="en-US" sz="2800" dirty="0"/>
          </a:p>
        </p:txBody>
      </p:sp>
      <p:sp>
        <p:nvSpPr>
          <p:cNvPr id="3" name="Shape 1"/>
          <p:cNvSpPr/>
          <p:nvPr/>
        </p:nvSpPr>
        <p:spPr>
          <a:xfrm>
            <a:off x="502920" y="1426464"/>
            <a:ext cx="11183112" cy="502920"/>
          </a:xfrm>
          <a:prstGeom prst="rect">
            <a:avLst/>
          </a:prstGeom>
          <a:solidFill>
            <a:srgbClr val="F3F1FC"/>
          </a:solidFill>
          <a:ln/>
        </p:spPr>
      </p:sp>
      <p:sp>
        <p:nvSpPr>
          <p:cNvPr id="4" name="Text 2"/>
          <p:cNvSpPr txBox="1"/>
          <p:nvPr/>
        </p:nvSpPr>
        <p:spPr>
          <a:xfrm>
            <a:off x="758952" y="142646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Cormen, Leiserson, Rivest &amp; Stein.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Introduction to Algorithms. 4th ed., MIT Press, 2022. — loop invariants; the decision-tree lower bound.</a:t>
            </a:r>
            <a:endParaRPr lang="en-US" sz="1150" dirty="0"/>
          </a:p>
        </p:txBody>
      </p:sp>
      <p:sp>
        <p:nvSpPr>
          <p:cNvPr id="5" name="Text 3"/>
          <p:cNvSpPr txBox="1"/>
          <p:nvPr/>
        </p:nvSpPr>
        <p:spPr>
          <a:xfrm>
            <a:off x="758952" y="194767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Velleman, D. J.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How to Prove It: A Structured Approach. 3rd ed., Cambridge University Press, 2019.</a:t>
            </a:r>
            <a:endParaRPr lang="en-US" sz="1150" dirty="0"/>
          </a:p>
        </p:txBody>
      </p:sp>
      <p:sp>
        <p:nvSpPr>
          <p:cNvPr id="6" name="Shape 4"/>
          <p:cNvSpPr/>
          <p:nvPr/>
        </p:nvSpPr>
        <p:spPr>
          <a:xfrm>
            <a:off x="502920" y="2468880"/>
            <a:ext cx="11183112" cy="502920"/>
          </a:xfrm>
          <a:prstGeom prst="rect">
            <a:avLst/>
          </a:prstGeom>
          <a:solidFill>
            <a:srgbClr val="F3F1FC"/>
          </a:solidFill>
          <a:ln/>
        </p:spPr>
      </p:sp>
      <p:sp>
        <p:nvSpPr>
          <p:cNvPr id="7" name="Text 5"/>
          <p:cNvSpPr txBox="1"/>
          <p:nvPr/>
        </p:nvSpPr>
        <p:spPr>
          <a:xfrm>
            <a:off x="758952" y="246888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Sipser, M.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Introduction to the Theory of Computation. 3rd ed., Cengage, 2013. — diagonalisation, reduction, undecidability.</a:t>
            </a:r>
            <a:endParaRPr lang="en-US" sz="1150" dirty="0"/>
          </a:p>
        </p:txBody>
      </p:sp>
      <p:sp>
        <p:nvSpPr>
          <p:cNvPr id="8" name="Text 6"/>
          <p:cNvSpPr txBox="1"/>
          <p:nvPr/>
        </p:nvSpPr>
        <p:spPr>
          <a:xfrm>
            <a:off x="758952" y="299008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Garey, M. R. &amp; Johnson, D. S.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Computers and Intractability: A Guide to the Theory of NP-Completeness. Freeman, 1979.</a:t>
            </a:r>
            <a:endParaRPr lang="en-US" sz="1150" dirty="0"/>
          </a:p>
        </p:txBody>
      </p:sp>
      <p:sp>
        <p:nvSpPr>
          <p:cNvPr id="9" name="Shape 7"/>
          <p:cNvSpPr/>
          <p:nvPr/>
        </p:nvSpPr>
        <p:spPr>
          <a:xfrm>
            <a:off x="502920" y="3511296"/>
            <a:ext cx="11183112" cy="502920"/>
          </a:xfrm>
          <a:prstGeom prst="rect">
            <a:avLst/>
          </a:prstGeom>
          <a:solidFill>
            <a:srgbClr val="F3F1FC"/>
          </a:solidFill>
          <a:ln/>
        </p:spPr>
      </p:sp>
      <p:sp>
        <p:nvSpPr>
          <p:cNvPr id="10" name="Text 8"/>
          <p:cNvSpPr txBox="1"/>
          <p:nvPr/>
        </p:nvSpPr>
        <p:spPr>
          <a:xfrm>
            <a:off x="758952" y="3511296"/>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Fischer, M. J., Lynch, N. A. &amp; Paterson, M. S.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“Impossibility of Distributed Consensus with One Faulty Process.” Journal of the ACM, 1985.</a:t>
            </a:r>
            <a:endParaRPr lang="en-US" sz="1150" dirty="0"/>
          </a:p>
        </p:txBody>
      </p:sp>
      <p:sp>
        <p:nvSpPr>
          <p:cNvPr id="11" name="Text 9"/>
          <p:cNvSpPr txBox="1"/>
          <p:nvPr/>
        </p:nvSpPr>
        <p:spPr>
          <a:xfrm>
            <a:off x="758952" y="403250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Wohlin, C., Runeson, P., Höst, M., Ohlsson, M. C., Regnell, B. &amp; Wesslén, A.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Experimentation in Software Engineering. Springer, 2012.</a:t>
            </a:r>
            <a:endParaRPr lang="en-US" sz="1150" dirty="0"/>
          </a:p>
        </p:txBody>
      </p:sp>
      <p:sp>
        <p:nvSpPr>
          <p:cNvPr id="12" name="Shape 10"/>
          <p:cNvSpPr/>
          <p:nvPr/>
        </p:nvSpPr>
        <p:spPr>
          <a:xfrm>
            <a:off x="502920" y="4553712"/>
            <a:ext cx="11183112" cy="502920"/>
          </a:xfrm>
          <a:prstGeom prst="rect">
            <a:avLst/>
          </a:prstGeom>
          <a:solidFill>
            <a:srgbClr val="F3F1FC"/>
          </a:solidFill>
          <a:ln/>
        </p:spPr>
      </p:sp>
      <p:sp>
        <p:nvSpPr>
          <p:cNvPr id="13" name="Text 11"/>
          <p:cNvSpPr txBox="1"/>
          <p:nvPr/>
        </p:nvSpPr>
        <p:spPr>
          <a:xfrm>
            <a:off x="758952" y="455371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Jain, R.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The Art of Computer Systems Performance Analysis. Wiley, 1991.</a:t>
            </a:r>
            <a:endParaRPr lang="en-US" sz="1150" dirty="0"/>
          </a:p>
        </p:txBody>
      </p:sp>
      <p:sp>
        <p:nvSpPr>
          <p:cNvPr id="14" name="Text 12"/>
          <p:cNvSpPr txBox="1"/>
          <p:nvPr/>
        </p:nvSpPr>
        <p:spPr>
          <a:xfrm>
            <a:off x="758952" y="507492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Shaw, M.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“Writing Good Software Engineering Research Papers.” Proc. ICSE, 2003. — the validation-type taxonomy from Lecture 1.</a:t>
            </a:r>
            <a:endParaRPr lang="en-US" sz="1150" dirty="0"/>
          </a:p>
        </p:txBody>
      </p:sp>
      <p:sp>
        <p:nvSpPr>
          <p:cNvPr id="15" name="Shape 13"/>
          <p:cNvSpPr/>
          <p:nvPr/>
        </p:nvSpPr>
        <p:spPr>
          <a:xfrm>
            <a:off x="502920" y="5596128"/>
            <a:ext cx="11183112" cy="502920"/>
          </a:xfrm>
          <a:prstGeom prst="rect">
            <a:avLst/>
          </a:prstGeom>
          <a:solidFill>
            <a:srgbClr val="F3F1FC"/>
          </a:solidFill>
          <a:ln/>
        </p:spPr>
      </p:sp>
      <p:sp>
        <p:nvSpPr>
          <p:cNvPr id="16" name="Text 14"/>
          <p:cNvSpPr txBox="1"/>
          <p:nvPr/>
        </p:nvSpPr>
        <p:spPr>
          <a:xfrm>
            <a:off x="758952" y="559612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Dean, J. &amp; Ghemawat, S.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“MapReduce: Simplified Data Processing on Large Clusters.” Proc. OSDI, 2004.</a:t>
            </a:r>
            <a:endParaRPr lang="en-US" sz="115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PROOF METHODS IN CS</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26 / 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 Methods in Computer Science</dc:title>
  <dc:subject>Unit II, Lecture 2 - Proof Methods</dc:subject>
  <dc:creator>Research Methodology in CS</dc:creator>
  <cp:lastModifiedBy>Research Methodology in CS</cp:lastModifiedBy>
  <cp:revision>1</cp:revision>
  <dcterms:created xsi:type="dcterms:W3CDTF">2026-09-06T10:22:28Z</dcterms:created>
  <dcterms:modified xsi:type="dcterms:W3CDTF">2026-09-06T10:22:28Z</dcterms:modified>
</cp:coreProperties>
</file>