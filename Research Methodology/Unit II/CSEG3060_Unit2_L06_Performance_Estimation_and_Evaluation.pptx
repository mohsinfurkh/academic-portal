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53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1535"/>
          </a:solidFill>
          <a:ln/>
        </p:spPr>
      </p:sp>
      <p:sp>
        <p:nvSpPr>
          <p:cNvPr id="3" name="Shape 1"/>
          <p:cNvSpPr/>
          <p:nvPr/>
        </p:nvSpPr>
        <p:spPr>
          <a:xfrm>
            <a:off x="8522208" y="4041648"/>
            <a:ext cx="2121408" cy="2121408"/>
          </a:xfrm>
          <a:prstGeom prst="ellipse">
            <a:avLst/>
          </a:prstGeom>
          <a:solidFill>
            <a:srgbClr val="3D6EA6">
              <a:alpha val="55000"/>
            </a:srgbClr>
          </a:solidFill>
          <a:ln/>
        </p:spPr>
      </p:sp>
      <p:sp>
        <p:nvSpPr>
          <p:cNvPr id="4" name="Shape 2"/>
          <p:cNvSpPr/>
          <p:nvPr/>
        </p:nvSpPr>
        <p:spPr>
          <a:xfrm>
            <a:off x="9198864" y="3310128"/>
            <a:ext cx="2121408" cy="2121408"/>
          </a:xfrm>
          <a:prstGeom prst="ellipse">
            <a:avLst/>
          </a:prstGeom>
          <a:solidFill>
            <a:srgbClr val="D8A73E">
              <a:alpha val="55000"/>
            </a:srgbClr>
          </a:solidFill>
          <a:ln w="9525">
            <a:solidFill>
              <a:srgbClr val="D8A73E">
                <a:alpha val="60000"/>
              </a:srgbClr>
            </a:solidFill>
            <a:prstDash val="solid"/>
          </a:ln>
        </p:spPr>
      </p:sp>
      <p:sp>
        <p:nvSpPr>
          <p:cNvPr id="5" name="Shape 3"/>
          <p:cNvSpPr/>
          <p:nvPr/>
        </p:nvSpPr>
        <p:spPr>
          <a:xfrm>
            <a:off x="9802368" y="4169664"/>
            <a:ext cx="2121408" cy="2121408"/>
          </a:xfrm>
          <a:prstGeom prst="ellipse">
            <a:avLst/>
          </a:prstGeom>
          <a:solidFill>
            <a:srgbClr val="B4522B">
              <a:alpha val="55000"/>
            </a:srgbClr>
          </a:solidFill>
          <a:ln/>
        </p:spPr>
      </p:sp>
      <p:sp>
        <p:nvSpPr>
          <p:cNvPr id="6" name="Text 4"/>
          <p:cNvSpPr txBox="1"/>
          <p:nvPr/>
        </p:nvSpPr>
        <p:spPr>
          <a:xfrm>
            <a:off x="804672" y="1389888"/>
            <a:ext cx="7315200" cy="256032"/>
          </a:xfrm>
          <a:prstGeom prst="rect">
            <a:avLst/>
          </a:prstGeom>
          <a:noFill/>
          <a:ln/>
        </p:spPr>
        <p:txBody>
          <a:bodyPr wrap="square" lIns="0" tIns="0" rIns="0" bIns="0" rtlCol="0" anchor="ctr"/>
          <a:lstStyle/>
          <a:p>
            <a:pPr indent="0" marL="0">
              <a:buNone/>
            </a:pPr>
            <a:r>
              <a:rPr lang="en-US" sz="1000" b="1" spc="190" kern="0" dirty="0">
                <a:solidFill>
                  <a:srgbClr val="D8A73E"/>
                </a:solidFill>
                <a:latin typeface="Calibri" pitchFamily="34" charset="0"/>
                <a:ea typeface="Calibri" pitchFamily="34" charset="-122"/>
                <a:cs typeface="Calibri" pitchFamily="34" charset="-120"/>
              </a:rPr>
              <a:t>A LESSON IN RESEARCH METHODOLOGY</a:t>
            </a:r>
            <a:endParaRPr lang="en-US" sz="1000" dirty="0"/>
          </a:p>
        </p:txBody>
      </p:sp>
      <p:sp>
        <p:nvSpPr>
          <p:cNvPr id="7" name="Text 5"/>
          <p:cNvSpPr txBox="1"/>
          <p:nvPr/>
        </p:nvSpPr>
        <p:spPr>
          <a:xfrm>
            <a:off x="768096" y="1847088"/>
            <a:ext cx="8778240" cy="1572768"/>
          </a:xfrm>
          <a:prstGeom prst="rect">
            <a:avLst/>
          </a:prstGeom>
          <a:noFill/>
          <a:ln/>
        </p:spPr>
        <p:txBody>
          <a:bodyPr wrap="square" lIns="0" tIns="0" rIns="0" bIns="0" rtlCol="0" anchor="ctr"/>
          <a:lstStyle/>
          <a:p>
            <a:pPr indent="0" marL="0">
              <a:lnSpc>
                <a:spcPct val="106000"/>
              </a:lnSpc>
              <a:buNone/>
            </a:pPr>
            <a:r>
              <a:rPr lang="en-US" sz="4100" b="1" dirty="0">
                <a:solidFill>
                  <a:srgbClr val="FFFFFF"/>
                </a:solidFill>
                <a:latin typeface="Cambria" pitchFamily="34" charset="0"/>
                <a:ea typeface="Cambria" pitchFamily="34" charset="-122"/>
                <a:cs typeface="Cambria" pitchFamily="34" charset="-120"/>
              </a:rPr>
              <a:t>Performance Estimation</a:t>
            </a:r>
            <a:endParaRPr lang="en-US" sz="4100" dirty="0"/>
          </a:p>
          <a:p>
            <a:pPr indent="0" marL="0">
              <a:lnSpc>
                <a:spcPct val="106000"/>
              </a:lnSpc>
              <a:buNone/>
            </a:pPr>
            <a:r>
              <a:rPr lang="en-US" sz="4100" b="1" dirty="0">
                <a:solidFill>
                  <a:srgbClr val="FFFFFF"/>
                </a:solidFill>
                <a:latin typeface="Cambria" pitchFamily="34" charset="0"/>
                <a:ea typeface="Cambria" pitchFamily="34" charset="-122"/>
                <a:cs typeface="Cambria" pitchFamily="34" charset="-120"/>
              </a:rPr>
              <a:t>and Evaluation</a:t>
            </a:r>
            <a:endParaRPr lang="en-US" sz="4100" dirty="0"/>
          </a:p>
        </p:txBody>
      </p:sp>
      <p:sp>
        <p:nvSpPr>
          <p:cNvPr id="8" name="Text 6"/>
          <p:cNvSpPr txBox="1"/>
          <p:nvPr/>
        </p:nvSpPr>
        <p:spPr>
          <a:xfrm>
            <a:off x="804672" y="3767328"/>
            <a:ext cx="8229600" cy="329184"/>
          </a:xfrm>
          <a:prstGeom prst="rect">
            <a:avLst/>
          </a:prstGeom>
          <a:noFill/>
          <a:ln/>
        </p:spPr>
        <p:txBody>
          <a:bodyPr wrap="square" lIns="0" tIns="0" rIns="0" bIns="0" rtlCol="0" anchor="ctr"/>
          <a:lstStyle/>
          <a:p>
            <a:pPr indent="0" marL="0">
              <a:buNone/>
            </a:pPr>
            <a:r>
              <a:rPr lang="en-US" sz="1600" i="1" dirty="0">
                <a:solidFill>
                  <a:srgbClr val="E4DFFA"/>
                </a:solidFill>
                <a:latin typeface="Cambria" pitchFamily="34" charset="0"/>
                <a:ea typeface="Cambria" pitchFamily="34" charset="-122"/>
                <a:cs typeface="Cambria" pitchFamily="34" charset="-120"/>
              </a:rPr>
              <a:t>Metrics, Measurement, and Scaling</a:t>
            </a:r>
            <a:endParaRPr lang="en-US" sz="1600" dirty="0"/>
          </a:p>
        </p:txBody>
      </p:sp>
      <p:sp>
        <p:nvSpPr>
          <p:cNvPr id="9" name="Shape 7"/>
          <p:cNvSpPr/>
          <p:nvPr/>
        </p:nvSpPr>
        <p:spPr>
          <a:xfrm>
            <a:off x="804672" y="4315968"/>
            <a:ext cx="2377440" cy="0"/>
          </a:xfrm>
          <a:prstGeom prst="line">
            <a:avLst/>
          </a:prstGeom>
          <a:noFill/>
          <a:ln w="12700">
            <a:solidFill>
              <a:srgbClr val="6E688F"/>
            </a:solidFill>
            <a:prstDash val="solid"/>
          </a:ln>
        </p:spPr>
      </p:sp>
      <p:sp>
        <p:nvSpPr>
          <p:cNvPr id="10" name="Text 8"/>
          <p:cNvSpPr txBox="1"/>
          <p:nvPr/>
        </p:nvSpPr>
        <p:spPr>
          <a:xfrm>
            <a:off x="804672" y="4572000"/>
            <a:ext cx="7680960" cy="658368"/>
          </a:xfrm>
          <a:prstGeom prst="rect">
            <a:avLst/>
          </a:prstGeom>
          <a:noFill/>
          <a:ln/>
        </p:spPr>
        <p:txBody>
          <a:bodyPr wrap="square" lIns="0" tIns="0" rIns="0" bIns="0" rtlCol="0" anchor="t"/>
          <a:lstStyle/>
          <a:p>
            <a:pPr indent="0" marL="0">
              <a:lnSpc>
                <a:spcPct val="125000"/>
              </a:lnSpc>
              <a:buNone/>
            </a:pPr>
            <a:r>
              <a:rPr lang="en-US" sz="1150" dirty="0">
                <a:solidFill>
                  <a:srgbClr val="CFCAE6"/>
                </a:solidFill>
                <a:latin typeface="Calibri" pitchFamily="34" charset="0"/>
                <a:ea typeface="Calibri" pitchFamily="34" charset="-122"/>
                <a:cs typeface="Calibri" pitchFamily="34" charset="-120"/>
              </a:rPr>
              <a:t>Where Unit II closes its loop: the models of Lecture 5 meet a stopwatch, under the evidential</a:t>
            </a:r>
            <a:endParaRPr lang="en-US" sz="1150" dirty="0"/>
          </a:p>
          <a:p>
            <a:pPr indent="0" marL="0">
              <a:lnSpc>
                <a:spcPct val="125000"/>
              </a:lnSpc>
              <a:buNone/>
            </a:pPr>
            <a:r>
              <a:rPr lang="en-US" sz="1150" dirty="0">
                <a:solidFill>
                  <a:srgbClr val="CFCAE6"/>
                </a:solidFill>
                <a:latin typeface="Calibri" pitchFamily="34" charset="0"/>
                <a:ea typeface="Calibri" pitchFamily="34" charset="-122"/>
                <a:cs typeface="Calibri" pitchFamily="34" charset="-120"/>
              </a:rPr>
              <a:t>standards of Lecture 2 and the empirical discipline of Lecture 4.</a:t>
            </a:r>
            <a:endParaRPr lang="en-US" sz="1150" dirty="0"/>
          </a:p>
        </p:txBody>
      </p:sp>
      <p:sp>
        <p:nvSpPr>
          <p:cNvPr id="11" name="Text 9"/>
          <p:cNvSpPr txBox="1"/>
          <p:nvPr/>
        </p:nvSpPr>
        <p:spPr>
          <a:xfrm>
            <a:off x="804672" y="5797296"/>
            <a:ext cx="6400800" cy="237744"/>
          </a:xfrm>
          <a:prstGeom prst="rect">
            <a:avLst/>
          </a:prstGeom>
          <a:noFill/>
          <a:ln/>
        </p:spPr>
        <p:txBody>
          <a:bodyPr wrap="square" lIns="0" tIns="0" rIns="0" bIns="0" rtlCol="0" anchor="ctr"/>
          <a:lstStyle/>
          <a:p>
            <a:pPr indent="0" marL="0">
              <a:buNone/>
            </a:pPr>
            <a:r>
              <a:rPr lang="en-US" sz="900" dirty="0">
                <a:solidFill>
                  <a:srgbClr val="6E688F"/>
                </a:solidFill>
                <a:latin typeface="Calibri" pitchFamily="34" charset="0"/>
                <a:ea typeface="Calibri" pitchFamily="34" charset="-122"/>
                <a:cs typeface="Calibri" pitchFamily="34" charset="-120"/>
              </a:rPr>
              <a:t>Research Methodology in CS   ·   Unit II · Lecture 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1 · WHAT PERFORMANCE EVALUATION IS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Performance Is Not a Number</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dirty="0">
                <a:solidFill>
                  <a:srgbClr val="5C5A66"/>
                </a:solidFill>
                <a:latin typeface="Calibri" pitchFamily="34" charset="0"/>
                <a:ea typeface="Calibri" pitchFamily="34" charset="-122"/>
                <a:cs typeface="Calibri" pitchFamily="34" charset="-120"/>
              </a:rPr>
              <a:t>“Faster” is not a property of a system. It is a property of a system, on a workload, on a platform, under a metric, summarised by a statistic — and changing any one of the five can reverse the answer.</a:t>
            </a:r>
            <a:endParaRPr lang="en-US" sz="1250" dirty="0"/>
          </a:p>
        </p:txBody>
      </p:sp>
      <p:sp>
        <p:nvSpPr>
          <p:cNvPr id="5" name="Shape 3"/>
          <p:cNvSpPr/>
          <p:nvPr/>
        </p:nvSpPr>
        <p:spPr>
          <a:xfrm>
            <a:off x="502920" y="1956816"/>
            <a:ext cx="310896" cy="310896"/>
          </a:xfrm>
          <a:prstGeom prst="ellipse">
            <a:avLst/>
          </a:prstGeom>
          <a:solidFill>
            <a:srgbClr val="241A4C"/>
          </a:solidFill>
          <a:ln/>
        </p:spPr>
      </p:sp>
      <p:sp>
        <p:nvSpPr>
          <p:cNvPr id="6" name="Text 4"/>
          <p:cNvSpPr txBox="1"/>
          <p:nvPr/>
        </p:nvSpPr>
        <p:spPr>
          <a:xfrm>
            <a:off x="502920" y="1956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1005840" y="1911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This session closes Unit II's loop. Lecture 5 built models that predict performance; Lecture 4 set the standards for empirical claims; Lecture 2 said what admissible evidence looks like. Performance evaluation is where all three meet a stopwatch.</a:t>
            </a:r>
            <a:endParaRPr lang="en-US" sz="1150" dirty="0"/>
          </a:p>
        </p:txBody>
      </p:sp>
      <p:sp>
        <p:nvSpPr>
          <p:cNvPr id="8" name="Shape 6"/>
          <p:cNvSpPr/>
          <p:nvPr/>
        </p:nvSpPr>
        <p:spPr>
          <a:xfrm>
            <a:off x="502920" y="3099816"/>
            <a:ext cx="310896" cy="310896"/>
          </a:xfrm>
          <a:prstGeom prst="ellipse">
            <a:avLst/>
          </a:prstGeom>
          <a:solidFill>
            <a:srgbClr val="3D6EA6"/>
          </a:solidFill>
          <a:ln/>
        </p:spPr>
      </p:sp>
      <p:sp>
        <p:nvSpPr>
          <p:cNvPr id="9" name="Text 7"/>
          <p:cNvSpPr txBox="1"/>
          <p:nvPr/>
        </p:nvSpPr>
        <p:spPr>
          <a:xfrm>
            <a:off x="502920" y="3099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1005840" y="3054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Most disputed performance claims are not dishonest. They fail on a summary statistic, an unrepresentative workload, or a baseline nobody tuned — each of which is a methodological choice, made silently and rarely reported.</a:t>
            </a:r>
            <a:endParaRPr lang="en-US" sz="1150" dirty="0"/>
          </a:p>
        </p:txBody>
      </p:sp>
      <p:sp>
        <p:nvSpPr>
          <p:cNvPr id="11" name="Shape 9"/>
          <p:cNvSpPr/>
          <p:nvPr/>
        </p:nvSpPr>
        <p:spPr>
          <a:xfrm>
            <a:off x="502920" y="4242816"/>
            <a:ext cx="310896" cy="310896"/>
          </a:xfrm>
          <a:prstGeom prst="ellipse">
            <a:avLst/>
          </a:prstGeom>
          <a:solidFill>
            <a:srgbClr val="241A4C"/>
          </a:solidFill>
          <a:ln/>
        </p:spPr>
      </p:sp>
      <p:sp>
        <p:nvSpPr>
          <p:cNvPr id="12" name="Text 10"/>
          <p:cNvSpPr txBox="1"/>
          <p:nvPr/>
        </p:nvSpPr>
        <p:spPr>
          <a:xfrm>
            <a:off x="502920" y="4242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3" name="Text 11"/>
          <p:cNvSpPr txBox="1"/>
          <p:nvPr/>
        </p:nvSpPr>
        <p:spPr>
          <a:xfrm>
            <a:off x="1005840" y="4197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The failure modes are so consistent that the field has codified them. Jain's 1991 text, the SPEC and TPC run rules, and the statistically-rigorous-evaluation literature all exist because the same mistakes kept recurring.</a:t>
            </a:r>
            <a:endParaRPr lang="en-US" sz="1150" dirty="0"/>
          </a:p>
        </p:txBody>
      </p:sp>
      <p:sp>
        <p:nvSpPr>
          <p:cNvPr id="14" name="Shape 12"/>
          <p:cNvSpPr/>
          <p:nvPr/>
        </p:nvSpPr>
        <p:spPr>
          <a:xfrm>
            <a:off x="502920" y="5385816"/>
            <a:ext cx="310896" cy="310896"/>
          </a:xfrm>
          <a:prstGeom prst="ellipse">
            <a:avLst/>
          </a:prstGeom>
          <a:solidFill>
            <a:srgbClr val="3D6EA6"/>
          </a:solidFill>
          <a:ln/>
        </p:spPr>
      </p:sp>
      <p:sp>
        <p:nvSpPr>
          <p:cNvPr id="15" name="Text 13"/>
          <p:cNvSpPr txBox="1"/>
          <p:nvPr/>
        </p:nvSpPr>
        <p:spPr>
          <a:xfrm>
            <a:off x="502920" y="5385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4"/>
          <p:cNvSpPr txBox="1"/>
          <p:nvPr/>
        </p:nvSpPr>
        <p:spPr>
          <a:xfrm>
            <a:off x="1005840" y="5340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The discipline it demands is unglamorous: control what you can, report what you cannot, and state precisely which of the five dependencies your number is conditional on.</a:t>
            </a:r>
            <a:endParaRPr lang="en-US" sz="1150" dirty="0"/>
          </a:p>
        </p:txBody>
      </p:sp>
      <p:sp>
        <p:nvSpPr>
          <p:cNvPr id="17" name="Shape 15"/>
          <p:cNvSpPr/>
          <p:nvPr/>
        </p:nvSpPr>
        <p:spPr>
          <a:xfrm>
            <a:off x="7571232" y="1883664"/>
            <a:ext cx="4114800" cy="4169664"/>
          </a:xfrm>
          <a:prstGeom prst="roundRect">
            <a:avLst>
              <a:gd name="adj" fmla="val 1111"/>
            </a:avLst>
          </a:prstGeom>
          <a:solidFill>
            <a:srgbClr val="F3F1FC"/>
          </a:solidFill>
          <a:ln/>
        </p:spPr>
      </p:sp>
      <p:sp>
        <p:nvSpPr>
          <p:cNvPr id="18" name="Text 16"/>
          <p:cNvSpPr txBox="1"/>
          <p:nvPr/>
        </p:nvSpPr>
        <p:spPr>
          <a:xfrm>
            <a:off x="7845552" y="2139696"/>
            <a:ext cx="3566160" cy="219456"/>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WHAT EVERY NUMBER DEPENDS ON</a:t>
            </a:r>
            <a:endParaRPr lang="en-US" sz="850" dirty="0"/>
          </a:p>
        </p:txBody>
      </p:sp>
      <p:sp>
        <p:nvSpPr>
          <p:cNvPr id="19" name="Text 17"/>
          <p:cNvSpPr txBox="1"/>
          <p:nvPr/>
        </p:nvSpPr>
        <p:spPr>
          <a:xfrm>
            <a:off x="7845552" y="2505456"/>
            <a:ext cx="3566160" cy="822960"/>
          </a:xfrm>
          <a:prstGeom prst="rect">
            <a:avLst/>
          </a:prstGeom>
          <a:noFill/>
          <a:ln/>
        </p:spPr>
        <p:txBody>
          <a:bodyPr wrap="square" lIns="0" tIns="0" rIns="0" bIns="0" rtlCol="0" anchor="t"/>
          <a:lstStyle/>
          <a:p>
            <a:pPr indent="0" marL="0">
              <a:lnSpc>
                <a:spcPct val="125000"/>
              </a:lnSpc>
              <a:buNone/>
            </a:pPr>
            <a:r>
              <a:rPr lang="en-US" sz="1500" dirty="0">
                <a:solidFill>
                  <a:srgbClr val="241A4C"/>
                </a:solidFill>
                <a:latin typeface="Cambria" pitchFamily="34" charset="0"/>
                <a:ea typeface="Cambria" pitchFamily="34" charset="-122"/>
                <a:cs typeface="Cambria" pitchFamily="34" charset="-120"/>
              </a:rPr>
              <a:t>System · Workload · Platform</a:t>
            </a:r>
            <a:endParaRPr lang="en-US" sz="1500" dirty="0"/>
          </a:p>
          <a:p>
            <a:pPr indent="0" marL="0">
              <a:lnSpc>
                <a:spcPct val="125000"/>
              </a:lnSpc>
              <a:buNone/>
            </a:pPr>
            <a:r>
              <a:rPr lang="en-US" sz="1500" dirty="0">
                <a:solidFill>
                  <a:srgbClr val="241A4C"/>
                </a:solidFill>
                <a:latin typeface="Cambria" pitchFamily="34" charset="0"/>
                <a:ea typeface="Cambria" pitchFamily="34" charset="-122"/>
                <a:cs typeface="Cambria" pitchFamily="34" charset="-120"/>
              </a:rPr>
              <a:t>Metric · Summary statistic</a:t>
            </a:r>
            <a:endParaRPr lang="en-US" sz="1500" dirty="0"/>
          </a:p>
        </p:txBody>
      </p:sp>
      <p:sp>
        <p:nvSpPr>
          <p:cNvPr id="20" name="Text 18"/>
          <p:cNvSpPr txBox="1"/>
          <p:nvPr/>
        </p:nvSpPr>
        <p:spPr>
          <a:xfrm>
            <a:off x="7845552" y="3547872"/>
            <a:ext cx="3566160" cy="1280160"/>
          </a:xfrm>
          <a:prstGeom prst="rect">
            <a:avLst/>
          </a:prstGeom>
          <a:noFill/>
          <a:ln/>
        </p:spPr>
        <p:txBody>
          <a:bodyPr wrap="square" lIns="0" tIns="0" rIns="0" bIns="0" rtlCol="0" anchor="t"/>
          <a:lstStyle/>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A performance claim that names fewer than five of these is under-specified. It cannot be reproduced by anyone else, and it cannot be contested on its merits — only believed or disbelieved.</a:t>
            </a:r>
            <a:endParaRPr lang="en-US" sz="1100" dirty="0"/>
          </a:p>
        </p:txBody>
      </p:sp>
      <p:sp>
        <p:nvSpPr>
          <p:cNvPr id="21" name="Shape 19"/>
          <p:cNvSpPr/>
          <p:nvPr/>
        </p:nvSpPr>
        <p:spPr>
          <a:xfrm>
            <a:off x="7845552" y="5047488"/>
            <a:ext cx="1371600" cy="0"/>
          </a:xfrm>
          <a:prstGeom prst="line">
            <a:avLst/>
          </a:prstGeom>
          <a:noFill/>
          <a:ln w="15875">
            <a:solidFill>
              <a:srgbClr val="D8A73E"/>
            </a:solidFill>
            <a:prstDash val="solid"/>
          </a:ln>
        </p:spPr>
      </p:sp>
      <p:sp>
        <p:nvSpPr>
          <p:cNvPr id="22" name="Text 20"/>
          <p:cNvSpPr txBox="1"/>
          <p:nvPr/>
        </p:nvSpPr>
        <p:spPr>
          <a:xfrm>
            <a:off x="7845552" y="5212080"/>
            <a:ext cx="3566160" cy="457200"/>
          </a:xfrm>
          <a:prstGeom prst="rect">
            <a:avLst/>
          </a:prstGeom>
          <a:noFill/>
          <a:ln/>
        </p:spPr>
        <p:txBody>
          <a:bodyPr wrap="square" lIns="0" tIns="0" rIns="0" bIns="0" rtlCol="0" anchor="t"/>
          <a:lstStyle/>
          <a:p>
            <a:pPr indent="0" marL="0">
              <a:lnSpc>
                <a:spcPct val="120000"/>
              </a:lnSpc>
              <a:buNone/>
            </a:pPr>
            <a:r>
              <a:rPr lang="en-US" sz="1050" i="1" dirty="0">
                <a:solidFill>
                  <a:srgbClr val="5C5A66"/>
                </a:solidFill>
                <a:latin typeface="Calibri" pitchFamily="34" charset="0"/>
                <a:ea typeface="Calibri" pitchFamily="34" charset="-122"/>
                <a:cs typeface="Calibri" pitchFamily="34" charset="-120"/>
              </a:rPr>
              <a:t>Write all five into the sentence that states your result.</a:t>
            </a:r>
            <a:endParaRPr lang="en-US" sz="1050" dirty="0"/>
          </a:p>
        </p:txBody>
      </p:sp>
      <p:sp>
        <p:nvSpPr>
          <p:cNvPr id="23" name="Text 2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24" name="Text 2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 / 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1 · WHAT PERFORMANCE EVALUATION IS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Three Techniques for a Performance Answer</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Jain's classification. They differ in when they can be applied, what they cost, and how much a reader will believe them.</a:t>
            </a:r>
            <a:endParaRPr lang="en-US" sz="1250" dirty="0"/>
          </a:p>
        </p:txBody>
      </p:sp>
      <p:sp>
        <p:nvSpPr>
          <p:cNvPr id="5" name="Shape 3"/>
          <p:cNvSpPr/>
          <p:nvPr/>
        </p:nvSpPr>
        <p:spPr>
          <a:xfrm>
            <a:off x="502920" y="1938528"/>
            <a:ext cx="3502152" cy="3913632"/>
          </a:xfrm>
          <a:prstGeom prst="roundRect">
            <a:avLst>
              <a:gd name="adj" fmla="val 1305"/>
            </a:avLst>
          </a:prstGeom>
          <a:solidFill>
            <a:srgbClr val="FAF9FE"/>
          </a:solidFill>
          <a:ln w="12700">
            <a:solidFill>
              <a:srgbClr val="E6E2F5"/>
            </a:solidFill>
            <a:prstDash val="solid"/>
          </a:ln>
        </p:spPr>
      </p:sp>
      <p:sp>
        <p:nvSpPr>
          <p:cNvPr id="6" name="Text 4"/>
          <p:cNvSpPr txBox="1"/>
          <p:nvPr/>
        </p:nvSpPr>
        <p:spPr>
          <a:xfrm>
            <a:off x="758952" y="2157984"/>
            <a:ext cx="2990088" cy="201168"/>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TECHNIQUE 1</a:t>
            </a:r>
            <a:endParaRPr lang="en-US" sz="850" dirty="0"/>
          </a:p>
        </p:txBody>
      </p:sp>
      <p:sp>
        <p:nvSpPr>
          <p:cNvPr id="7" name="Text 5"/>
          <p:cNvSpPr txBox="1"/>
          <p:nvPr/>
        </p:nvSpPr>
        <p:spPr>
          <a:xfrm>
            <a:off x="758952" y="2395728"/>
            <a:ext cx="2990088" cy="365760"/>
          </a:xfrm>
          <a:prstGeom prst="rect">
            <a:avLst/>
          </a:prstGeom>
          <a:noFill/>
          <a:ln/>
        </p:spPr>
        <p:txBody>
          <a:bodyPr wrap="square" lIns="0" tIns="0" rIns="0" bIns="0" rtlCol="0" anchor="ctr"/>
          <a:lstStyle/>
          <a:p>
            <a:pPr indent="0" marL="0">
              <a:buNone/>
            </a:pPr>
            <a:r>
              <a:rPr lang="en-US" sz="2000" b="1" dirty="0">
                <a:solidFill>
                  <a:srgbClr val="241A4C"/>
                </a:solidFill>
                <a:latin typeface="Cambria" pitchFamily="34" charset="0"/>
                <a:ea typeface="Cambria" pitchFamily="34" charset="-122"/>
                <a:cs typeface="Cambria" pitchFamily="34" charset="-120"/>
              </a:rPr>
              <a:t>Analytical</a:t>
            </a:r>
            <a:endParaRPr lang="en-US" sz="2000" dirty="0"/>
          </a:p>
        </p:txBody>
      </p:sp>
      <p:sp>
        <p:nvSpPr>
          <p:cNvPr id="8" name="Text 6"/>
          <p:cNvSpPr txBox="1"/>
          <p:nvPr/>
        </p:nvSpPr>
        <p:spPr>
          <a:xfrm>
            <a:off x="758952" y="2798064"/>
            <a:ext cx="2990088" cy="292608"/>
          </a:xfrm>
          <a:prstGeom prst="rect">
            <a:avLst/>
          </a:prstGeom>
          <a:noFill/>
          <a:ln/>
        </p:spPr>
        <p:txBody>
          <a:bodyPr wrap="square" lIns="0" tIns="0" rIns="0" bIns="0" rtlCol="0" anchor="ctr"/>
          <a:lstStyle/>
          <a:p>
            <a:pPr indent="0" marL="0">
              <a:buNone/>
            </a:pPr>
            <a:r>
              <a:rPr lang="en-US" sz="1150" i="1" dirty="0">
                <a:solidFill>
                  <a:srgbClr val="B08C3A"/>
                </a:solidFill>
                <a:latin typeface="Cambria" pitchFamily="34" charset="0"/>
                <a:ea typeface="Cambria" pitchFamily="34" charset="-122"/>
                <a:cs typeface="Cambria" pitchFamily="34" charset="-120"/>
              </a:rPr>
              <a:t>Solve a model — Lecture 5's method.</a:t>
            </a:r>
            <a:endParaRPr lang="en-US" sz="1150" dirty="0"/>
          </a:p>
        </p:txBody>
      </p:sp>
      <p:sp>
        <p:nvSpPr>
          <p:cNvPr id="9" name="Text 7"/>
          <p:cNvSpPr txBox="1"/>
          <p:nvPr/>
        </p:nvSpPr>
        <p:spPr>
          <a:xfrm>
            <a:off x="758952" y="3218688"/>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AVAILABLE</a:t>
            </a:r>
            <a:endParaRPr lang="en-US" sz="750" dirty="0"/>
          </a:p>
        </p:txBody>
      </p:sp>
      <p:sp>
        <p:nvSpPr>
          <p:cNvPr id="10" name="Text 8"/>
          <p:cNvSpPr txBox="1"/>
          <p:nvPr/>
        </p:nvSpPr>
        <p:spPr>
          <a:xfrm>
            <a:off x="758952" y="3401568"/>
            <a:ext cx="2990088" cy="42062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At any stage, including before the system exists.</a:t>
            </a:r>
            <a:endParaRPr lang="en-US" sz="1050" dirty="0"/>
          </a:p>
        </p:txBody>
      </p:sp>
      <p:sp>
        <p:nvSpPr>
          <p:cNvPr id="11" name="Text 9"/>
          <p:cNvSpPr txBox="1"/>
          <p:nvPr/>
        </p:nvSpPr>
        <p:spPr>
          <a:xfrm>
            <a:off x="758952" y="3858768"/>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ACCURACY</a:t>
            </a:r>
            <a:endParaRPr lang="en-US" sz="750" dirty="0"/>
          </a:p>
        </p:txBody>
      </p:sp>
      <p:sp>
        <p:nvSpPr>
          <p:cNvPr id="12" name="Text 10"/>
          <p:cNvSpPr txBox="1"/>
          <p:nvPr/>
        </p:nvSpPr>
        <p:spPr>
          <a:xfrm>
            <a:off x="758952" y="4041648"/>
            <a:ext cx="2990088" cy="42062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Low to moderate; entirely dependent on the assumptions.</a:t>
            </a:r>
            <a:endParaRPr lang="en-US" sz="1050" dirty="0"/>
          </a:p>
        </p:txBody>
      </p:sp>
      <p:sp>
        <p:nvSpPr>
          <p:cNvPr id="13" name="Text 11"/>
          <p:cNvSpPr txBox="1"/>
          <p:nvPr/>
        </p:nvSpPr>
        <p:spPr>
          <a:xfrm>
            <a:off x="758952" y="4498848"/>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COST AND TIME</a:t>
            </a:r>
            <a:endParaRPr lang="en-US" sz="750" dirty="0"/>
          </a:p>
        </p:txBody>
      </p:sp>
      <p:sp>
        <p:nvSpPr>
          <p:cNvPr id="14" name="Text 12"/>
          <p:cNvSpPr txBox="1"/>
          <p:nvPr/>
        </p:nvSpPr>
        <p:spPr>
          <a:xfrm>
            <a:off x="758952" y="4681728"/>
            <a:ext cx="2990088" cy="42062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Small. Hours to days, and no hardware.</a:t>
            </a:r>
            <a:endParaRPr lang="en-US" sz="1050" dirty="0"/>
          </a:p>
        </p:txBody>
      </p:sp>
      <p:sp>
        <p:nvSpPr>
          <p:cNvPr id="15" name="Text 13"/>
          <p:cNvSpPr txBox="1"/>
          <p:nvPr/>
        </p:nvSpPr>
        <p:spPr>
          <a:xfrm>
            <a:off x="758952" y="5138928"/>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BEST FOR</a:t>
            </a:r>
            <a:endParaRPr lang="en-US" sz="750" dirty="0"/>
          </a:p>
        </p:txBody>
      </p:sp>
      <p:sp>
        <p:nvSpPr>
          <p:cNvPr id="16" name="Text 14"/>
          <p:cNvSpPr txBox="1"/>
          <p:nvPr/>
        </p:nvSpPr>
        <p:spPr>
          <a:xfrm>
            <a:off x="758952" y="5321808"/>
            <a:ext cx="2990088" cy="42062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Trends, limits, and “what happens at ten times this load”.</a:t>
            </a:r>
            <a:endParaRPr lang="en-US" sz="1050" dirty="0"/>
          </a:p>
        </p:txBody>
      </p:sp>
      <p:sp>
        <p:nvSpPr>
          <p:cNvPr id="17" name="Shape 15"/>
          <p:cNvSpPr/>
          <p:nvPr/>
        </p:nvSpPr>
        <p:spPr>
          <a:xfrm>
            <a:off x="4343400" y="1938528"/>
            <a:ext cx="3502152" cy="3913632"/>
          </a:xfrm>
          <a:prstGeom prst="roundRect">
            <a:avLst>
              <a:gd name="adj" fmla="val 1305"/>
            </a:avLst>
          </a:prstGeom>
          <a:solidFill>
            <a:srgbClr val="FAF9FE"/>
          </a:solidFill>
          <a:ln w="12700">
            <a:solidFill>
              <a:srgbClr val="E6E2F5"/>
            </a:solidFill>
            <a:prstDash val="solid"/>
          </a:ln>
        </p:spPr>
      </p:sp>
      <p:sp>
        <p:nvSpPr>
          <p:cNvPr id="18" name="Text 16"/>
          <p:cNvSpPr txBox="1"/>
          <p:nvPr/>
        </p:nvSpPr>
        <p:spPr>
          <a:xfrm>
            <a:off x="4599432" y="2157984"/>
            <a:ext cx="2990088" cy="201168"/>
          </a:xfrm>
          <a:prstGeom prst="rect">
            <a:avLst/>
          </a:prstGeom>
          <a:noFill/>
          <a:ln/>
        </p:spPr>
        <p:txBody>
          <a:bodyPr wrap="square" lIns="0" tIns="0" rIns="0" bIns="0" rtlCol="0" anchor="ctr"/>
          <a:lstStyle/>
          <a:p>
            <a:pPr indent="0" marL="0">
              <a:buNone/>
            </a:pPr>
            <a:r>
              <a:rPr lang="en-US" sz="850" b="1" spc="130" kern="0" dirty="0">
                <a:solidFill>
                  <a:srgbClr val="3D6EA6"/>
                </a:solidFill>
                <a:latin typeface="Calibri" pitchFamily="34" charset="0"/>
                <a:ea typeface="Calibri" pitchFamily="34" charset="-122"/>
                <a:cs typeface="Calibri" pitchFamily="34" charset="-120"/>
              </a:rPr>
              <a:t>TECHNIQUE 2</a:t>
            </a:r>
            <a:endParaRPr lang="en-US" sz="850" dirty="0"/>
          </a:p>
        </p:txBody>
      </p:sp>
      <p:sp>
        <p:nvSpPr>
          <p:cNvPr id="19" name="Text 17"/>
          <p:cNvSpPr txBox="1"/>
          <p:nvPr/>
        </p:nvSpPr>
        <p:spPr>
          <a:xfrm>
            <a:off x="4599432" y="2395728"/>
            <a:ext cx="2990088" cy="365760"/>
          </a:xfrm>
          <a:prstGeom prst="rect">
            <a:avLst/>
          </a:prstGeom>
          <a:noFill/>
          <a:ln/>
        </p:spPr>
        <p:txBody>
          <a:bodyPr wrap="square" lIns="0" tIns="0" rIns="0" bIns="0" rtlCol="0" anchor="ctr"/>
          <a:lstStyle/>
          <a:p>
            <a:pPr indent="0" marL="0">
              <a:buNone/>
            </a:pPr>
            <a:r>
              <a:rPr lang="en-US" sz="2000" b="1" dirty="0">
                <a:solidFill>
                  <a:srgbClr val="241A4C"/>
                </a:solidFill>
                <a:latin typeface="Cambria" pitchFamily="34" charset="0"/>
                <a:ea typeface="Cambria" pitchFamily="34" charset="-122"/>
                <a:cs typeface="Cambria" pitchFamily="34" charset="-120"/>
              </a:rPr>
              <a:t>Simulation</a:t>
            </a:r>
            <a:endParaRPr lang="en-US" sz="2000" dirty="0"/>
          </a:p>
        </p:txBody>
      </p:sp>
      <p:sp>
        <p:nvSpPr>
          <p:cNvPr id="20" name="Text 18"/>
          <p:cNvSpPr txBox="1"/>
          <p:nvPr/>
        </p:nvSpPr>
        <p:spPr>
          <a:xfrm>
            <a:off x="4599432" y="2798064"/>
            <a:ext cx="2990088" cy="292608"/>
          </a:xfrm>
          <a:prstGeom prst="rect">
            <a:avLst/>
          </a:prstGeom>
          <a:noFill/>
          <a:ln/>
        </p:spPr>
        <p:txBody>
          <a:bodyPr wrap="square" lIns="0" tIns="0" rIns="0" bIns="0" rtlCol="0" anchor="ctr"/>
          <a:lstStyle/>
          <a:p>
            <a:pPr indent="0" marL="0">
              <a:buNone/>
            </a:pPr>
            <a:r>
              <a:rPr lang="en-US" sz="1150" i="1" dirty="0">
                <a:solidFill>
                  <a:srgbClr val="3D6EA6"/>
                </a:solidFill>
                <a:latin typeface="Cambria" pitchFamily="34" charset="0"/>
                <a:ea typeface="Cambria" pitchFamily="34" charset="-122"/>
                <a:cs typeface="Cambria" pitchFamily="34" charset="-120"/>
              </a:rPr>
              <a:t>Execute a model of the system.</a:t>
            </a:r>
            <a:endParaRPr lang="en-US" sz="1150" dirty="0"/>
          </a:p>
        </p:txBody>
      </p:sp>
      <p:sp>
        <p:nvSpPr>
          <p:cNvPr id="21" name="Text 19"/>
          <p:cNvSpPr txBox="1"/>
          <p:nvPr/>
        </p:nvSpPr>
        <p:spPr>
          <a:xfrm>
            <a:off x="4599432" y="3218688"/>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AVAILABLE</a:t>
            </a:r>
            <a:endParaRPr lang="en-US" sz="750" dirty="0"/>
          </a:p>
        </p:txBody>
      </p:sp>
      <p:sp>
        <p:nvSpPr>
          <p:cNvPr id="22" name="Text 20"/>
          <p:cNvSpPr txBox="1"/>
          <p:nvPr/>
        </p:nvSpPr>
        <p:spPr>
          <a:xfrm>
            <a:off x="4599432" y="3401568"/>
            <a:ext cx="2990088" cy="42062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At any stage, including before the system exists.</a:t>
            </a:r>
            <a:endParaRPr lang="en-US" sz="1050" dirty="0"/>
          </a:p>
        </p:txBody>
      </p:sp>
      <p:sp>
        <p:nvSpPr>
          <p:cNvPr id="23" name="Text 21"/>
          <p:cNvSpPr txBox="1"/>
          <p:nvPr/>
        </p:nvSpPr>
        <p:spPr>
          <a:xfrm>
            <a:off x="4599432" y="3858768"/>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ACCURACY</a:t>
            </a:r>
            <a:endParaRPr lang="en-US" sz="750" dirty="0"/>
          </a:p>
        </p:txBody>
      </p:sp>
      <p:sp>
        <p:nvSpPr>
          <p:cNvPr id="24" name="Text 22"/>
          <p:cNvSpPr txBox="1"/>
          <p:nvPr/>
        </p:nvSpPr>
        <p:spPr>
          <a:xfrm>
            <a:off x="4599432" y="4041648"/>
            <a:ext cx="2990088" cy="42062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Moderate; limited by model detail and by run length.</a:t>
            </a:r>
            <a:endParaRPr lang="en-US" sz="1050" dirty="0"/>
          </a:p>
        </p:txBody>
      </p:sp>
      <p:sp>
        <p:nvSpPr>
          <p:cNvPr id="25" name="Text 23"/>
          <p:cNvSpPr txBox="1"/>
          <p:nvPr/>
        </p:nvSpPr>
        <p:spPr>
          <a:xfrm>
            <a:off x="4599432" y="4498848"/>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COST AND TIME</a:t>
            </a:r>
            <a:endParaRPr lang="en-US" sz="750" dirty="0"/>
          </a:p>
        </p:txBody>
      </p:sp>
      <p:sp>
        <p:nvSpPr>
          <p:cNvPr id="26" name="Text 24"/>
          <p:cNvSpPr txBox="1"/>
          <p:nvPr/>
        </p:nvSpPr>
        <p:spPr>
          <a:xfrm>
            <a:off x="4599432" y="4681728"/>
            <a:ext cx="2990088" cy="42062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Medium. Days to weeks, plus statistical analysis.</a:t>
            </a:r>
            <a:endParaRPr lang="en-US" sz="1050" dirty="0"/>
          </a:p>
        </p:txBody>
      </p:sp>
      <p:sp>
        <p:nvSpPr>
          <p:cNvPr id="27" name="Text 25"/>
          <p:cNvSpPr txBox="1"/>
          <p:nvPr/>
        </p:nvSpPr>
        <p:spPr>
          <a:xfrm>
            <a:off x="4599432" y="5138928"/>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BEST FOR</a:t>
            </a:r>
            <a:endParaRPr lang="en-US" sz="750" dirty="0"/>
          </a:p>
        </p:txBody>
      </p:sp>
      <p:sp>
        <p:nvSpPr>
          <p:cNvPr id="28" name="Text 26"/>
          <p:cNvSpPr txBox="1"/>
          <p:nvPr/>
        </p:nvSpPr>
        <p:spPr>
          <a:xfrm>
            <a:off x="4599432" y="5321808"/>
            <a:ext cx="2990088" cy="42062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Realistic structure that admits no closed form.</a:t>
            </a:r>
            <a:endParaRPr lang="en-US" sz="1050" dirty="0"/>
          </a:p>
        </p:txBody>
      </p:sp>
      <p:sp>
        <p:nvSpPr>
          <p:cNvPr id="29" name="Shape 27"/>
          <p:cNvSpPr/>
          <p:nvPr/>
        </p:nvSpPr>
        <p:spPr>
          <a:xfrm>
            <a:off x="8183880" y="1938528"/>
            <a:ext cx="3502152" cy="3913632"/>
          </a:xfrm>
          <a:prstGeom prst="roundRect">
            <a:avLst>
              <a:gd name="adj" fmla="val 1305"/>
            </a:avLst>
          </a:prstGeom>
          <a:solidFill>
            <a:srgbClr val="F3F1FC"/>
          </a:solidFill>
          <a:ln w="12700">
            <a:solidFill>
              <a:srgbClr val="E6E2F5"/>
            </a:solidFill>
            <a:prstDash val="solid"/>
          </a:ln>
        </p:spPr>
      </p:sp>
      <p:sp>
        <p:nvSpPr>
          <p:cNvPr id="30" name="Text 28"/>
          <p:cNvSpPr txBox="1"/>
          <p:nvPr/>
        </p:nvSpPr>
        <p:spPr>
          <a:xfrm>
            <a:off x="8439912" y="2157984"/>
            <a:ext cx="2990088" cy="201168"/>
          </a:xfrm>
          <a:prstGeom prst="rect">
            <a:avLst/>
          </a:prstGeom>
          <a:noFill/>
          <a:ln/>
        </p:spPr>
        <p:txBody>
          <a:bodyPr wrap="square" lIns="0" tIns="0" rIns="0" bIns="0" rtlCol="0" anchor="ctr"/>
          <a:lstStyle/>
          <a:p>
            <a:pPr indent="0" marL="0">
              <a:buNone/>
            </a:pPr>
            <a:r>
              <a:rPr lang="en-US" sz="850" b="1" spc="130" kern="0" dirty="0">
                <a:solidFill>
                  <a:srgbClr val="B4522B"/>
                </a:solidFill>
                <a:latin typeface="Calibri" pitchFamily="34" charset="0"/>
                <a:ea typeface="Calibri" pitchFamily="34" charset="-122"/>
                <a:cs typeface="Calibri" pitchFamily="34" charset="-120"/>
              </a:rPr>
              <a:t>TECHNIQUE 3</a:t>
            </a:r>
            <a:endParaRPr lang="en-US" sz="850" dirty="0"/>
          </a:p>
        </p:txBody>
      </p:sp>
      <p:sp>
        <p:nvSpPr>
          <p:cNvPr id="31" name="Text 29"/>
          <p:cNvSpPr txBox="1"/>
          <p:nvPr/>
        </p:nvSpPr>
        <p:spPr>
          <a:xfrm>
            <a:off x="8439912" y="2395728"/>
            <a:ext cx="2990088" cy="365760"/>
          </a:xfrm>
          <a:prstGeom prst="rect">
            <a:avLst/>
          </a:prstGeom>
          <a:noFill/>
          <a:ln/>
        </p:spPr>
        <p:txBody>
          <a:bodyPr wrap="square" lIns="0" tIns="0" rIns="0" bIns="0" rtlCol="0" anchor="ctr"/>
          <a:lstStyle/>
          <a:p>
            <a:pPr indent="0" marL="0">
              <a:buNone/>
            </a:pPr>
            <a:r>
              <a:rPr lang="en-US" sz="2000" b="1" dirty="0">
                <a:solidFill>
                  <a:srgbClr val="241A4C"/>
                </a:solidFill>
                <a:latin typeface="Cambria" pitchFamily="34" charset="0"/>
                <a:ea typeface="Cambria" pitchFamily="34" charset="-122"/>
                <a:cs typeface="Cambria" pitchFamily="34" charset="-120"/>
              </a:rPr>
              <a:t>Measurement</a:t>
            </a:r>
            <a:endParaRPr lang="en-US" sz="2000" dirty="0"/>
          </a:p>
        </p:txBody>
      </p:sp>
      <p:sp>
        <p:nvSpPr>
          <p:cNvPr id="32" name="Text 30"/>
          <p:cNvSpPr txBox="1"/>
          <p:nvPr/>
        </p:nvSpPr>
        <p:spPr>
          <a:xfrm>
            <a:off x="8439912" y="2798064"/>
            <a:ext cx="2990088" cy="292608"/>
          </a:xfrm>
          <a:prstGeom prst="rect">
            <a:avLst/>
          </a:prstGeom>
          <a:noFill/>
          <a:ln/>
        </p:spPr>
        <p:txBody>
          <a:bodyPr wrap="square" lIns="0" tIns="0" rIns="0" bIns="0" rtlCol="0" anchor="ctr"/>
          <a:lstStyle/>
          <a:p>
            <a:pPr indent="0" marL="0">
              <a:buNone/>
            </a:pPr>
            <a:r>
              <a:rPr lang="en-US" sz="1150" i="1" dirty="0">
                <a:solidFill>
                  <a:srgbClr val="B4522B"/>
                </a:solidFill>
                <a:latin typeface="Cambria" pitchFamily="34" charset="0"/>
                <a:ea typeface="Cambria" pitchFamily="34" charset="-122"/>
                <a:cs typeface="Cambria" pitchFamily="34" charset="-120"/>
              </a:rPr>
              <a:t>Run the real system and time it.</a:t>
            </a:r>
            <a:endParaRPr lang="en-US" sz="1150" dirty="0"/>
          </a:p>
        </p:txBody>
      </p:sp>
      <p:sp>
        <p:nvSpPr>
          <p:cNvPr id="33" name="Text 31"/>
          <p:cNvSpPr txBox="1"/>
          <p:nvPr/>
        </p:nvSpPr>
        <p:spPr>
          <a:xfrm>
            <a:off x="8439912" y="3218688"/>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AVAILABLE</a:t>
            </a:r>
            <a:endParaRPr lang="en-US" sz="750" dirty="0"/>
          </a:p>
        </p:txBody>
      </p:sp>
      <p:sp>
        <p:nvSpPr>
          <p:cNvPr id="34" name="Text 32"/>
          <p:cNvSpPr txBox="1"/>
          <p:nvPr/>
        </p:nvSpPr>
        <p:spPr>
          <a:xfrm>
            <a:off x="8439912" y="3401568"/>
            <a:ext cx="2990088" cy="42062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Only once the system exists, in a runnable configuration.</a:t>
            </a:r>
            <a:endParaRPr lang="en-US" sz="1050" dirty="0"/>
          </a:p>
        </p:txBody>
      </p:sp>
      <p:sp>
        <p:nvSpPr>
          <p:cNvPr id="35" name="Text 33"/>
          <p:cNvSpPr txBox="1"/>
          <p:nvPr/>
        </p:nvSpPr>
        <p:spPr>
          <a:xfrm>
            <a:off x="8439912" y="3858768"/>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ACCURACY</a:t>
            </a:r>
            <a:endParaRPr lang="en-US" sz="750" dirty="0"/>
          </a:p>
        </p:txBody>
      </p:sp>
      <p:sp>
        <p:nvSpPr>
          <p:cNvPr id="36" name="Text 34"/>
          <p:cNvSpPr txBox="1"/>
          <p:nvPr/>
        </p:nvSpPr>
        <p:spPr>
          <a:xfrm>
            <a:off x="8439912" y="4041648"/>
            <a:ext cx="2990088" cy="42062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High if done carefully, and worthless if not.</a:t>
            </a:r>
            <a:endParaRPr lang="en-US" sz="1050" dirty="0"/>
          </a:p>
        </p:txBody>
      </p:sp>
      <p:sp>
        <p:nvSpPr>
          <p:cNvPr id="37" name="Text 35"/>
          <p:cNvSpPr txBox="1"/>
          <p:nvPr/>
        </p:nvSpPr>
        <p:spPr>
          <a:xfrm>
            <a:off x="8439912" y="4498848"/>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COST AND TIME</a:t>
            </a:r>
            <a:endParaRPr lang="en-US" sz="750" dirty="0"/>
          </a:p>
        </p:txBody>
      </p:sp>
      <p:sp>
        <p:nvSpPr>
          <p:cNvPr id="38" name="Text 36"/>
          <p:cNvSpPr txBox="1"/>
          <p:nvPr/>
        </p:nvSpPr>
        <p:spPr>
          <a:xfrm>
            <a:off x="8439912" y="4681728"/>
            <a:ext cx="2990088" cy="42062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High. Hardware, isolation, and many repetitions.</a:t>
            </a:r>
            <a:endParaRPr lang="en-US" sz="1050" dirty="0"/>
          </a:p>
        </p:txBody>
      </p:sp>
      <p:sp>
        <p:nvSpPr>
          <p:cNvPr id="39" name="Text 37"/>
          <p:cNvSpPr txBox="1"/>
          <p:nvPr/>
        </p:nvSpPr>
        <p:spPr>
          <a:xfrm>
            <a:off x="8439912" y="5138928"/>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BEST FOR</a:t>
            </a:r>
            <a:endParaRPr lang="en-US" sz="750" dirty="0"/>
          </a:p>
        </p:txBody>
      </p:sp>
      <p:sp>
        <p:nvSpPr>
          <p:cNvPr id="40" name="Text 38"/>
          <p:cNvSpPr txBox="1"/>
          <p:nvPr/>
        </p:nvSpPr>
        <p:spPr>
          <a:xfrm>
            <a:off x="8439912" y="5321808"/>
            <a:ext cx="2990088" cy="42062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configuration you actually have — and nothing beyond it.</a:t>
            </a:r>
            <a:endParaRPr lang="en-US" sz="1050" dirty="0"/>
          </a:p>
        </p:txBody>
      </p:sp>
      <p:sp>
        <p:nvSpPr>
          <p:cNvPr id="41" name="Text 39"/>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Jain's rule: use at least two, and reconcile them. Agreement is far more persuasive than either alone — and disagreement is usually where the finding is.</a:t>
            </a:r>
            <a:endParaRPr lang="en-US" sz="1150" dirty="0"/>
          </a:p>
        </p:txBody>
      </p:sp>
      <p:sp>
        <p:nvSpPr>
          <p:cNvPr id="42" name="Text 4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43" name="Text 4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3 / 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1 · WHAT PERFORMANCE EVALUATION IS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A Systematic Procedure</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Jain's ten steps, grouped into five phases. Each phase exists to prevent one specific, well-documented mistake.</a:t>
            </a:r>
            <a:endParaRPr lang="en-US" sz="1250" dirty="0"/>
          </a:p>
        </p:txBody>
      </p:sp>
      <p:sp>
        <p:nvSpPr>
          <p:cNvPr id="5" name="Shape 3"/>
          <p:cNvSpPr/>
          <p:nvPr/>
        </p:nvSpPr>
        <p:spPr>
          <a:xfrm>
            <a:off x="502920" y="1938528"/>
            <a:ext cx="1737360" cy="384048"/>
          </a:xfrm>
          <a:prstGeom prst="rect">
            <a:avLst/>
          </a:prstGeom>
          <a:solidFill>
            <a:srgbClr val="241A4C"/>
          </a:solidFill>
          <a:ln w="19050">
            <a:solidFill>
              <a:srgbClr val="FFFFFF"/>
            </a:solidFill>
            <a:prstDash val="solid"/>
          </a:ln>
        </p:spPr>
      </p:sp>
      <p:sp>
        <p:nvSpPr>
          <p:cNvPr id="6" name="Text 4"/>
          <p:cNvSpPr txBox="1"/>
          <p:nvPr/>
        </p:nvSpPr>
        <p:spPr>
          <a:xfrm>
            <a:off x="649224" y="1938528"/>
            <a:ext cx="144475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PHASE</a:t>
            </a:r>
            <a:endParaRPr lang="en-US" sz="850" dirty="0"/>
          </a:p>
        </p:txBody>
      </p:sp>
      <p:sp>
        <p:nvSpPr>
          <p:cNvPr id="7" name="Shape 5"/>
          <p:cNvSpPr/>
          <p:nvPr/>
        </p:nvSpPr>
        <p:spPr>
          <a:xfrm>
            <a:off x="2240280" y="1938528"/>
            <a:ext cx="5120640" cy="384048"/>
          </a:xfrm>
          <a:prstGeom prst="rect">
            <a:avLst/>
          </a:prstGeom>
          <a:solidFill>
            <a:srgbClr val="241A4C"/>
          </a:solidFill>
          <a:ln w="19050">
            <a:solidFill>
              <a:srgbClr val="FFFFFF"/>
            </a:solidFill>
            <a:prstDash val="solid"/>
          </a:ln>
        </p:spPr>
      </p:sp>
      <p:sp>
        <p:nvSpPr>
          <p:cNvPr id="8" name="Text 6"/>
          <p:cNvSpPr txBox="1"/>
          <p:nvPr/>
        </p:nvSpPr>
        <p:spPr>
          <a:xfrm>
            <a:off x="2386584" y="1938528"/>
            <a:ext cx="482803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WHAT IT INVOLVES</a:t>
            </a:r>
            <a:endParaRPr lang="en-US" sz="850" dirty="0"/>
          </a:p>
        </p:txBody>
      </p:sp>
      <p:sp>
        <p:nvSpPr>
          <p:cNvPr id="9" name="Shape 7"/>
          <p:cNvSpPr/>
          <p:nvPr/>
        </p:nvSpPr>
        <p:spPr>
          <a:xfrm>
            <a:off x="7360920" y="1938528"/>
            <a:ext cx="4325112" cy="384048"/>
          </a:xfrm>
          <a:prstGeom prst="rect">
            <a:avLst/>
          </a:prstGeom>
          <a:solidFill>
            <a:srgbClr val="241A4C"/>
          </a:solidFill>
          <a:ln w="19050">
            <a:solidFill>
              <a:srgbClr val="FFFFFF"/>
            </a:solidFill>
            <a:prstDash val="solid"/>
          </a:ln>
        </p:spPr>
      </p:sp>
      <p:sp>
        <p:nvSpPr>
          <p:cNvPr id="10" name="Text 8"/>
          <p:cNvSpPr txBox="1"/>
          <p:nvPr/>
        </p:nvSpPr>
        <p:spPr>
          <a:xfrm>
            <a:off x="7507224" y="1938528"/>
            <a:ext cx="403250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THE MISTAKE IT PREVENTS</a:t>
            </a:r>
            <a:endParaRPr lang="en-US" sz="850" dirty="0"/>
          </a:p>
        </p:txBody>
      </p:sp>
      <p:sp>
        <p:nvSpPr>
          <p:cNvPr id="11" name="Shape 9"/>
          <p:cNvSpPr/>
          <p:nvPr/>
        </p:nvSpPr>
        <p:spPr>
          <a:xfrm>
            <a:off x="502920" y="2377440"/>
            <a:ext cx="11183112" cy="713232"/>
          </a:xfrm>
          <a:prstGeom prst="rect">
            <a:avLst/>
          </a:prstGeom>
          <a:solidFill>
            <a:srgbClr val="F3F1FC"/>
          </a:solidFill>
          <a:ln/>
        </p:spPr>
      </p:sp>
      <p:sp>
        <p:nvSpPr>
          <p:cNvPr id="12" name="Shape 10"/>
          <p:cNvSpPr/>
          <p:nvPr/>
        </p:nvSpPr>
        <p:spPr>
          <a:xfrm>
            <a:off x="502920" y="2377440"/>
            <a:ext cx="50292" cy="713232"/>
          </a:xfrm>
          <a:prstGeom prst="rect">
            <a:avLst/>
          </a:prstGeom>
          <a:solidFill>
            <a:srgbClr val="D8A73E"/>
          </a:solidFill>
          <a:ln/>
        </p:spPr>
      </p:sp>
      <p:sp>
        <p:nvSpPr>
          <p:cNvPr id="13" name="Text 11"/>
          <p:cNvSpPr txBox="1"/>
          <p:nvPr/>
        </p:nvSpPr>
        <p:spPr>
          <a:xfrm>
            <a:off x="722376" y="2377440"/>
            <a:ext cx="1353312" cy="71323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Frame</a:t>
            </a:r>
            <a:endParaRPr lang="en-US" sz="1200" dirty="0"/>
          </a:p>
        </p:txBody>
      </p:sp>
      <p:sp>
        <p:nvSpPr>
          <p:cNvPr id="14" name="Text 12"/>
          <p:cNvSpPr txBox="1"/>
          <p:nvPr/>
        </p:nvSpPr>
        <p:spPr>
          <a:xfrm>
            <a:off x="2404872" y="2377440"/>
            <a:ext cx="4791456"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State the goals of the study and define the system boundary — what is inside the thing being evaluated and what is environment.</a:t>
            </a:r>
            <a:endParaRPr lang="en-US" sz="1050" dirty="0"/>
          </a:p>
        </p:txBody>
      </p:sp>
      <p:sp>
        <p:nvSpPr>
          <p:cNvPr id="15" name="Text 13"/>
          <p:cNvSpPr txBox="1"/>
          <p:nvPr/>
        </p:nvSpPr>
        <p:spPr>
          <a:xfrm>
            <a:off x="7525512" y="2377440"/>
            <a:ext cx="3995928"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Evaluating a component while stating a conclusion about the whole system.</a:t>
            </a:r>
            <a:endParaRPr lang="en-US" sz="1050" dirty="0"/>
          </a:p>
        </p:txBody>
      </p:sp>
      <p:sp>
        <p:nvSpPr>
          <p:cNvPr id="16" name="Shape 14"/>
          <p:cNvSpPr/>
          <p:nvPr/>
        </p:nvSpPr>
        <p:spPr>
          <a:xfrm>
            <a:off x="502920" y="3145536"/>
            <a:ext cx="11183112" cy="713232"/>
          </a:xfrm>
          <a:prstGeom prst="rect">
            <a:avLst/>
          </a:prstGeom>
          <a:solidFill>
            <a:srgbClr val="FFFFFF"/>
          </a:solidFill>
          <a:ln/>
        </p:spPr>
      </p:sp>
      <p:sp>
        <p:nvSpPr>
          <p:cNvPr id="17" name="Shape 15"/>
          <p:cNvSpPr/>
          <p:nvPr/>
        </p:nvSpPr>
        <p:spPr>
          <a:xfrm>
            <a:off x="502920" y="3145536"/>
            <a:ext cx="50292" cy="713232"/>
          </a:xfrm>
          <a:prstGeom prst="rect">
            <a:avLst/>
          </a:prstGeom>
          <a:solidFill>
            <a:srgbClr val="3D6EA6"/>
          </a:solidFill>
          <a:ln/>
        </p:spPr>
      </p:sp>
      <p:sp>
        <p:nvSpPr>
          <p:cNvPr id="18" name="Text 16"/>
          <p:cNvSpPr txBox="1"/>
          <p:nvPr/>
        </p:nvSpPr>
        <p:spPr>
          <a:xfrm>
            <a:off x="722376" y="3145536"/>
            <a:ext cx="1353312" cy="71323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Specify</a:t>
            </a:r>
            <a:endParaRPr lang="en-US" sz="1200" dirty="0"/>
          </a:p>
        </p:txBody>
      </p:sp>
      <p:sp>
        <p:nvSpPr>
          <p:cNvPr id="19" name="Text 17"/>
          <p:cNvSpPr txBox="1"/>
          <p:nvPr/>
        </p:nvSpPr>
        <p:spPr>
          <a:xfrm>
            <a:off x="2404872" y="3145536"/>
            <a:ext cx="4791456"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List the services the system offers and their possible outcomes; then select the metrics that capture them.</a:t>
            </a:r>
            <a:endParaRPr lang="en-US" sz="1050" dirty="0"/>
          </a:p>
        </p:txBody>
      </p:sp>
      <p:sp>
        <p:nvSpPr>
          <p:cNvPr id="20" name="Text 18"/>
          <p:cNvSpPr txBox="1"/>
          <p:nvPr/>
        </p:nvSpPr>
        <p:spPr>
          <a:xfrm>
            <a:off x="7525512" y="3145536"/>
            <a:ext cx="3995928"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Choosing the metric after seeing which one flatters your system.</a:t>
            </a:r>
            <a:endParaRPr lang="en-US" sz="1050" dirty="0"/>
          </a:p>
        </p:txBody>
      </p:sp>
      <p:sp>
        <p:nvSpPr>
          <p:cNvPr id="21" name="Shape 19"/>
          <p:cNvSpPr/>
          <p:nvPr/>
        </p:nvSpPr>
        <p:spPr>
          <a:xfrm>
            <a:off x="502920" y="3913632"/>
            <a:ext cx="11183112" cy="713232"/>
          </a:xfrm>
          <a:prstGeom prst="rect">
            <a:avLst/>
          </a:prstGeom>
          <a:solidFill>
            <a:srgbClr val="F3F1FC"/>
          </a:solidFill>
          <a:ln/>
        </p:spPr>
      </p:sp>
      <p:sp>
        <p:nvSpPr>
          <p:cNvPr id="22" name="Shape 20"/>
          <p:cNvSpPr/>
          <p:nvPr/>
        </p:nvSpPr>
        <p:spPr>
          <a:xfrm>
            <a:off x="502920" y="3913632"/>
            <a:ext cx="50292" cy="713232"/>
          </a:xfrm>
          <a:prstGeom prst="rect">
            <a:avLst/>
          </a:prstGeom>
          <a:solidFill>
            <a:srgbClr val="D8A73E"/>
          </a:solidFill>
          <a:ln/>
        </p:spPr>
      </p:sp>
      <p:sp>
        <p:nvSpPr>
          <p:cNvPr id="23" name="Text 21"/>
          <p:cNvSpPr txBox="1"/>
          <p:nvPr/>
        </p:nvSpPr>
        <p:spPr>
          <a:xfrm>
            <a:off x="722376" y="3913632"/>
            <a:ext cx="1353312" cy="71323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Parameterise</a:t>
            </a:r>
            <a:endParaRPr lang="en-US" sz="1200" dirty="0"/>
          </a:p>
        </p:txBody>
      </p:sp>
      <p:sp>
        <p:nvSpPr>
          <p:cNvPr id="24" name="Text 22"/>
          <p:cNvSpPr txBox="1"/>
          <p:nvPr/>
        </p:nvSpPr>
        <p:spPr>
          <a:xfrm>
            <a:off x="2404872" y="3913632"/>
            <a:ext cx="4791456"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List system and workload parameters, then select the subset you will actually vary as factors.</a:t>
            </a:r>
            <a:endParaRPr lang="en-US" sz="1050" dirty="0"/>
          </a:p>
        </p:txBody>
      </p:sp>
      <p:sp>
        <p:nvSpPr>
          <p:cNvPr id="25" name="Text 23"/>
          <p:cNvSpPr txBox="1"/>
          <p:nvPr/>
        </p:nvSpPr>
        <p:spPr>
          <a:xfrm>
            <a:off x="7525512" y="3913632"/>
            <a:ext cx="3995928"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Varying whatever was easy to vary rather than what the outcome depends on.</a:t>
            </a:r>
            <a:endParaRPr lang="en-US" sz="1050" dirty="0"/>
          </a:p>
        </p:txBody>
      </p:sp>
      <p:sp>
        <p:nvSpPr>
          <p:cNvPr id="26" name="Shape 24"/>
          <p:cNvSpPr/>
          <p:nvPr/>
        </p:nvSpPr>
        <p:spPr>
          <a:xfrm>
            <a:off x="502920" y="4681728"/>
            <a:ext cx="11183112" cy="713232"/>
          </a:xfrm>
          <a:prstGeom prst="rect">
            <a:avLst/>
          </a:prstGeom>
          <a:solidFill>
            <a:srgbClr val="FFFFFF"/>
          </a:solidFill>
          <a:ln/>
        </p:spPr>
      </p:sp>
      <p:sp>
        <p:nvSpPr>
          <p:cNvPr id="27" name="Shape 25"/>
          <p:cNvSpPr/>
          <p:nvPr/>
        </p:nvSpPr>
        <p:spPr>
          <a:xfrm>
            <a:off x="502920" y="4681728"/>
            <a:ext cx="50292" cy="713232"/>
          </a:xfrm>
          <a:prstGeom prst="rect">
            <a:avLst/>
          </a:prstGeom>
          <a:solidFill>
            <a:srgbClr val="B4522B"/>
          </a:solidFill>
          <a:ln/>
        </p:spPr>
      </p:sp>
      <p:sp>
        <p:nvSpPr>
          <p:cNvPr id="28" name="Text 26"/>
          <p:cNvSpPr txBox="1"/>
          <p:nvPr/>
        </p:nvSpPr>
        <p:spPr>
          <a:xfrm>
            <a:off x="722376" y="4681728"/>
            <a:ext cx="1353312" cy="71323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Design</a:t>
            </a:r>
            <a:endParaRPr lang="en-US" sz="1200" dirty="0"/>
          </a:p>
        </p:txBody>
      </p:sp>
      <p:sp>
        <p:nvSpPr>
          <p:cNvPr id="29" name="Text 27"/>
          <p:cNvSpPr txBox="1"/>
          <p:nvPr/>
        </p:nvSpPr>
        <p:spPr>
          <a:xfrm>
            <a:off x="2404872" y="4681728"/>
            <a:ext cx="4791456"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Choose the evaluation technique, select the workload, and design the set of experiments to run.</a:t>
            </a:r>
            <a:endParaRPr lang="en-US" sz="1050" dirty="0"/>
          </a:p>
        </p:txBody>
      </p:sp>
      <p:sp>
        <p:nvSpPr>
          <p:cNvPr id="30" name="Text 28"/>
          <p:cNvSpPr txBox="1"/>
          <p:nvPr/>
        </p:nvSpPr>
        <p:spPr>
          <a:xfrm>
            <a:off x="7525512" y="4681728"/>
            <a:ext cx="3995928"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One-factor-at-a-time designs that cannot detect interactions.</a:t>
            </a:r>
            <a:endParaRPr lang="en-US" sz="1050" dirty="0"/>
          </a:p>
        </p:txBody>
      </p:sp>
      <p:sp>
        <p:nvSpPr>
          <p:cNvPr id="31" name="Shape 29"/>
          <p:cNvSpPr/>
          <p:nvPr/>
        </p:nvSpPr>
        <p:spPr>
          <a:xfrm>
            <a:off x="502920" y="5449824"/>
            <a:ext cx="11183112" cy="713232"/>
          </a:xfrm>
          <a:prstGeom prst="rect">
            <a:avLst/>
          </a:prstGeom>
          <a:solidFill>
            <a:srgbClr val="F3F1FC"/>
          </a:solidFill>
          <a:ln/>
        </p:spPr>
      </p:sp>
      <p:sp>
        <p:nvSpPr>
          <p:cNvPr id="32" name="Shape 30"/>
          <p:cNvSpPr/>
          <p:nvPr/>
        </p:nvSpPr>
        <p:spPr>
          <a:xfrm>
            <a:off x="502920" y="5449824"/>
            <a:ext cx="50292" cy="713232"/>
          </a:xfrm>
          <a:prstGeom prst="rect">
            <a:avLst/>
          </a:prstGeom>
          <a:solidFill>
            <a:srgbClr val="241A4C"/>
          </a:solidFill>
          <a:ln/>
        </p:spPr>
      </p:sp>
      <p:sp>
        <p:nvSpPr>
          <p:cNvPr id="33" name="Text 31"/>
          <p:cNvSpPr txBox="1"/>
          <p:nvPr/>
        </p:nvSpPr>
        <p:spPr>
          <a:xfrm>
            <a:off x="722376" y="5449824"/>
            <a:ext cx="1353312" cy="71323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Execute and report</a:t>
            </a:r>
            <a:endParaRPr lang="en-US" sz="1200" dirty="0"/>
          </a:p>
        </p:txBody>
      </p:sp>
      <p:sp>
        <p:nvSpPr>
          <p:cNvPr id="34" name="Text 32"/>
          <p:cNvSpPr txBox="1"/>
          <p:nvPr/>
        </p:nvSpPr>
        <p:spPr>
          <a:xfrm>
            <a:off x="2404872" y="5449824"/>
            <a:ext cx="4791456"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Run, analyse, interpret — then present the data in a form a reader can check.</a:t>
            </a:r>
            <a:endParaRPr lang="en-US" sz="1050" dirty="0"/>
          </a:p>
        </p:txBody>
      </p:sp>
      <p:sp>
        <p:nvSpPr>
          <p:cNvPr id="35" name="Text 33"/>
          <p:cNvSpPr txBox="1"/>
          <p:nvPr/>
        </p:nvSpPr>
        <p:spPr>
          <a:xfrm>
            <a:off x="7525512" y="5449824"/>
            <a:ext cx="3995928"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Reporting a mean with no dispersion, no baseline detail, and no statement of scope.</a:t>
            </a:r>
            <a:endParaRPr lang="en-US" sz="1050" dirty="0"/>
          </a:p>
        </p:txBody>
      </p:sp>
      <p:sp>
        <p:nvSpPr>
          <p:cNvPr id="36" name="Text 34"/>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Notice that eight of the ten steps happen before any measurement is taken. That ordering is not bureaucratic: it is what makes the result falsifiable, exactly as in Lecture 2's five-stage empirical anatomy.</a:t>
            </a:r>
            <a:endParaRPr lang="en-US" sz="1150" dirty="0"/>
          </a:p>
        </p:txBody>
      </p:sp>
      <p:sp>
        <p:nvSpPr>
          <p:cNvPr id="37" name="Text 3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38" name="Text 3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4 / 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53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1535"/>
          </a:solidFill>
          <a:ln/>
        </p:spPr>
      </p:sp>
      <p:sp>
        <p:nvSpPr>
          <p:cNvPr id="3" name="Text 1"/>
          <p:cNvSpPr txBox="1"/>
          <p:nvPr/>
        </p:nvSpPr>
        <p:spPr>
          <a:xfrm>
            <a:off x="804672" y="1920240"/>
            <a:ext cx="7315200" cy="256032"/>
          </a:xfrm>
          <a:prstGeom prst="rect">
            <a:avLst/>
          </a:prstGeom>
          <a:noFill/>
          <a:ln/>
        </p:spPr>
        <p:txBody>
          <a:bodyPr wrap="square" lIns="0" tIns="0" rIns="0" bIns="0" rtlCol="0" anchor="ctr"/>
          <a:lstStyle/>
          <a:p>
            <a:pPr indent="0" marL="0">
              <a:buNone/>
            </a:pPr>
            <a:r>
              <a:rPr lang="en-US" sz="1100" b="1" spc="200" kern="0" dirty="0">
                <a:solidFill>
                  <a:srgbClr val="D8A73E"/>
                </a:solidFill>
                <a:latin typeface="Calibri" pitchFamily="34" charset="0"/>
                <a:ea typeface="Calibri" pitchFamily="34" charset="-122"/>
                <a:cs typeface="Calibri" pitchFamily="34" charset="-120"/>
              </a:rPr>
              <a:t>PART 1  →  PART 2</a:t>
            </a:r>
            <a:endParaRPr lang="en-US" sz="1100" dirty="0"/>
          </a:p>
        </p:txBody>
      </p:sp>
      <p:sp>
        <p:nvSpPr>
          <p:cNvPr id="4" name="Text 2"/>
          <p:cNvSpPr txBox="1"/>
          <p:nvPr/>
        </p:nvSpPr>
        <p:spPr>
          <a:xfrm>
            <a:off x="768096" y="2395728"/>
            <a:ext cx="9875520" cy="1280160"/>
          </a:xfrm>
          <a:prstGeom prst="rect">
            <a:avLst/>
          </a:prstGeom>
          <a:noFill/>
          <a:ln/>
        </p:spPr>
        <p:txBody>
          <a:bodyPr wrap="square" lIns="0" tIns="0" rIns="0" bIns="0" rtlCol="0" anchor="ctr"/>
          <a:lstStyle/>
          <a:p>
            <a:pPr indent="0" marL="0">
              <a:lnSpc>
                <a:spcPct val="110000"/>
              </a:lnSpc>
              <a:buNone/>
            </a:pPr>
            <a:r>
              <a:rPr lang="en-US" sz="3100" b="1" dirty="0">
                <a:solidFill>
                  <a:srgbClr val="FFFFFF"/>
                </a:solidFill>
                <a:latin typeface="Cambria" pitchFamily="34" charset="0"/>
                <a:ea typeface="Cambria" pitchFamily="34" charset="-122"/>
                <a:cs typeface="Cambria" pitchFamily="34" charset="-120"/>
              </a:rPr>
              <a:t>From the procedure</a:t>
            </a:r>
            <a:endParaRPr lang="en-US" sz="3100" dirty="0"/>
          </a:p>
          <a:p>
            <a:pPr indent="0" marL="0">
              <a:lnSpc>
                <a:spcPct val="110000"/>
              </a:lnSpc>
              <a:buNone/>
            </a:pPr>
            <a:r>
              <a:rPr lang="en-US" sz="3100" b="1" dirty="0">
                <a:solidFill>
                  <a:srgbClr val="FFFFFF"/>
                </a:solidFill>
                <a:latin typeface="Cambria" pitchFamily="34" charset="0"/>
                <a:ea typeface="Cambria" pitchFamily="34" charset="-122"/>
                <a:cs typeface="Cambria" pitchFamily="34" charset="-120"/>
              </a:rPr>
              <a:t>to the two choices that decide the answer</a:t>
            </a:r>
            <a:endParaRPr lang="en-US" sz="3100" dirty="0"/>
          </a:p>
        </p:txBody>
      </p:sp>
      <p:sp>
        <p:nvSpPr>
          <p:cNvPr id="5" name="Text 3"/>
          <p:cNvSpPr txBox="1"/>
          <p:nvPr/>
        </p:nvSpPr>
        <p:spPr>
          <a:xfrm>
            <a:off x="804672" y="3877056"/>
            <a:ext cx="8412480" cy="658368"/>
          </a:xfrm>
          <a:prstGeom prst="rect">
            <a:avLst/>
          </a:prstGeom>
          <a:noFill/>
          <a:ln/>
        </p:spPr>
        <p:txBody>
          <a:bodyPr wrap="square" lIns="0" tIns="0" rIns="0" bIns="0" rtlCol="0" anchor="t"/>
          <a:lstStyle/>
          <a:p>
            <a:pPr indent="0" marL="0">
              <a:lnSpc>
                <a:spcPct val="125000"/>
              </a:lnSpc>
              <a:buNone/>
            </a:pPr>
            <a:r>
              <a:rPr lang="en-US" sz="1400" i="1" dirty="0">
                <a:solidFill>
                  <a:srgbClr val="E4DFFA"/>
                </a:solidFill>
                <a:latin typeface="Cambria" pitchFamily="34" charset="0"/>
                <a:ea typeface="Cambria" pitchFamily="34" charset="-122"/>
                <a:cs typeface="Cambria" pitchFamily="34" charset="-120"/>
              </a:rPr>
              <a:t>Before a single measurement is taken, two decisions have already fixed what the study can conclude: which metric, and which workload.</a:t>
            </a:r>
            <a:endParaRPr lang="en-US" sz="1400" dirty="0"/>
          </a:p>
        </p:txBody>
      </p:sp>
      <p:sp>
        <p:nvSpPr>
          <p:cNvPr id="6" name="Text 4"/>
          <p:cNvSpPr txBox="1"/>
          <p:nvPr/>
        </p:nvSpPr>
        <p:spPr>
          <a:xfrm>
            <a:off x="804672" y="4828032"/>
            <a:ext cx="8412480" cy="274320"/>
          </a:xfrm>
          <a:prstGeom prst="rect">
            <a:avLst/>
          </a:prstGeom>
          <a:noFill/>
          <a:ln/>
        </p:spPr>
        <p:txBody>
          <a:bodyPr wrap="square" lIns="0" tIns="0" rIns="0" bIns="0" rtlCol="0" anchor="ctr"/>
          <a:lstStyle/>
          <a:p>
            <a:pPr indent="0" marL="0">
              <a:buNone/>
            </a:pPr>
            <a:r>
              <a:rPr lang="en-US" sz="1100" dirty="0">
                <a:solidFill>
                  <a:srgbClr val="D8A73E"/>
                </a:solidFill>
                <a:latin typeface="Calibri" pitchFamily="34" charset="0"/>
                <a:ea typeface="Calibri" pitchFamily="34" charset="-122"/>
                <a:cs typeface="Calibri" pitchFamily="34" charset="-120"/>
              </a:rPr>
              <a:t>Next: metrics, summary statistics, the tail, and workload characterisation.</a:t>
            </a:r>
            <a:endParaRPr lang="en-US" sz="1100" dirty="0"/>
          </a:p>
        </p:txBody>
      </p:sp>
      <p:sp>
        <p:nvSpPr>
          <p:cNvPr id="7" name="Text 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6E688F"/>
                </a:solidFill>
                <a:latin typeface="Calibri" pitchFamily="34" charset="0"/>
                <a:ea typeface="Calibri" pitchFamily="34" charset="-122"/>
                <a:cs typeface="Calibri" pitchFamily="34" charset="-120"/>
              </a:rPr>
              <a:t>PERFORMANCE ESTIMATION &amp; EVALUATION</a:t>
            </a:r>
            <a:endParaRPr lang="en-US" sz="800" dirty="0"/>
          </a:p>
        </p:txBody>
      </p:sp>
      <p:sp>
        <p:nvSpPr>
          <p:cNvPr id="8" name="Text 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6E688F"/>
                </a:solidFill>
                <a:latin typeface="Calibri" pitchFamily="34" charset="0"/>
                <a:ea typeface="Calibri" pitchFamily="34" charset="-122"/>
                <a:cs typeface="Calibri" pitchFamily="34" charset="-120"/>
              </a:rPr>
              <a:t>5 / 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METRICS AND WORKLOADS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Choosing the Right Metric</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Four families. The first two answer different questions and are routinely traded against each other, which is why reporting only one is rarely honest.</a:t>
            </a:r>
            <a:endParaRPr lang="en-US" sz="1250" dirty="0"/>
          </a:p>
        </p:txBody>
      </p:sp>
      <p:sp>
        <p:nvSpPr>
          <p:cNvPr id="5" name="Shape 3"/>
          <p:cNvSpPr/>
          <p:nvPr/>
        </p:nvSpPr>
        <p:spPr>
          <a:xfrm>
            <a:off x="502920" y="1938528"/>
            <a:ext cx="2624328" cy="3310128"/>
          </a:xfrm>
          <a:prstGeom prst="roundRect">
            <a:avLst>
              <a:gd name="adj" fmla="val 1742"/>
            </a:avLst>
          </a:prstGeom>
          <a:solidFill>
            <a:srgbClr val="F3F1FC"/>
          </a:solidFill>
          <a:ln/>
        </p:spPr>
      </p:sp>
      <p:sp>
        <p:nvSpPr>
          <p:cNvPr id="6" name="Text 4"/>
          <p:cNvSpPr txBox="1"/>
          <p:nvPr/>
        </p:nvSpPr>
        <p:spPr>
          <a:xfrm>
            <a:off x="740664" y="2157984"/>
            <a:ext cx="2148840" cy="201168"/>
          </a:xfrm>
          <a:prstGeom prst="rect">
            <a:avLst/>
          </a:prstGeom>
          <a:noFill/>
          <a:ln/>
        </p:spPr>
        <p:txBody>
          <a:bodyPr wrap="square" lIns="0" tIns="0" rIns="0" bIns="0" rtlCol="0" anchor="ctr"/>
          <a:lstStyle/>
          <a:p>
            <a:pPr indent="0" marL="0">
              <a:buNone/>
            </a:pPr>
            <a:r>
              <a:rPr lang="en-US" sz="800" b="1" spc="120" kern="0" dirty="0">
                <a:solidFill>
                  <a:srgbClr val="3D6EA6"/>
                </a:solidFill>
                <a:latin typeface="Calibri" pitchFamily="34" charset="0"/>
                <a:ea typeface="Calibri" pitchFamily="34" charset="-122"/>
                <a:cs typeface="Calibri" pitchFamily="34" charset="-120"/>
              </a:rPr>
              <a:t>METRIC 1</a:t>
            </a:r>
            <a:endParaRPr lang="en-US" sz="800" dirty="0"/>
          </a:p>
        </p:txBody>
      </p:sp>
      <p:sp>
        <p:nvSpPr>
          <p:cNvPr id="7" name="Text 5"/>
          <p:cNvSpPr txBox="1"/>
          <p:nvPr/>
        </p:nvSpPr>
        <p:spPr>
          <a:xfrm>
            <a:off x="740664"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Response time</a:t>
            </a:r>
            <a:endParaRPr lang="en-US" sz="1550" dirty="0"/>
          </a:p>
        </p:txBody>
      </p:sp>
      <p:sp>
        <p:nvSpPr>
          <p:cNvPr id="8" name="Text 6"/>
          <p:cNvSpPr txBox="1"/>
          <p:nvPr/>
        </p:nvSpPr>
        <p:spPr>
          <a:xfrm>
            <a:off x="740664"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Time from request to completion. Smaller is better.</a:t>
            </a:r>
            <a:endParaRPr lang="en-US" sz="1100" dirty="0"/>
          </a:p>
        </p:txBody>
      </p:sp>
      <p:sp>
        <p:nvSpPr>
          <p:cNvPr id="9" name="Text 7"/>
          <p:cNvSpPr txBox="1"/>
          <p:nvPr/>
        </p:nvSpPr>
        <p:spPr>
          <a:xfrm>
            <a:off x="740664"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WHAT TO WATCH</a:t>
            </a:r>
            <a:endParaRPr lang="en-US" sz="750" dirty="0"/>
          </a:p>
        </p:txBody>
      </p:sp>
      <p:sp>
        <p:nvSpPr>
          <p:cNvPr id="10" name="Text 8"/>
          <p:cNvSpPr txBox="1"/>
          <p:nvPr/>
        </p:nvSpPr>
        <p:spPr>
          <a:xfrm>
            <a:off x="740664"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3D6EA6"/>
                </a:solidFill>
                <a:latin typeface="Calibri" pitchFamily="34" charset="0"/>
                <a:ea typeface="Calibri" pitchFamily="34" charset="-122"/>
                <a:cs typeface="Calibri" pitchFamily="34" charset="-120"/>
              </a:rPr>
              <a:t>What a user experiences. Must be reported as a distribution: a mean response time describes almost nobody's actual experience.</a:t>
            </a:r>
            <a:endParaRPr lang="en-US" sz="1000" dirty="0"/>
          </a:p>
        </p:txBody>
      </p:sp>
      <p:sp>
        <p:nvSpPr>
          <p:cNvPr id="11" name="Shape 9"/>
          <p:cNvSpPr/>
          <p:nvPr/>
        </p:nvSpPr>
        <p:spPr>
          <a:xfrm>
            <a:off x="3355848" y="1938528"/>
            <a:ext cx="2624328" cy="3310128"/>
          </a:xfrm>
          <a:prstGeom prst="roundRect">
            <a:avLst>
              <a:gd name="adj" fmla="val 1742"/>
            </a:avLst>
          </a:prstGeom>
          <a:solidFill>
            <a:srgbClr val="F3F1FC"/>
          </a:solidFill>
          <a:ln/>
        </p:spPr>
      </p:sp>
      <p:sp>
        <p:nvSpPr>
          <p:cNvPr id="12" name="Text 10"/>
          <p:cNvSpPr txBox="1"/>
          <p:nvPr/>
        </p:nvSpPr>
        <p:spPr>
          <a:xfrm>
            <a:off x="3593592" y="2157984"/>
            <a:ext cx="2148840" cy="201168"/>
          </a:xfrm>
          <a:prstGeom prst="rect">
            <a:avLst/>
          </a:prstGeom>
          <a:noFill/>
          <a:ln/>
        </p:spPr>
        <p:txBody>
          <a:bodyPr wrap="square" lIns="0" tIns="0" rIns="0" bIns="0" rtlCol="0" anchor="ctr"/>
          <a:lstStyle/>
          <a:p>
            <a:pPr indent="0" marL="0">
              <a:buNone/>
            </a:pPr>
            <a:r>
              <a:rPr lang="en-US" sz="800" b="1" spc="120" kern="0" dirty="0">
                <a:solidFill>
                  <a:srgbClr val="B4522B"/>
                </a:solidFill>
                <a:latin typeface="Calibri" pitchFamily="34" charset="0"/>
                <a:ea typeface="Calibri" pitchFamily="34" charset="-122"/>
                <a:cs typeface="Calibri" pitchFamily="34" charset="-120"/>
              </a:rPr>
              <a:t>METRIC 2</a:t>
            </a:r>
            <a:endParaRPr lang="en-US" sz="800" dirty="0"/>
          </a:p>
        </p:txBody>
      </p:sp>
      <p:sp>
        <p:nvSpPr>
          <p:cNvPr id="13" name="Text 11"/>
          <p:cNvSpPr txBox="1"/>
          <p:nvPr/>
        </p:nvSpPr>
        <p:spPr>
          <a:xfrm>
            <a:off x="3593592"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Throughput</a:t>
            </a:r>
            <a:endParaRPr lang="en-US" sz="1550" dirty="0"/>
          </a:p>
        </p:txBody>
      </p:sp>
      <p:sp>
        <p:nvSpPr>
          <p:cNvPr id="14" name="Text 12"/>
          <p:cNvSpPr txBox="1"/>
          <p:nvPr/>
        </p:nvSpPr>
        <p:spPr>
          <a:xfrm>
            <a:off x="3593592"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Work completed per unit time. Larger is better.</a:t>
            </a:r>
            <a:endParaRPr lang="en-US" sz="1100" dirty="0"/>
          </a:p>
        </p:txBody>
      </p:sp>
      <p:sp>
        <p:nvSpPr>
          <p:cNvPr id="15" name="Text 13"/>
          <p:cNvSpPr txBox="1"/>
          <p:nvPr/>
        </p:nvSpPr>
        <p:spPr>
          <a:xfrm>
            <a:off x="3593592"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WHAT TO WATCH</a:t>
            </a:r>
            <a:endParaRPr lang="en-US" sz="750" dirty="0"/>
          </a:p>
        </p:txBody>
      </p:sp>
      <p:sp>
        <p:nvSpPr>
          <p:cNvPr id="16" name="Text 14"/>
          <p:cNvSpPr txBox="1"/>
          <p:nvPr/>
        </p:nvSpPr>
        <p:spPr>
          <a:xfrm>
            <a:off x="3593592"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4522B"/>
                </a:solidFill>
                <a:latin typeface="Calibri" pitchFamily="34" charset="0"/>
                <a:ea typeface="Calibri" pitchFamily="34" charset="-122"/>
                <a:cs typeface="Calibri" pitchFamily="34" charset="-120"/>
              </a:rPr>
              <a:t>What an operator cares about. Meaningless unless you state the offered load at which it was measured — throughput at saturation is a different claim.</a:t>
            </a:r>
            <a:endParaRPr lang="en-US" sz="1000" dirty="0"/>
          </a:p>
        </p:txBody>
      </p:sp>
      <p:sp>
        <p:nvSpPr>
          <p:cNvPr id="17" name="Shape 15"/>
          <p:cNvSpPr/>
          <p:nvPr/>
        </p:nvSpPr>
        <p:spPr>
          <a:xfrm>
            <a:off x="6208776" y="1938528"/>
            <a:ext cx="2624328" cy="3310128"/>
          </a:xfrm>
          <a:prstGeom prst="roundRect">
            <a:avLst>
              <a:gd name="adj" fmla="val 1742"/>
            </a:avLst>
          </a:prstGeom>
          <a:solidFill>
            <a:srgbClr val="F3F1FC"/>
          </a:solidFill>
          <a:ln/>
        </p:spPr>
      </p:sp>
      <p:sp>
        <p:nvSpPr>
          <p:cNvPr id="18" name="Text 16"/>
          <p:cNvSpPr txBox="1"/>
          <p:nvPr/>
        </p:nvSpPr>
        <p:spPr>
          <a:xfrm>
            <a:off x="6446520" y="2157984"/>
            <a:ext cx="2148840" cy="201168"/>
          </a:xfrm>
          <a:prstGeom prst="rect">
            <a:avLst/>
          </a:prstGeom>
          <a:noFill/>
          <a:ln/>
        </p:spPr>
        <p:txBody>
          <a:bodyPr wrap="square" lIns="0" tIns="0" rIns="0" bIns="0" rtlCol="0" anchor="ctr"/>
          <a:lstStyle/>
          <a:p>
            <a:pPr indent="0" marL="0">
              <a:buNone/>
            </a:pPr>
            <a:r>
              <a:rPr lang="en-US" sz="800" b="1" spc="120" kern="0" dirty="0">
                <a:solidFill>
                  <a:srgbClr val="B08C3A"/>
                </a:solidFill>
                <a:latin typeface="Calibri" pitchFamily="34" charset="0"/>
                <a:ea typeface="Calibri" pitchFamily="34" charset="-122"/>
                <a:cs typeface="Calibri" pitchFamily="34" charset="-120"/>
              </a:rPr>
              <a:t>METRIC 3</a:t>
            </a:r>
            <a:endParaRPr lang="en-US" sz="800" dirty="0"/>
          </a:p>
        </p:txBody>
      </p:sp>
      <p:sp>
        <p:nvSpPr>
          <p:cNvPr id="19" name="Text 17"/>
          <p:cNvSpPr txBox="1"/>
          <p:nvPr/>
        </p:nvSpPr>
        <p:spPr>
          <a:xfrm>
            <a:off x="6446520"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Utilisation</a:t>
            </a:r>
            <a:endParaRPr lang="en-US" sz="1550" dirty="0"/>
          </a:p>
        </p:txBody>
      </p:sp>
      <p:sp>
        <p:nvSpPr>
          <p:cNvPr id="20" name="Text 18"/>
          <p:cNvSpPr txBox="1"/>
          <p:nvPr/>
        </p:nvSpPr>
        <p:spPr>
          <a:xfrm>
            <a:off x="6446520"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Fraction of time a resource is busy. Neither better nor worse.</a:t>
            </a:r>
            <a:endParaRPr lang="en-US" sz="1100" dirty="0"/>
          </a:p>
        </p:txBody>
      </p:sp>
      <p:sp>
        <p:nvSpPr>
          <p:cNvPr id="21" name="Text 19"/>
          <p:cNvSpPr txBox="1"/>
          <p:nvPr/>
        </p:nvSpPr>
        <p:spPr>
          <a:xfrm>
            <a:off x="6446520"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WHAT TO WATCH</a:t>
            </a:r>
            <a:endParaRPr lang="en-US" sz="750" dirty="0"/>
          </a:p>
        </p:txBody>
      </p:sp>
      <p:sp>
        <p:nvSpPr>
          <p:cNvPr id="22" name="Text 20"/>
          <p:cNvSpPr txBox="1"/>
          <p:nvPr/>
        </p:nvSpPr>
        <p:spPr>
          <a:xfrm>
            <a:off x="6446520"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08C3A"/>
                </a:solidFill>
                <a:latin typeface="Calibri" pitchFamily="34" charset="0"/>
                <a:ea typeface="Calibri" pitchFamily="34" charset="-122"/>
                <a:cs typeface="Calibri" pitchFamily="34" charset="-120"/>
              </a:rPr>
              <a:t>A diagnostic, not an objective. A device at 100% utilisation is a bottleneck, not an achievement — and Lecture 5's laws let you compute it.</a:t>
            </a:r>
            <a:endParaRPr lang="en-US" sz="1000" dirty="0"/>
          </a:p>
        </p:txBody>
      </p:sp>
      <p:sp>
        <p:nvSpPr>
          <p:cNvPr id="23" name="Shape 21"/>
          <p:cNvSpPr/>
          <p:nvPr/>
        </p:nvSpPr>
        <p:spPr>
          <a:xfrm>
            <a:off x="9061704" y="1938528"/>
            <a:ext cx="2624328" cy="3310128"/>
          </a:xfrm>
          <a:prstGeom prst="roundRect">
            <a:avLst>
              <a:gd name="adj" fmla="val 1742"/>
            </a:avLst>
          </a:prstGeom>
          <a:solidFill>
            <a:srgbClr val="F3F1FC"/>
          </a:solidFill>
          <a:ln/>
        </p:spPr>
      </p:sp>
      <p:sp>
        <p:nvSpPr>
          <p:cNvPr id="24" name="Text 22"/>
          <p:cNvSpPr txBox="1"/>
          <p:nvPr/>
        </p:nvSpPr>
        <p:spPr>
          <a:xfrm>
            <a:off x="9299448" y="2157984"/>
            <a:ext cx="2148840" cy="201168"/>
          </a:xfrm>
          <a:prstGeom prst="rect">
            <a:avLst/>
          </a:prstGeom>
          <a:noFill/>
          <a:ln/>
        </p:spPr>
        <p:txBody>
          <a:bodyPr wrap="square" lIns="0" tIns="0" rIns="0" bIns="0" rtlCol="0" anchor="ctr"/>
          <a:lstStyle/>
          <a:p>
            <a:pPr indent="0" marL="0">
              <a:buNone/>
            </a:pPr>
            <a:r>
              <a:rPr lang="en-US" sz="800" b="1" spc="120" kern="0" dirty="0">
                <a:solidFill>
                  <a:srgbClr val="241A4C"/>
                </a:solidFill>
                <a:latin typeface="Calibri" pitchFamily="34" charset="0"/>
                <a:ea typeface="Calibri" pitchFamily="34" charset="-122"/>
                <a:cs typeface="Calibri" pitchFamily="34" charset="-120"/>
              </a:rPr>
              <a:t>METRIC 4</a:t>
            </a:r>
            <a:endParaRPr lang="en-US" sz="800" dirty="0"/>
          </a:p>
        </p:txBody>
      </p:sp>
      <p:sp>
        <p:nvSpPr>
          <p:cNvPr id="25" name="Text 23"/>
          <p:cNvSpPr txBox="1"/>
          <p:nvPr/>
        </p:nvSpPr>
        <p:spPr>
          <a:xfrm>
            <a:off x="9299448"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Cost and error</a:t>
            </a:r>
            <a:endParaRPr lang="en-US" sz="1550" dirty="0"/>
          </a:p>
        </p:txBody>
      </p:sp>
      <p:sp>
        <p:nvSpPr>
          <p:cNvPr id="26" name="Text 24"/>
          <p:cNvSpPr txBox="1"/>
          <p:nvPr/>
        </p:nvSpPr>
        <p:spPr>
          <a:xfrm>
            <a:off x="9299448"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Energy per operation, cost per transaction, failure and deadline-miss rates.</a:t>
            </a:r>
            <a:endParaRPr lang="en-US" sz="1100" dirty="0"/>
          </a:p>
        </p:txBody>
      </p:sp>
      <p:sp>
        <p:nvSpPr>
          <p:cNvPr id="27" name="Text 25"/>
          <p:cNvSpPr txBox="1"/>
          <p:nvPr/>
        </p:nvSpPr>
        <p:spPr>
          <a:xfrm>
            <a:off x="9299448"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WHAT TO WATCH</a:t>
            </a:r>
            <a:endParaRPr lang="en-US" sz="750" dirty="0"/>
          </a:p>
        </p:txBody>
      </p:sp>
      <p:sp>
        <p:nvSpPr>
          <p:cNvPr id="28" name="Text 26"/>
          <p:cNvSpPr txBox="1"/>
          <p:nvPr/>
        </p:nvSpPr>
        <p:spPr>
          <a:xfrm>
            <a:off x="9299448"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241A4C"/>
                </a:solidFill>
                <a:latin typeface="Calibri" pitchFamily="34" charset="0"/>
                <a:ea typeface="Calibri" pitchFamily="34" charset="-122"/>
                <a:cs typeface="Calibri" pitchFamily="34" charset="-120"/>
              </a:rPr>
              <a:t>Increasingly the metrics that decide real deployments, and the ones academic evaluations most often leave out entirely.</a:t>
            </a:r>
            <a:endParaRPr lang="en-US" sz="1000" dirty="0"/>
          </a:p>
        </p:txBody>
      </p:sp>
      <p:sp>
        <p:nvSpPr>
          <p:cNvPr id="29" name="Text 27"/>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Batching improves throughput and worsens tail latency. Whenever a mechanism trades one metric for another, report both — otherwise the improvement you show is being paid for off-screen.</a:t>
            </a:r>
            <a:endParaRPr lang="en-US" sz="1150" dirty="0"/>
          </a:p>
        </p:txBody>
      </p:sp>
      <p:sp>
        <p:nvSpPr>
          <p:cNvPr id="30" name="Text 28"/>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31" name="Text 29"/>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6 / 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METRICS AND WORKLOADS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Which Mean Are You Taking?</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The summary statistic is a methodological choice, not a formatting one. Choosing the wrong one can name the losing system as the winner — as the next slide demonstrates with numbers.</a:t>
            </a:r>
            <a:endParaRPr lang="en-US" sz="1250" dirty="0"/>
          </a:p>
        </p:txBody>
      </p:sp>
      <p:sp>
        <p:nvSpPr>
          <p:cNvPr id="5" name="Shape 3"/>
          <p:cNvSpPr/>
          <p:nvPr/>
        </p:nvSpPr>
        <p:spPr>
          <a:xfrm>
            <a:off x="502920" y="1938528"/>
            <a:ext cx="1691640" cy="384048"/>
          </a:xfrm>
          <a:prstGeom prst="rect">
            <a:avLst/>
          </a:prstGeom>
          <a:solidFill>
            <a:srgbClr val="241A4C"/>
          </a:solidFill>
          <a:ln w="19050">
            <a:solidFill>
              <a:srgbClr val="FFFFFF"/>
            </a:solidFill>
            <a:prstDash val="solid"/>
          </a:ln>
        </p:spPr>
      </p:sp>
      <p:sp>
        <p:nvSpPr>
          <p:cNvPr id="6" name="Text 4"/>
          <p:cNvSpPr txBox="1"/>
          <p:nvPr/>
        </p:nvSpPr>
        <p:spPr>
          <a:xfrm>
            <a:off x="649224" y="1938528"/>
            <a:ext cx="139903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STATISTIC</a:t>
            </a:r>
            <a:endParaRPr lang="en-US" sz="850" dirty="0"/>
          </a:p>
        </p:txBody>
      </p:sp>
      <p:sp>
        <p:nvSpPr>
          <p:cNvPr id="7" name="Shape 5"/>
          <p:cNvSpPr/>
          <p:nvPr/>
        </p:nvSpPr>
        <p:spPr>
          <a:xfrm>
            <a:off x="2194560" y="1938528"/>
            <a:ext cx="2743200" cy="384048"/>
          </a:xfrm>
          <a:prstGeom prst="rect">
            <a:avLst/>
          </a:prstGeom>
          <a:solidFill>
            <a:srgbClr val="241A4C"/>
          </a:solidFill>
          <a:ln w="19050">
            <a:solidFill>
              <a:srgbClr val="FFFFFF"/>
            </a:solidFill>
            <a:prstDash val="solid"/>
          </a:ln>
        </p:spPr>
      </p:sp>
      <p:sp>
        <p:nvSpPr>
          <p:cNvPr id="8" name="Text 6"/>
          <p:cNvSpPr txBox="1"/>
          <p:nvPr/>
        </p:nvSpPr>
        <p:spPr>
          <a:xfrm>
            <a:off x="2340864" y="1938528"/>
            <a:ext cx="245059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WHAT IT COMPUTES</a:t>
            </a:r>
            <a:endParaRPr lang="en-US" sz="850" dirty="0"/>
          </a:p>
        </p:txBody>
      </p:sp>
      <p:sp>
        <p:nvSpPr>
          <p:cNvPr id="9" name="Shape 7"/>
          <p:cNvSpPr/>
          <p:nvPr/>
        </p:nvSpPr>
        <p:spPr>
          <a:xfrm>
            <a:off x="4937760" y="1938528"/>
            <a:ext cx="3474720" cy="384048"/>
          </a:xfrm>
          <a:prstGeom prst="rect">
            <a:avLst/>
          </a:prstGeom>
          <a:solidFill>
            <a:srgbClr val="241A4C"/>
          </a:solidFill>
          <a:ln w="19050">
            <a:solidFill>
              <a:srgbClr val="FFFFFF"/>
            </a:solidFill>
            <a:prstDash val="solid"/>
          </a:ln>
        </p:spPr>
      </p:sp>
      <p:sp>
        <p:nvSpPr>
          <p:cNvPr id="10" name="Text 8"/>
          <p:cNvSpPr txBox="1"/>
          <p:nvPr/>
        </p:nvSpPr>
        <p:spPr>
          <a:xfrm>
            <a:off x="5084064" y="1938528"/>
            <a:ext cx="318211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USE IT FOR</a:t>
            </a:r>
            <a:endParaRPr lang="en-US" sz="850" dirty="0"/>
          </a:p>
        </p:txBody>
      </p:sp>
      <p:sp>
        <p:nvSpPr>
          <p:cNvPr id="11" name="Shape 9"/>
          <p:cNvSpPr/>
          <p:nvPr/>
        </p:nvSpPr>
        <p:spPr>
          <a:xfrm>
            <a:off x="8412480" y="1938528"/>
            <a:ext cx="3273552" cy="384048"/>
          </a:xfrm>
          <a:prstGeom prst="rect">
            <a:avLst/>
          </a:prstGeom>
          <a:solidFill>
            <a:srgbClr val="241A4C"/>
          </a:solidFill>
          <a:ln w="19050">
            <a:solidFill>
              <a:srgbClr val="FFFFFF"/>
            </a:solidFill>
            <a:prstDash val="solid"/>
          </a:ln>
        </p:spPr>
      </p:sp>
      <p:sp>
        <p:nvSpPr>
          <p:cNvPr id="12" name="Text 10"/>
          <p:cNvSpPr txBox="1"/>
          <p:nvPr/>
        </p:nvSpPr>
        <p:spPr>
          <a:xfrm>
            <a:off x="8558784" y="1938528"/>
            <a:ext cx="298094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USING IT WRONGLY GIVES</a:t>
            </a:r>
            <a:endParaRPr lang="en-US" sz="850" dirty="0"/>
          </a:p>
        </p:txBody>
      </p:sp>
      <p:sp>
        <p:nvSpPr>
          <p:cNvPr id="13" name="Shape 11"/>
          <p:cNvSpPr/>
          <p:nvPr/>
        </p:nvSpPr>
        <p:spPr>
          <a:xfrm>
            <a:off x="502920" y="2377440"/>
            <a:ext cx="11183112" cy="713232"/>
          </a:xfrm>
          <a:prstGeom prst="rect">
            <a:avLst/>
          </a:prstGeom>
          <a:solidFill>
            <a:srgbClr val="F3F1FC"/>
          </a:solidFill>
          <a:ln/>
        </p:spPr>
      </p:sp>
      <p:sp>
        <p:nvSpPr>
          <p:cNvPr id="14" name="Shape 12"/>
          <p:cNvSpPr/>
          <p:nvPr/>
        </p:nvSpPr>
        <p:spPr>
          <a:xfrm>
            <a:off x="502920" y="2377440"/>
            <a:ext cx="50292" cy="713232"/>
          </a:xfrm>
          <a:prstGeom prst="rect">
            <a:avLst/>
          </a:prstGeom>
          <a:solidFill>
            <a:srgbClr val="3D6EA6"/>
          </a:solidFill>
          <a:ln/>
        </p:spPr>
      </p:sp>
      <p:sp>
        <p:nvSpPr>
          <p:cNvPr id="15" name="Text 13"/>
          <p:cNvSpPr txBox="1"/>
          <p:nvPr/>
        </p:nvSpPr>
        <p:spPr>
          <a:xfrm>
            <a:off x="722376" y="2377440"/>
            <a:ext cx="1307592" cy="71323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Arithmetic</a:t>
            </a:r>
            <a:endParaRPr lang="en-US" sz="1200" dirty="0"/>
          </a:p>
        </p:txBody>
      </p:sp>
      <p:sp>
        <p:nvSpPr>
          <p:cNvPr id="16" name="Text 14"/>
          <p:cNvSpPr txBox="1"/>
          <p:nvPr/>
        </p:nvSpPr>
        <p:spPr>
          <a:xfrm>
            <a:off x="2359152" y="2377440"/>
            <a:ext cx="2414016"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sum of the values, divided by how many there are.</a:t>
            </a:r>
            <a:endParaRPr lang="en-US" sz="1050" dirty="0"/>
          </a:p>
        </p:txBody>
      </p:sp>
      <p:sp>
        <p:nvSpPr>
          <p:cNvPr id="17" name="Text 15"/>
          <p:cNvSpPr txBox="1"/>
          <p:nvPr/>
        </p:nvSpPr>
        <p:spPr>
          <a:xfrm>
            <a:off x="5102352" y="2377440"/>
            <a:ext cx="3145536"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Quantities that add up: total times, total work, total energy — anywhere the sum is itself meaningful.</a:t>
            </a:r>
            <a:endParaRPr lang="en-US" sz="1050" dirty="0"/>
          </a:p>
        </p:txBody>
      </p:sp>
      <p:sp>
        <p:nvSpPr>
          <p:cNvPr id="18" name="Text 16"/>
          <p:cNvSpPr txBox="1"/>
          <p:nvPr/>
        </p:nvSpPr>
        <p:spPr>
          <a:xfrm>
            <a:off x="8577072" y="2377440"/>
            <a:ext cx="2944368"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wrong winner, whenever it is applied to rates or ratios.</a:t>
            </a:r>
            <a:endParaRPr lang="en-US" sz="1050" dirty="0"/>
          </a:p>
        </p:txBody>
      </p:sp>
      <p:sp>
        <p:nvSpPr>
          <p:cNvPr id="19" name="Shape 17"/>
          <p:cNvSpPr/>
          <p:nvPr/>
        </p:nvSpPr>
        <p:spPr>
          <a:xfrm>
            <a:off x="502920" y="3145536"/>
            <a:ext cx="11183112" cy="713232"/>
          </a:xfrm>
          <a:prstGeom prst="rect">
            <a:avLst/>
          </a:prstGeom>
          <a:solidFill>
            <a:srgbClr val="FFFFFF"/>
          </a:solidFill>
          <a:ln/>
        </p:spPr>
      </p:sp>
      <p:sp>
        <p:nvSpPr>
          <p:cNvPr id="20" name="Shape 18"/>
          <p:cNvSpPr/>
          <p:nvPr/>
        </p:nvSpPr>
        <p:spPr>
          <a:xfrm>
            <a:off x="502920" y="3145536"/>
            <a:ext cx="50292" cy="713232"/>
          </a:xfrm>
          <a:prstGeom prst="rect">
            <a:avLst/>
          </a:prstGeom>
          <a:solidFill>
            <a:srgbClr val="D8A73E"/>
          </a:solidFill>
          <a:ln/>
        </p:spPr>
      </p:sp>
      <p:sp>
        <p:nvSpPr>
          <p:cNvPr id="21" name="Text 19"/>
          <p:cNvSpPr txBox="1"/>
          <p:nvPr/>
        </p:nvSpPr>
        <p:spPr>
          <a:xfrm>
            <a:off x="722376" y="3145536"/>
            <a:ext cx="1307592" cy="71323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Harmonic</a:t>
            </a:r>
            <a:endParaRPr lang="en-US" sz="1200" dirty="0"/>
          </a:p>
        </p:txBody>
      </p:sp>
      <p:sp>
        <p:nvSpPr>
          <p:cNvPr id="22" name="Text 20"/>
          <p:cNvSpPr txBox="1"/>
          <p:nvPr/>
        </p:nvSpPr>
        <p:spPr>
          <a:xfrm>
            <a:off x="2359152" y="3145536"/>
            <a:ext cx="2414016"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count divided by the sum of the reciprocals.</a:t>
            </a:r>
            <a:endParaRPr lang="en-US" sz="1050" dirty="0"/>
          </a:p>
        </p:txBody>
      </p:sp>
      <p:sp>
        <p:nvSpPr>
          <p:cNvPr id="23" name="Text 21"/>
          <p:cNvSpPr txBox="1"/>
          <p:nvPr/>
        </p:nvSpPr>
        <p:spPr>
          <a:xfrm>
            <a:off x="5102352" y="3145536"/>
            <a:ext cx="3145536"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Rates measured over a fixed amount of work — MIPS, FLOPS, operations per second per benchmark.</a:t>
            </a:r>
            <a:endParaRPr lang="en-US" sz="1050" dirty="0"/>
          </a:p>
        </p:txBody>
      </p:sp>
      <p:sp>
        <p:nvSpPr>
          <p:cNvPr id="24" name="Text 22"/>
          <p:cNvSpPr txBox="1"/>
          <p:nvPr/>
        </p:nvSpPr>
        <p:spPr>
          <a:xfrm>
            <a:off x="8577072" y="3145536"/>
            <a:ext cx="2944368"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Nothing: this is the correct choice for rates, and it equals total work over total time.</a:t>
            </a:r>
            <a:endParaRPr lang="en-US" sz="1050" dirty="0"/>
          </a:p>
        </p:txBody>
      </p:sp>
      <p:sp>
        <p:nvSpPr>
          <p:cNvPr id="25" name="Shape 23"/>
          <p:cNvSpPr/>
          <p:nvPr/>
        </p:nvSpPr>
        <p:spPr>
          <a:xfrm>
            <a:off x="502920" y="3913632"/>
            <a:ext cx="11183112" cy="713232"/>
          </a:xfrm>
          <a:prstGeom prst="rect">
            <a:avLst/>
          </a:prstGeom>
          <a:solidFill>
            <a:srgbClr val="F3F1FC"/>
          </a:solidFill>
          <a:ln/>
        </p:spPr>
      </p:sp>
      <p:sp>
        <p:nvSpPr>
          <p:cNvPr id="26" name="Shape 24"/>
          <p:cNvSpPr/>
          <p:nvPr/>
        </p:nvSpPr>
        <p:spPr>
          <a:xfrm>
            <a:off x="502920" y="3913632"/>
            <a:ext cx="50292" cy="713232"/>
          </a:xfrm>
          <a:prstGeom prst="rect">
            <a:avLst/>
          </a:prstGeom>
          <a:solidFill>
            <a:srgbClr val="B4522B"/>
          </a:solidFill>
          <a:ln/>
        </p:spPr>
      </p:sp>
      <p:sp>
        <p:nvSpPr>
          <p:cNvPr id="27" name="Text 25"/>
          <p:cNvSpPr txBox="1"/>
          <p:nvPr/>
        </p:nvSpPr>
        <p:spPr>
          <a:xfrm>
            <a:off x="722376" y="3913632"/>
            <a:ext cx="1307592" cy="71323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Geometric</a:t>
            </a:r>
            <a:endParaRPr lang="en-US" sz="1200" dirty="0"/>
          </a:p>
        </p:txBody>
      </p:sp>
      <p:sp>
        <p:nvSpPr>
          <p:cNvPr id="28" name="Text 26"/>
          <p:cNvSpPr txBox="1"/>
          <p:nvPr/>
        </p:nvSpPr>
        <p:spPr>
          <a:xfrm>
            <a:off x="2359152" y="3913632"/>
            <a:ext cx="2414016"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nth root of the product of the values.</a:t>
            </a:r>
            <a:endParaRPr lang="en-US" sz="1050" dirty="0"/>
          </a:p>
        </p:txBody>
      </p:sp>
      <p:sp>
        <p:nvSpPr>
          <p:cNvPr id="29" name="Text 27"/>
          <p:cNvSpPr txBox="1"/>
          <p:nvPr/>
        </p:nvSpPr>
        <p:spPr>
          <a:xfrm>
            <a:off x="5102352" y="3913632"/>
            <a:ext cx="3145536"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Normalised ratios, such as speed-ups against a baseline. Its result does not depend on which baseline was chosen.</a:t>
            </a:r>
            <a:endParaRPr lang="en-US" sz="1050" dirty="0"/>
          </a:p>
        </p:txBody>
      </p:sp>
      <p:sp>
        <p:nvSpPr>
          <p:cNvPr id="30" name="Text 28"/>
          <p:cNvSpPr txBox="1"/>
          <p:nvPr/>
        </p:nvSpPr>
        <p:spPr>
          <a:xfrm>
            <a:off x="8577072" y="3913632"/>
            <a:ext cx="2944368"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number with no physical dimension — which is why SPEC uses it only for normalised ratios.</a:t>
            </a:r>
            <a:endParaRPr lang="en-US" sz="1050" dirty="0"/>
          </a:p>
        </p:txBody>
      </p:sp>
      <p:sp>
        <p:nvSpPr>
          <p:cNvPr id="31" name="Shape 29"/>
          <p:cNvSpPr/>
          <p:nvPr/>
        </p:nvSpPr>
        <p:spPr>
          <a:xfrm>
            <a:off x="502920" y="4681728"/>
            <a:ext cx="11183112" cy="713232"/>
          </a:xfrm>
          <a:prstGeom prst="rect">
            <a:avLst/>
          </a:prstGeom>
          <a:solidFill>
            <a:srgbClr val="FFFFFF"/>
          </a:solidFill>
          <a:ln/>
        </p:spPr>
      </p:sp>
      <p:sp>
        <p:nvSpPr>
          <p:cNvPr id="32" name="Shape 30"/>
          <p:cNvSpPr/>
          <p:nvPr/>
        </p:nvSpPr>
        <p:spPr>
          <a:xfrm>
            <a:off x="502920" y="4681728"/>
            <a:ext cx="50292" cy="713232"/>
          </a:xfrm>
          <a:prstGeom prst="rect">
            <a:avLst/>
          </a:prstGeom>
          <a:solidFill>
            <a:srgbClr val="241A4C"/>
          </a:solidFill>
          <a:ln/>
        </p:spPr>
      </p:sp>
      <p:sp>
        <p:nvSpPr>
          <p:cNvPr id="33" name="Text 31"/>
          <p:cNvSpPr txBox="1"/>
          <p:nvPr/>
        </p:nvSpPr>
        <p:spPr>
          <a:xfrm>
            <a:off x="722376" y="4681728"/>
            <a:ext cx="1307592" cy="71323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Median</a:t>
            </a:r>
            <a:endParaRPr lang="en-US" sz="1200" dirty="0"/>
          </a:p>
        </p:txBody>
      </p:sp>
      <p:sp>
        <p:nvSpPr>
          <p:cNvPr id="34" name="Text 32"/>
          <p:cNvSpPr txBox="1"/>
          <p:nvPr/>
        </p:nvSpPr>
        <p:spPr>
          <a:xfrm>
            <a:off x="2359152" y="4681728"/>
            <a:ext cx="2414016"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middle value of the sorted observations.</a:t>
            </a:r>
            <a:endParaRPr lang="en-US" sz="1050" dirty="0"/>
          </a:p>
        </p:txBody>
      </p:sp>
      <p:sp>
        <p:nvSpPr>
          <p:cNvPr id="35" name="Text 33"/>
          <p:cNvSpPr txBox="1"/>
          <p:nvPr/>
        </p:nvSpPr>
        <p:spPr>
          <a:xfrm>
            <a:off x="5102352" y="4681728"/>
            <a:ext cx="3145536"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Skewed distributions, where a heavy tail drags the mean away from typical behaviour.</a:t>
            </a:r>
            <a:endParaRPr lang="en-US" sz="1050" dirty="0"/>
          </a:p>
        </p:txBody>
      </p:sp>
      <p:sp>
        <p:nvSpPr>
          <p:cNvPr id="36" name="Text 34"/>
          <p:cNvSpPr txBox="1"/>
          <p:nvPr/>
        </p:nvSpPr>
        <p:spPr>
          <a:xfrm>
            <a:off x="8577072" y="4681728"/>
            <a:ext cx="2944368" cy="71323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(Not an error — a different question. Always report it with a spread.)</a:t>
            </a:r>
            <a:endParaRPr lang="en-US" sz="1050" dirty="0"/>
          </a:p>
        </p:txBody>
      </p:sp>
      <p:sp>
        <p:nvSpPr>
          <p:cNvPr id="37" name="Text 35"/>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The rule that catches most of it: if the quantity is a rate, never take its arithmetic mean. Average the times arithmetically, or the rates harmonically — they give the same answer.</a:t>
            </a:r>
            <a:endParaRPr lang="en-US" sz="1150" dirty="0"/>
          </a:p>
        </p:txBody>
      </p:sp>
      <p:sp>
        <p:nvSpPr>
          <p:cNvPr id="38" name="Text 36"/>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39" name="Text 37"/>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7 / 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METRICS AND WORKLOADS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Worked Example: The Wrong Mean Picks the Wrong Winner</a:t>
            </a:r>
            <a:endParaRPr lang="en-US" sz="2800" dirty="0"/>
          </a:p>
        </p:txBody>
      </p:sp>
      <p:sp>
        <p:nvSpPr>
          <p:cNvPr id="4" name="Text 2"/>
          <p:cNvSpPr txBox="1"/>
          <p:nvPr/>
        </p:nvSpPr>
        <p:spPr>
          <a:xfrm>
            <a:off x="502920" y="1225296"/>
            <a:ext cx="11183112" cy="384048"/>
          </a:xfrm>
          <a:prstGeom prst="rect">
            <a:avLst/>
          </a:prstGeom>
          <a:noFill/>
          <a:ln/>
        </p:spPr>
        <p:txBody>
          <a:bodyPr wrap="square" lIns="0" tIns="0" rIns="0" bIns="0" rtlCol="0" anchor="ctr"/>
          <a:lstStyle/>
          <a:p>
            <a:pPr indent="0" marL="0">
              <a:buNone/>
            </a:pPr>
            <a:r>
              <a:rPr lang="en-US" sz="1150" b="1" dirty="0">
                <a:solidFill>
                  <a:srgbClr val="241A4C"/>
                </a:solidFill>
                <a:latin typeface="Calibri" pitchFamily="34" charset="0"/>
                <a:ea typeface="Calibri" pitchFamily="34" charset="-122"/>
                <a:cs typeface="Calibri" pitchFamily="34" charset="-120"/>
              </a:rPr>
              <a:t>Question:  </a:t>
            </a:r>
            <a:pPr indent="0" marL="0">
              <a:buNone/>
            </a:pPr>
            <a:r>
              <a:rPr lang="en-US" sz="1150" dirty="0">
                <a:solidFill>
                  <a:srgbClr val="5C5A66"/>
                </a:solidFill>
                <a:latin typeface="Calibri" pitchFamily="34" charset="0"/>
                <a:ea typeface="Calibri" pitchFamily="34" charset="-122"/>
                <a:cs typeface="Calibri" pitchFamily="34" charset="-120"/>
              </a:rPr>
              <a:t>“Two machines run the same two benchmarks. Which machine is faster?”</a:t>
            </a:r>
            <a:endParaRPr lang="en-US" sz="1150" dirty="0"/>
          </a:p>
        </p:txBody>
      </p:sp>
      <p:sp>
        <p:nvSpPr>
          <p:cNvPr id="5" name="Shape 3"/>
          <p:cNvSpPr/>
          <p:nvPr/>
        </p:nvSpPr>
        <p:spPr>
          <a:xfrm>
            <a:off x="502920" y="1627632"/>
            <a:ext cx="4206240" cy="1755648"/>
          </a:xfrm>
          <a:prstGeom prst="roundRect">
            <a:avLst>
              <a:gd name="adj" fmla="val 2604"/>
            </a:avLst>
          </a:prstGeom>
          <a:solidFill>
            <a:srgbClr val="F5F4FB"/>
          </a:solidFill>
          <a:ln/>
        </p:spPr>
      </p:sp>
      <p:sp>
        <p:nvSpPr>
          <p:cNvPr id="6" name="Text 4"/>
          <p:cNvSpPr txBox="1"/>
          <p:nvPr/>
        </p:nvSpPr>
        <p:spPr>
          <a:xfrm>
            <a:off x="777240" y="1810512"/>
            <a:ext cx="3657600" cy="201168"/>
          </a:xfrm>
          <a:prstGeom prst="rect">
            <a:avLst/>
          </a:prstGeom>
          <a:noFill/>
          <a:ln/>
        </p:spPr>
        <p:txBody>
          <a:bodyPr wrap="square" lIns="0" tIns="0" rIns="0" bIns="0" rtlCol="0" anchor="ctr"/>
          <a:lstStyle/>
          <a:p>
            <a:pPr indent="0" marL="0">
              <a:buNone/>
            </a:pPr>
            <a:r>
              <a:rPr lang="en-US" sz="850" b="1" spc="130" kern="0" dirty="0">
                <a:solidFill>
                  <a:srgbClr val="3D6EA6"/>
                </a:solidFill>
                <a:latin typeface="Calibri" pitchFamily="34" charset="0"/>
                <a:ea typeface="Calibri" pitchFamily="34" charset="-122"/>
                <a:cs typeface="Calibri" pitchFamily="34" charset="-120"/>
              </a:rPr>
              <a:t>THE MEASUREMENTS</a:t>
            </a:r>
            <a:endParaRPr lang="en-US" sz="850" dirty="0"/>
          </a:p>
        </p:txBody>
      </p:sp>
      <p:sp>
        <p:nvSpPr>
          <p:cNvPr id="7" name="Text 5"/>
          <p:cNvSpPr txBox="1"/>
          <p:nvPr/>
        </p:nvSpPr>
        <p:spPr>
          <a:xfrm>
            <a:off x="777240" y="2084832"/>
            <a:ext cx="3657600" cy="1115568"/>
          </a:xfrm>
          <a:prstGeom prst="rect">
            <a:avLst/>
          </a:prstGeom>
          <a:noFill/>
          <a:ln/>
        </p:spPr>
        <p:txBody>
          <a:bodyPr wrap="square" lIns="0" tIns="0" rIns="0" bIns="0" rtlCol="0" anchor="t"/>
          <a:lstStyle/>
          <a:p>
            <a:pPr indent="0" marL="0">
              <a:lnSpc>
                <a:spcPct val="126000"/>
              </a:lnSpc>
              <a:buNone/>
            </a:pPr>
            <a:r>
              <a:rPr lang="en-US" sz="1000" dirty="0">
                <a:solidFill>
                  <a:srgbClr val="241A4C"/>
                </a:solidFill>
                <a:latin typeface="Courier New" pitchFamily="34" charset="0"/>
                <a:ea typeface="Courier New" pitchFamily="34" charset="-122"/>
                <a:cs typeface="Courier New" pitchFamily="34" charset="-120"/>
              </a:rPr>
              <a:t>                Bench 1   Bench 2</a:t>
            </a:r>
            <a:endParaRPr lang="en-US" sz="1000" dirty="0"/>
          </a:p>
          <a:p>
            <a:pPr indent="0" marL="0">
              <a:lnSpc>
                <a:spcPct val="126000"/>
              </a:lnSpc>
              <a:buNone/>
            </a:pPr>
            <a:r>
              <a:rPr lang="en-US" sz="1000" dirty="0">
                <a:solidFill>
                  <a:srgbClr val="241A4C"/>
                </a:solidFill>
                <a:latin typeface="Courier New" pitchFamily="34" charset="0"/>
                <a:ea typeface="Courier New" pitchFamily="34" charset="-122"/>
                <a:cs typeface="Courier New" pitchFamily="34" charset="-120"/>
              </a:rPr>
              <a:t>  work            100 M     100 M   ops</a:t>
            </a:r>
            <a:endParaRPr lang="en-US" sz="1000" dirty="0"/>
          </a:p>
          <a:p>
            <a:pPr indent="0" marL="0">
              <a:lnSpc>
                <a:spcPct val="126000"/>
              </a:lnSpc>
              <a:buNone/>
            </a:pPr>
            <a:r>
              <a:rPr lang="en-US" sz="1000" dirty="0">
                <a:solidFill>
                  <a:srgbClr val="241A4C"/>
                </a:solidFill>
                <a:latin typeface="Courier New" pitchFamily="34" charset="0"/>
                <a:ea typeface="Courier New" pitchFamily="34" charset="-122"/>
                <a:cs typeface="Courier New" pitchFamily="34" charset="-120"/>
              </a:rPr>
              <a:t>  ------------------------------------</a:t>
            </a:r>
            <a:endParaRPr lang="en-US" sz="1000" dirty="0"/>
          </a:p>
          <a:p>
            <a:pPr indent="0" marL="0">
              <a:lnSpc>
                <a:spcPct val="126000"/>
              </a:lnSpc>
              <a:buNone/>
            </a:pPr>
            <a:r>
              <a:rPr lang="en-US" sz="1000" dirty="0">
                <a:solidFill>
                  <a:srgbClr val="241A4C"/>
                </a:solidFill>
                <a:latin typeface="Courier New" pitchFamily="34" charset="0"/>
                <a:ea typeface="Courier New" pitchFamily="34" charset="-122"/>
                <a:cs typeface="Courier New" pitchFamily="34" charset="-120"/>
              </a:rPr>
              <a:t>  Machine A         1 s      100 s</a:t>
            </a:r>
            <a:endParaRPr lang="en-US" sz="1000" dirty="0"/>
          </a:p>
          <a:p>
            <a:pPr indent="0" marL="0">
              <a:lnSpc>
                <a:spcPct val="126000"/>
              </a:lnSpc>
              <a:buNone/>
            </a:pPr>
            <a:r>
              <a:rPr lang="en-US" sz="1000" dirty="0">
                <a:solidFill>
                  <a:srgbClr val="241A4C"/>
                </a:solidFill>
                <a:latin typeface="Courier New" pitchFamily="34" charset="0"/>
                <a:ea typeface="Courier New" pitchFamily="34" charset="-122"/>
                <a:cs typeface="Courier New" pitchFamily="34" charset="-120"/>
              </a:rPr>
              <a:t>  Machine B        10 s       10 s</a:t>
            </a:r>
            <a:endParaRPr lang="en-US" sz="1000" dirty="0"/>
          </a:p>
        </p:txBody>
      </p:sp>
      <p:sp>
        <p:nvSpPr>
          <p:cNvPr id="8" name="Shape 6"/>
          <p:cNvSpPr/>
          <p:nvPr/>
        </p:nvSpPr>
        <p:spPr>
          <a:xfrm>
            <a:off x="502920" y="3566160"/>
            <a:ext cx="4206240" cy="1700784"/>
          </a:xfrm>
          <a:prstGeom prst="roundRect">
            <a:avLst>
              <a:gd name="adj" fmla="val 2688"/>
            </a:avLst>
          </a:prstGeom>
          <a:solidFill>
            <a:srgbClr val="F6EFE4"/>
          </a:solidFill>
          <a:ln/>
        </p:spPr>
      </p:sp>
      <p:sp>
        <p:nvSpPr>
          <p:cNvPr id="9" name="Text 7"/>
          <p:cNvSpPr txBox="1"/>
          <p:nvPr/>
        </p:nvSpPr>
        <p:spPr>
          <a:xfrm>
            <a:off x="777240" y="3749040"/>
            <a:ext cx="3657600" cy="201168"/>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THE TWO SUMMARIES</a:t>
            </a:r>
            <a:endParaRPr lang="en-US" sz="850" dirty="0"/>
          </a:p>
        </p:txBody>
      </p:sp>
      <p:sp>
        <p:nvSpPr>
          <p:cNvPr id="10" name="Text 8"/>
          <p:cNvSpPr txBox="1"/>
          <p:nvPr/>
        </p:nvSpPr>
        <p:spPr>
          <a:xfrm>
            <a:off x="777240" y="4023360"/>
            <a:ext cx="3657600" cy="1188720"/>
          </a:xfrm>
          <a:prstGeom prst="rect">
            <a:avLst/>
          </a:prstGeom>
          <a:noFill/>
          <a:ln/>
        </p:spPr>
        <p:txBody>
          <a:bodyPr wrap="square" lIns="0" tIns="0" rIns="0" bIns="0" rtlCol="0" anchor="t"/>
          <a:lstStyle/>
          <a:p>
            <a:pPr indent="0" marL="0">
              <a:lnSpc>
                <a:spcPct val="126000"/>
              </a:lnSpc>
              <a:buNone/>
            </a:pPr>
            <a:r>
              <a:rPr lang="en-US" sz="1000" dirty="0">
                <a:solidFill>
                  <a:srgbClr val="241A4C"/>
                </a:solidFill>
                <a:latin typeface="Courier New" pitchFamily="34" charset="0"/>
                <a:ea typeface="Courier New" pitchFamily="34" charset="-122"/>
                <a:cs typeface="Courier New" pitchFamily="34" charset="-120"/>
              </a:rPr>
              <a:t>  rates (Mops/s)   B1     B2</a:t>
            </a:r>
            <a:endParaRPr lang="en-US" sz="1000" dirty="0"/>
          </a:p>
          <a:p>
            <a:pPr indent="0" marL="0">
              <a:lnSpc>
                <a:spcPct val="126000"/>
              </a:lnSpc>
              <a:buNone/>
            </a:pPr>
            <a:r>
              <a:rPr lang="en-US" sz="1000" dirty="0">
                <a:solidFill>
                  <a:srgbClr val="241A4C"/>
                </a:solidFill>
                <a:latin typeface="Courier New" pitchFamily="34" charset="0"/>
                <a:ea typeface="Courier New" pitchFamily="34" charset="-122"/>
                <a:cs typeface="Courier New" pitchFamily="34" charset="-120"/>
              </a:rPr>
              <a:t>  Machine A        100      1</a:t>
            </a:r>
            <a:endParaRPr lang="en-US" sz="1000" dirty="0"/>
          </a:p>
          <a:p>
            <a:pPr indent="0" marL="0">
              <a:lnSpc>
                <a:spcPct val="126000"/>
              </a:lnSpc>
              <a:buNone/>
            </a:pPr>
            <a:r>
              <a:rPr lang="en-US" sz="1000" dirty="0">
                <a:solidFill>
                  <a:srgbClr val="241A4C"/>
                </a:solidFill>
                <a:latin typeface="Courier New" pitchFamily="34" charset="0"/>
                <a:ea typeface="Courier New" pitchFamily="34" charset="-122"/>
                <a:cs typeface="Courier New" pitchFamily="34" charset="-120"/>
              </a:rPr>
              <a:t>  Machine B         10     10</a:t>
            </a:r>
            <a:endParaRPr lang="en-US" sz="1000" dirty="0"/>
          </a:p>
          <a:p>
            <a:pPr indent="0" marL="0">
              <a:lnSpc>
                <a:spcPct val="126000"/>
              </a:lnSpc>
              <a:buNone/>
            </a:pPr>
            <a:endParaRPr lang="en-US" sz="1000" dirty="0"/>
          </a:p>
          <a:p>
            <a:pPr indent="0" marL="0">
              <a:lnSpc>
                <a:spcPct val="126000"/>
              </a:lnSpc>
              <a:buNone/>
            </a:pPr>
            <a:r>
              <a:rPr lang="en-US" sz="1000" dirty="0">
                <a:solidFill>
                  <a:srgbClr val="241A4C"/>
                </a:solidFill>
                <a:latin typeface="Courier New" pitchFamily="34" charset="0"/>
                <a:ea typeface="Courier New" pitchFamily="34" charset="-122"/>
                <a:cs typeface="Courier New" pitchFamily="34" charset="-120"/>
              </a:rPr>
              <a:t>  arithmetic mean   A = 50.5   B = 10.0</a:t>
            </a:r>
            <a:endParaRPr lang="en-US" sz="1000" dirty="0"/>
          </a:p>
          <a:p>
            <a:pPr indent="0" marL="0">
              <a:lnSpc>
                <a:spcPct val="126000"/>
              </a:lnSpc>
              <a:buNone/>
            </a:pPr>
            <a:r>
              <a:rPr lang="en-US" sz="1000" dirty="0">
                <a:solidFill>
                  <a:srgbClr val="241A4C"/>
                </a:solidFill>
                <a:latin typeface="Courier New" pitchFamily="34" charset="0"/>
                <a:ea typeface="Courier New" pitchFamily="34" charset="-122"/>
                <a:cs typeface="Courier New" pitchFamily="34" charset="-120"/>
              </a:rPr>
              <a:t>  harmonic mean     A =  1.98  B = 10.0</a:t>
            </a:r>
            <a:endParaRPr lang="en-US" sz="1000" dirty="0"/>
          </a:p>
        </p:txBody>
      </p:sp>
      <p:sp>
        <p:nvSpPr>
          <p:cNvPr id="11" name="Shape 9"/>
          <p:cNvSpPr/>
          <p:nvPr/>
        </p:nvSpPr>
        <p:spPr>
          <a:xfrm>
            <a:off x="5029200" y="1609344"/>
            <a:ext cx="310896" cy="310896"/>
          </a:xfrm>
          <a:prstGeom prst="ellipse">
            <a:avLst/>
          </a:prstGeom>
          <a:solidFill>
            <a:srgbClr val="3D6EA6"/>
          </a:solidFill>
          <a:ln/>
        </p:spPr>
      </p:sp>
      <p:sp>
        <p:nvSpPr>
          <p:cNvPr id="12" name="Text 10"/>
          <p:cNvSpPr txBox="1"/>
          <p:nvPr/>
        </p:nvSpPr>
        <p:spPr>
          <a:xfrm>
            <a:off x="5029200" y="16093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3" name="Text 11"/>
          <p:cNvSpPr txBox="1"/>
          <p:nvPr/>
        </p:nvSpPr>
        <p:spPr>
          <a:xfrm>
            <a:off x="5541264" y="1591056"/>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The tempting summary</a:t>
            </a:r>
            <a:endParaRPr lang="en-US" sz="1350" dirty="0"/>
          </a:p>
        </p:txBody>
      </p:sp>
      <p:sp>
        <p:nvSpPr>
          <p:cNvPr id="14" name="Text 12"/>
          <p:cNvSpPr txBox="1"/>
          <p:nvPr/>
        </p:nvSpPr>
        <p:spPr>
          <a:xfrm>
            <a:off x="5541264" y="1901952"/>
            <a:ext cx="6144768" cy="7315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Convert each benchmark to a rate, then average the two rates arithmetically. Machine A scores 50.5 Mops/s against B's 10.0, and appears five times better.</a:t>
            </a:r>
            <a:endParaRPr lang="en-US" sz="1050" dirty="0"/>
          </a:p>
        </p:txBody>
      </p:sp>
      <p:sp>
        <p:nvSpPr>
          <p:cNvPr id="15" name="Shape 13"/>
          <p:cNvSpPr/>
          <p:nvPr/>
        </p:nvSpPr>
        <p:spPr>
          <a:xfrm>
            <a:off x="5029200" y="2651760"/>
            <a:ext cx="310896" cy="310896"/>
          </a:xfrm>
          <a:prstGeom prst="ellipse">
            <a:avLst/>
          </a:prstGeom>
          <a:solidFill>
            <a:srgbClr val="3D6EA6"/>
          </a:solidFill>
          <a:ln/>
        </p:spPr>
      </p:sp>
      <p:sp>
        <p:nvSpPr>
          <p:cNvPr id="16" name="Text 14"/>
          <p:cNvSpPr txBox="1"/>
          <p:nvPr/>
        </p:nvSpPr>
        <p:spPr>
          <a:xfrm>
            <a:off x="5029200" y="26517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7" name="Text 15"/>
          <p:cNvSpPr txBox="1"/>
          <p:nvPr/>
        </p:nvSpPr>
        <p:spPr>
          <a:xfrm>
            <a:off x="5541264" y="2633472"/>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The reality check</a:t>
            </a:r>
            <a:endParaRPr lang="en-US" sz="1350" dirty="0"/>
          </a:p>
        </p:txBody>
      </p:sp>
      <p:sp>
        <p:nvSpPr>
          <p:cNvPr id="18" name="Text 16"/>
          <p:cNvSpPr txBox="1"/>
          <p:nvPr/>
        </p:nvSpPr>
        <p:spPr>
          <a:xfrm>
            <a:off x="5541264" y="2944368"/>
            <a:ext cx="6144768" cy="7315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Total work is 200 million operations. Machine A takes 101 seconds to do it; Machine B takes 20. B completes the same work in a fifth of the time — so the arithmetic mean picked the loser.</a:t>
            </a:r>
            <a:endParaRPr lang="en-US" sz="1050" dirty="0"/>
          </a:p>
        </p:txBody>
      </p:sp>
      <p:sp>
        <p:nvSpPr>
          <p:cNvPr id="19" name="Shape 17"/>
          <p:cNvSpPr/>
          <p:nvPr/>
        </p:nvSpPr>
        <p:spPr>
          <a:xfrm>
            <a:off x="5029200" y="3694176"/>
            <a:ext cx="310896" cy="310896"/>
          </a:xfrm>
          <a:prstGeom prst="ellipse">
            <a:avLst/>
          </a:prstGeom>
          <a:solidFill>
            <a:srgbClr val="B08C3A"/>
          </a:solidFill>
          <a:ln/>
        </p:spPr>
      </p:sp>
      <p:sp>
        <p:nvSpPr>
          <p:cNvPr id="20" name="Text 18"/>
          <p:cNvSpPr txBox="1"/>
          <p:nvPr/>
        </p:nvSpPr>
        <p:spPr>
          <a:xfrm>
            <a:off x="5029200" y="36941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1" name="Text 19"/>
          <p:cNvSpPr txBox="1"/>
          <p:nvPr/>
        </p:nvSpPr>
        <p:spPr>
          <a:xfrm>
            <a:off x="5541264" y="3675888"/>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The correct summary</a:t>
            </a:r>
            <a:endParaRPr lang="en-US" sz="1350" dirty="0"/>
          </a:p>
        </p:txBody>
      </p:sp>
      <p:sp>
        <p:nvSpPr>
          <p:cNvPr id="22" name="Text 20"/>
          <p:cNvSpPr txBox="1"/>
          <p:nvPr/>
        </p:nvSpPr>
        <p:spPr>
          <a:xfrm>
            <a:off x="5541264" y="3986784"/>
            <a:ext cx="6144768" cy="7315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The harmonic mean of the rates gives A = 1.98 and B = 10.0 Mops/s. That is exactly total work divided by total time. It agrees with reality because it is reality, rearranged.</a:t>
            </a:r>
            <a:endParaRPr lang="en-US" sz="1050" dirty="0"/>
          </a:p>
        </p:txBody>
      </p:sp>
      <p:sp>
        <p:nvSpPr>
          <p:cNvPr id="23" name="Shape 21"/>
          <p:cNvSpPr/>
          <p:nvPr/>
        </p:nvSpPr>
        <p:spPr>
          <a:xfrm>
            <a:off x="5029200" y="4736592"/>
            <a:ext cx="310896" cy="310896"/>
          </a:xfrm>
          <a:prstGeom prst="ellipse">
            <a:avLst/>
          </a:prstGeom>
          <a:solidFill>
            <a:srgbClr val="B08C3A"/>
          </a:solidFill>
          <a:ln/>
        </p:spPr>
      </p:sp>
      <p:sp>
        <p:nvSpPr>
          <p:cNvPr id="24" name="Text 22"/>
          <p:cNvSpPr txBox="1"/>
          <p:nvPr/>
        </p:nvSpPr>
        <p:spPr>
          <a:xfrm>
            <a:off x="5029200" y="47365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txBox="1"/>
          <p:nvPr/>
        </p:nvSpPr>
        <p:spPr>
          <a:xfrm>
            <a:off x="5541264" y="4718304"/>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Why it happens</a:t>
            </a:r>
            <a:endParaRPr lang="en-US" sz="1350" dirty="0"/>
          </a:p>
        </p:txBody>
      </p:sp>
      <p:sp>
        <p:nvSpPr>
          <p:cNvPr id="26" name="Text 24"/>
          <p:cNvSpPr txBox="1"/>
          <p:nvPr/>
        </p:nvSpPr>
        <p:spPr>
          <a:xfrm>
            <a:off x="5541264" y="5029200"/>
            <a:ext cx="6144768" cy="7315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Averaging rates arithmetically implicitly weights each benchmark by its own running time, so the fastest case dominates the summary — and a machine can “win on average” while losing on every job you run.</a:t>
            </a:r>
            <a:endParaRPr lang="en-US" sz="1050" dirty="0"/>
          </a:p>
        </p:txBody>
      </p:sp>
      <p:sp>
        <p:nvSpPr>
          <p:cNvPr id="27" name="Text 25"/>
          <p:cNvSpPr txBox="1"/>
          <p:nvPr/>
        </p:nvSpPr>
        <p:spPr>
          <a:xfrm>
            <a:off x="5541264" y="5815584"/>
            <a:ext cx="6144768" cy="566928"/>
          </a:xfrm>
          <a:prstGeom prst="rect">
            <a:avLst/>
          </a:prstGeom>
          <a:noFill/>
          <a:ln/>
        </p:spPr>
        <p:txBody>
          <a:bodyPr wrap="square" lIns="0" tIns="0" rIns="0" bIns="0" rtlCol="0" anchor="t"/>
          <a:lstStyle/>
          <a:p>
            <a:pPr indent="0" marL="0">
              <a:lnSpc>
                <a:spcPct val="120000"/>
              </a:lnSpc>
              <a:buNone/>
            </a:pPr>
            <a:r>
              <a:rPr lang="en-US" sz="1050" i="1" dirty="0">
                <a:solidFill>
                  <a:srgbClr val="5C5A66"/>
                </a:solidFill>
                <a:latin typeface="Calibri" pitchFamily="34" charset="0"/>
                <a:ea typeface="Calibri" pitchFamily="34" charset="-122"/>
                <a:cs typeface="Calibri" pitchFamily="34" charset="-120"/>
              </a:rPr>
              <a:t>This is not a contrived case. It is why SPEC reports a geometric mean of normalised ratios rather than an arithmetic mean of rates, and why Jain devotes an entire chapter to choosing the summary statistic.</a:t>
            </a:r>
            <a:endParaRPr lang="en-US" sz="1050" dirty="0"/>
          </a:p>
        </p:txBody>
      </p:sp>
      <p:sp>
        <p:nvSpPr>
          <p:cNvPr id="28" name="Text 26"/>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29" name="Text 27"/>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8 / 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METRICS AND WORKLOADS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Percentiles and the Tail</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Latency distributions in real systems are skewed and often heavy-tailed, which makes the mean a poor description of anybody's actual experience.</a:t>
            </a:r>
            <a:endParaRPr lang="en-US" sz="1250" dirty="0"/>
          </a:p>
        </p:txBody>
      </p:sp>
      <p:sp>
        <p:nvSpPr>
          <p:cNvPr id="5" name="Shape 3"/>
          <p:cNvSpPr/>
          <p:nvPr/>
        </p:nvSpPr>
        <p:spPr>
          <a:xfrm>
            <a:off x="502920" y="1938528"/>
            <a:ext cx="5477256" cy="2688336"/>
          </a:xfrm>
          <a:prstGeom prst="roundRect">
            <a:avLst>
              <a:gd name="adj" fmla="val 1701"/>
            </a:avLst>
          </a:prstGeom>
          <a:solidFill>
            <a:srgbClr val="F8EEEA"/>
          </a:solidFill>
          <a:ln/>
        </p:spPr>
      </p:sp>
      <p:sp>
        <p:nvSpPr>
          <p:cNvPr id="6" name="Text 4"/>
          <p:cNvSpPr txBox="1"/>
          <p:nvPr/>
        </p:nvSpPr>
        <p:spPr>
          <a:xfrm>
            <a:off x="795528" y="2157984"/>
            <a:ext cx="4892040" cy="237744"/>
          </a:xfrm>
          <a:prstGeom prst="rect">
            <a:avLst/>
          </a:prstGeom>
          <a:noFill/>
          <a:ln/>
        </p:spPr>
        <p:txBody>
          <a:bodyPr wrap="square" lIns="0" tIns="0" rIns="0" bIns="0" rtlCol="0" anchor="ctr"/>
          <a:lstStyle/>
          <a:p>
            <a:pPr indent="0" marL="0">
              <a:buNone/>
            </a:pPr>
            <a:r>
              <a:rPr lang="en-US" sz="950" b="1" spc="140" kern="0" dirty="0">
                <a:solidFill>
                  <a:srgbClr val="B4522B"/>
                </a:solidFill>
                <a:latin typeface="Calibri" pitchFamily="34" charset="0"/>
                <a:ea typeface="Calibri" pitchFamily="34" charset="-122"/>
                <a:cs typeface="Calibri" pitchFamily="34" charset="-120"/>
              </a:rPr>
              <a:t>WHY THE MEAN MISLEADS</a:t>
            </a:r>
            <a:endParaRPr lang="en-US" sz="950" dirty="0"/>
          </a:p>
        </p:txBody>
      </p:sp>
      <p:sp>
        <p:nvSpPr>
          <p:cNvPr id="7" name="Text 5"/>
          <p:cNvSpPr txBox="1"/>
          <p:nvPr/>
        </p:nvSpPr>
        <p:spPr>
          <a:xfrm>
            <a:off x="795528" y="2487168"/>
            <a:ext cx="4892040" cy="786384"/>
          </a:xfrm>
          <a:prstGeom prst="rect">
            <a:avLst/>
          </a:prstGeom>
          <a:noFill/>
          <a:ln/>
        </p:spPr>
        <p:txBody>
          <a:bodyPr wrap="square" lIns="0" tIns="0" rIns="0" bIns="0" rtlCol="0" anchor="t"/>
          <a:lstStyle/>
          <a:p>
            <a:pPr indent="0" marL="0">
              <a:lnSpc>
                <a:spcPct val="118000"/>
              </a:lnSpc>
              <a:buNone/>
            </a:pPr>
            <a:r>
              <a:rPr lang="en-US" sz="1350" dirty="0">
                <a:solidFill>
                  <a:srgbClr val="241A4C"/>
                </a:solidFill>
                <a:latin typeface="Cambria" pitchFamily="34" charset="0"/>
                <a:ea typeface="Cambria" pitchFamily="34" charset="-122"/>
                <a:cs typeface="Cambria" pitchFamily="34" charset="-120"/>
              </a:rPr>
              <a:t>A mean of 20 ms is consistent with 95% of requests at 5 ms and 5% at 300 ms.</a:t>
            </a:r>
            <a:endParaRPr lang="en-US" sz="1350" dirty="0"/>
          </a:p>
        </p:txBody>
      </p:sp>
      <p:sp>
        <p:nvSpPr>
          <p:cNvPr id="8" name="Text 6"/>
          <p:cNvSpPr txBox="1"/>
          <p:nvPr/>
        </p:nvSpPr>
        <p:spPr>
          <a:xfrm>
            <a:off x="795528" y="3328416"/>
            <a:ext cx="4892040" cy="786384"/>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Those are entirely different systems to a user, and the mean cannot distinguish them. The heavier the tail, the further the mean sits from both the typical case and the worst one.</a:t>
            </a:r>
            <a:endParaRPr lang="en-US" sz="1050" dirty="0"/>
          </a:p>
        </p:txBody>
      </p:sp>
      <p:sp>
        <p:nvSpPr>
          <p:cNvPr id="9" name="Text 7"/>
          <p:cNvSpPr txBox="1"/>
          <p:nvPr/>
        </p:nvSpPr>
        <p:spPr>
          <a:xfrm>
            <a:off x="795528" y="4151376"/>
            <a:ext cx="4892040" cy="384048"/>
          </a:xfrm>
          <a:prstGeom prst="rect">
            <a:avLst/>
          </a:prstGeom>
          <a:noFill/>
          <a:ln/>
        </p:spPr>
        <p:txBody>
          <a:bodyPr wrap="square" lIns="0" tIns="0" rIns="0" bIns="0" rtlCol="0" anchor="t"/>
          <a:lstStyle/>
          <a:p>
            <a:pPr indent="0" marL="0">
              <a:lnSpc>
                <a:spcPct val="115000"/>
              </a:lnSpc>
              <a:buNone/>
            </a:pPr>
            <a:r>
              <a:rPr lang="en-US" sz="1000" i="1" dirty="0">
                <a:solidFill>
                  <a:srgbClr val="B4522B"/>
                </a:solidFill>
                <a:latin typeface="Calibri" pitchFamily="34" charset="0"/>
                <a:ea typeface="Calibri" pitchFamily="34" charset="-122"/>
                <a:cs typeface="Calibri" pitchFamily="34" charset="-120"/>
              </a:rPr>
              <a:t>Reporting only a mean is a construct-validity failure: the statistic is not measuring the property being claimed.</a:t>
            </a:r>
            <a:endParaRPr lang="en-US" sz="1000" dirty="0"/>
          </a:p>
        </p:txBody>
      </p:sp>
      <p:sp>
        <p:nvSpPr>
          <p:cNvPr id="10" name="Shape 8"/>
          <p:cNvSpPr/>
          <p:nvPr/>
        </p:nvSpPr>
        <p:spPr>
          <a:xfrm>
            <a:off x="6208776" y="1938528"/>
            <a:ext cx="5477256" cy="2688336"/>
          </a:xfrm>
          <a:prstGeom prst="roundRect">
            <a:avLst>
              <a:gd name="adj" fmla="val 1701"/>
            </a:avLst>
          </a:prstGeom>
          <a:solidFill>
            <a:srgbClr val="EEF3F9"/>
          </a:solidFill>
          <a:ln/>
        </p:spPr>
      </p:sp>
      <p:sp>
        <p:nvSpPr>
          <p:cNvPr id="11" name="Text 9"/>
          <p:cNvSpPr txBox="1"/>
          <p:nvPr/>
        </p:nvSpPr>
        <p:spPr>
          <a:xfrm>
            <a:off x="6501384" y="2157984"/>
            <a:ext cx="4892040" cy="237744"/>
          </a:xfrm>
          <a:prstGeom prst="rect">
            <a:avLst/>
          </a:prstGeom>
          <a:noFill/>
          <a:ln/>
        </p:spPr>
        <p:txBody>
          <a:bodyPr wrap="square" lIns="0" tIns="0" rIns="0" bIns="0" rtlCol="0" anchor="ctr"/>
          <a:lstStyle/>
          <a:p>
            <a:pPr indent="0" marL="0">
              <a:buNone/>
            </a:pPr>
            <a:r>
              <a:rPr lang="en-US" sz="950" b="1" spc="140" kern="0" dirty="0">
                <a:solidFill>
                  <a:srgbClr val="3D6EA6"/>
                </a:solidFill>
                <a:latin typeface="Calibri" pitchFamily="34" charset="0"/>
                <a:ea typeface="Calibri" pitchFamily="34" charset="-122"/>
                <a:cs typeface="Calibri" pitchFamily="34" charset="-120"/>
              </a:rPr>
              <a:t>AND IT COMPOUNDS AT SCALE</a:t>
            </a:r>
            <a:endParaRPr lang="en-US" sz="950" dirty="0"/>
          </a:p>
        </p:txBody>
      </p:sp>
      <p:sp>
        <p:nvSpPr>
          <p:cNvPr id="12" name="Text 10"/>
          <p:cNvSpPr txBox="1"/>
          <p:nvPr/>
        </p:nvSpPr>
        <p:spPr>
          <a:xfrm>
            <a:off x="6501384" y="2487168"/>
            <a:ext cx="4892040" cy="786384"/>
          </a:xfrm>
          <a:prstGeom prst="rect">
            <a:avLst/>
          </a:prstGeom>
          <a:noFill/>
          <a:ln/>
        </p:spPr>
        <p:txBody>
          <a:bodyPr wrap="square" lIns="0" tIns="0" rIns="0" bIns="0" rtlCol="0" anchor="t"/>
          <a:lstStyle/>
          <a:p>
            <a:pPr indent="0" marL="0">
              <a:lnSpc>
                <a:spcPct val="118000"/>
              </a:lnSpc>
              <a:buNone/>
            </a:pPr>
            <a:r>
              <a:rPr lang="en-US" sz="1350" dirty="0">
                <a:solidFill>
                  <a:srgbClr val="241A4C"/>
                </a:solidFill>
                <a:latin typeface="Cambria" pitchFamily="34" charset="0"/>
                <a:ea typeface="Cambria" pitchFamily="34" charset="-122"/>
                <a:cs typeface="Cambria" pitchFamily="34" charset="-120"/>
              </a:rPr>
              <a:t>A request that fans out to N services waits for the slowest of the N.</a:t>
            </a:r>
            <a:endParaRPr lang="en-US" sz="1350" dirty="0"/>
          </a:p>
        </p:txBody>
      </p:sp>
      <p:sp>
        <p:nvSpPr>
          <p:cNvPr id="13" name="Text 11"/>
          <p:cNvSpPr txBox="1"/>
          <p:nvPr/>
        </p:nvSpPr>
        <p:spPr>
          <a:xfrm>
            <a:off x="6501384" y="3328416"/>
            <a:ext cx="4892040" cy="786384"/>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At N = 100, an event at one service's 99th percentile is expected on most requests. The tail of a component becomes the median of the system — Dean and Barroso's “tail at scale”.</a:t>
            </a:r>
            <a:endParaRPr lang="en-US" sz="1050" dirty="0"/>
          </a:p>
        </p:txBody>
      </p:sp>
      <p:sp>
        <p:nvSpPr>
          <p:cNvPr id="14" name="Text 12"/>
          <p:cNvSpPr txBox="1"/>
          <p:nvPr/>
        </p:nvSpPr>
        <p:spPr>
          <a:xfrm>
            <a:off x="6501384" y="4151376"/>
            <a:ext cx="4892040" cy="384048"/>
          </a:xfrm>
          <a:prstGeom prst="rect">
            <a:avLst/>
          </a:prstGeom>
          <a:noFill/>
          <a:ln/>
        </p:spPr>
        <p:txBody>
          <a:bodyPr wrap="square" lIns="0" tIns="0" rIns="0" bIns="0" rtlCol="0" anchor="t"/>
          <a:lstStyle/>
          <a:p>
            <a:pPr indent="0" marL="0">
              <a:lnSpc>
                <a:spcPct val="115000"/>
              </a:lnSpc>
              <a:buNone/>
            </a:pPr>
            <a:r>
              <a:rPr lang="en-US" sz="1000" i="1" dirty="0">
                <a:solidFill>
                  <a:srgbClr val="3D6EA6"/>
                </a:solidFill>
                <a:latin typeface="Calibri" pitchFamily="34" charset="0"/>
                <a:ea typeface="Calibri" pitchFamily="34" charset="-122"/>
                <a:cs typeface="Calibri" pitchFamily="34" charset="-120"/>
              </a:rPr>
              <a:t>So in a distributed system, the p99 of a dependency is not an edge case. It is the common case.</a:t>
            </a:r>
            <a:endParaRPr lang="en-US" sz="1000" dirty="0"/>
          </a:p>
        </p:txBody>
      </p:sp>
      <p:sp>
        <p:nvSpPr>
          <p:cNvPr id="15" name="Text 13"/>
          <p:cNvSpPr txBox="1"/>
          <p:nvPr/>
        </p:nvSpPr>
        <p:spPr>
          <a:xfrm>
            <a:off x="502920" y="4882896"/>
            <a:ext cx="2624328" cy="420624"/>
          </a:xfrm>
          <a:prstGeom prst="rect">
            <a:avLst/>
          </a:prstGeom>
          <a:noFill/>
          <a:ln/>
        </p:spPr>
        <p:txBody>
          <a:bodyPr wrap="square" lIns="0" tIns="0" rIns="0" bIns="0" rtlCol="0" anchor="t"/>
          <a:lstStyle/>
          <a:p>
            <a:pPr indent="0" marL="0">
              <a:lnSpc>
                <a:spcPct val="105000"/>
              </a:lnSpc>
              <a:buNone/>
            </a:pPr>
            <a:r>
              <a:rPr lang="en-US" sz="1200" b="1" dirty="0">
                <a:solidFill>
                  <a:srgbClr val="241A4C"/>
                </a:solidFill>
                <a:latin typeface="Cambria" pitchFamily="34" charset="0"/>
                <a:ea typeface="Cambria" pitchFamily="34" charset="-122"/>
                <a:cs typeface="Cambria" pitchFamily="34" charset="-120"/>
              </a:rPr>
              <a:t>Report the distribution</a:t>
            </a:r>
            <a:endParaRPr lang="en-US" sz="1200" dirty="0"/>
          </a:p>
        </p:txBody>
      </p:sp>
      <p:sp>
        <p:nvSpPr>
          <p:cNvPr id="16" name="Text 14"/>
          <p:cNvSpPr txBox="1"/>
          <p:nvPr/>
        </p:nvSpPr>
        <p:spPr>
          <a:xfrm>
            <a:off x="502920" y="5358384"/>
            <a:ext cx="2624328" cy="859536"/>
          </a:xfrm>
          <a:prstGeom prst="rect">
            <a:avLst/>
          </a:prstGeom>
          <a:noFill/>
          <a:ln/>
        </p:spPr>
        <p:txBody>
          <a:bodyPr wrap="square" lIns="0" tIns="0" rIns="0" bIns="0" rtlCol="0" anchor="t"/>
          <a:lstStyle/>
          <a:p>
            <a:pPr indent="0" marL="0">
              <a:lnSpc>
                <a:spcPct val="118000"/>
              </a:lnSpc>
              <a:buNone/>
            </a:pPr>
            <a:r>
              <a:rPr lang="en-US" sz="1000" dirty="0">
                <a:solidFill>
                  <a:srgbClr val="5C5A66"/>
                </a:solidFill>
                <a:latin typeface="Calibri" pitchFamily="34" charset="0"/>
                <a:ea typeface="Calibri" pitchFamily="34" charset="-122"/>
                <a:cs typeface="Calibri" pitchFamily="34" charset="-120"/>
              </a:rPr>
              <a:t>At minimum: median, 95th, 99th, and maximum — together with how many samples produced them.</a:t>
            </a:r>
            <a:endParaRPr lang="en-US" sz="1000" dirty="0"/>
          </a:p>
        </p:txBody>
      </p:sp>
      <p:sp>
        <p:nvSpPr>
          <p:cNvPr id="17" name="Text 15"/>
          <p:cNvSpPr txBox="1"/>
          <p:nvPr/>
        </p:nvSpPr>
        <p:spPr>
          <a:xfrm>
            <a:off x="3355848" y="4882896"/>
            <a:ext cx="2624328" cy="420624"/>
          </a:xfrm>
          <a:prstGeom prst="rect">
            <a:avLst/>
          </a:prstGeom>
          <a:noFill/>
          <a:ln/>
        </p:spPr>
        <p:txBody>
          <a:bodyPr wrap="square" lIns="0" tIns="0" rIns="0" bIns="0" rtlCol="0" anchor="t"/>
          <a:lstStyle/>
          <a:p>
            <a:pPr indent="0" marL="0">
              <a:lnSpc>
                <a:spcPct val="105000"/>
              </a:lnSpc>
              <a:buNone/>
            </a:pPr>
            <a:r>
              <a:rPr lang="en-US" sz="1200" b="1" dirty="0">
                <a:solidFill>
                  <a:srgbClr val="241A4C"/>
                </a:solidFill>
                <a:latin typeface="Cambria" pitchFamily="34" charset="0"/>
                <a:ea typeface="Cambria" pitchFamily="34" charset="-122"/>
                <a:cs typeface="Cambria" pitchFamily="34" charset="-120"/>
              </a:rPr>
              <a:t>Percentiles do not average</a:t>
            </a:r>
            <a:endParaRPr lang="en-US" sz="1200" dirty="0"/>
          </a:p>
        </p:txBody>
      </p:sp>
      <p:sp>
        <p:nvSpPr>
          <p:cNvPr id="18" name="Text 16"/>
          <p:cNvSpPr txBox="1"/>
          <p:nvPr/>
        </p:nvSpPr>
        <p:spPr>
          <a:xfrm>
            <a:off x="3355848" y="5358384"/>
            <a:ext cx="2624328" cy="859536"/>
          </a:xfrm>
          <a:prstGeom prst="rect">
            <a:avLst/>
          </a:prstGeom>
          <a:noFill/>
          <a:ln/>
        </p:spPr>
        <p:txBody>
          <a:bodyPr wrap="square" lIns="0" tIns="0" rIns="0" bIns="0" rtlCol="0" anchor="t"/>
          <a:lstStyle/>
          <a:p>
            <a:pPr indent="0" marL="0">
              <a:lnSpc>
                <a:spcPct val="118000"/>
              </a:lnSpc>
              <a:buNone/>
            </a:pPr>
            <a:r>
              <a:rPr lang="en-US" sz="1000" dirty="0">
                <a:solidFill>
                  <a:srgbClr val="5C5A66"/>
                </a:solidFill>
                <a:latin typeface="Calibri" pitchFamily="34" charset="0"/>
                <a:ea typeface="Calibri" pitchFamily="34" charset="-122"/>
                <a:cs typeface="Calibri" pitchFamily="34" charset="-120"/>
              </a:rPr>
              <a:t>You cannot take the mean of per-machine p99 values and call it the system p99. Aggregate the raw observations.</a:t>
            </a:r>
            <a:endParaRPr lang="en-US" sz="1000" dirty="0"/>
          </a:p>
        </p:txBody>
      </p:sp>
      <p:sp>
        <p:nvSpPr>
          <p:cNvPr id="19" name="Text 17"/>
          <p:cNvSpPr txBox="1"/>
          <p:nvPr/>
        </p:nvSpPr>
        <p:spPr>
          <a:xfrm>
            <a:off x="6208776" y="4882896"/>
            <a:ext cx="2624328" cy="420624"/>
          </a:xfrm>
          <a:prstGeom prst="rect">
            <a:avLst/>
          </a:prstGeom>
          <a:noFill/>
          <a:ln/>
        </p:spPr>
        <p:txBody>
          <a:bodyPr wrap="square" lIns="0" tIns="0" rIns="0" bIns="0" rtlCol="0" anchor="t"/>
          <a:lstStyle/>
          <a:p>
            <a:pPr indent="0" marL="0">
              <a:lnSpc>
                <a:spcPct val="105000"/>
              </a:lnSpc>
              <a:buNone/>
            </a:pPr>
            <a:r>
              <a:rPr lang="en-US" sz="1200" b="1" dirty="0">
                <a:solidFill>
                  <a:srgbClr val="241A4C"/>
                </a:solidFill>
                <a:latin typeface="Cambria" pitchFamily="34" charset="0"/>
                <a:ea typeface="Cambria" pitchFamily="34" charset="-122"/>
                <a:cs typeface="Cambria" pitchFamily="34" charset="-120"/>
              </a:rPr>
              <a:t>State the load</a:t>
            </a:r>
            <a:endParaRPr lang="en-US" sz="1200" dirty="0"/>
          </a:p>
        </p:txBody>
      </p:sp>
      <p:sp>
        <p:nvSpPr>
          <p:cNvPr id="20" name="Text 18"/>
          <p:cNvSpPr txBox="1"/>
          <p:nvPr/>
        </p:nvSpPr>
        <p:spPr>
          <a:xfrm>
            <a:off x="6208776" y="5358384"/>
            <a:ext cx="2624328" cy="859536"/>
          </a:xfrm>
          <a:prstGeom prst="rect">
            <a:avLst/>
          </a:prstGeom>
          <a:noFill/>
          <a:ln/>
        </p:spPr>
        <p:txBody>
          <a:bodyPr wrap="square" lIns="0" tIns="0" rIns="0" bIns="0" rtlCol="0" anchor="t"/>
          <a:lstStyle/>
          <a:p>
            <a:pPr indent="0" marL="0">
              <a:lnSpc>
                <a:spcPct val="118000"/>
              </a:lnSpc>
              <a:buNone/>
            </a:pPr>
            <a:r>
              <a:rPr lang="en-US" sz="1000" dirty="0">
                <a:solidFill>
                  <a:srgbClr val="5C5A66"/>
                </a:solidFill>
                <a:latin typeface="Calibri" pitchFamily="34" charset="0"/>
                <a:ea typeface="Calibri" pitchFamily="34" charset="-122"/>
                <a:cs typeface="Calibri" pitchFamily="34" charset="-120"/>
              </a:rPr>
              <a:t>Tail latency is far more load-sensitive than the mean. A percentile without an offered load is not interpretable.</a:t>
            </a:r>
            <a:endParaRPr lang="en-US" sz="1000" dirty="0"/>
          </a:p>
        </p:txBody>
      </p:sp>
      <p:sp>
        <p:nvSpPr>
          <p:cNvPr id="21" name="Text 19"/>
          <p:cNvSpPr txBox="1"/>
          <p:nvPr/>
        </p:nvSpPr>
        <p:spPr>
          <a:xfrm>
            <a:off x="9061704" y="4882896"/>
            <a:ext cx="2624328" cy="420624"/>
          </a:xfrm>
          <a:prstGeom prst="rect">
            <a:avLst/>
          </a:prstGeom>
          <a:noFill/>
          <a:ln/>
        </p:spPr>
        <p:txBody>
          <a:bodyPr wrap="square" lIns="0" tIns="0" rIns="0" bIns="0" rtlCol="0" anchor="t"/>
          <a:lstStyle/>
          <a:p>
            <a:pPr indent="0" marL="0">
              <a:lnSpc>
                <a:spcPct val="105000"/>
              </a:lnSpc>
              <a:buNone/>
            </a:pPr>
            <a:r>
              <a:rPr lang="en-US" sz="1200" b="1" dirty="0">
                <a:solidFill>
                  <a:srgbClr val="241A4C"/>
                </a:solidFill>
                <a:latin typeface="Cambria" pitchFamily="34" charset="0"/>
                <a:ea typeface="Cambria" pitchFamily="34" charset="-122"/>
                <a:cs typeface="Cambria" pitchFamily="34" charset="-120"/>
              </a:rPr>
              <a:t>Run long enough</a:t>
            </a:r>
            <a:endParaRPr lang="en-US" sz="1200" dirty="0"/>
          </a:p>
        </p:txBody>
      </p:sp>
      <p:sp>
        <p:nvSpPr>
          <p:cNvPr id="22" name="Text 20"/>
          <p:cNvSpPr txBox="1"/>
          <p:nvPr/>
        </p:nvSpPr>
        <p:spPr>
          <a:xfrm>
            <a:off x="9061704" y="5358384"/>
            <a:ext cx="2624328" cy="859536"/>
          </a:xfrm>
          <a:prstGeom prst="rect">
            <a:avLst/>
          </a:prstGeom>
          <a:noFill/>
          <a:ln/>
        </p:spPr>
        <p:txBody>
          <a:bodyPr wrap="square" lIns="0" tIns="0" rIns="0" bIns="0" rtlCol="0" anchor="t"/>
          <a:lstStyle/>
          <a:p>
            <a:pPr indent="0" marL="0">
              <a:lnSpc>
                <a:spcPct val="118000"/>
              </a:lnSpc>
              <a:buNone/>
            </a:pPr>
            <a:r>
              <a:rPr lang="en-US" sz="1000" dirty="0">
                <a:solidFill>
                  <a:srgbClr val="5C5A66"/>
                </a:solidFill>
                <a:latin typeface="Calibri" pitchFamily="34" charset="0"/>
                <a:ea typeface="Calibri" pitchFamily="34" charset="-122"/>
                <a:cs typeface="Calibri" pitchFamily="34" charset="-120"/>
              </a:rPr>
              <a:t>A p99.9 estimated from 500 requests rests on roughly one observation. Compute the sample size you need.</a:t>
            </a:r>
            <a:endParaRPr lang="en-US" sz="1000" dirty="0"/>
          </a:p>
        </p:txBody>
      </p:sp>
      <p:sp>
        <p:nvSpPr>
          <p:cNvPr id="23" name="Text 2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24" name="Text 2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9 / 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METRICS AND WORKLOADS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Workload Characterisation</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Four kinds of load, ordered roughly from most realistic to most controllable. You cannot have both.</a:t>
            </a:r>
            <a:endParaRPr lang="en-US" sz="1250" dirty="0"/>
          </a:p>
        </p:txBody>
      </p:sp>
      <p:sp>
        <p:nvSpPr>
          <p:cNvPr id="5" name="Shape 3"/>
          <p:cNvSpPr/>
          <p:nvPr/>
        </p:nvSpPr>
        <p:spPr>
          <a:xfrm>
            <a:off x="502920" y="1938528"/>
            <a:ext cx="2624328" cy="3310128"/>
          </a:xfrm>
          <a:prstGeom prst="roundRect">
            <a:avLst>
              <a:gd name="adj" fmla="val 1742"/>
            </a:avLst>
          </a:prstGeom>
          <a:solidFill>
            <a:srgbClr val="F3F1FC"/>
          </a:solidFill>
          <a:ln/>
        </p:spPr>
      </p:sp>
      <p:sp>
        <p:nvSpPr>
          <p:cNvPr id="6" name="Text 4"/>
          <p:cNvSpPr txBox="1"/>
          <p:nvPr/>
        </p:nvSpPr>
        <p:spPr>
          <a:xfrm>
            <a:off x="740664" y="2157984"/>
            <a:ext cx="2148840" cy="201168"/>
          </a:xfrm>
          <a:prstGeom prst="rect">
            <a:avLst/>
          </a:prstGeom>
          <a:noFill/>
          <a:ln/>
        </p:spPr>
        <p:txBody>
          <a:bodyPr wrap="square" lIns="0" tIns="0" rIns="0" bIns="0" rtlCol="0" anchor="ctr"/>
          <a:lstStyle/>
          <a:p>
            <a:pPr indent="0" marL="0">
              <a:buNone/>
            </a:pPr>
            <a:r>
              <a:rPr lang="en-US" sz="800" b="1" spc="120" kern="0" dirty="0">
                <a:solidFill>
                  <a:srgbClr val="3D6EA6"/>
                </a:solidFill>
                <a:latin typeface="Calibri" pitchFamily="34" charset="0"/>
                <a:ea typeface="Calibri" pitchFamily="34" charset="-122"/>
                <a:cs typeface="Calibri" pitchFamily="34" charset="-120"/>
              </a:rPr>
              <a:t>KIND 1</a:t>
            </a:r>
            <a:endParaRPr lang="en-US" sz="800" dirty="0"/>
          </a:p>
        </p:txBody>
      </p:sp>
      <p:sp>
        <p:nvSpPr>
          <p:cNvPr id="7" name="Text 5"/>
          <p:cNvSpPr txBox="1"/>
          <p:nvPr/>
        </p:nvSpPr>
        <p:spPr>
          <a:xfrm>
            <a:off x="740664"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Real workload</a:t>
            </a:r>
            <a:endParaRPr lang="en-US" sz="1550" dirty="0"/>
          </a:p>
        </p:txBody>
      </p:sp>
      <p:sp>
        <p:nvSpPr>
          <p:cNvPr id="8" name="Text 6"/>
          <p:cNvSpPr txBox="1"/>
          <p:nvPr/>
        </p:nvSpPr>
        <p:spPr>
          <a:xfrm>
            <a:off x="740664"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The actual production load, measured in place.</a:t>
            </a:r>
            <a:endParaRPr lang="en-US" sz="1100" dirty="0"/>
          </a:p>
        </p:txBody>
      </p:sp>
      <p:sp>
        <p:nvSpPr>
          <p:cNvPr id="9" name="Text 7"/>
          <p:cNvSpPr txBox="1"/>
          <p:nvPr/>
        </p:nvSpPr>
        <p:spPr>
          <a:xfrm>
            <a:off x="740664"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THE TRADE</a:t>
            </a:r>
            <a:endParaRPr lang="en-US" sz="750" dirty="0"/>
          </a:p>
        </p:txBody>
      </p:sp>
      <p:sp>
        <p:nvSpPr>
          <p:cNvPr id="10" name="Text 8"/>
          <p:cNvSpPr txBox="1"/>
          <p:nvPr/>
        </p:nvSpPr>
        <p:spPr>
          <a:xfrm>
            <a:off x="740664"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3D6EA6"/>
                </a:solidFill>
                <a:latin typeface="Calibri" pitchFamily="34" charset="0"/>
                <a:ea typeface="Calibri" pitchFamily="34" charset="-122"/>
                <a:cs typeface="Calibri" pitchFamily="34" charset="-120"/>
              </a:rPr>
              <a:t>Maximally representative, entirely unrepeatable, and usually unavailable to anyone else. Excellent for validation; useless for a controlled comparison.</a:t>
            </a:r>
            <a:endParaRPr lang="en-US" sz="1000" dirty="0"/>
          </a:p>
        </p:txBody>
      </p:sp>
      <p:sp>
        <p:nvSpPr>
          <p:cNvPr id="11" name="Shape 9"/>
          <p:cNvSpPr/>
          <p:nvPr/>
        </p:nvSpPr>
        <p:spPr>
          <a:xfrm>
            <a:off x="3355848" y="1938528"/>
            <a:ext cx="2624328" cy="3310128"/>
          </a:xfrm>
          <a:prstGeom prst="roundRect">
            <a:avLst>
              <a:gd name="adj" fmla="val 1742"/>
            </a:avLst>
          </a:prstGeom>
          <a:solidFill>
            <a:srgbClr val="F3F1FC"/>
          </a:solidFill>
          <a:ln/>
        </p:spPr>
      </p:sp>
      <p:sp>
        <p:nvSpPr>
          <p:cNvPr id="12" name="Text 10"/>
          <p:cNvSpPr txBox="1"/>
          <p:nvPr/>
        </p:nvSpPr>
        <p:spPr>
          <a:xfrm>
            <a:off x="3593592" y="2157984"/>
            <a:ext cx="2148840" cy="201168"/>
          </a:xfrm>
          <a:prstGeom prst="rect">
            <a:avLst/>
          </a:prstGeom>
          <a:noFill/>
          <a:ln/>
        </p:spPr>
        <p:txBody>
          <a:bodyPr wrap="square" lIns="0" tIns="0" rIns="0" bIns="0" rtlCol="0" anchor="ctr"/>
          <a:lstStyle/>
          <a:p>
            <a:pPr indent="0" marL="0">
              <a:buNone/>
            </a:pPr>
            <a:r>
              <a:rPr lang="en-US" sz="800" b="1" spc="120" kern="0" dirty="0">
                <a:solidFill>
                  <a:srgbClr val="B4522B"/>
                </a:solidFill>
                <a:latin typeface="Calibri" pitchFamily="34" charset="0"/>
                <a:ea typeface="Calibri" pitchFamily="34" charset="-122"/>
                <a:cs typeface="Calibri" pitchFamily="34" charset="-120"/>
              </a:rPr>
              <a:t>KIND 2</a:t>
            </a:r>
            <a:endParaRPr lang="en-US" sz="800" dirty="0"/>
          </a:p>
        </p:txBody>
      </p:sp>
      <p:sp>
        <p:nvSpPr>
          <p:cNvPr id="13" name="Text 11"/>
          <p:cNvSpPr txBox="1"/>
          <p:nvPr/>
        </p:nvSpPr>
        <p:spPr>
          <a:xfrm>
            <a:off x="3593592"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Trace-driven</a:t>
            </a:r>
            <a:endParaRPr lang="en-US" sz="1550" dirty="0"/>
          </a:p>
        </p:txBody>
      </p:sp>
      <p:sp>
        <p:nvSpPr>
          <p:cNvPr id="14" name="Text 12"/>
          <p:cNvSpPr txBox="1"/>
          <p:nvPr/>
        </p:nvSpPr>
        <p:spPr>
          <a:xfrm>
            <a:off x="3593592"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A recorded log of real requests, replayed against the system.</a:t>
            </a:r>
            <a:endParaRPr lang="en-US" sz="1100" dirty="0"/>
          </a:p>
        </p:txBody>
      </p:sp>
      <p:sp>
        <p:nvSpPr>
          <p:cNvPr id="15" name="Text 13"/>
          <p:cNvSpPr txBox="1"/>
          <p:nvPr/>
        </p:nvSpPr>
        <p:spPr>
          <a:xfrm>
            <a:off x="3593592"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THE TRADE</a:t>
            </a:r>
            <a:endParaRPr lang="en-US" sz="750" dirty="0"/>
          </a:p>
        </p:txBody>
      </p:sp>
      <p:sp>
        <p:nvSpPr>
          <p:cNvPr id="16" name="Text 14"/>
          <p:cNvSpPr txBox="1"/>
          <p:nvPr/>
        </p:nvSpPr>
        <p:spPr>
          <a:xfrm>
            <a:off x="3593592"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4522B"/>
                </a:solidFill>
                <a:latin typeface="Calibri" pitchFamily="34" charset="0"/>
                <a:ea typeface="Calibri" pitchFamily="34" charset="-122"/>
                <a:cs typeface="Calibri" pitchFamily="34" charset="-120"/>
              </a:rPr>
              <a:t>Repeatable and realistic. But a trace captures one period and one deployment, and replaying it loses the feedback between system speed and user behaviour.</a:t>
            </a:r>
            <a:endParaRPr lang="en-US" sz="1000" dirty="0"/>
          </a:p>
        </p:txBody>
      </p:sp>
      <p:sp>
        <p:nvSpPr>
          <p:cNvPr id="17" name="Shape 15"/>
          <p:cNvSpPr/>
          <p:nvPr/>
        </p:nvSpPr>
        <p:spPr>
          <a:xfrm>
            <a:off x="6208776" y="1938528"/>
            <a:ext cx="2624328" cy="3310128"/>
          </a:xfrm>
          <a:prstGeom prst="roundRect">
            <a:avLst>
              <a:gd name="adj" fmla="val 1742"/>
            </a:avLst>
          </a:prstGeom>
          <a:solidFill>
            <a:srgbClr val="F3F1FC"/>
          </a:solidFill>
          <a:ln/>
        </p:spPr>
      </p:sp>
      <p:sp>
        <p:nvSpPr>
          <p:cNvPr id="18" name="Text 16"/>
          <p:cNvSpPr txBox="1"/>
          <p:nvPr/>
        </p:nvSpPr>
        <p:spPr>
          <a:xfrm>
            <a:off x="6446520" y="2157984"/>
            <a:ext cx="2148840" cy="201168"/>
          </a:xfrm>
          <a:prstGeom prst="rect">
            <a:avLst/>
          </a:prstGeom>
          <a:noFill/>
          <a:ln/>
        </p:spPr>
        <p:txBody>
          <a:bodyPr wrap="square" lIns="0" tIns="0" rIns="0" bIns="0" rtlCol="0" anchor="ctr"/>
          <a:lstStyle/>
          <a:p>
            <a:pPr indent="0" marL="0">
              <a:buNone/>
            </a:pPr>
            <a:r>
              <a:rPr lang="en-US" sz="800" b="1" spc="120" kern="0" dirty="0">
                <a:solidFill>
                  <a:srgbClr val="B08C3A"/>
                </a:solidFill>
                <a:latin typeface="Calibri" pitchFamily="34" charset="0"/>
                <a:ea typeface="Calibri" pitchFamily="34" charset="-122"/>
                <a:cs typeface="Calibri" pitchFamily="34" charset="-120"/>
              </a:rPr>
              <a:t>KIND 3</a:t>
            </a:r>
            <a:endParaRPr lang="en-US" sz="800" dirty="0"/>
          </a:p>
        </p:txBody>
      </p:sp>
      <p:sp>
        <p:nvSpPr>
          <p:cNvPr id="19" name="Text 17"/>
          <p:cNvSpPr txBox="1"/>
          <p:nvPr/>
        </p:nvSpPr>
        <p:spPr>
          <a:xfrm>
            <a:off x="6446520"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Benchmark suite</a:t>
            </a:r>
            <a:endParaRPr lang="en-US" sz="1550" dirty="0"/>
          </a:p>
        </p:txBody>
      </p:sp>
      <p:sp>
        <p:nvSpPr>
          <p:cNvPr id="20" name="Text 18"/>
          <p:cNvSpPr txBox="1"/>
          <p:nvPr/>
        </p:nvSpPr>
        <p:spPr>
          <a:xfrm>
            <a:off x="6446520"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Standard programs with published run rules.</a:t>
            </a:r>
            <a:endParaRPr lang="en-US" sz="1100" dirty="0"/>
          </a:p>
        </p:txBody>
      </p:sp>
      <p:sp>
        <p:nvSpPr>
          <p:cNvPr id="21" name="Text 19"/>
          <p:cNvSpPr txBox="1"/>
          <p:nvPr/>
        </p:nvSpPr>
        <p:spPr>
          <a:xfrm>
            <a:off x="6446520"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THE TRADE</a:t>
            </a:r>
            <a:endParaRPr lang="en-US" sz="750" dirty="0"/>
          </a:p>
        </p:txBody>
      </p:sp>
      <p:sp>
        <p:nvSpPr>
          <p:cNvPr id="22" name="Text 20"/>
          <p:cNvSpPr txBox="1"/>
          <p:nvPr/>
        </p:nvSpPr>
        <p:spPr>
          <a:xfrm>
            <a:off x="6446520"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08C3A"/>
                </a:solidFill>
                <a:latin typeface="Calibri" pitchFamily="34" charset="0"/>
                <a:ea typeface="Calibri" pitchFamily="34" charset="-122"/>
                <a:cs typeface="Calibri" pitchFamily="34" charset="-120"/>
              </a:rPr>
              <a:t>SPEC CPU, TPC-C, YCSB, DaCapo. Comparable across papers and across years — and, per Lecture 3, steadily eroded by Goodhart's law.</a:t>
            </a:r>
            <a:endParaRPr lang="en-US" sz="1000" dirty="0"/>
          </a:p>
        </p:txBody>
      </p:sp>
      <p:sp>
        <p:nvSpPr>
          <p:cNvPr id="23" name="Shape 21"/>
          <p:cNvSpPr/>
          <p:nvPr/>
        </p:nvSpPr>
        <p:spPr>
          <a:xfrm>
            <a:off x="9061704" y="1938528"/>
            <a:ext cx="2624328" cy="3310128"/>
          </a:xfrm>
          <a:prstGeom prst="roundRect">
            <a:avLst>
              <a:gd name="adj" fmla="val 1742"/>
            </a:avLst>
          </a:prstGeom>
          <a:solidFill>
            <a:srgbClr val="F3F1FC"/>
          </a:solidFill>
          <a:ln/>
        </p:spPr>
      </p:sp>
      <p:sp>
        <p:nvSpPr>
          <p:cNvPr id="24" name="Text 22"/>
          <p:cNvSpPr txBox="1"/>
          <p:nvPr/>
        </p:nvSpPr>
        <p:spPr>
          <a:xfrm>
            <a:off x="9299448" y="2157984"/>
            <a:ext cx="2148840" cy="201168"/>
          </a:xfrm>
          <a:prstGeom prst="rect">
            <a:avLst/>
          </a:prstGeom>
          <a:noFill/>
          <a:ln/>
        </p:spPr>
        <p:txBody>
          <a:bodyPr wrap="square" lIns="0" tIns="0" rIns="0" bIns="0" rtlCol="0" anchor="ctr"/>
          <a:lstStyle/>
          <a:p>
            <a:pPr indent="0" marL="0">
              <a:buNone/>
            </a:pPr>
            <a:r>
              <a:rPr lang="en-US" sz="800" b="1" spc="120" kern="0" dirty="0">
                <a:solidFill>
                  <a:srgbClr val="241A4C"/>
                </a:solidFill>
                <a:latin typeface="Calibri" pitchFamily="34" charset="0"/>
                <a:ea typeface="Calibri" pitchFamily="34" charset="-122"/>
                <a:cs typeface="Calibri" pitchFamily="34" charset="-120"/>
              </a:rPr>
              <a:t>KIND 4</a:t>
            </a:r>
            <a:endParaRPr lang="en-US" sz="800" dirty="0"/>
          </a:p>
        </p:txBody>
      </p:sp>
      <p:sp>
        <p:nvSpPr>
          <p:cNvPr id="25" name="Text 23"/>
          <p:cNvSpPr txBox="1"/>
          <p:nvPr/>
        </p:nvSpPr>
        <p:spPr>
          <a:xfrm>
            <a:off x="9299448"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Synthetic</a:t>
            </a:r>
            <a:endParaRPr lang="en-US" sz="1550" dirty="0"/>
          </a:p>
        </p:txBody>
      </p:sp>
      <p:sp>
        <p:nvSpPr>
          <p:cNvPr id="26" name="Text 24"/>
          <p:cNvSpPr txBox="1"/>
          <p:nvPr/>
        </p:nvSpPr>
        <p:spPr>
          <a:xfrm>
            <a:off x="9299448"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Generated load with tunable parameters, or a microbenchmark isolating one operation.</a:t>
            </a:r>
            <a:endParaRPr lang="en-US" sz="1100" dirty="0"/>
          </a:p>
        </p:txBody>
      </p:sp>
      <p:sp>
        <p:nvSpPr>
          <p:cNvPr id="27" name="Text 25"/>
          <p:cNvSpPr txBox="1"/>
          <p:nvPr/>
        </p:nvSpPr>
        <p:spPr>
          <a:xfrm>
            <a:off x="9299448"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THE TRADE</a:t>
            </a:r>
            <a:endParaRPr lang="en-US" sz="750" dirty="0"/>
          </a:p>
        </p:txBody>
      </p:sp>
      <p:sp>
        <p:nvSpPr>
          <p:cNvPr id="28" name="Text 26"/>
          <p:cNvSpPr txBox="1"/>
          <p:nvPr/>
        </p:nvSpPr>
        <p:spPr>
          <a:xfrm>
            <a:off x="9299448"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241A4C"/>
                </a:solidFill>
                <a:latin typeface="Calibri" pitchFamily="34" charset="0"/>
                <a:ea typeface="Calibri" pitchFamily="34" charset="-122"/>
                <a:cs typeface="Calibri" pitchFamily="34" charset="-120"/>
              </a:rPr>
              <a:t>Ideal for explaining a mechanism and for sweeping a parameter. Dangerous as evidence about whole-system performance, which it systematically distorts.</a:t>
            </a:r>
            <a:endParaRPr lang="en-US" sz="1000" dirty="0"/>
          </a:p>
        </p:txBody>
      </p:sp>
      <p:sp>
        <p:nvSpPr>
          <p:cNvPr id="29" name="Text 27"/>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Whichever you choose, state how the workload relates to the population you are claiming about. That single sentence is Lecture 4's external-validity argument, in performance clothing.</a:t>
            </a:r>
            <a:endParaRPr lang="en-US" sz="1150" dirty="0"/>
          </a:p>
        </p:txBody>
      </p:sp>
      <p:sp>
        <p:nvSpPr>
          <p:cNvPr id="30" name="Text 28"/>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31" name="Text 29"/>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10 / 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MEASURING PROPERLY</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Experimental Design: Factors and Levels</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With k factors at l levels each, a full sweep costs l^k runs. These are the standard ways of spending fewer without learning less than you need.</a:t>
            </a:r>
            <a:endParaRPr lang="en-US" sz="1250" dirty="0"/>
          </a:p>
        </p:txBody>
      </p:sp>
      <p:sp>
        <p:nvSpPr>
          <p:cNvPr id="5" name="Shape 3"/>
          <p:cNvSpPr/>
          <p:nvPr/>
        </p:nvSpPr>
        <p:spPr>
          <a:xfrm>
            <a:off x="502920" y="1938528"/>
            <a:ext cx="2286000" cy="384048"/>
          </a:xfrm>
          <a:prstGeom prst="rect">
            <a:avLst/>
          </a:prstGeom>
          <a:solidFill>
            <a:srgbClr val="241A4C"/>
          </a:solidFill>
          <a:ln w="19050">
            <a:solidFill>
              <a:srgbClr val="FFFFFF"/>
            </a:solidFill>
            <a:prstDash val="solid"/>
          </a:ln>
        </p:spPr>
      </p:sp>
      <p:sp>
        <p:nvSpPr>
          <p:cNvPr id="6" name="Text 4"/>
          <p:cNvSpPr txBox="1"/>
          <p:nvPr/>
        </p:nvSpPr>
        <p:spPr>
          <a:xfrm>
            <a:off x="649224" y="1938528"/>
            <a:ext cx="199339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DESIGN</a:t>
            </a:r>
            <a:endParaRPr lang="en-US" sz="850" dirty="0"/>
          </a:p>
        </p:txBody>
      </p:sp>
      <p:sp>
        <p:nvSpPr>
          <p:cNvPr id="7" name="Shape 5"/>
          <p:cNvSpPr/>
          <p:nvPr/>
        </p:nvSpPr>
        <p:spPr>
          <a:xfrm>
            <a:off x="2788920" y="1938528"/>
            <a:ext cx="3931920" cy="384048"/>
          </a:xfrm>
          <a:prstGeom prst="rect">
            <a:avLst/>
          </a:prstGeom>
          <a:solidFill>
            <a:srgbClr val="241A4C"/>
          </a:solidFill>
          <a:ln w="19050">
            <a:solidFill>
              <a:srgbClr val="FFFFFF"/>
            </a:solidFill>
            <a:prstDash val="solid"/>
          </a:ln>
        </p:spPr>
      </p:sp>
      <p:sp>
        <p:nvSpPr>
          <p:cNvPr id="8" name="Text 6"/>
          <p:cNvSpPr txBox="1"/>
          <p:nvPr/>
        </p:nvSpPr>
        <p:spPr>
          <a:xfrm>
            <a:off x="2935224" y="1938528"/>
            <a:ext cx="363931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WHAT IT DOES</a:t>
            </a:r>
            <a:endParaRPr lang="en-US" sz="850" dirty="0"/>
          </a:p>
        </p:txBody>
      </p:sp>
      <p:sp>
        <p:nvSpPr>
          <p:cNvPr id="9" name="Shape 7"/>
          <p:cNvSpPr/>
          <p:nvPr/>
        </p:nvSpPr>
        <p:spPr>
          <a:xfrm>
            <a:off x="6720840" y="1938528"/>
            <a:ext cx="1417320" cy="384048"/>
          </a:xfrm>
          <a:prstGeom prst="rect">
            <a:avLst/>
          </a:prstGeom>
          <a:solidFill>
            <a:srgbClr val="241A4C"/>
          </a:solidFill>
          <a:ln w="19050">
            <a:solidFill>
              <a:srgbClr val="FFFFFF"/>
            </a:solidFill>
            <a:prstDash val="solid"/>
          </a:ln>
        </p:spPr>
      </p:sp>
      <p:sp>
        <p:nvSpPr>
          <p:cNvPr id="10" name="Text 8"/>
          <p:cNvSpPr txBox="1"/>
          <p:nvPr/>
        </p:nvSpPr>
        <p:spPr>
          <a:xfrm>
            <a:off x="6867144" y="1938528"/>
            <a:ext cx="112471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RUNS</a:t>
            </a:r>
            <a:endParaRPr lang="en-US" sz="850" dirty="0"/>
          </a:p>
        </p:txBody>
      </p:sp>
      <p:sp>
        <p:nvSpPr>
          <p:cNvPr id="11" name="Shape 9"/>
          <p:cNvSpPr/>
          <p:nvPr/>
        </p:nvSpPr>
        <p:spPr>
          <a:xfrm>
            <a:off x="8138160" y="1938528"/>
            <a:ext cx="3547872" cy="384048"/>
          </a:xfrm>
          <a:prstGeom prst="rect">
            <a:avLst/>
          </a:prstGeom>
          <a:solidFill>
            <a:srgbClr val="241A4C"/>
          </a:solidFill>
          <a:ln w="19050">
            <a:solidFill>
              <a:srgbClr val="FFFFFF"/>
            </a:solidFill>
            <a:prstDash val="solid"/>
          </a:ln>
        </p:spPr>
      </p:sp>
      <p:sp>
        <p:nvSpPr>
          <p:cNvPr id="12" name="Text 10"/>
          <p:cNvSpPr txBox="1"/>
          <p:nvPr/>
        </p:nvSpPr>
        <p:spPr>
          <a:xfrm>
            <a:off x="8284464" y="1938528"/>
            <a:ext cx="325526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WHEN TO USE IT</a:t>
            </a:r>
            <a:endParaRPr lang="en-US" sz="850" dirty="0"/>
          </a:p>
        </p:txBody>
      </p:sp>
      <p:sp>
        <p:nvSpPr>
          <p:cNvPr id="13" name="Shape 11"/>
          <p:cNvSpPr/>
          <p:nvPr/>
        </p:nvSpPr>
        <p:spPr>
          <a:xfrm>
            <a:off x="502920" y="2377440"/>
            <a:ext cx="11183112" cy="621792"/>
          </a:xfrm>
          <a:prstGeom prst="rect">
            <a:avLst/>
          </a:prstGeom>
          <a:solidFill>
            <a:srgbClr val="F3F1FC"/>
          </a:solidFill>
          <a:ln/>
        </p:spPr>
      </p:sp>
      <p:sp>
        <p:nvSpPr>
          <p:cNvPr id="14" name="Shape 12"/>
          <p:cNvSpPr/>
          <p:nvPr/>
        </p:nvSpPr>
        <p:spPr>
          <a:xfrm>
            <a:off x="502920" y="2377440"/>
            <a:ext cx="50292" cy="621792"/>
          </a:xfrm>
          <a:prstGeom prst="rect">
            <a:avLst/>
          </a:prstGeom>
          <a:solidFill>
            <a:srgbClr val="B4522B"/>
          </a:solidFill>
          <a:ln/>
        </p:spPr>
      </p:sp>
      <p:sp>
        <p:nvSpPr>
          <p:cNvPr id="15" name="Text 13"/>
          <p:cNvSpPr txBox="1"/>
          <p:nvPr/>
        </p:nvSpPr>
        <p:spPr>
          <a:xfrm>
            <a:off x="722376" y="2377440"/>
            <a:ext cx="19019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One factor at a time</a:t>
            </a:r>
            <a:endParaRPr lang="en-US" sz="1200" dirty="0"/>
          </a:p>
        </p:txBody>
      </p:sp>
      <p:sp>
        <p:nvSpPr>
          <p:cNvPr id="16" name="Text 14"/>
          <p:cNvSpPr txBox="1"/>
          <p:nvPr/>
        </p:nvSpPr>
        <p:spPr>
          <a:xfrm>
            <a:off x="2953512" y="2377440"/>
            <a:ext cx="36027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Vary a single input; hold everything else fixed.</a:t>
            </a:r>
            <a:endParaRPr lang="en-US" sz="1050" dirty="0"/>
          </a:p>
        </p:txBody>
      </p:sp>
      <p:sp>
        <p:nvSpPr>
          <p:cNvPr id="17" name="Text 15"/>
          <p:cNvSpPr txBox="1"/>
          <p:nvPr/>
        </p:nvSpPr>
        <p:spPr>
          <a:xfrm>
            <a:off x="6885432" y="2377440"/>
            <a:ext cx="10881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k(l−1)+1</a:t>
            </a:r>
            <a:endParaRPr lang="en-US" sz="1050" dirty="0"/>
          </a:p>
        </p:txBody>
      </p:sp>
      <p:sp>
        <p:nvSpPr>
          <p:cNvPr id="18" name="Text 16"/>
          <p:cNvSpPr txBox="1"/>
          <p:nvPr/>
        </p:nvSpPr>
        <p:spPr>
          <a:xfrm>
            <a:off x="8302752" y="2377440"/>
            <a:ext cx="321868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Only when factors are known not to interact — which is rarely established.</a:t>
            </a:r>
            <a:endParaRPr lang="en-US" sz="1050" dirty="0"/>
          </a:p>
        </p:txBody>
      </p:sp>
      <p:sp>
        <p:nvSpPr>
          <p:cNvPr id="19" name="Shape 17"/>
          <p:cNvSpPr/>
          <p:nvPr/>
        </p:nvSpPr>
        <p:spPr>
          <a:xfrm>
            <a:off x="502920" y="3054096"/>
            <a:ext cx="11183112" cy="621792"/>
          </a:xfrm>
          <a:prstGeom prst="rect">
            <a:avLst/>
          </a:prstGeom>
          <a:solidFill>
            <a:srgbClr val="FFFFFF"/>
          </a:solidFill>
          <a:ln/>
        </p:spPr>
      </p:sp>
      <p:sp>
        <p:nvSpPr>
          <p:cNvPr id="20" name="Shape 18"/>
          <p:cNvSpPr/>
          <p:nvPr/>
        </p:nvSpPr>
        <p:spPr>
          <a:xfrm>
            <a:off x="502920" y="3054096"/>
            <a:ext cx="50292" cy="621792"/>
          </a:xfrm>
          <a:prstGeom prst="rect">
            <a:avLst/>
          </a:prstGeom>
          <a:solidFill>
            <a:srgbClr val="D8A73E"/>
          </a:solidFill>
          <a:ln/>
        </p:spPr>
      </p:sp>
      <p:sp>
        <p:nvSpPr>
          <p:cNvPr id="21" name="Text 19"/>
          <p:cNvSpPr txBox="1"/>
          <p:nvPr/>
        </p:nvSpPr>
        <p:spPr>
          <a:xfrm>
            <a:off x="722376" y="3054096"/>
            <a:ext cx="19019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Full factorial</a:t>
            </a:r>
            <a:endParaRPr lang="en-US" sz="1200" dirty="0"/>
          </a:p>
        </p:txBody>
      </p:sp>
      <p:sp>
        <p:nvSpPr>
          <p:cNvPr id="22" name="Text 20"/>
          <p:cNvSpPr txBox="1"/>
          <p:nvPr/>
        </p:nvSpPr>
        <p:spPr>
          <a:xfrm>
            <a:off x="2953512" y="3054096"/>
            <a:ext cx="36027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Every combination of every level of every factor.</a:t>
            </a:r>
            <a:endParaRPr lang="en-US" sz="1050" dirty="0"/>
          </a:p>
        </p:txBody>
      </p:sp>
      <p:sp>
        <p:nvSpPr>
          <p:cNvPr id="23" name="Text 21"/>
          <p:cNvSpPr txBox="1"/>
          <p:nvPr/>
        </p:nvSpPr>
        <p:spPr>
          <a:xfrm>
            <a:off x="6885432" y="3054096"/>
            <a:ext cx="10881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l^k</a:t>
            </a:r>
            <a:endParaRPr lang="en-US" sz="1050" dirty="0"/>
          </a:p>
        </p:txBody>
      </p:sp>
      <p:sp>
        <p:nvSpPr>
          <p:cNvPr id="24" name="Text 22"/>
          <p:cNvSpPr txBox="1"/>
          <p:nvPr/>
        </p:nvSpPr>
        <p:spPr>
          <a:xfrm>
            <a:off x="8302752" y="3054096"/>
            <a:ext cx="321868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Few factors, few levels. Reveals every interaction, at a cost that explodes.</a:t>
            </a:r>
            <a:endParaRPr lang="en-US" sz="1050" dirty="0"/>
          </a:p>
        </p:txBody>
      </p:sp>
      <p:sp>
        <p:nvSpPr>
          <p:cNvPr id="25" name="Shape 23"/>
          <p:cNvSpPr/>
          <p:nvPr/>
        </p:nvSpPr>
        <p:spPr>
          <a:xfrm>
            <a:off x="502920" y="3730752"/>
            <a:ext cx="11183112" cy="621792"/>
          </a:xfrm>
          <a:prstGeom prst="rect">
            <a:avLst/>
          </a:prstGeom>
          <a:solidFill>
            <a:srgbClr val="F3F1FC"/>
          </a:solidFill>
          <a:ln/>
        </p:spPr>
      </p:sp>
      <p:sp>
        <p:nvSpPr>
          <p:cNvPr id="26" name="Shape 24"/>
          <p:cNvSpPr/>
          <p:nvPr/>
        </p:nvSpPr>
        <p:spPr>
          <a:xfrm>
            <a:off x="502920" y="3730752"/>
            <a:ext cx="50292" cy="621792"/>
          </a:xfrm>
          <a:prstGeom prst="rect">
            <a:avLst/>
          </a:prstGeom>
          <a:solidFill>
            <a:srgbClr val="3D6EA6"/>
          </a:solidFill>
          <a:ln/>
        </p:spPr>
      </p:sp>
      <p:sp>
        <p:nvSpPr>
          <p:cNvPr id="27" name="Text 25"/>
          <p:cNvSpPr txBox="1"/>
          <p:nvPr/>
        </p:nvSpPr>
        <p:spPr>
          <a:xfrm>
            <a:off x="722376" y="3730752"/>
            <a:ext cx="19019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2^k factorial</a:t>
            </a:r>
            <a:endParaRPr lang="en-US" sz="1200" dirty="0"/>
          </a:p>
        </p:txBody>
      </p:sp>
      <p:sp>
        <p:nvSpPr>
          <p:cNvPr id="28" name="Text 26"/>
          <p:cNvSpPr txBox="1"/>
          <p:nvPr/>
        </p:nvSpPr>
        <p:spPr>
          <a:xfrm>
            <a:off x="2953512" y="3730752"/>
            <a:ext cx="36027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Every factor at just two levels, low and high.</a:t>
            </a:r>
            <a:endParaRPr lang="en-US" sz="1050" dirty="0"/>
          </a:p>
        </p:txBody>
      </p:sp>
      <p:sp>
        <p:nvSpPr>
          <p:cNvPr id="29" name="Text 27"/>
          <p:cNvSpPr txBox="1"/>
          <p:nvPr/>
        </p:nvSpPr>
        <p:spPr>
          <a:xfrm>
            <a:off x="6885432" y="3730752"/>
            <a:ext cx="10881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2^k</a:t>
            </a:r>
            <a:endParaRPr lang="en-US" sz="1050" dirty="0"/>
          </a:p>
        </p:txBody>
      </p:sp>
      <p:sp>
        <p:nvSpPr>
          <p:cNvPr id="30" name="Text 28"/>
          <p:cNvSpPr txBox="1"/>
          <p:nvPr/>
        </p:nvSpPr>
        <p:spPr>
          <a:xfrm>
            <a:off x="8302752" y="3730752"/>
            <a:ext cx="321868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Screening: finding cheaply which of many factors actually matter.</a:t>
            </a:r>
            <a:endParaRPr lang="en-US" sz="1050" dirty="0"/>
          </a:p>
        </p:txBody>
      </p:sp>
      <p:sp>
        <p:nvSpPr>
          <p:cNvPr id="31" name="Shape 29"/>
          <p:cNvSpPr/>
          <p:nvPr/>
        </p:nvSpPr>
        <p:spPr>
          <a:xfrm>
            <a:off x="502920" y="4407408"/>
            <a:ext cx="11183112" cy="621792"/>
          </a:xfrm>
          <a:prstGeom prst="rect">
            <a:avLst/>
          </a:prstGeom>
          <a:solidFill>
            <a:srgbClr val="FFFFFF"/>
          </a:solidFill>
          <a:ln/>
        </p:spPr>
      </p:sp>
      <p:sp>
        <p:nvSpPr>
          <p:cNvPr id="32" name="Shape 30"/>
          <p:cNvSpPr/>
          <p:nvPr/>
        </p:nvSpPr>
        <p:spPr>
          <a:xfrm>
            <a:off x="502920" y="4407408"/>
            <a:ext cx="50292" cy="621792"/>
          </a:xfrm>
          <a:prstGeom prst="rect">
            <a:avLst/>
          </a:prstGeom>
          <a:solidFill>
            <a:srgbClr val="3D6EA6"/>
          </a:solidFill>
          <a:ln/>
        </p:spPr>
      </p:sp>
      <p:sp>
        <p:nvSpPr>
          <p:cNvPr id="33" name="Text 31"/>
          <p:cNvSpPr txBox="1"/>
          <p:nvPr/>
        </p:nvSpPr>
        <p:spPr>
          <a:xfrm>
            <a:off x="722376" y="4407408"/>
            <a:ext cx="19019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Fractional factorial</a:t>
            </a:r>
            <a:endParaRPr lang="en-US" sz="1200" dirty="0"/>
          </a:p>
        </p:txBody>
      </p:sp>
      <p:sp>
        <p:nvSpPr>
          <p:cNvPr id="34" name="Text 32"/>
          <p:cNvSpPr txBox="1"/>
          <p:nvPr/>
        </p:nvSpPr>
        <p:spPr>
          <a:xfrm>
            <a:off x="2953512" y="4407408"/>
            <a:ext cx="36027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carefully chosen subset of the full design.</a:t>
            </a:r>
            <a:endParaRPr lang="en-US" sz="1050" dirty="0"/>
          </a:p>
        </p:txBody>
      </p:sp>
      <p:sp>
        <p:nvSpPr>
          <p:cNvPr id="35" name="Text 33"/>
          <p:cNvSpPr txBox="1"/>
          <p:nvPr/>
        </p:nvSpPr>
        <p:spPr>
          <a:xfrm>
            <a:off x="6885432" y="4407408"/>
            <a:ext cx="10881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2^(k−p)</a:t>
            </a:r>
            <a:endParaRPr lang="en-US" sz="1050" dirty="0"/>
          </a:p>
        </p:txBody>
      </p:sp>
      <p:sp>
        <p:nvSpPr>
          <p:cNvPr id="36" name="Text 34"/>
          <p:cNvSpPr txBox="1"/>
          <p:nvPr/>
        </p:nvSpPr>
        <p:spPr>
          <a:xfrm>
            <a:off x="8302752" y="4407408"/>
            <a:ext cx="321868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Many factors, accepting that high-order interactions become confounded.</a:t>
            </a:r>
            <a:endParaRPr lang="en-US" sz="1050" dirty="0"/>
          </a:p>
        </p:txBody>
      </p:sp>
      <p:sp>
        <p:nvSpPr>
          <p:cNvPr id="37" name="Shape 35"/>
          <p:cNvSpPr/>
          <p:nvPr/>
        </p:nvSpPr>
        <p:spPr>
          <a:xfrm>
            <a:off x="502920" y="5084064"/>
            <a:ext cx="11183112" cy="621792"/>
          </a:xfrm>
          <a:prstGeom prst="rect">
            <a:avLst/>
          </a:prstGeom>
          <a:solidFill>
            <a:srgbClr val="F3F1FC"/>
          </a:solidFill>
          <a:ln/>
        </p:spPr>
      </p:sp>
      <p:sp>
        <p:nvSpPr>
          <p:cNvPr id="38" name="Shape 36"/>
          <p:cNvSpPr/>
          <p:nvPr/>
        </p:nvSpPr>
        <p:spPr>
          <a:xfrm>
            <a:off x="502920" y="5084064"/>
            <a:ext cx="50292" cy="621792"/>
          </a:xfrm>
          <a:prstGeom prst="rect">
            <a:avLst/>
          </a:prstGeom>
          <a:solidFill>
            <a:srgbClr val="241A4C"/>
          </a:solidFill>
          <a:ln/>
        </p:spPr>
      </p:sp>
      <p:sp>
        <p:nvSpPr>
          <p:cNvPr id="39" name="Text 37"/>
          <p:cNvSpPr txBox="1"/>
          <p:nvPr/>
        </p:nvSpPr>
        <p:spPr>
          <a:xfrm>
            <a:off x="722376" y="5084064"/>
            <a:ext cx="19019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Randomised replication</a:t>
            </a:r>
            <a:endParaRPr lang="en-US" sz="1200" dirty="0"/>
          </a:p>
        </p:txBody>
      </p:sp>
      <p:sp>
        <p:nvSpPr>
          <p:cNvPr id="40" name="Text 38"/>
          <p:cNvSpPr txBox="1"/>
          <p:nvPr/>
        </p:nvSpPr>
        <p:spPr>
          <a:xfrm>
            <a:off x="2953512" y="5084064"/>
            <a:ext cx="36027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Repeat runs, in randomised order.</a:t>
            </a:r>
            <a:endParaRPr lang="en-US" sz="1050" dirty="0"/>
          </a:p>
        </p:txBody>
      </p:sp>
      <p:sp>
        <p:nvSpPr>
          <p:cNvPr id="41" name="Text 39"/>
          <p:cNvSpPr txBox="1"/>
          <p:nvPr/>
        </p:nvSpPr>
        <p:spPr>
          <a:xfrm>
            <a:off x="6885432" y="5084064"/>
            <a:ext cx="10881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 r</a:t>
            </a:r>
            <a:endParaRPr lang="en-US" sz="1050" dirty="0"/>
          </a:p>
        </p:txBody>
      </p:sp>
      <p:sp>
        <p:nvSpPr>
          <p:cNvPr id="42" name="Text 40"/>
          <p:cNvSpPr txBox="1"/>
          <p:nvPr/>
        </p:nvSpPr>
        <p:spPr>
          <a:xfrm>
            <a:off x="8302752" y="5084064"/>
            <a:ext cx="321868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Always. Randomising order converts systematic drift into random error.</a:t>
            </a:r>
            <a:endParaRPr lang="en-US" sz="1050" dirty="0"/>
          </a:p>
        </p:txBody>
      </p:sp>
      <p:sp>
        <p:nvSpPr>
          <p:cNvPr id="43" name="Text 41"/>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One-factor-at-a-time is the default in student work and the design that cannot detect interactions — which, in computer systems, is precisely where the interesting behaviour lives.</a:t>
            </a:r>
            <a:endParaRPr lang="en-US" sz="1150" dirty="0"/>
          </a:p>
        </p:txBody>
      </p:sp>
      <p:sp>
        <p:nvSpPr>
          <p:cNvPr id="44" name="Text 42"/>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45" name="Text 43"/>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11 / 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MEASURING PROPERLY</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Instruments: What You Can Actually Measure</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Four instruments, answering different questions. The first tells you how slow; the others tell you why.</a:t>
            </a:r>
            <a:endParaRPr lang="en-US" sz="1250" dirty="0"/>
          </a:p>
        </p:txBody>
      </p:sp>
      <p:sp>
        <p:nvSpPr>
          <p:cNvPr id="5" name="Shape 3"/>
          <p:cNvSpPr/>
          <p:nvPr/>
        </p:nvSpPr>
        <p:spPr>
          <a:xfrm>
            <a:off x="502920" y="1938528"/>
            <a:ext cx="2624328" cy="3310128"/>
          </a:xfrm>
          <a:prstGeom prst="roundRect">
            <a:avLst>
              <a:gd name="adj" fmla="val 1742"/>
            </a:avLst>
          </a:prstGeom>
          <a:solidFill>
            <a:srgbClr val="F3F1FC"/>
          </a:solidFill>
          <a:ln/>
        </p:spPr>
      </p:sp>
      <p:sp>
        <p:nvSpPr>
          <p:cNvPr id="6" name="Text 4"/>
          <p:cNvSpPr txBox="1"/>
          <p:nvPr/>
        </p:nvSpPr>
        <p:spPr>
          <a:xfrm>
            <a:off x="740664" y="2157984"/>
            <a:ext cx="2148840" cy="201168"/>
          </a:xfrm>
          <a:prstGeom prst="rect">
            <a:avLst/>
          </a:prstGeom>
          <a:noFill/>
          <a:ln/>
        </p:spPr>
        <p:txBody>
          <a:bodyPr wrap="square" lIns="0" tIns="0" rIns="0" bIns="0" rtlCol="0" anchor="ctr"/>
          <a:lstStyle/>
          <a:p>
            <a:pPr indent="0" marL="0">
              <a:buNone/>
            </a:pPr>
            <a:r>
              <a:rPr lang="en-US" sz="800" b="1" spc="120" kern="0" dirty="0">
                <a:solidFill>
                  <a:srgbClr val="3D6EA6"/>
                </a:solidFill>
                <a:latin typeface="Calibri" pitchFamily="34" charset="0"/>
                <a:ea typeface="Calibri" pitchFamily="34" charset="-122"/>
                <a:cs typeface="Calibri" pitchFamily="34" charset="-120"/>
              </a:rPr>
              <a:t>INSTRUMENT 1</a:t>
            </a:r>
            <a:endParaRPr lang="en-US" sz="800" dirty="0"/>
          </a:p>
        </p:txBody>
      </p:sp>
      <p:sp>
        <p:nvSpPr>
          <p:cNvPr id="7" name="Text 5"/>
          <p:cNvSpPr txBox="1"/>
          <p:nvPr/>
        </p:nvSpPr>
        <p:spPr>
          <a:xfrm>
            <a:off x="740664"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Wall-clock timers</a:t>
            </a:r>
            <a:endParaRPr lang="en-US" sz="1550" dirty="0"/>
          </a:p>
        </p:txBody>
      </p:sp>
      <p:sp>
        <p:nvSpPr>
          <p:cNvPr id="8" name="Text 6"/>
          <p:cNvSpPr txBox="1"/>
          <p:nvPr/>
        </p:nvSpPr>
        <p:spPr>
          <a:xfrm>
            <a:off x="740664"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The ground truth for end-to-end latency and throughput.</a:t>
            </a:r>
            <a:endParaRPr lang="en-US" sz="1100" dirty="0"/>
          </a:p>
        </p:txBody>
      </p:sp>
      <p:sp>
        <p:nvSpPr>
          <p:cNvPr id="9" name="Text 7"/>
          <p:cNvSpPr txBox="1"/>
          <p:nvPr/>
        </p:nvSpPr>
        <p:spPr>
          <a:xfrm>
            <a:off x="740664"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THE CATCH</a:t>
            </a:r>
            <a:endParaRPr lang="en-US" sz="750" dirty="0"/>
          </a:p>
        </p:txBody>
      </p:sp>
      <p:sp>
        <p:nvSpPr>
          <p:cNvPr id="10" name="Text 8"/>
          <p:cNvSpPr txBox="1"/>
          <p:nvPr/>
        </p:nvSpPr>
        <p:spPr>
          <a:xfrm>
            <a:off x="740664"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3D6EA6"/>
                </a:solidFill>
                <a:latin typeface="Calibri" pitchFamily="34" charset="0"/>
                <a:ea typeface="Calibri" pitchFamily="34" charset="-122"/>
                <a:cs typeface="Calibri" pitchFamily="34" charset="-120"/>
              </a:rPr>
              <a:t>Check the clock's resolution, and never time an interval shorter than the timer call's own overhead. Prefer a monotonic clock over wall time.</a:t>
            </a:r>
            <a:endParaRPr lang="en-US" sz="1000" dirty="0"/>
          </a:p>
        </p:txBody>
      </p:sp>
      <p:sp>
        <p:nvSpPr>
          <p:cNvPr id="11" name="Shape 9"/>
          <p:cNvSpPr/>
          <p:nvPr/>
        </p:nvSpPr>
        <p:spPr>
          <a:xfrm>
            <a:off x="3355848" y="1938528"/>
            <a:ext cx="2624328" cy="3310128"/>
          </a:xfrm>
          <a:prstGeom prst="roundRect">
            <a:avLst>
              <a:gd name="adj" fmla="val 1742"/>
            </a:avLst>
          </a:prstGeom>
          <a:solidFill>
            <a:srgbClr val="F3F1FC"/>
          </a:solidFill>
          <a:ln/>
        </p:spPr>
      </p:sp>
      <p:sp>
        <p:nvSpPr>
          <p:cNvPr id="12" name="Text 10"/>
          <p:cNvSpPr txBox="1"/>
          <p:nvPr/>
        </p:nvSpPr>
        <p:spPr>
          <a:xfrm>
            <a:off x="3593592" y="2157984"/>
            <a:ext cx="2148840" cy="201168"/>
          </a:xfrm>
          <a:prstGeom prst="rect">
            <a:avLst/>
          </a:prstGeom>
          <a:noFill/>
          <a:ln/>
        </p:spPr>
        <p:txBody>
          <a:bodyPr wrap="square" lIns="0" tIns="0" rIns="0" bIns="0" rtlCol="0" anchor="ctr"/>
          <a:lstStyle/>
          <a:p>
            <a:pPr indent="0" marL="0">
              <a:buNone/>
            </a:pPr>
            <a:r>
              <a:rPr lang="en-US" sz="800" b="1" spc="120" kern="0" dirty="0">
                <a:solidFill>
                  <a:srgbClr val="B4522B"/>
                </a:solidFill>
                <a:latin typeface="Calibri" pitchFamily="34" charset="0"/>
                <a:ea typeface="Calibri" pitchFamily="34" charset="-122"/>
                <a:cs typeface="Calibri" pitchFamily="34" charset="-120"/>
              </a:rPr>
              <a:t>INSTRUMENT 2</a:t>
            </a:r>
            <a:endParaRPr lang="en-US" sz="800" dirty="0"/>
          </a:p>
        </p:txBody>
      </p:sp>
      <p:sp>
        <p:nvSpPr>
          <p:cNvPr id="13" name="Text 11"/>
          <p:cNvSpPr txBox="1"/>
          <p:nvPr/>
        </p:nvSpPr>
        <p:spPr>
          <a:xfrm>
            <a:off x="3593592"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Hardware counters</a:t>
            </a:r>
            <a:endParaRPr lang="en-US" sz="1550" dirty="0"/>
          </a:p>
        </p:txBody>
      </p:sp>
      <p:sp>
        <p:nvSpPr>
          <p:cNvPr id="14" name="Text 12"/>
          <p:cNvSpPr txBox="1"/>
          <p:nvPr/>
        </p:nvSpPr>
        <p:spPr>
          <a:xfrm>
            <a:off x="3593592"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Cycles, instructions, cache misses, branch mispredictions — via perf or PAPI.</a:t>
            </a:r>
            <a:endParaRPr lang="en-US" sz="1100" dirty="0"/>
          </a:p>
        </p:txBody>
      </p:sp>
      <p:sp>
        <p:nvSpPr>
          <p:cNvPr id="15" name="Text 13"/>
          <p:cNvSpPr txBox="1"/>
          <p:nvPr/>
        </p:nvSpPr>
        <p:spPr>
          <a:xfrm>
            <a:off x="3593592"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THE CATCH</a:t>
            </a:r>
            <a:endParaRPr lang="en-US" sz="750" dirty="0"/>
          </a:p>
        </p:txBody>
      </p:sp>
      <p:sp>
        <p:nvSpPr>
          <p:cNvPr id="16" name="Text 14"/>
          <p:cNvSpPr txBox="1"/>
          <p:nvPr/>
        </p:nvSpPr>
        <p:spPr>
          <a:xfrm>
            <a:off x="3593592"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4522B"/>
                </a:solidFill>
                <a:latin typeface="Calibri" pitchFamily="34" charset="0"/>
                <a:ea typeface="Calibri" pitchFamily="34" charset="-122"/>
                <a:cs typeface="Calibri" pitchFamily="34" charset="-120"/>
              </a:rPr>
              <a:t>These explain why something is slow. Beware counter multiplexing: request more events than the hardware has registers and each is sampled part-time.</a:t>
            </a:r>
            <a:endParaRPr lang="en-US" sz="1000" dirty="0"/>
          </a:p>
        </p:txBody>
      </p:sp>
      <p:sp>
        <p:nvSpPr>
          <p:cNvPr id="17" name="Shape 15"/>
          <p:cNvSpPr/>
          <p:nvPr/>
        </p:nvSpPr>
        <p:spPr>
          <a:xfrm>
            <a:off x="6208776" y="1938528"/>
            <a:ext cx="2624328" cy="3310128"/>
          </a:xfrm>
          <a:prstGeom prst="roundRect">
            <a:avLst>
              <a:gd name="adj" fmla="val 1742"/>
            </a:avLst>
          </a:prstGeom>
          <a:solidFill>
            <a:srgbClr val="F3F1FC"/>
          </a:solidFill>
          <a:ln/>
        </p:spPr>
      </p:sp>
      <p:sp>
        <p:nvSpPr>
          <p:cNvPr id="18" name="Text 16"/>
          <p:cNvSpPr txBox="1"/>
          <p:nvPr/>
        </p:nvSpPr>
        <p:spPr>
          <a:xfrm>
            <a:off x="6446520" y="2157984"/>
            <a:ext cx="2148840" cy="201168"/>
          </a:xfrm>
          <a:prstGeom prst="rect">
            <a:avLst/>
          </a:prstGeom>
          <a:noFill/>
          <a:ln/>
        </p:spPr>
        <p:txBody>
          <a:bodyPr wrap="square" lIns="0" tIns="0" rIns="0" bIns="0" rtlCol="0" anchor="ctr"/>
          <a:lstStyle/>
          <a:p>
            <a:pPr indent="0" marL="0">
              <a:buNone/>
            </a:pPr>
            <a:r>
              <a:rPr lang="en-US" sz="800" b="1" spc="120" kern="0" dirty="0">
                <a:solidFill>
                  <a:srgbClr val="B08C3A"/>
                </a:solidFill>
                <a:latin typeface="Calibri" pitchFamily="34" charset="0"/>
                <a:ea typeface="Calibri" pitchFamily="34" charset="-122"/>
                <a:cs typeface="Calibri" pitchFamily="34" charset="-120"/>
              </a:rPr>
              <a:t>INSTRUMENT 3</a:t>
            </a:r>
            <a:endParaRPr lang="en-US" sz="800" dirty="0"/>
          </a:p>
        </p:txBody>
      </p:sp>
      <p:sp>
        <p:nvSpPr>
          <p:cNvPr id="19" name="Text 17"/>
          <p:cNvSpPr txBox="1"/>
          <p:nvPr/>
        </p:nvSpPr>
        <p:spPr>
          <a:xfrm>
            <a:off x="6446520"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Sampling profilers</a:t>
            </a:r>
            <a:endParaRPr lang="en-US" sz="1550" dirty="0"/>
          </a:p>
        </p:txBody>
      </p:sp>
      <p:sp>
        <p:nvSpPr>
          <p:cNvPr id="20" name="Text 18"/>
          <p:cNvSpPr txBox="1"/>
          <p:nvPr/>
        </p:nvSpPr>
        <p:spPr>
          <a:xfrm>
            <a:off x="6446520"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Periodically interrupt execution and record the call stack.</a:t>
            </a:r>
            <a:endParaRPr lang="en-US" sz="1100" dirty="0"/>
          </a:p>
        </p:txBody>
      </p:sp>
      <p:sp>
        <p:nvSpPr>
          <p:cNvPr id="21" name="Text 19"/>
          <p:cNvSpPr txBox="1"/>
          <p:nvPr/>
        </p:nvSpPr>
        <p:spPr>
          <a:xfrm>
            <a:off x="6446520"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THE CATCH</a:t>
            </a:r>
            <a:endParaRPr lang="en-US" sz="750" dirty="0"/>
          </a:p>
        </p:txBody>
      </p:sp>
      <p:sp>
        <p:nvSpPr>
          <p:cNvPr id="22" name="Text 20"/>
          <p:cNvSpPr txBox="1"/>
          <p:nvPr/>
        </p:nvSpPr>
        <p:spPr>
          <a:xfrm>
            <a:off x="6446520"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08C3A"/>
                </a:solidFill>
                <a:latin typeface="Calibri" pitchFamily="34" charset="0"/>
                <a:ea typeface="Calibri" pitchFamily="34" charset="-122"/>
                <a:cs typeface="Calibri" pitchFamily="34" charset="-120"/>
              </a:rPr>
              <a:t>Cheap, and attributes cost to code. Beware skid and safepoint bias: a sample lands where the interrupt was taken, not necessarily where the time went.</a:t>
            </a:r>
            <a:endParaRPr lang="en-US" sz="1000" dirty="0"/>
          </a:p>
        </p:txBody>
      </p:sp>
      <p:sp>
        <p:nvSpPr>
          <p:cNvPr id="23" name="Shape 21"/>
          <p:cNvSpPr/>
          <p:nvPr/>
        </p:nvSpPr>
        <p:spPr>
          <a:xfrm>
            <a:off x="9061704" y="1938528"/>
            <a:ext cx="2624328" cy="3310128"/>
          </a:xfrm>
          <a:prstGeom prst="roundRect">
            <a:avLst>
              <a:gd name="adj" fmla="val 1742"/>
            </a:avLst>
          </a:prstGeom>
          <a:solidFill>
            <a:srgbClr val="F3F1FC"/>
          </a:solidFill>
          <a:ln/>
        </p:spPr>
      </p:sp>
      <p:sp>
        <p:nvSpPr>
          <p:cNvPr id="24" name="Text 22"/>
          <p:cNvSpPr txBox="1"/>
          <p:nvPr/>
        </p:nvSpPr>
        <p:spPr>
          <a:xfrm>
            <a:off x="9299448" y="2157984"/>
            <a:ext cx="2148840" cy="201168"/>
          </a:xfrm>
          <a:prstGeom prst="rect">
            <a:avLst/>
          </a:prstGeom>
          <a:noFill/>
          <a:ln/>
        </p:spPr>
        <p:txBody>
          <a:bodyPr wrap="square" lIns="0" tIns="0" rIns="0" bIns="0" rtlCol="0" anchor="ctr"/>
          <a:lstStyle/>
          <a:p>
            <a:pPr indent="0" marL="0">
              <a:buNone/>
            </a:pPr>
            <a:r>
              <a:rPr lang="en-US" sz="800" b="1" spc="120" kern="0" dirty="0">
                <a:solidFill>
                  <a:srgbClr val="241A4C"/>
                </a:solidFill>
                <a:latin typeface="Calibri" pitchFamily="34" charset="0"/>
                <a:ea typeface="Calibri" pitchFamily="34" charset="-122"/>
                <a:cs typeface="Calibri" pitchFamily="34" charset="-120"/>
              </a:rPr>
              <a:t>INSTRUMENT 4</a:t>
            </a:r>
            <a:endParaRPr lang="en-US" sz="800" dirty="0"/>
          </a:p>
        </p:txBody>
      </p:sp>
      <p:sp>
        <p:nvSpPr>
          <p:cNvPr id="25" name="Text 23"/>
          <p:cNvSpPr txBox="1"/>
          <p:nvPr/>
        </p:nvSpPr>
        <p:spPr>
          <a:xfrm>
            <a:off x="9299448"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Tracing</a:t>
            </a:r>
            <a:endParaRPr lang="en-US" sz="1550" dirty="0"/>
          </a:p>
        </p:txBody>
      </p:sp>
      <p:sp>
        <p:nvSpPr>
          <p:cNvPr id="26" name="Text 24"/>
          <p:cNvSpPr txBox="1"/>
          <p:nvPr/>
        </p:nvSpPr>
        <p:spPr>
          <a:xfrm>
            <a:off x="9299448"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Record every event of interest, with timestamps and context.</a:t>
            </a:r>
            <a:endParaRPr lang="en-US" sz="1100" dirty="0"/>
          </a:p>
        </p:txBody>
      </p:sp>
      <p:sp>
        <p:nvSpPr>
          <p:cNvPr id="27" name="Text 25"/>
          <p:cNvSpPr txBox="1"/>
          <p:nvPr/>
        </p:nvSpPr>
        <p:spPr>
          <a:xfrm>
            <a:off x="9299448"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THE CATCH</a:t>
            </a:r>
            <a:endParaRPr lang="en-US" sz="750" dirty="0"/>
          </a:p>
        </p:txBody>
      </p:sp>
      <p:sp>
        <p:nvSpPr>
          <p:cNvPr id="28" name="Text 26"/>
          <p:cNvSpPr txBox="1"/>
          <p:nvPr/>
        </p:nvSpPr>
        <p:spPr>
          <a:xfrm>
            <a:off x="9299448"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241A4C"/>
                </a:solidFill>
                <a:latin typeface="Calibri" pitchFamily="34" charset="0"/>
                <a:ea typeface="Calibri" pitchFamily="34" charset="-122"/>
                <a:cs typeface="Calibri" pitchFamily="34" charset="-120"/>
              </a:rPr>
              <a:t>Exact attribution, paid for with overhead that perturbs the very thing being measured. The heavier the tracing, the less it describes the untraced system.</a:t>
            </a:r>
            <a:endParaRPr lang="en-US" sz="1000" dirty="0"/>
          </a:p>
        </p:txBody>
      </p:sp>
      <p:sp>
        <p:nvSpPr>
          <p:cNvPr id="29" name="Text 27"/>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Every instrument perturbs what it measures. Report the overhead of your apparatus, or demonstrate that it is negligible relative to the effect you are claiming.</a:t>
            </a:r>
            <a:endParaRPr lang="en-US" sz="1150" dirty="0"/>
          </a:p>
        </p:txBody>
      </p:sp>
      <p:sp>
        <p:nvSpPr>
          <p:cNvPr id="30" name="Text 28"/>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31" name="Text 29"/>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12 / 26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MEASURING PROPERLY</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Sources of Measurement Error</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Six effects that routinely produce swings larger than the speed-ups being reported. Control each, or state that you did not.</a:t>
            </a:r>
            <a:endParaRPr lang="en-US" sz="1250" dirty="0"/>
          </a:p>
        </p:txBody>
      </p:sp>
      <p:sp>
        <p:nvSpPr>
          <p:cNvPr id="5" name="Shape 3"/>
          <p:cNvSpPr/>
          <p:nvPr/>
        </p:nvSpPr>
        <p:spPr>
          <a:xfrm>
            <a:off x="502920" y="1938528"/>
            <a:ext cx="3502152" cy="1883664"/>
          </a:xfrm>
          <a:prstGeom prst="roundRect">
            <a:avLst>
              <a:gd name="adj" fmla="val 2427"/>
            </a:avLst>
          </a:prstGeom>
          <a:solidFill>
            <a:srgbClr val="F3F1FC"/>
          </a:solidFill>
          <a:ln w="12700">
            <a:solidFill>
              <a:srgbClr val="E6E2F5"/>
            </a:solidFill>
            <a:prstDash val="solid"/>
          </a:ln>
        </p:spPr>
      </p:sp>
      <p:sp>
        <p:nvSpPr>
          <p:cNvPr id="6" name="Text 4"/>
          <p:cNvSpPr txBox="1"/>
          <p:nvPr/>
        </p:nvSpPr>
        <p:spPr>
          <a:xfrm>
            <a:off x="758952" y="2157984"/>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3D6EA6"/>
                </a:solidFill>
                <a:latin typeface="Cambria" pitchFamily="34" charset="0"/>
                <a:ea typeface="Cambria" pitchFamily="34" charset="-122"/>
                <a:cs typeface="Cambria" pitchFamily="34" charset="-120"/>
              </a:rPr>
              <a:t>Warm-up and JIT</a:t>
            </a:r>
            <a:endParaRPr lang="en-US" sz="1450" dirty="0"/>
          </a:p>
        </p:txBody>
      </p:sp>
      <p:sp>
        <p:nvSpPr>
          <p:cNvPr id="7" name="Text 5"/>
          <p:cNvSpPr txBox="1"/>
          <p:nvPr/>
        </p:nvSpPr>
        <p:spPr>
          <a:xfrm>
            <a:off x="758952" y="2596896"/>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Managed runtimes compile, deoptimise and recompile. Steady state can take thousands of iterations, and “startup performance” and “steady-state performance” are two separate claims.</a:t>
            </a:r>
            <a:endParaRPr lang="en-US" sz="1050" dirty="0"/>
          </a:p>
        </p:txBody>
      </p:sp>
      <p:sp>
        <p:nvSpPr>
          <p:cNvPr id="8" name="Shape 6"/>
          <p:cNvSpPr/>
          <p:nvPr/>
        </p:nvSpPr>
        <p:spPr>
          <a:xfrm>
            <a:off x="4343400" y="1938528"/>
            <a:ext cx="3502152" cy="1883664"/>
          </a:xfrm>
          <a:prstGeom prst="roundRect">
            <a:avLst>
              <a:gd name="adj" fmla="val 2427"/>
            </a:avLst>
          </a:prstGeom>
          <a:solidFill>
            <a:srgbClr val="F3F1FC"/>
          </a:solidFill>
          <a:ln w="12700">
            <a:solidFill>
              <a:srgbClr val="E6E2F5"/>
            </a:solidFill>
            <a:prstDash val="solid"/>
          </a:ln>
        </p:spPr>
      </p:sp>
      <p:sp>
        <p:nvSpPr>
          <p:cNvPr id="9" name="Text 7"/>
          <p:cNvSpPr txBox="1"/>
          <p:nvPr/>
        </p:nvSpPr>
        <p:spPr>
          <a:xfrm>
            <a:off x="4599432" y="2157984"/>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3D6EA6"/>
                </a:solidFill>
                <a:latin typeface="Cambria" pitchFamily="34" charset="0"/>
                <a:ea typeface="Cambria" pitchFamily="34" charset="-122"/>
                <a:cs typeface="Cambria" pitchFamily="34" charset="-120"/>
              </a:rPr>
              <a:t>Frequency scaling</a:t>
            </a:r>
            <a:endParaRPr lang="en-US" sz="1450" dirty="0"/>
          </a:p>
        </p:txBody>
      </p:sp>
      <p:sp>
        <p:nvSpPr>
          <p:cNvPr id="10" name="Text 8"/>
          <p:cNvSpPr txBox="1"/>
          <p:nvPr/>
        </p:nvSpPr>
        <p:spPr>
          <a:xfrm>
            <a:off x="4599432" y="2596896"/>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Turbo and DVFS mean identical code runs at different clock rates depending on thermal and power history. Pin the frequency, or report honestly that you did not.</a:t>
            </a:r>
            <a:endParaRPr lang="en-US" sz="1050" dirty="0"/>
          </a:p>
        </p:txBody>
      </p:sp>
      <p:sp>
        <p:nvSpPr>
          <p:cNvPr id="11" name="Shape 9"/>
          <p:cNvSpPr/>
          <p:nvPr/>
        </p:nvSpPr>
        <p:spPr>
          <a:xfrm>
            <a:off x="8183880" y="1938528"/>
            <a:ext cx="3502152" cy="1883664"/>
          </a:xfrm>
          <a:prstGeom prst="roundRect">
            <a:avLst>
              <a:gd name="adj" fmla="val 2427"/>
            </a:avLst>
          </a:prstGeom>
          <a:solidFill>
            <a:srgbClr val="F3F1FC"/>
          </a:solidFill>
          <a:ln w="12700">
            <a:solidFill>
              <a:srgbClr val="E6E2F5"/>
            </a:solidFill>
            <a:prstDash val="solid"/>
          </a:ln>
        </p:spPr>
      </p:sp>
      <p:sp>
        <p:nvSpPr>
          <p:cNvPr id="12" name="Text 10"/>
          <p:cNvSpPr txBox="1"/>
          <p:nvPr/>
        </p:nvSpPr>
        <p:spPr>
          <a:xfrm>
            <a:off x="8439912" y="2157984"/>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B4522B"/>
                </a:solidFill>
                <a:latin typeface="Cambria" pitchFamily="34" charset="0"/>
                <a:ea typeface="Cambria" pitchFamily="34" charset="-122"/>
                <a:cs typeface="Cambria" pitchFamily="34" charset="-120"/>
              </a:rPr>
              <a:t>Memory layout bias</a:t>
            </a:r>
            <a:endParaRPr lang="en-US" sz="1450" dirty="0"/>
          </a:p>
        </p:txBody>
      </p:sp>
      <p:sp>
        <p:nvSpPr>
          <p:cNvPr id="13" name="Text 11"/>
          <p:cNvSpPr txBox="1"/>
          <p:nvPr/>
        </p:nvSpPr>
        <p:spPr>
          <a:xfrm>
            <a:off x="8439912" y="2596896"/>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Link order, environment size, and address-space randomisation shift code and data alignment. Mytkowicz et al. showed this alone can produce swings exceeding many published speed-ups.</a:t>
            </a:r>
            <a:endParaRPr lang="en-US" sz="1050" dirty="0"/>
          </a:p>
        </p:txBody>
      </p:sp>
      <p:sp>
        <p:nvSpPr>
          <p:cNvPr id="14" name="Shape 12"/>
          <p:cNvSpPr/>
          <p:nvPr/>
        </p:nvSpPr>
        <p:spPr>
          <a:xfrm>
            <a:off x="502920" y="4096512"/>
            <a:ext cx="3502152" cy="1883664"/>
          </a:xfrm>
          <a:prstGeom prst="roundRect">
            <a:avLst>
              <a:gd name="adj" fmla="val 2427"/>
            </a:avLst>
          </a:prstGeom>
          <a:solidFill>
            <a:srgbClr val="FAF9FE"/>
          </a:solidFill>
          <a:ln w="12700">
            <a:solidFill>
              <a:srgbClr val="E6E2F5"/>
            </a:solidFill>
            <a:prstDash val="solid"/>
          </a:ln>
        </p:spPr>
      </p:sp>
      <p:sp>
        <p:nvSpPr>
          <p:cNvPr id="15" name="Text 13"/>
          <p:cNvSpPr txBox="1"/>
          <p:nvPr/>
        </p:nvSpPr>
        <p:spPr>
          <a:xfrm>
            <a:off x="758952" y="4315968"/>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B4522B"/>
                </a:solidFill>
                <a:latin typeface="Cambria" pitchFamily="34" charset="0"/>
                <a:ea typeface="Cambria" pitchFamily="34" charset="-122"/>
                <a:cs typeface="Cambria" pitchFamily="34" charset="-120"/>
              </a:rPr>
              <a:t>Co-tenancy</a:t>
            </a:r>
            <a:endParaRPr lang="en-US" sz="1450" dirty="0"/>
          </a:p>
        </p:txBody>
      </p:sp>
      <p:sp>
        <p:nvSpPr>
          <p:cNvPr id="16" name="Text 14"/>
          <p:cNvSpPr txBox="1"/>
          <p:nvPr/>
        </p:nvSpPr>
        <p:spPr>
          <a:xfrm>
            <a:off x="758952" y="4754880"/>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Other processes, other containers, and noisy neighbours on the same cloud host. Report the isolation you actually had — shared hardware makes three significant figures fictional.</a:t>
            </a:r>
            <a:endParaRPr lang="en-US" sz="1050" dirty="0"/>
          </a:p>
        </p:txBody>
      </p:sp>
      <p:sp>
        <p:nvSpPr>
          <p:cNvPr id="17" name="Shape 15"/>
          <p:cNvSpPr/>
          <p:nvPr/>
        </p:nvSpPr>
        <p:spPr>
          <a:xfrm>
            <a:off x="4343400" y="4096512"/>
            <a:ext cx="3502152" cy="1883664"/>
          </a:xfrm>
          <a:prstGeom prst="roundRect">
            <a:avLst>
              <a:gd name="adj" fmla="val 2427"/>
            </a:avLst>
          </a:prstGeom>
          <a:solidFill>
            <a:srgbClr val="FAF9FE"/>
          </a:solidFill>
          <a:ln w="12700">
            <a:solidFill>
              <a:srgbClr val="E6E2F5"/>
            </a:solidFill>
            <a:prstDash val="solid"/>
          </a:ln>
        </p:spPr>
      </p:sp>
      <p:sp>
        <p:nvSpPr>
          <p:cNvPr id="18" name="Text 16"/>
          <p:cNvSpPr txBox="1"/>
          <p:nvPr/>
        </p:nvSpPr>
        <p:spPr>
          <a:xfrm>
            <a:off x="4599432" y="4315968"/>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B08C3A"/>
                </a:solidFill>
                <a:latin typeface="Cambria" pitchFamily="34" charset="0"/>
                <a:ea typeface="Cambria" pitchFamily="34" charset="-122"/>
                <a:cs typeface="Cambria" pitchFamily="34" charset="-120"/>
              </a:rPr>
              <a:t>NUMA and affinity</a:t>
            </a:r>
            <a:endParaRPr lang="en-US" sz="1450" dirty="0"/>
          </a:p>
        </p:txBody>
      </p:sp>
      <p:sp>
        <p:nvSpPr>
          <p:cNvPr id="19" name="Text 17"/>
          <p:cNvSpPr txBox="1"/>
          <p:nvPr/>
        </p:nvSpPr>
        <p:spPr>
          <a:xfrm>
            <a:off x="4599432" y="4754880"/>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Which core a thread lands on, and which memory node its data sits on, changes results substantially and non-deterministically unless threads are pinned.</a:t>
            </a:r>
            <a:endParaRPr lang="en-US" sz="1050" dirty="0"/>
          </a:p>
        </p:txBody>
      </p:sp>
      <p:sp>
        <p:nvSpPr>
          <p:cNvPr id="20" name="Shape 18"/>
          <p:cNvSpPr/>
          <p:nvPr/>
        </p:nvSpPr>
        <p:spPr>
          <a:xfrm>
            <a:off x="8183880" y="4096512"/>
            <a:ext cx="3502152" cy="1883664"/>
          </a:xfrm>
          <a:prstGeom prst="roundRect">
            <a:avLst>
              <a:gd name="adj" fmla="val 2427"/>
            </a:avLst>
          </a:prstGeom>
          <a:solidFill>
            <a:srgbClr val="FAF9FE"/>
          </a:solidFill>
          <a:ln w="12700">
            <a:solidFill>
              <a:srgbClr val="E6E2F5"/>
            </a:solidFill>
            <a:prstDash val="solid"/>
          </a:ln>
        </p:spPr>
      </p:sp>
      <p:sp>
        <p:nvSpPr>
          <p:cNvPr id="21" name="Text 19"/>
          <p:cNvSpPr txBox="1"/>
          <p:nvPr/>
        </p:nvSpPr>
        <p:spPr>
          <a:xfrm>
            <a:off x="8439912" y="4315968"/>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B08C3A"/>
                </a:solidFill>
                <a:latin typeface="Cambria" pitchFamily="34" charset="0"/>
                <a:ea typeface="Cambria" pitchFamily="34" charset="-122"/>
                <a:cs typeface="Cambria" pitchFamily="34" charset="-120"/>
              </a:rPr>
              <a:t>Cache and predictor state</a:t>
            </a:r>
            <a:endParaRPr lang="en-US" sz="1450" dirty="0"/>
          </a:p>
        </p:txBody>
      </p:sp>
      <p:sp>
        <p:nvSpPr>
          <p:cNvPr id="22" name="Text 20"/>
          <p:cNvSpPr txBox="1"/>
          <p:nvPr/>
        </p:nvSpPr>
        <p:spPr>
          <a:xfrm>
            <a:off x="8439912" y="4754880"/>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Repeated runs on the same input warm caches and branch predictors that a cold production system would not have. Measure the state you intend to claim about.</a:t>
            </a:r>
            <a:endParaRPr lang="en-US" sz="1050" dirty="0"/>
          </a:p>
        </p:txBody>
      </p:sp>
      <p:sp>
        <p:nvSpPr>
          <p:cNvPr id="23" name="Text 2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24" name="Text 2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13 / 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MEASURING PROPERLY</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Reporting a Performance Result</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Five elements. Together they are what makes a number reproducible, and therefore contestable.</a:t>
            </a:r>
            <a:endParaRPr lang="en-US" sz="1250" dirty="0"/>
          </a:p>
        </p:txBody>
      </p:sp>
      <p:sp>
        <p:nvSpPr>
          <p:cNvPr id="5" name="Shape 3"/>
          <p:cNvSpPr/>
          <p:nvPr/>
        </p:nvSpPr>
        <p:spPr>
          <a:xfrm>
            <a:off x="502920" y="1938528"/>
            <a:ext cx="2039112" cy="2286000"/>
          </a:xfrm>
          <a:prstGeom prst="roundRect">
            <a:avLst>
              <a:gd name="adj" fmla="val 2691"/>
            </a:avLst>
          </a:prstGeom>
          <a:solidFill>
            <a:srgbClr val="F3F1FC"/>
          </a:solidFill>
          <a:ln/>
        </p:spPr>
      </p:sp>
      <p:sp>
        <p:nvSpPr>
          <p:cNvPr id="6" name="Shape 4"/>
          <p:cNvSpPr/>
          <p:nvPr/>
        </p:nvSpPr>
        <p:spPr>
          <a:xfrm>
            <a:off x="685800" y="2139696"/>
            <a:ext cx="292608" cy="292608"/>
          </a:xfrm>
          <a:prstGeom prst="ellipse">
            <a:avLst/>
          </a:prstGeom>
          <a:solidFill>
            <a:srgbClr val="3D6EA6"/>
          </a:solidFill>
          <a:ln/>
        </p:spPr>
      </p:sp>
      <p:sp>
        <p:nvSpPr>
          <p:cNvPr id="7" name="Text 5"/>
          <p:cNvSpPr txBox="1"/>
          <p:nvPr/>
        </p:nvSpPr>
        <p:spPr>
          <a:xfrm>
            <a:off x="685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685800" y="2542032"/>
            <a:ext cx="1673352" cy="310896"/>
          </a:xfrm>
          <a:prstGeom prst="rect">
            <a:avLst/>
          </a:prstGeom>
          <a:noFill/>
          <a:ln/>
        </p:spPr>
        <p:txBody>
          <a:bodyPr wrap="square" lIns="0" tIns="0" rIns="0" bIns="0" rtlCol="0" anchor="ctr"/>
          <a:lstStyle/>
          <a:p>
            <a:pPr indent="0" marL="0">
              <a:buNone/>
            </a:pPr>
            <a:r>
              <a:rPr lang="en-US" sz="1350" b="1" dirty="0">
                <a:solidFill>
                  <a:srgbClr val="241A4C"/>
                </a:solidFill>
                <a:latin typeface="Cambria" pitchFamily="34" charset="0"/>
                <a:ea typeface="Cambria" pitchFamily="34" charset="-122"/>
                <a:cs typeface="Cambria" pitchFamily="34" charset="-120"/>
              </a:rPr>
              <a:t>The configuration</a:t>
            </a:r>
            <a:endParaRPr lang="en-US" sz="1350" dirty="0"/>
          </a:p>
        </p:txBody>
      </p:sp>
      <p:sp>
        <p:nvSpPr>
          <p:cNvPr id="9" name="Text 7"/>
          <p:cNvSpPr txBox="1"/>
          <p:nvPr/>
        </p:nvSpPr>
        <p:spPr>
          <a:xfrm>
            <a:off x="685800" y="2907792"/>
            <a:ext cx="1673352" cy="1170432"/>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Hardware, OS, compiler and flags, runtime versions, dataset, and the number of repetitions — enough that a stranger could rebuild it.</a:t>
            </a:r>
            <a:endParaRPr lang="en-US" sz="1000" dirty="0"/>
          </a:p>
        </p:txBody>
      </p:sp>
      <p:sp>
        <p:nvSpPr>
          <p:cNvPr id="10" name="Shape 8"/>
          <p:cNvSpPr/>
          <p:nvPr/>
        </p:nvSpPr>
        <p:spPr>
          <a:xfrm>
            <a:off x="2788920" y="1938528"/>
            <a:ext cx="2039112" cy="2286000"/>
          </a:xfrm>
          <a:prstGeom prst="roundRect">
            <a:avLst>
              <a:gd name="adj" fmla="val 2691"/>
            </a:avLst>
          </a:prstGeom>
          <a:solidFill>
            <a:srgbClr val="F3F1FC"/>
          </a:solidFill>
          <a:ln/>
        </p:spPr>
      </p:sp>
      <p:sp>
        <p:nvSpPr>
          <p:cNvPr id="11" name="Shape 9"/>
          <p:cNvSpPr/>
          <p:nvPr/>
        </p:nvSpPr>
        <p:spPr>
          <a:xfrm>
            <a:off x="2971800" y="2139696"/>
            <a:ext cx="292608" cy="292608"/>
          </a:xfrm>
          <a:prstGeom prst="ellipse">
            <a:avLst/>
          </a:prstGeom>
          <a:solidFill>
            <a:srgbClr val="3D6EA6"/>
          </a:solidFill>
          <a:ln/>
        </p:spPr>
      </p:sp>
      <p:sp>
        <p:nvSpPr>
          <p:cNvPr id="12" name="Text 10"/>
          <p:cNvSpPr txBox="1"/>
          <p:nvPr/>
        </p:nvSpPr>
        <p:spPr>
          <a:xfrm>
            <a:off x="2971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2971800" y="2542032"/>
            <a:ext cx="1673352" cy="310896"/>
          </a:xfrm>
          <a:prstGeom prst="rect">
            <a:avLst/>
          </a:prstGeom>
          <a:noFill/>
          <a:ln/>
        </p:spPr>
        <p:txBody>
          <a:bodyPr wrap="square" lIns="0" tIns="0" rIns="0" bIns="0" rtlCol="0" anchor="ctr"/>
          <a:lstStyle/>
          <a:p>
            <a:pPr indent="0" marL="0">
              <a:buNone/>
            </a:pPr>
            <a:r>
              <a:rPr lang="en-US" sz="1350" b="1" dirty="0">
                <a:solidFill>
                  <a:srgbClr val="241A4C"/>
                </a:solidFill>
                <a:latin typeface="Cambria" pitchFamily="34" charset="0"/>
                <a:ea typeface="Cambria" pitchFamily="34" charset="-122"/>
                <a:cs typeface="Cambria" pitchFamily="34" charset="-120"/>
              </a:rPr>
              <a:t>The distribution</a:t>
            </a:r>
            <a:endParaRPr lang="en-US" sz="1350" dirty="0"/>
          </a:p>
        </p:txBody>
      </p:sp>
      <p:sp>
        <p:nvSpPr>
          <p:cNvPr id="14" name="Text 12"/>
          <p:cNvSpPr txBox="1"/>
          <p:nvPr/>
        </p:nvSpPr>
        <p:spPr>
          <a:xfrm>
            <a:off x="2971800" y="2907792"/>
            <a:ext cx="1673352" cy="1170432"/>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Median and spread, or percentiles with the sample count. Never a bare mean, and never a single run.</a:t>
            </a:r>
            <a:endParaRPr lang="en-US" sz="1000" dirty="0"/>
          </a:p>
        </p:txBody>
      </p:sp>
      <p:sp>
        <p:nvSpPr>
          <p:cNvPr id="15" name="Shape 13"/>
          <p:cNvSpPr/>
          <p:nvPr/>
        </p:nvSpPr>
        <p:spPr>
          <a:xfrm>
            <a:off x="5074920" y="1938528"/>
            <a:ext cx="2039112" cy="2286000"/>
          </a:xfrm>
          <a:prstGeom prst="roundRect">
            <a:avLst>
              <a:gd name="adj" fmla="val 2691"/>
            </a:avLst>
          </a:prstGeom>
          <a:solidFill>
            <a:srgbClr val="F3F1FC"/>
          </a:solidFill>
          <a:ln/>
        </p:spPr>
      </p:sp>
      <p:sp>
        <p:nvSpPr>
          <p:cNvPr id="16" name="Shape 14"/>
          <p:cNvSpPr/>
          <p:nvPr/>
        </p:nvSpPr>
        <p:spPr>
          <a:xfrm>
            <a:off x="5257800" y="2139696"/>
            <a:ext cx="292608" cy="292608"/>
          </a:xfrm>
          <a:prstGeom prst="ellipse">
            <a:avLst/>
          </a:prstGeom>
          <a:solidFill>
            <a:srgbClr val="B08C3A"/>
          </a:solidFill>
          <a:ln/>
        </p:spPr>
      </p:sp>
      <p:sp>
        <p:nvSpPr>
          <p:cNvPr id="17" name="Text 15"/>
          <p:cNvSpPr txBox="1"/>
          <p:nvPr/>
        </p:nvSpPr>
        <p:spPr>
          <a:xfrm>
            <a:off x="5257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5257800" y="2542032"/>
            <a:ext cx="1673352" cy="310896"/>
          </a:xfrm>
          <a:prstGeom prst="rect">
            <a:avLst/>
          </a:prstGeom>
          <a:noFill/>
          <a:ln/>
        </p:spPr>
        <p:txBody>
          <a:bodyPr wrap="square" lIns="0" tIns="0" rIns="0" bIns="0" rtlCol="0" anchor="ctr"/>
          <a:lstStyle/>
          <a:p>
            <a:pPr indent="0" marL="0">
              <a:buNone/>
            </a:pPr>
            <a:r>
              <a:rPr lang="en-US" sz="1350" b="1" dirty="0">
                <a:solidFill>
                  <a:srgbClr val="241A4C"/>
                </a:solidFill>
                <a:latin typeface="Cambria" pitchFamily="34" charset="0"/>
                <a:ea typeface="Cambria" pitchFamily="34" charset="-122"/>
                <a:cs typeface="Cambria" pitchFamily="34" charset="-120"/>
              </a:rPr>
              <a:t>The baseline</a:t>
            </a:r>
            <a:endParaRPr lang="en-US" sz="1350" dirty="0"/>
          </a:p>
        </p:txBody>
      </p:sp>
      <p:sp>
        <p:nvSpPr>
          <p:cNvPr id="19" name="Text 17"/>
          <p:cNvSpPr txBox="1"/>
          <p:nvPr/>
        </p:nvSpPr>
        <p:spPr>
          <a:xfrm>
            <a:off x="5257800" y="2907792"/>
            <a:ext cx="1673352" cy="1170432"/>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What you compared against, which version, and exactly how you tuned it. An untuned baseline invalidates a comparison rather than merely weakening it.</a:t>
            </a:r>
            <a:endParaRPr lang="en-US" sz="1000" dirty="0"/>
          </a:p>
        </p:txBody>
      </p:sp>
      <p:sp>
        <p:nvSpPr>
          <p:cNvPr id="20" name="Shape 18"/>
          <p:cNvSpPr/>
          <p:nvPr/>
        </p:nvSpPr>
        <p:spPr>
          <a:xfrm>
            <a:off x="7360920" y="1938528"/>
            <a:ext cx="2039112" cy="2286000"/>
          </a:xfrm>
          <a:prstGeom prst="roundRect">
            <a:avLst>
              <a:gd name="adj" fmla="val 2691"/>
            </a:avLst>
          </a:prstGeom>
          <a:solidFill>
            <a:srgbClr val="F6EFE4"/>
          </a:solidFill>
          <a:ln/>
        </p:spPr>
      </p:sp>
      <p:sp>
        <p:nvSpPr>
          <p:cNvPr id="21" name="Shape 19"/>
          <p:cNvSpPr/>
          <p:nvPr/>
        </p:nvSpPr>
        <p:spPr>
          <a:xfrm>
            <a:off x="7543800" y="2139696"/>
            <a:ext cx="292608" cy="292608"/>
          </a:xfrm>
          <a:prstGeom prst="ellipse">
            <a:avLst/>
          </a:prstGeom>
          <a:solidFill>
            <a:srgbClr val="B4522B"/>
          </a:solidFill>
          <a:ln/>
        </p:spPr>
      </p:sp>
      <p:sp>
        <p:nvSpPr>
          <p:cNvPr id="22" name="Text 20"/>
          <p:cNvSpPr txBox="1"/>
          <p:nvPr/>
        </p:nvSpPr>
        <p:spPr>
          <a:xfrm>
            <a:off x="7543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7543800" y="2542032"/>
            <a:ext cx="1673352" cy="310896"/>
          </a:xfrm>
          <a:prstGeom prst="rect">
            <a:avLst/>
          </a:prstGeom>
          <a:noFill/>
          <a:ln/>
        </p:spPr>
        <p:txBody>
          <a:bodyPr wrap="square" lIns="0" tIns="0" rIns="0" bIns="0" rtlCol="0" anchor="ctr"/>
          <a:lstStyle/>
          <a:p>
            <a:pPr indent="0" marL="0">
              <a:buNone/>
            </a:pPr>
            <a:r>
              <a:rPr lang="en-US" sz="1350" b="1" dirty="0">
                <a:solidFill>
                  <a:srgbClr val="241A4C"/>
                </a:solidFill>
                <a:latin typeface="Cambria" pitchFamily="34" charset="0"/>
                <a:ea typeface="Cambria" pitchFamily="34" charset="-122"/>
                <a:cs typeface="Cambria" pitchFamily="34" charset="-120"/>
              </a:rPr>
              <a:t>The statistic</a:t>
            </a:r>
            <a:endParaRPr lang="en-US" sz="1350" dirty="0"/>
          </a:p>
        </p:txBody>
      </p:sp>
      <p:sp>
        <p:nvSpPr>
          <p:cNvPr id="24" name="Text 22"/>
          <p:cNvSpPr txBox="1"/>
          <p:nvPr/>
        </p:nvSpPr>
        <p:spPr>
          <a:xfrm>
            <a:off x="7543800" y="2907792"/>
            <a:ext cx="1673352" cy="1170432"/>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Which mean you took and why that one; which test you used and why it suits this data's actual distribution.</a:t>
            </a:r>
            <a:endParaRPr lang="en-US" sz="1000" dirty="0"/>
          </a:p>
        </p:txBody>
      </p:sp>
      <p:sp>
        <p:nvSpPr>
          <p:cNvPr id="25" name="Shape 23"/>
          <p:cNvSpPr/>
          <p:nvPr/>
        </p:nvSpPr>
        <p:spPr>
          <a:xfrm>
            <a:off x="9646920" y="1938528"/>
            <a:ext cx="2039112" cy="2286000"/>
          </a:xfrm>
          <a:prstGeom prst="roundRect">
            <a:avLst>
              <a:gd name="adj" fmla="val 2691"/>
            </a:avLst>
          </a:prstGeom>
          <a:solidFill>
            <a:srgbClr val="F6EFE4"/>
          </a:solidFill>
          <a:ln/>
        </p:spPr>
      </p:sp>
      <p:sp>
        <p:nvSpPr>
          <p:cNvPr id="26" name="Shape 24"/>
          <p:cNvSpPr/>
          <p:nvPr/>
        </p:nvSpPr>
        <p:spPr>
          <a:xfrm>
            <a:off x="9829800" y="2139696"/>
            <a:ext cx="292608" cy="292608"/>
          </a:xfrm>
          <a:prstGeom prst="ellipse">
            <a:avLst/>
          </a:prstGeom>
          <a:solidFill>
            <a:srgbClr val="B4522B"/>
          </a:solidFill>
          <a:ln/>
        </p:spPr>
      </p:sp>
      <p:sp>
        <p:nvSpPr>
          <p:cNvPr id="27" name="Text 25"/>
          <p:cNvSpPr txBox="1"/>
          <p:nvPr/>
        </p:nvSpPr>
        <p:spPr>
          <a:xfrm>
            <a:off x="9829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txBox="1"/>
          <p:nvPr/>
        </p:nvSpPr>
        <p:spPr>
          <a:xfrm>
            <a:off x="9829800" y="2542032"/>
            <a:ext cx="1673352" cy="310896"/>
          </a:xfrm>
          <a:prstGeom prst="rect">
            <a:avLst/>
          </a:prstGeom>
          <a:noFill/>
          <a:ln/>
        </p:spPr>
        <p:txBody>
          <a:bodyPr wrap="square" lIns="0" tIns="0" rIns="0" bIns="0" rtlCol="0" anchor="ctr"/>
          <a:lstStyle/>
          <a:p>
            <a:pPr indent="0" marL="0">
              <a:buNone/>
            </a:pPr>
            <a:r>
              <a:rPr lang="en-US" sz="1350" b="1" dirty="0">
                <a:solidFill>
                  <a:srgbClr val="241A4C"/>
                </a:solidFill>
                <a:latin typeface="Cambria" pitchFamily="34" charset="0"/>
                <a:ea typeface="Cambria" pitchFamily="34" charset="-122"/>
                <a:cs typeface="Cambria" pitchFamily="34" charset="-120"/>
              </a:rPr>
              <a:t>The scope</a:t>
            </a:r>
            <a:endParaRPr lang="en-US" sz="1350" dirty="0"/>
          </a:p>
        </p:txBody>
      </p:sp>
      <p:sp>
        <p:nvSpPr>
          <p:cNvPr id="29" name="Text 27"/>
          <p:cNvSpPr txBox="1"/>
          <p:nvPr/>
        </p:nvSpPr>
        <p:spPr>
          <a:xfrm>
            <a:off x="9829800" y="2907792"/>
            <a:ext cx="1673352" cy="1170432"/>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The workloads, load levels and platforms over which the claim holds — and a plain statement that outside them it does not.</a:t>
            </a:r>
            <a:endParaRPr lang="en-US" sz="1000" dirty="0"/>
          </a:p>
        </p:txBody>
      </p:sp>
      <p:sp>
        <p:nvSpPr>
          <p:cNvPr id="30" name="Shape 28"/>
          <p:cNvSpPr/>
          <p:nvPr/>
        </p:nvSpPr>
        <p:spPr>
          <a:xfrm>
            <a:off x="502920" y="4590288"/>
            <a:ext cx="5477256" cy="1371600"/>
          </a:xfrm>
          <a:prstGeom prst="roundRect">
            <a:avLst>
              <a:gd name="adj" fmla="val 3333"/>
            </a:avLst>
          </a:prstGeom>
          <a:solidFill>
            <a:srgbClr val="F3F1FC"/>
          </a:solidFill>
          <a:ln/>
        </p:spPr>
      </p:sp>
      <p:sp>
        <p:nvSpPr>
          <p:cNvPr id="31" name="Text 29"/>
          <p:cNvSpPr txBox="1"/>
          <p:nvPr/>
        </p:nvSpPr>
        <p:spPr>
          <a:xfrm>
            <a:off x="795528" y="4773168"/>
            <a:ext cx="4892040" cy="201168"/>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THE TEST TO APPLY BEFORE SUBMITTING</a:t>
            </a:r>
            <a:endParaRPr lang="en-US" sz="850" dirty="0"/>
          </a:p>
        </p:txBody>
      </p:sp>
      <p:sp>
        <p:nvSpPr>
          <p:cNvPr id="32" name="Text 30"/>
          <p:cNvSpPr txBox="1"/>
          <p:nvPr/>
        </p:nvSpPr>
        <p:spPr>
          <a:xfrm>
            <a:off x="795528" y="5029200"/>
            <a:ext cx="4892040" cy="82296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Could a competent stranger, holding only your paper and your artifact, obtain a number close to yours? If any of the five elements is missing, the honest answer is no — and Lecture 4's badge terminology gives you the vocabulary to say so.</a:t>
            </a:r>
            <a:endParaRPr lang="en-US" sz="1100" dirty="0"/>
          </a:p>
        </p:txBody>
      </p:sp>
      <p:sp>
        <p:nvSpPr>
          <p:cNvPr id="33" name="Shape 31"/>
          <p:cNvSpPr/>
          <p:nvPr/>
        </p:nvSpPr>
        <p:spPr>
          <a:xfrm>
            <a:off x="6208776" y="4590288"/>
            <a:ext cx="5477256" cy="1371600"/>
          </a:xfrm>
          <a:prstGeom prst="roundRect">
            <a:avLst>
              <a:gd name="adj" fmla="val 3333"/>
            </a:avLst>
          </a:prstGeom>
          <a:solidFill>
            <a:srgbClr val="EEF3F9"/>
          </a:solidFill>
          <a:ln/>
        </p:spPr>
      </p:sp>
      <p:sp>
        <p:nvSpPr>
          <p:cNvPr id="34" name="Text 32"/>
          <p:cNvSpPr txBox="1"/>
          <p:nvPr/>
        </p:nvSpPr>
        <p:spPr>
          <a:xfrm>
            <a:off x="6501384" y="4773168"/>
            <a:ext cx="4892040" cy="201168"/>
          </a:xfrm>
          <a:prstGeom prst="rect">
            <a:avLst/>
          </a:prstGeom>
          <a:noFill/>
          <a:ln/>
        </p:spPr>
        <p:txBody>
          <a:bodyPr wrap="square" lIns="0" tIns="0" rIns="0" bIns="0" rtlCol="0" anchor="ctr"/>
          <a:lstStyle/>
          <a:p>
            <a:pPr indent="0" marL="0">
              <a:buNone/>
            </a:pPr>
            <a:r>
              <a:rPr lang="en-US" sz="850" b="1" spc="130" kern="0" dirty="0">
                <a:solidFill>
                  <a:srgbClr val="3D6EA6"/>
                </a:solidFill>
                <a:latin typeface="Calibri" pitchFamily="34" charset="0"/>
                <a:ea typeface="Calibri" pitchFamily="34" charset="-122"/>
                <a:cs typeface="Calibri" pitchFamily="34" charset="-120"/>
              </a:rPr>
              <a:t>ON SIGNIFICANT FIGURES</a:t>
            </a:r>
            <a:endParaRPr lang="en-US" sz="850" dirty="0"/>
          </a:p>
        </p:txBody>
      </p:sp>
      <p:sp>
        <p:nvSpPr>
          <p:cNvPr id="35" name="Text 33"/>
          <p:cNvSpPr txBox="1"/>
          <p:nvPr/>
        </p:nvSpPr>
        <p:spPr>
          <a:xfrm>
            <a:off x="6501384" y="5029200"/>
            <a:ext cx="4892040" cy="82296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Report no more precision than your measurement supports. Four significant figures from runs whose variance is five per cent is a claim about the formatting of your spreadsheet, not about the system.</a:t>
            </a:r>
            <a:endParaRPr lang="en-US" sz="1100" dirty="0"/>
          </a:p>
        </p:txBody>
      </p:sp>
      <p:sp>
        <p:nvSpPr>
          <p:cNvPr id="36" name="Text 34"/>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37" name="Text 35"/>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14 / 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SCALING AND BOTTLENECKS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Speedup, Efficiency, and Scalability</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Three definitions that look elementary and are misreported constantly — almost always through an unstated choice of baseline.</a:t>
            </a:r>
            <a:endParaRPr lang="en-US" sz="1250" dirty="0"/>
          </a:p>
        </p:txBody>
      </p:sp>
      <p:sp>
        <p:nvSpPr>
          <p:cNvPr id="5" name="Shape 3"/>
          <p:cNvSpPr/>
          <p:nvPr/>
        </p:nvSpPr>
        <p:spPr>
          <a:xfrm>
            <a:off x="502920" y="1938528"/>
            <a:ext cx="3502152" cy="3200400"/>
          </a:xfrm>
          <a:prstGeom prst="roundRect">
            <a:avLst>
              <a:gd name="adj" fmla="val 1429"/>
            </a:avLst>
          </a:prstGeom>
          <a:solidFill>
            <a:srgbClr val="F3F1FC"/>
          </a:solidFill>
          <a:ln/>
        </p:spPr>
      </p:sp>
      <p:sp>
        <p:nvSpPr>
          <p:cNvPr id="6" name="Text 4"/>
          <p:cNvSpPr txBox="1"/>
          <p:nvPr/>
        </p:nvSpPr>
        <p:spPr>
          <a:xfrm>
            <a:off x="758952" y="2157984"/>
            <a:ext cx="2990088" cy="201168"/>
          </a:xfrm>
          <a:prstGeom prst="rect">
            <a:avLst/>
          </a:prstGeom>
          <a:noFill/>
          <a:ln/>
        </p:spPr>
        <p:txBody>
          <a:bodyPr wrap="square" lIns="0" tIns="0" rIns="0" bIns="0" rtlCol="0" anchor="ctr"/>
          <a:lstStyle/>
          <a:p>
            <a:pPr indent="0" marL="0">
              <a:buNone/>
            </a:pPr>
            <a:r>
              <a:rPr lang="en-US" sz="800" b="1" spc="120" kern="0" dirty="0">
                <a:solidFill>
                  <a:srgbClr val="B08C3A"/>
                </a:solidFill>
                <a:latin typeface="Calibri" pitchFamily="34" charset="0"/>
                <a:ea typeface="Calibri" pitchFamily="34" charset="-122"/>
                <a:cs typeface="Calibri" pitchFamily="34" charset="-120"/>
              </a:rPr>
              <a:t>DEFINITION 1</a:t>
            </a:r>
            <a:endParaRPr lang="en-US" sz="800" dirty="0"/>
          </a:p>
        </p:txBody>
      </p:sp>
      <p:sp>
        <p:nvSpPr>
          <p:cNvPr id="7" name="Text 5"/>
          <p:cNvSpPr txBox="1"/>
          <p:nvPr/>
        </p:nvSpPr>
        <p:spPr>
          <a:xfrm>
            <a:off x="758952" y="2395728"/>
            <a:ext cx="2990088" cy="457200"/>
          </a:xfrm>
          <a:prstGeom prst="rect">
            <a:avLst/>
          </a:prstGeom>
          <a:noFill/>
          <a:ln/>
        </p:spPr>
        <p:txBody>
          <a:bodyPr wrap="square" lIns="0" tIns="0" rIns="0" bIns="0" rtlCol="0" anchor="t"/>
          <a:lstStyle/>
          <a:p>
            <a:pPr indent="0" marL="0">
              <a:lnSpc>
                <a:spcPct val="102000"/>
              </a:lnSpc>
              <a:buNone/>
            </a:pPr>
            <a:r>
              <a:rPr lang="en-US" sz="1700" b="1" dirty="0">
                <a:solidFill>
                  <a:srgbClr val="241A4C"/>
                </a:solidFill>
                <a:latin typeface="Cambria" pitchFamily="34" charset="0"/>
                <a:ea typeface="Cambria" pitchFamily="34" charset="-122"/>
                <a:cs typeface="Cambria" pitchFamily="34" charset="-120"/>
              </a:rPr>
              <a:t>Speedup</a:t>
            </a:r>
            <a:endParaRPr lang="en-US" sz="1700" dirty="0"/>
          </a:p>
        </p:txBody>
      </p:sp>
      <p:sp>
        <p:nvSpPr>
          <p:cNvPr id="8" name="Text 6"/>
          <p:cNvSpPr txBox="1"/>
          <p:nvPr/>
        </p:nvSpPr>
        <p:spPr>
          <a:xfrm>
            <a:off x="758952" y="2907792"/>
            <a:ext cx="2990088" cy="292608"/>
          </a:xfrm>
          <a:prstGeom prst="rect">
            <a:avLst/>
          </a:prstGeom>
          <a:noFill/>
          <a:ln/>
        </p:spPr>
        <p:txBody>
          <a:bodyPr wrap="square" lIns="0" tIns="0" rIns="0" bIns="0" rtlCol="0" anchor="ctr"/>
          <a:lstStyle/>
          <a:p>
            <a:pPr indent="0" marL="0">
              <a:buNone/>
            </a:pPr>
            <a:r>
              <a:rPr lang="en-US" sz="1100" dirty="0">
                <a:solidFill>
                  <a:srgbClr val="B08C3A"/>
                </a:solidFill>
                <a:latin typeface="Courier New" pitchFamily="34" charset="0"/>
                <a:ea typeface="Courier New" pitchFamily="34" charset="-122"/>
                <a:cs typeface="Courier New" pitchFamily="34" charset="-120"/>
              </a:rPr>
              <a:t>S(p)  =  T(1) / T(p)</a:t>
            </a:r>
            <a:endParaRPr lang="en-US" sz="1100" dirty="0"/>
          </a:p>
        </p:txBody>
      </p:sp>
      <p:sp>
        <p:nvSpPr>
          <p:cNvPr id="9" name="Text 7"/>
          <p:cNvSpPr txBox="1"/>
          <p:nvPr/>
        </p:nvSpPr>
        <p:spPr>
          <a:xfrm>
            <a:off x="758952" y="3291840"/>
            <a:ext cx="2990088" cy="73152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How much faster the parallel version is than the sequential one.</a:t>
            </a:r>
            <a:endParaRPr lang="en-US" sz="1100" dirty="0"/>
          </a:p>
        </p:txBody>
      </p:sp>
      <p:sp>
        <p:nvSpPr>
          <p:cNvPr id="10" name="Text 8"/>
          <p:cNvSpPr txBox="1"/>
          <p:nvPr/>
        </p:nvSpPr>
        <p:spPr>
          <a:xfrm>
            <a:off x="758952" y="4078224"/>
            <a:ext cx="2990088" cy="932688"/>
          </a:xfrm>
          <a:prstGeom prst="rect">
            <a:avLst/>
          </a:prstGeom>
          <a:noFill/>
          <a:ln/>
        </p:spPr>
        <p:txBody>
          <a:bodyPr wrap="square" lIns="0" tIns="0" rIns="0" bIns="0" rtlCol="0" anchor="t"/>
          <a:lstStyle/>
          <a:p>
            <a:pPr indent="0" marL="0">
              <a:lnSpc>
                <a:spcPct val="118000"/>
              </a:lnSpc>
              <a:buNone/>
            </a:pPr>
            <a:r>
              <a:rPr lang="en-US" sz="1000" i="1" dirty="0">
                <a:solidFill>
                  <a:srgbClr val="B08C3A"/>
                </a:solidFill>
                <a:latin typeface="Calibri" pitchFamily="34" charset="0"/>
                <a:ea typeface="Calibri" pitchFamily="34" charset="-122"/>
                <a:cs typeface="Calibri" pitchFamily="34" charset="-120"/>
              </a:rPr>
              <a:t>Everything depends on what T(1) means: the best known sequential algorithm, or your own parallel code run on one core? Only the first is an honest baseline.</a:t>
            </a:r>
            <a:endParaRPr lang="en-US" sz="1000" dirty="0"/>
          </a:p>
        </p:txBody>
      </p:sp>
      <p:sp>
        <p:nvSpPr>
          <p:cNvPr id="11" name="Shape 9"/>
          <p:cNvSpPr/>
          <p:nvPr/>
        </p:nvSpPr>
        <p:spPr>
          <a:xfrm>
            <a:off x="4343400" y="1938528"/>
            <a:ext cx="3502152" cy="3200400"/>
          </a:xfrm>
          <a:prstGeom prst="roundRect">
            <a:avLst>
              <a:gd name="adj" fmla="val 1429"/>
            </a:avLst>
          </a:prstGeom>
          <a:solidFill>
            <a:srgbClr val="F3F1FC"/>
          </a:solidFill>
          <a:ln/>
        </p:spPr>
      </p:sp>
      <p:sp>
        <p:nvSpPr>
          <p:cNvPr id="12" name="Text 10"/>
          <p:cNvSpPr txBox="1"/>
          <p:nvPr/>
        </p:nvSpPr>
        <p:spPr>
          <a:xfrm>
            <a:off x="4599432" y="2157984"/>
            <a:ext cx="2990088" cy="201168"/>
          </a:xfrm>
          <a:prstGeom prst="rect">
            <a:avLst/>
          </a:prstGeom>
          <a:noFill/>
          <a:ln/>
        </p:spPr>
        <p:txBody>
          <a:bodyPr wrap="square" lIns="0" tIns="0" rIns="0" bIns="0" rtlCol="0" anchor="ctr"/>
          <a:lstStyle/>
          <a:p>
            <a:pPr indent="0" marL="0">
              <a:buNone/>
            </a:pPr>
            <a:r>
              <a:rPr lang="en-US" sz="800" b="1" spc="120" kern="0" dirty="0">
                <a:solidFill>
                  <a:srgbClr val="3D6EA6"/>
                </a:solidFill>
                <a:latin typeface="Calibri" pitchFamily="34" charset="0"/>
                <a:ea typeface="Calibri" pitchFamily="34" charset="-122"/>
                <a:cs typeface="Calibri" pitchFamily="34" charset="-120"/>
              </a:rPr>
              <a:t>DEFINITION 2</a:t>
            </a:r>
            <a:endParaRPr lang="en-US" sz="800" dirty="0"/>
          </a:p>
        </p:txBody>
      </p:sp>
      <p:sp>
        <p:nvSpPr>
          <p:cNvPr id="13" name="Text 11"/>
          <p:cNvSpPr txBox="1"/>
          <p:nvPr/>
        </p:nvSpPr>
        <p:spPr>
          <a:xfrm>
            <a:off x="4599432" y="2395728"/>
            <a:ext cx="2990088" cy="457200"/>
          </a:xfrm>
          <a:prstGeom prst="rect">
            <a:avLst/>
          </a:prstGeom>
          <a:noFill/>
          <a:ln/>
        </p:spPr>
        <p:txBody>
          <a:bodyPr wrap="square" lIns="0" tIns="0" rIns="0" bIns="0" rtlCol="0" anchor="t"/>
          <a:lstStyle/>
          <a:p>
            <a:pPr indent="0" marL="0">
              <a:lnSpc>
                <a:spcPct val="102000"/>
              </a:lnSpc>
              <a:buNone/>
            </a:pPr>
            <a:r>
              <a:rPr lang="en-US" sz="1700" b="1" dirty="0">
                <a:solidFill>
                  <a:srgbClr val="241A4C"/>
                </a:solidFill>
                <a:latin typeface="Cambria" pitchFamily="34" charset="0"/>
                <a:ea typeface="Cambria" pitchFamily="34" charset="-122"/>
                <a:cs typeface="Cambria" pitchFamily="34" charset="-120"/>
              </a:rPr>
              <a:t>Efficiency</a:t>
            </a:r>
            <a:endParaRPr lang="en-US" sz="1700" dirty="0"/>
          </a:p>
        </p:txBody>
      </p:sp>
      <p:sp>
        <p:nvSpPr>
          <p:cNvPr id="14" name="Text 12"/>
          <p:cNvSpPr txBox="1"/>
          <p:nvPr/>
        </p:nvSpPr>
        <p:spPr>
          <a:xfrm>
            <a:off x="4599432" y="2907792"/>
            <a:ext cx="2990088" cy="292608"/>
          </a:xfrm>
          <a:prstGeom prst="rect">
            <a:avLst/>
          </a:prstGeom>
          <a:noFill/>
          <a:ln/>
        </p:spPr>
        <p:txBody>
          <a:bodyPr wrap="square" lIns="0" tIns="0" rIns="0" bIns="0" rtlCol="0" anchor="ctr"/>
          <a:lstStyle/>
          <a:p>
            <a:pPr indent="0" marL="0">
              <a:buNone/>
            </a:pPr>
            <a:r>
              <a:rPr lang="en-US" sz="1100" dirty="0">
                <a:solidFill>
                  <a:srgbClr val="3D6EA6"/>
                </a:solidFill>
                <a:latin typeface="Courier New" pitchFamily="34" charset="0"/>
                <a:ea typeface="Courier New" pitchFamily="34" charset="-122"/>
                <a:cs typeface="Courier New" pitchFamily="34" charset="-120"/>
              </a:rPr>
              <a:t>E(p)  =  S(p) / p</a:t>
            </a:r>
            <a:endParaRPr lang="en-US" sz="1100" dirty="0"/>
          </a:p>
        </p:txBody>
      </p:sp>
      <p:sp>
        <p:nvSpPr>
          <p:cNvPr id="15" name="Text 13"/>
          <p:cNvSpPr txBox="1"/>
          <p:nvPr/>
        </p:nvSpPr>
        <p:spPr>
          <a:xfrm>
            <a:off x="4599432" y="3291840"/>
            <a:ext cx="2990088" cy="73152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The fraction of ideal speedup that p processors actually delivered.</a:t>
            </a:r>
            <a:endParaRPr lang="en-US" sz="1100" dirty="0"/>
          </a:p>
        </p:txBody>
      </p:sp>
      <p:sp>
        <p:nvSpPr>
          <p:cNvPr id="16" name="Text 14"/>
          <p:cNvSpPr txBox="1"/>
          <p:nvPr/>
        </p:nvSpPr>
        <p:spPr>
          <a:xfrm>
            <a:off x="4599432" y="4078224"/>
            <a:ext cx="2990088" cy="932688"/>
          </a:xfrm>
          <a:prstGeom prst="rect">
            <a:avLst/>
          </a:prstGeom>
          <a:noFill/>
          <a:ln/>
        </p:spPr>
        <p:txBody>
          <a:bodyPr wrap="square" lIns="0" tIns="0" rIns="0" bIns="0" rtlCol="0" anchor="t"/>
          <a:lstStyle/>
          <a:p>
            <a:pPr indent="0" marL="0">
              <a:lnSpc>
                <a:spcPct val="118000"/>
              </a:lnSpc>
              <a:buNone/>
            </a:pPr>
            <a:r>
              <a:rPr lang="en-US" sz="1000" i="1" dirty="0">
                <a:solidFill>
                  <a:srgbClr val="3D6EA6"/>
                </a:solidFill>
                <a:latin typeface="Calibri" pitchFamily="34" charset="0"/>
                <a:ea typeface="Calibri" pitchFamily="34" charset="-122"/>
                <a:cs typeface="Calibri" pitchFamily="34" charset="-120"/>
              </a:rPr>
              <a:t>Falling efficiency is the normal case, and it is the interesting quantity. Plotting only speedup lets a badly scaling system still look like a rising line.</a:t>
            </a:r>
            <a:endParaRPr lang="en-US" sz="1000" dirty="0"/>
          </a:p>
        </p:txBody>
      </p:sp>
      <p:sp>
        <p:nvSpPr>
          <p:cNvPr id="17" name="Shape 15"/>
          <p:cNvSpPr/>
          <p:nvPr/>
        </p:nvSpPr>
        <p:spPr>
          <a:xfrm>
            <a:off x="8183880" y="1938528"/>
            <a:ext cx="3502152" cy="3200400"/>
          </a:xfrm>
          <a:prstGeom prst="roundRect">
            <a:avLst>
              <a:gd name="adj" fmla="val 1429"/>
            </a:avLst>
          </a:prstGeom>
          <a:solidFill>
            <a:srgbClr val="F3F1FC"/>
          </a:solidFill>
          <a:ln/>
        </p:spPr>
      </p:sp>
      <p:sp>
        <p:nvSpPr>
          <p:cNvPr id="18" name="Text 16"/>
          <p:cNvSpPr txBox="1"/>
          <p:nvPr/>
        </p:nvSpPr>
        <p:spPr>
          <a:xfrm>
            <a:off x="8439912" y="2157984"/>
            <a:ext cx="2990088" cy="201168"/>
          </a:xfrm>
          <a:prstGeom prst="rect">
            <a:avLst/>
          </a:prstGeom>
          <a:noFill/>
          <a:ln/>
        </p:spPr>
        <p:txBody>
          <a:bodyPr wrap="square" lIns="0" tIns="0" rIns="0" bIns="0" rtlCol="0" anchor="ctr"/>
          <a:lstStyle/>
          <a:p>
            <a:pPr indent="0" marL="0">
              <a:buNone/>
            </a:pPr>
            <a:r>
              <a:rPr lang="en-US" sz="800" b="1" spc="120" kern="0" dirty="0">
                <a:solidFill>
                  <a:srgbClr val="B4522B"/>
                </a:solidFill>
                <a:latin typeface="Calibri" pitchFamily="34" charset="0"/>
                <a:ea typeface="Calibri" pitchFamily="34" charset="-122"/>
                <a:cs typeface="Calibri" pitchFamily="34" charset="-120"/>
              </a:rPr>
              <a:t>DEFINITION 3</a:t>
            </a:r>
            <a:endParaRPr lang="en-US" sz="800" dirty="0"/>
          </a:p>
        </p:txBody>
      </p:sp>
      <p:sp>
        <p:nvSpPr>
          <p:cNvPr id="19" name="Text 17"/>
          <p:cNvSpPr txBox="1"/>
          <p:nvPr/>
        </p:nvSpPr>
        <p:spPr>
          <a:xfrm>
            <a:off x="8439912" y="2395728"/>
            <a:ext cx="2990088" cy="457200"/>
          </a:xfrm>
          <a:prstGeom prst="rect">
            <a:avLst/>
          </a:prstGeom>
          <a:noFill/>
          <a:ln/>
        </p:spPr>
        <p:txBody>
          <a:bodyPr wrap="square" lIns="0" tIns="0" rIns="0" bIns="0" rtlCol="0" anchor="t"/>
          <a:lstStyle/>
          <a:p>
            <a:pPr indent="0" marL="0">
              <a:lnSpc>
                <a:spcPct val="102000"/>
              </a:lnSpc>
              <a:buNone/>
            </a:pPr>
            <a:r>
              <a:rPr lang="en-US" sz="1700" b="1" dirty="0">
                <a:solidFill>
                  <a:srgbClr val="241A4C"/>
                </a:solidFill>
                <a:latin typeface="Cambria" pitchFamily="34" charset="0"/>
                <a:ea typeface="Cambria" pitchFamily="34" charset="-122"/>
                <a:cs typeface="Cambria" pitchFamily="34" charset="-120"/>
              </a:rPr>
              <a:t>Strong vs weak scaling</a:t>
            </a:r>
            <a:endParaRPr lang="en-US" sz="1700" dirty="0"/>
          </a:p>
        </p:txBody>
      </p:sp>
      <p:sp>
        <p:nvSpPr>
          <p:cNvPr id="20" name="Text 18"/>
          <p:cNvSpPr txBox="1"/>
          <p:nvPr/>
        </p:nvSpPr>
        <p:spPr>
          <a:xfrm>
            <a:off x="8439912" y="2907792"/>
            <a:ext cx="2990088" cy="292608"/>
          </a:xfrm>
          <a:prstGeom prst="rect">
            <a:avLst/>
          </a:prstGeom>
          <a:noFill/>
          <a:ln/>
        </p:spPr>
        <p:txBody>
          <a:bodyPr wrap="square" lIns="0" tIns="0" rIns="0" bIns="0" rtlCol="0" anchor="ctr"/>
          <a:lstStyle/>
          <a:p>
            <a:pPr indent="0" marL="0">
              <a:buNone/>
            </a:pPr>
            <a:r>
              <a:rPr lang="en-US" sz="1100" dirty="0">
                <a:solidFill>
                  <a:srgbClr val="B4522B"/>
                </a:solidFill>
                <a:latin typeface="Courier New" pitchFamily="34" charset="0"/>
                <a:ea typeface="Courier New" pitchFamily="34" charset="-122"/>
                <a:cs typeface="Courier New" pitchFamily="34" charset="-120"/>
              </a:rPr>
              <a:t>fixed problem  vs  fixed work per p</a:t>
            </a:r>
            <a:endParaRPr lang="en-US" sz="1100" dirty="0"/>
          </a:p>
        </p:txBody>
      </p:sp>
      <p:sp>
        <p:nvSpPr>
          <p:cNvPr id="21" name="Text 19"/>
          <p:cNvSpPr txBox="1"/>
          <p:nvPr/>
        </p:nvSpPr>
        <p:spPr>
          <a:xfrm>
            <a:off x="8439912" y="3291840"/>
            <a:ext cx="2990088" cy="73152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Strong scaling holds the total problem fixed; weak scaling grows it with p.</a:t>
            </a:r>
            <a:endParaRPr lang="en-US" sz="1100" dirty="0"/>
          </a:p>
        </p:txBody>
      </p:sp>
      <p:sp>
        <p:nvSpPr>
          <p:cNvPr id="22" name="Text 20"/>
          <p:cNvSpPr txBox="1"/>
          <p:nvPr/>
        </p:nvSpPr>
        <p:spPr>
          <a:xfrm>
            <a:off x="8439912" y="4078224"/>
            <a:ext cx="2990088" cy="932688"/>
          </a:xfrm>
          <a:prstGeom prst="rect">
            <a:avLst/>
          </a:prstGeom>
          <a:noFill/>
          <a:ln/>
        </p:spPr>
        <p:txBody>
          <a:bodyPr wrap="square" lIns="0" tIns="0" rIns="0" bIns="0" rtlCol="0" anchor="t"/>
          <a:lstStyle/>
          <a:p>
            <a:pPr indent="0" marL="0">
              <a:lnSpc>
                <a:spcPct val="118000"/>
              </a:lnSpc>
              <a:buNone/>
            </a:pPr>
            <a:r>
              <a:rPr lang="en-US" sz="1000" i="1" dirty="0">
                <a:solidFill>
                  <a:srgbClr val="B4522B"/>
                </a:solidFill>
                <a:latin typeface="Calibri" pitchFamily="34" charset="0"/>
                <a:ea typeface="Calibri" pitchFamily="34" charset="-122"/>
                <a:cs typeface="Calibri" pitchFamily="34" charset="-120"/>
              </a:rPr>
              <a:t>They answer different questions and produce different curves. Saying only “it scales” without saying which is not a claim a reader can evaluate.</a:t>
            </a:r>
            <a:endParaRPr lang="en-US" sz="1000" dirty="0"/>
          </a:p>
        </p:txBody>
      </p:sp>
      <p:sp>
        <p:nvSpPr>
          <p:cNvPr id="23" name="Shape 21"/>
          <p:cNvSpPr/>
          <p:nvPr/>
        </p:nvSpPr>
        <p:spPr>
          <a:xfrm>
            <a:off x="502920" y="5504688"/>
            <a:ext cx="11183112" cy="658368"/>
          </a:xfrm>
          <a:prstGeom prst="roundRect">
            <a:avLst>
              <a:gd name="adj" fmla="val 6944"/>
            </a:avLst>
          </a:prstGeom>
          <a:solidFill>
            <a:srgbClr val="F8EEEA"/>
          </a:solidFill>
          <a:ln/>
        </p:spPr>
      </p:sp>
      <p:sp>
        <p:nvSpPr>
          <p:cNvPr id="24" name="Text 22"/>
          <p:cNvSpPr txBox="1"/>
          <p:nvPr/>
        </p:nvSpPr>
        <p:spPr>
          <a:xfrm>
            <a:off x="795528" y="5504688"/>
            <a:ext cx="10597896" cy="658368"/>
          </a:xfrm>
          <a:prstGeom prst="rect">
            <a:avLst/>
          </a:prstGeom>
          <a:noFill/>
          <a:ln/>
        </p:spPr>
        <p:txBody>
          <a:bodyPr wrap="square" lIns="0" tIns="0" rIns="0" bIns="0" rtlCol="0" anchor="ctr"/>
          <a:lstStyle/>
          <a:p>
            <a:pPr indent="0" marL="0">
              <a:buNone/>
            </a:pPr>
            <a:r>
              <a:rPr lang="en-US" sz="1150" i="1" dirty="0">
                <a:solidFill>
                  <a:srgbClr val="241A4C"/>
                </a:solidFill>
                <a:latin typeface="Calibri" pitchFamily="34" charset="0"/>
                <a:ea typeface="Calibri" pitchFamily="34" charset="-122"/>
                <a:cs typeface="Calibri" pitchFamily="34" charset="-120"/>
              </a:rPr>
              <a:t>Speedup measured against a deliberately poor sequential implementation is the performance world's strawman baseline — Lecture 4's failure mode, with a rising graph attached to it.</a:t>
            </a:r>
            <a:endParaRPr lang="en-US" sz="1150" dirty="0"/>
          </a:p>
        </p:txBody>
      </p:sp>
      <p:sp>
        <p:nvSpPr>
          <p:cNvPr id="25" name="Text 23"/>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26" name="Text 24"/>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15 / 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SCALING AND BOTTLENECKS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Worked Example: What Amdahl's Law Forbids</a:t>
            </a:r>
            <a:endParaRPr lang="en-US" sz="2800" dirty="0"/>
          </a:p>
        </p:txBody>
      </p:sp>
      <p:sp>
        <p:nvSpPr>
          <p:cNvPr id="4" name="Text 2"/>
          <p:cNvSpPr txBox="1"/>
          <p:nvPr/>
        </p:nvSpPr>
        <p:spPr>
          <a:xfrm>
            <a:off x="502920" y="1225296"/>
            <a:ext cx="11183112" cy="384048"/>
          </a:xfrm>
          <a:prstGeom prst="rect">
            <a:avLst/>
          </a:prstGeom>
          <a:noFill/>
          <a:ln/>
        </p:spPr>
        <p:txBody>
          <a:bodyPr wrap="square" lIns="0" tIns="0" rIns="0" bIns="0" rtlCol="0" anchor="ctr"/>
          <a:lstStyle/>
          <a:p>
            <a:pPr indent="0" marL="0">
              <a:buNone/>
            </a:pPr>
            <a:r>
              <a:rPr lang="en-US" sz="1150" b="1" dirty="0">
                <a:solidFill>
                  <a:srgbClr val="241A4C"/>
                </a:solidFill>
                <a:latin typeface="Calibri" pitchFamily="34" charset="0"/>
                <a:ea typeface="Calibri" pitchFamily="34" charset="-122"/>
                <a:cs typeface="Calibri" pitchFamily="34" charset="-120"/>
              </a:rPr>
              <a:t>Question:  </a:t>
            </a:r>
            <a:pPr indent="0" marL="0">
              <a:buNone/>
            </a:pPr>
            <a:r>
              <a:rPr lang="en-US" sz="1150" dirty="0">
                <a:solidFill>
                  <a:srgbClr val="5C5A66"/>
                </a:solidFill>
                <a:latin typeface="Calibri" pitchFamily="34" charset="0"/>
                <a:ea typeface="Calibri" pitchFamily="34" charset="-122"/>
                <a:cs typeface="Calibri" pitchFamily="34" charset="-120"/>
              </a:rPr>
              <a:t>“Five per cent of this program is inherently serial. How much can parallel hardware possibly help?”</a:t>
            </a:r>
            <a:endParaRPr lang="en-US" sz="1150" dirty="0"/>
          </a:p>
        </p:txBody>
      </p:sp>
      <p:sp>
        <p:nvSpPr>
          <p:cNvPr id="5" name="Shape 3"/>
          <p:cNvSpPr/>
          <p:nvPr/>
        </p:nvSpPr>
        <p:spPr>
          <a:xfrm>
            <a:off x="502920" y="1627632"/>
            <a:ext cx="4206240" cy="1828800"/>
          </a:xfrm>
          <a:prstGeom prst="roundRect">
            <a:avLst>
              <a:gd name="adj" fmla="val 2500"/>
            </a:avLst>
          </a:prstGeom>
          <a:solidFill>
            <a:srgbClr val="F5F4FB"/>
          </a:solidFill>
          <a:ln/>
        </p:spPr>
      </p:sp>
      <p:sp>
        <p:nvSpPr>
          <p:cNvPr id="6" name="Text 4"/>
          <p:cNvSpPr txBox="1"/>
          <p:nvPr/>
        </p:nvSpPr>
        <p:spPr>
          <a:xfrm>
            <a:off x="777240" y="1810512"/>
            <a:ext cx="3657600" cy="201168"/>
          </a:xfrm>
          <a:prstGeom prst="rect">
            <a:avLst/>
          </a:prstGeom>
          <a:noFill/>
          <a:ln/>
        </p:spPr>
        <p:txBody>
          <a:bodyPr wrap="square" lIns="0" tIns="0" rIns="0" bIns="0" rtlCol="0" anchor="ctr"/>
          <a:lstStyle/>
          <a:p>
            <a:pPr indent="0" marL="0">
              <a:buNone/>
            </a:pPr>
            <a:r>
              <a:rPr lang="en-US" sz="850" b="1" spc="130" kern="0" dirty="0">
                <a:solidFill>
                  <a:srgbClr val="3D6EA6"/>
                </a:solidFill>
                <a:latin typeface="Calibri" pitchFamily="34" charset="0"/>
                <a:ea typeface="Calibri" pitchFamily="34" charset="-122"/>
                <a:cs typeface="Calibri" pitchFamily="34" charset="-120"/>
              </a:rPr>
              <a:t>THE MODEL</a:t>
            </a:r>
            <a:endParaRPr lang="en-US" sz="850" dirty="0"/>
          </a:p>
        </p:txBody>
      </p:sp>
      <p:sp>
        <p:nvSpPr>
          <p:cNvPr id="7" name="Text 5"/>
          <p:cNvSpPr txBox="1"/>
          <p:nvPr/>
        </p:nvSpPr>
        <p:spPr>
          <a:xfrm>
            <a:off x="777240" y="2084832"/>
            <a:ext cx="3657600" cy="1207008"/>
          </a:xfrm>
          <a:prstGeom prst="rect">
            <a:avLst/>
          </a:prstGeom>
          <a:noFill/>
          <a:ln/>
        </p:spPr>
        <p:txBody>
          <a:bodyPr wrap="square" lIns="0" tIns="0" rIns="0" bIns="0" rtlCol="0" anchor="t"/>
          <a:lstStyle/>
          <a:p>
            <a:pPr indent="0" marL="0">
              <a:lnSpc>
                <a:spcPct val="126000"/>
              </a:lnSpc>
              <a:buNone/>
            </a:pPr>
            <a:r>
              <a:rPr lang="en-US" sz="1050" dirty="0">
                <a:solidFill>
                  <a:srgbClr val="241A4C"/>
                </a:solidFill>
                <a:latin typeface="Courier New" pitchFamily="34" charset="0"/>
                <a:ea typeface="Courier New" pitchFamily="34" charset="-122"/>
                <a:cs typeface="Courier New" pitchFamily="34" charset="-120"/>
              </a:rPr>
              <a:t>  f          serial fraction of the work</a:t>
            </a:r>
            <a:endParaRPr lang="en-US" sz="1050" dirty="0"/>
          </a:p>
          <a:p>
            <a:pPr indent="0" marL="0">
              <a:lnSpc>
                <a:spcPct val="126000"/>
              </a:lnSpc>
              <a:buNone/>
            </a:pPr>
            <a:r>
              <a:rPr lang="en-US" sz="1050" dirty="0">
                <a:solidFill>
                  <a:srgbClr val="241A4C"/>
                </a:solidFill>
                <a:latin typeface="Courier New" pitchFamily="34" charset="0"/>
                <a:ea typeface="Courier New" pitchFamily="34" charset="-122"/>
                <a:cs typeface="Courier New" pitchFamily="34" charset="-120"/>
              </a:rPr>
              <a:t>  1 − f      perfectly parallelisable</a:t>
            </a:r>
            <a:endParaRPr lang="en-US" sz="1050" dirty="0"/>
          </a:p>
          <a:p>
            <a:pPr indent="0" marL="0">
              <a:lnSpc>
                <a:spcPct val="126000"/>
              </a:lnSpc>
              <a:buNone/>
            </a:pPr>
            <a:r>
              <a:rPr lang="en-US" sz="1050" dirty="0">
                <a:solidFill>
                  <a:srgbClr val="241A4C"/>
                </a:solidFill>
                <a:latin typeface="Courier New" pitchFamily="34" charset="0"/>
                <a:ea typeface="Courier New" pitchFamily="34" charset="-122"/>
                <a:cs typeface="Courier New" pitchFamily="34" charset="-120"/>
              </a:rPr>
              <a:t>  p          number of processors</a:t>
            </a:r>
            <a:endParaRPr lang="en-US" sz="1050" dirty="0"/>
          </a:p>
          <a:p>
            <a:pPr indent="0" marL="0">
              <a:lnSpc>
                <a:spcPct val="126000"/>
              </a:lnSpc>
              <a:buNone/>
            </a:pPr>
            <a:endParaRPr lang="en-US" sz="1050" dirty="0"/>
          </a:p>
          <a:p>
            <a:pPr indent="0" marL="0">
              <a:lnSpc>
                <a:spcPct val="126000"/>
              </a:lnSpc>
              <a:buNone/>
            </a:pPr>
            <a:r>
              <a:rPr lang="en-US" sz="1050" dirty="0">
                <a:solidFill>
                  <a:srgbClr val="241A4C"/>
                </a:solidFill>
                <a:latin typeface="Courier New" pitchFamily="34" charset="0"/>
                <a:ea typeface="Courier New" pitchFamily="34" charset="-122"/>
                <a:cs typeface="Courier New" pitchFamily="34" charset="-120"/>
              </a:rPr>
              <a:t>  S(p)  =  1 / ( f + (1 − f)/p )</a:t>
            </a:r>
            <a:endParaRPr lang="en-US" sz="1050" dirty="0"/>
          </a:p>
        </p:txBody>
      </p:sp>
      <p:sp>
        <p:nvSpPr>
          <p:cNvPr id="8" name="Shape 6"/>
          <p:cNvSpPr/>
          <p:nvPr/>
        </p:nvSpPr>
        <p:spPr>
          <a:xfrm>
            <a:off x="502920" y="3639312"/>
            <a:ext cx="4206240" cy="1517904"/>
          </a:xfrm>
          <a:prstGeom prst="roundRect">
            <a:avLst>
              <a:gd name="adj" fmla="val 3012"/>
            </a:avLst>
          </a:prstGeom>
          <a:solidFill>
            <a:srgbClr val="F6EFE4"/>
          </a:solidFill>
          <a:ln/>
        </p:spPr>
      </p:sp>
      <p:sp>
        <p:nvSpPr>
          <p:cNvPr id="9" name="Text 7"/>
          <p:cNvSpPr txBox="1"/>
          <p:nvPr/>
        </p:nvSpPr>
        <p:spPr>
          <a:xfrm>
            <a:off x="777240" y="3822192"/>
            <a:ext cx="3657600" cy="201168"/>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THE PREMISE DOING THE WORK</a:t>
            </a:r>
            <a:endParaRPr lang="en-US" sz="850" dirty="0"/>
          </a:p>
        </p:txBody>
      </p:sp>
      <p:sp>
        <p:nvSpPr>
          <p:cNvPr id="10" name="Text 8"/>
          <p:cNvSpPr txBox="1"/>
          <p:nvPr/>
        </p:nvSpPr>
        <p:spPr>
          <a:xfrm>
            <a:off x="777240" y="4096512"/>
            <a:ext cx="3657600" cy="914400"/>
          </a:xfrm>
          <a:prstGeom prst="rect">
            <a:avLst/>
          </a:prstGeom>
          <a:noFill/>
          <a:ln/>
        </p:spPr>
        <p:txBody>
          <a:bodyPr wrap="square" lIns="0" tIns="0" rIns="0" bIns="0" rtlCol="0" anchor="t"/>
          <a:lstStyle/>
          <a:p>
            <a:pPr indent="0" marL="0">
              <a:lnSpc>
                <a:spcPct val="120000"/>
              </a:lnSpc>
              <a:buNone/>
            </a:pPr>
            <a:r>
              <a:rPr lang="en-US" sz="1100" dirty="0">
                <a:solidFill>
                  <a:srgbClr val="241A4C"/>
                </a:solidFill>
                <a:latin typeface="Calibri" pitchFamily="34" charset="0"/>
                <a:ea typeface="Calibri" pitchFamily="34" charset="-122"/>
                <a:cs typeface="Calibri" pitchFamily="34" charset="-120"/>
              </a:rPr>
              <a:t>A fixed problem size, with a serial fraction that does not change as p grows. Everything the law forbids follows from that one assumption.</a:t>
            </a:r>
            <a:endParaRPr lang="en-US" sz="1100" dirty="0"/>
          </a:p>
        </p:txBody>
      </p:sp>
      <p:sp>
        <p:nvSpPr>
          <p:cNvPr id="11" name="Text 9"/>
          <p:cNvSpPr txBox="1"/>
          <p:nvPr/>
        </p:nvSpPr>
        <p:spPr>
          <a:xfrm>
            <a:off x="502920" y="5340096"/>
            <a:ext cx="4206240" cy="822960"/>
          </a:xfrm>
          <a:prstGeom prst="rect">
            <a:avLst/>
          </a:prstGeom>
          <a:noFill/>
          <a:ln/>
        </p:spPr>
        <p:txBody>
          <a:bodyPr wrap="square" lIns="0" tIns="0" rIns="0" bIns="0" rtlCol="0" anchor="t"/>
          <a:lstStyle/>
          <a:p>
            <a:pPr indent="0" marL="0">
              <a:lnSpc>
                <a:spcPct val="120000"/>
              </a:lnSpc>
              <a:buNone/>
            </a:pPr>
            <a:r>
              <a:rPr lang="en-US" sz="1050" i="1" dirty="0">
                <a:solidFill>
                  <a:srgbClr val="5C5A66"/>
                </a:solidFill>
                <a:latin typeface="Calibri" pitchFamily="34" charset="0"/>
                <a:ea typeface="Calibri" pitchFamily="34" charset="-122"/>
                <a:cs typeface="Calibri" pitchFamily="34" charset="-120"/>
              </a:rPr>
              <a:t>This is a Lecture 3 deduction carried out inside a model — and its premise is precisely what Gustafson's reframing attacks on the next slide.</a:t>
            </a:r>
            <a:endParaRPr lang="en-US" sz="1050" dirty="0"/>
          </a:p>
        </p:txBody>
      </p:sp>
      <p:sp>
        <p:nvSpPr>
          <p:cNvPr id="12" name="Shape 10"/>
          <p:cNvSpPr/>
          <p:nvPr/>
        </p:nvSpPr>
        <p:spPr>
          <a:xfrm>
            <a:off x="5029200" y="1609344"/>
            <a:ext cx="310896" cy="310896"/>
          </a:xfrm>
          <a:prstGeom prst="ellipse">
            <a:avLst/>
          </a:prstGeom>
          <a:solidFill>
            <a:srgbClr val="3D6EA6"/>
          </a:solidFill>
          <a:ln/>
        </p:spPr>
      </p:sp>
      <p:sp>
        <p:nvSpPr>
          <p:cNvPr id="13" name="Text 11"/>
          <p:cNvSpPr txBox="1"/>
          <p:nvPr/>
        </p:nvSpPr>
        <p:spPr>
          <a:xfrm>
            <a:off x="5029200" y="16093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4" name="Text 12"/>
          <p:cNvSpPr txBox="1"/>
          <p:nvPr/>
        </p:nvSpPr>
        <p:spPr>
          <a:xfrm>
            <a:off x="5541264" y="1591056"/>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Set up</a:t>
            </a:r>
            <a:endParaRPr lang="en-US" sz="1350" dirty="0"/>
          </a:p>
        </p:txBody>
      </p:sp>
      <p:sp>
        <p:nvSpPr>
          <p:cNvPr id="15" name="Text 13"/>
          <p:cNvSpPr txBox="1"/>
          <p:nvPr/>
        </p:nvSpPr>
        <p:spPr>
          <a:xfrm>
            <a:off x="5541264" y="1901952"/>
            <a:ext cx="6144768" cy="7315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Normalise the total sequential time to 1. The serial part costs f no matter how many processors you add; the parallel part costs (1 − f)/p.</a:t>
            </a:r>
            <a:endParaRPr lang="en-US" sz="1050" dirty="0"/>
          </a:p>
        </p:txBody>
      </p:sp>
      <p:sp>
        <p:nvSpPr>
          <p:cNvPr id="16" name="Shape 14"/>
          <p:cNvSpPr/>
          <p:nvPr/>
        </p:nvSpPr>
        <p:spPr>
          <a:xfrm>
            <a:off x="5029200" y="2651760"/>
            <a:ext cx="310896" cy="310896"/>
          </a:xfrm>
          <a:prstGeom prst="ellipse">
            <a:avLst/>
          </a:prstGeom>
          <a:solidFill>
            <a:srgbClr val="3D6EA6"/>
          </a:solidFill>
          <a:ln/>
        </p:spPr>
      </p:sp>
      <p:sp>
        <p:nvSpPr>
          <p:cNvPr id="17" name="Text 15"/>
          <p:cNvSpPr txBox="1"/>
          <p:nvPr/>
        </p:nvSpPr>
        <p:spPr>
          <a:xfrm>
            <a:off x="5029200" y="26517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8" name="Text 16"/>
          <p:cNvSpPr txBox="1"/>
          <p:nvPr/>
        </p:nvSpPr>
        <p:spPr>
          <a:xfrm>
            <a:off x="5541264" y="2633472"/>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Compute a case</a:t>
            </a:r>
            <a:endParaRPr lang="en-US" sz="1350" dirty="0"/>
          </a:p>
        </p:txBody>
      </p:sp>
      <p:sp>
        <p:nvSpPr>
          <p:cNvPr id="19" name="Text 17"/>
          <p:cNvSpPr txBox="1"/>
          <p:nvPr/>
        </p:nvSpPr>
        <p:spPr>
          <a:xfrm>
            <a:off x="5541264" y="2944368"/>
            <a:ext cx="6144768" cy="7315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With f = 0.05 and p = 16:  S = 1 / (0.05 + 0.95/16) = 1 / 0.1094 = 9.14. Sixteen processors deliver a speedup of nine — an efficiency of 57%.</a:t>
            </a:r>
            <a:endParaRPr lang="en-US" sz="1050" dirty="0"/>
          </a:p>
        </p:txBody>
      </p:sp>
      <p:sp>
        <p:nvSpPr>
          <p:cNvPr id="20" name="Shape 18"/>
          <p:cNvSpPr/>
          <p:nvPr/>
        </p:nvSpPr>
        <p:spPr>
          <a:xfrm>
            <a:off x="5029200" y="3694176"/>
            <a:ext cx="310896" cy="310896"/>
          </a:xfrm>
          <a:prstGeom prst="ellipse">
            <a:avLst/>
          </a:prstGeom>
          <a:solidFill>
            <a:srgbClr val="B08C3A"/>
          </a:solidFill>
          <a:ln/>
        </p:spPr>
      </p:sp>
      <p:sp>
        <p:nvSpPr>
          <p:cNvPr id="21" name="Text 19"/>
          <p:cNvSpPr txBox="1"/>
          <p:nvPr/>
        </p:nvSpPr>
        <p:spPr>
          <a:xfrm>
            <a:off x="5029200" y="36941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2" name="Text 20"/>
          <p:cNvSpPr txBox="1"/>
          <p:nvPr/>
        </p:nvSpPr>
        <p:spPr>
          <a:xfrm>
            <a:off x="5541264" y="3675888"/>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Take the limit</a:t>
            </a:r>
            <a:endParaRPr lang="en-US" sz="1350" dirty="0"/>
          </a:p>
        </p:txBody>
      </p:sp>
      <p:sp>
        <p:nvSpPr>
          <p:cNvPr id="23" name="Text 21"/>
          <p:cNvSpPr txBox="1"/>
          <p:nvPr/>
        </p:nvSpPr>
        <p:spPr>
          <a:xfrm>
            <a:off x="5541264" y="3986784"/>
            <a:ext cx="6144768" cy="7315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With the same f = 0.05 and unbounded p, the second term vanishes and S → 1/f = 20. No quantity of hardware, ever, gets past twenty.</a:t>
            </a:r>
            <a:endParaRPr lang="en-US" sz="1050" dirty="0"/>
          </a:p>
        </p:txBody>
      </p:sp>
      <p:sp>
        <p:nvSpPr>
          <p:cNvPr id="24" name="Shape 22"/>
          <p:cNvSpPr/>
          <p:nvPr/>
        </p:nvSpPr>
        <p:spPr>
          <a:xfrm>
            <a:off x="5029200" y="4736592"/>
            <a:ext cx="310896" cy="310896"/>
          </a:xfrm>
          <a:prstGeom prst="ellipse">
            <a:avLst/>
          </a:prstGeom>
          <a:solidFill>
            <a:srgbClr val="B08C3A"/>
          </a:solidFill>
          <a:ln/>
        </p:spPr>
      </p:sp>
      <p:sp>
        <p:nvSpPr>
          <p:cNvPr id="25" name="Text 23"/>
          <p:cNvSpPr txBox="1"/>
          <p:nvPr/>
        </p:nvSpPr>
        <p:spPr>
          <a:xfrm>
            <a:off x="5029200" y="47365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6" name="Text 24"/>
          <p:cNvSpPr txBox="1"/>
          <p:nvPr/>
        </p:nvSpPr>
        <p:spPr>
          <a:xfrm>
            <a:off x="5541264" y="4718304"/>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Read what it forbids</a:t>
            </a:r>
            <a:endParaRPr lang="en-US" sz="1350" dirty="0"/>
          </a:p>
        </p:txBody>
      </p:sp>
      <p:sp>
        <p:nvSpPr>
          <p:cNvPr id="27" name="Text 25"/>
          <p:cNvSpPr txBox="1"/>
          <p:nvPr/>
        </p:nvSpPr>
        <p:spPr>
          <a:xfrm>
            <a:off x="5541264" y="5029200"/>
            <a:ext cx="6144768" cy="7315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The bound applies to this fixed problem. It says nothing about a larger problem, and nothing about whether f itself can be reduced — which is usually where the engineering effort actually belongs.</a:t>
            </a:r>
            <a:endParaRPr lang="en-US" sz="1050" dirty="0"/>
          </a:p>
        </p:txBody>
      </p:sp>
      <p:sp>
        <p:nvSpPr>
          <p:cNvPr id="28" name="Text 26"/>
          <p:cNvSpPr txBox="1"/>
          <p:nvPr/>
        </p:nvSpPr>
        <p:spPr>
          <a:xfrm>
            <a:off x="5541264" y="5815584"/>
            <a:ext cx="6144768" cy="566928"/>
          </a:xfrm>
          <a:prstGeom prst="rect">
            <a:avLst/>
          </a:prstGeom>
          <a:noFill/>
          <a:ln/>
        </p:spPr>
        <p:txBody>
          <a:bodyPr wrap="square" lIns="0" tIns="0" rIns="0" bIns="0" rtlCol="0" anchor="t"/>
          <a:lstStyle/>
          <a:p>
            <a:pPr indent="0" marL="0">
              <a:lnSpc>
                <a:spcPct val="120000"/>
              </a:lnSpc>
              <a:buNone/>
            </a:pPr>
            <a:r>
              <a:rPr lang="en-US" sz="1050" i="1" dirty="0">
                <a:solidFill>
                  <a:srgbClr val="5C5A66"/>
                </a:solidFill>
                <a:latin typeface="Calibri" pitchFamily="34" charset="0"/>
                <a:ea typeface="Calibri" pitchFamily="34" charset="-122"/>
                <a:cs typeface="Calibri" pitchFamily="34" charset="-120"/>
              </a:rPr>
              <a:t>Note the practical reading: at f = 0.05 the useful range of p is small, so “we ran it on 256 cores” is only impressive once the serial fraction has been reported alongside it.</a:t>
            </a:r>
            <a:endParaRPr lang="en-US" sz="1050" dirty="0"/>
          </a:p>
        </p:txBody>
      </p:sp>
      <p:sp>
        <p:nvSpPr>
          <p:cNvPr id="29" name="Text 27"/>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30" name="Text 28"/>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16 / 26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SCALING AND BOTTLENECKS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Gustafson's Law and the Universal Scalability Law</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Two responses to Amdahl. The first changes the premise; the second adds the mechanisms Amdahl leaves out.</a:t>
            </a:r>
            <a:endParaRPr lang="en-US" sz="1250" dirty="0"/>
          </a:p>
        </p:txBody>
      </p:sp>
      <p:sp>
        <p:nvSpPr>
          <p:cNvPr id="5" name="Shape 3"/>
          <p:cNvSpPr/>
          <p:nvPr/>
        </p:nvSpPr>
        <p:spPr>
          <a:xfrm>
            <a:off x="502920" y="1938528"/>
            <a:ext cx="5477256" cy="2889504"/>
          </a:xfrm>
          <a:prstGeom prst="roundRect">
            <a:avLst>
              <a:gd name="adj" fmla="val 1582"/>
            </a:avLst>
          </a:prstGeom>
          <a:solidFill>
            <a:srgbClr val="F6EFE4"/>
          </a:solidFill>
          <a:ln/>
        </p:spPr>
      </p:sp>
      <p:sp>
        <p:nvSpPr>
          <p:cNvPr id="6" name="Text 4"/>
          <p:cNvSpPr txBox="1"/>
          <p:nvPr/>
        </p:nvSpPr>
        <p:spPr>
          <a:xfrm>
            <a:off x="795528" y="2157984"/>
            <a:ext cx="4892040" cy="237744"/>
          </a:xfrm>
          <a:prstGeom prst="rect">
            <a:avLst/>
          </a:prstGeom>
          <a:noFill/>
          <a:ln/>
        </p:spPr>
        <p:txBody>
          <a:bodyPr wrap="square" lIns="0" tIns="0" rIns="0" bIns="0" rtlCol="0" anchor="ctr"/>
          <a:lstStyle/>
          <a:p>
            <a:pPr indent="0" marL="0">
              <a:buNone/>
            </a:pPr>
            <a:r>
              <a:rPr lang="en-US" sz="950" b="1" spc="140" kern="0" dirty="0">
                <a:solidFill>
                  <a:srgbClr val="B08C3A"/>
                </a:solidFill>
                <a:latin typeface="Calibri" pitchFamily="34" charset="0"/>
                <a:ea typeface="Calibri" pitchFamily="34" charset="-122"/>
                <a:cs typeface="Calibri" pitchFamily="34" charset="-120"/>
              </a:rPr>
              <a:t>GUSTAFSON, 1988</a:t>
            </a:r>
            <a:endParaRPr lang="en-US" sz="950" dirty="0"/>
          </a:p>
        </p:txBody>
      </p:sp>
      <p:sp>
        <p:nvSpPr>
          <p:cNvPr id="7" name="Text 5"/>
          <p:cNvSpPr txBox="1"/>
          <p:nvPr/>
        </p:nvSpPr>
        <p:spPr>
          <a:xfrm>
            <a:off x="795528" y="2505456"/>
            <a:ext cx="4892040" cy="365760"/>
          </a:xfrm>
          <a:prstGeom prst="rect">
            <a:avLst/>
          </a:prstGeom>
          <a:noFill/>
          <a:ln/>
        </p:spPr>
        <p:txBody>
          <a:bodyPr wrap="square" lIns="0" tIns="0" rIns="0" bIns="0" rtlCol="0" anchor="ctr"/>
          <a:lstStyle/>
          <a:p>
            <a:pPr indent="0" marL="0">
              <a:buNone/>
            </a:pPr>
            <a:r>
              <a:rPr lang="en-US" sz="1300" dirty="0">
                <a:solidFill>
                  <a:srgbClr val="241A4C"/>
                </a:solidFill>
                <a:latin typeface="Courier New" pitchFamily="34" charset="0"/>
                <a:ea typeface="Courier New" pitchFamily="34" charset="-122"/>
                <a:cs typeface="Courier New" pitchFamily="34" charset="-120"/>
              </a:rPr>
              <a:t>S(p)  =  p − f·(p − 1)</a:t>
            </a:r>
            <a:endParaRPr lang="en-US" sz="1300" dirty="0"/>
          </a:p>
        </p:txBody>
      </p:sp>
      <p:sp>
        <p:nvSpPr>
          <p:cNvPr id="8" name="Text 6"/>
          <p:cNvSpPr txBox="1"/>
          <p:nvPr/>
        </p:nvSpPr>
        <p:spPr>
          <a:xfrm>
            <a:off x="795528" y="2999232"/>
            <a:ext cx="4892040" cy="128016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Hold the running time fixed rather than the problem. If the parallel portion grows with the machine — as it does whenever people buy bigger hardware to solve bigger problems — scaled speedup is linear in p.</a:t>
            </a:r>
            <a:endParaRPr lang="en-US" sz="1050" dirty="0"/>
          </a:p>
        </p:txBody>
      </p:sp>
      <p:sp>
        <p:nvSpPr>
          <p:cNvPr id="9" name="Text 7"/>
          <p:cNvSpPr txBox="1"/>
          <p:nvPr/>
        </p:nvSpPr>
        <p:spPr>
          <a:xfrm>
            <a:off x="795528" y="4315968"/>
            <a:ext cx="4892040" cy="438912"/>
          </a:xfrm>
          <a:prstGeom prst="rect">
            <a:avLst/>
          </a:prstGeom>
          <a:noFill/>
          <a:ln/>
        </p:spPr>
        <p:txBody>
          <a:bodyPr wrap="square" lIns="0" tIns="0" rIns="0" bIns="0" rtlCol="0" anchor="t"/>
          <a:lstStyle/>
          <a:p>
            <a:pPr indent="0" marL="0">
              <a:lnSpc>
                <a:spcPct val="115000"/>
              </a:lnSpc>
              <a:buNone/>
            </a:pPr>
            <a:r>
              <a:rPr lang="en-US" sz="1000" i="1" dirty="0">
                <a:solidFill>
                  <a:srgbClr val="B08C3A"/>
                </a:solidFill>
                <a:latin typeface="Calibri" pitchFamily="34" charset="0"/>
                <a:ea typeface="Calibri" pitchFamily="34" charset="-122"/>
                <a:cs typeface="Calibri" pitchFamily="34" charset="-120"/>
              </a:rPr>
              <a:t>Same arithmetic, different premise, opposite conclusion. A clean illustration of Lecture 3's point that a theorem's content sits in its assumptions.</a:t>
            </a:r>
            <a:endParaRPr lang="en-US" sz="1000" dirty="0"/>
          </a:p>
        </p:txBody>
      </p:sp>
      <p:sp>
        <p:nvSpPr>
          <p:cNvPr id="10" name="Shape 8"/>
          <p:cNvSpPr/>
          <p:nvPr/>
        </p:nvSpPr>
        <p:spPr>
          <a:xfrm>
            <a:off x="6208776" y="1938528"/>
            <a:ext cx="5477256" cy="2889504"/>
          </a:xfrm>
          <a:prstGeom prst="roundRect">
            <a:avLst>
              <a:gd name="adj" fmla="val 1582"/>
            </a:avLst>
          </a:prstGeom>
          <a:solidFill>
            <a:srgbClr val="EEF3F9"/>
          </a:solidFill>
          <a:ln/>
        </p:spPr>
      </p:sp>
      <p:sp>
        <p:nvSpPr>
          <p:cNvPr id="11" name="Text 9"/>
          <p:cNvSpPr txBox="1"/>
          <p:nvPr/>
        </p:nvSpPr>
        <p:spPr>
          <a:xfrm>
            <a:off x="6501384" y="2157984"/>
            <a:ext cx="4892040" cy="237744"/>
          </a:xfrm>
          <a:prstGeom prst="rect">
            <a:avLst/>
          </a:prstGeom>
          <a:noFill/>
          <a:ln/>
        </p:spPr>
        <p:txBody>
          <a:bodyPr wrap="square" lIns="0" tIns="0" rIns="0" bIns="0" rtlCol="0" anchor="ctr"/>
          <a:lstStyle/>
          <a:p>
            <a:pPr indent="0" marL="0">
              <a:buNone/>
            </a:pPr>
            <a:r>
              <a:rPr lang="en-US" sz="950" b="1" spc="140" kern="0" dirty="0">
                <a:solidFill>
                  <a:srgbClr val="3D6EA6"/>
                </a:solidFill>
                <a:latin typeface="Calibri" pitchFamily="34" charset="0"/>
                <a:ea typeface="Calibri" pitchFamily="34" charset="-122"/>
                <a:cs typeface="Calibri" pitchFamily="34" charset="-120"/>
              </a:rPr>
              <a:t>GUNTHER'S UNIVERSAL SCALABILITY LAW</a:t>
            </a:r>
            <a:endParaRPr lang="en-US" sz="950" dirty="0"/>
          </a:p>
        </p:txBody>
      </p:sp>
      <p:sp>
        <p:nvSpPr>
          <p:cNvPr id="12" name="Text 10"/>
          <p:cNvSpPr txBox="1"/>
          <p:nvPr/>
        </p:nvSpPr>
        <p:spPr>
          <a:xfrm>
            <a:off x="6501384" y="2505456"/>
            <a:ext cx="4892040" cy="365760"/>
          </a:xfrm>
          <a:prstGeom prst="rect">
            <a:avLst/>
          </a:prstGeom>
          <a:noFill/>
          <a:ln/>
        </p:spPr>
        <p:txBody>
          <a:bodyPr wrap="square" lIns="0" tIns="0" rIns="0" bIns="0" rtlCol="0" anchor="ctr"/>
          <a:lstStyle/>
          <a:p>
            <a:pPr indent="0" marL="0">
              <a:buNone/>
            </a:pPr>
            <a:r>
              <a:rPr lang="en-US" sz="1300" dirty="0">
                <a:solidFill>
                  <a:srgbClr val="241A4C"/>
                </a:solidFill>
                <a:latin typeface="Courier New" pitchFamily="34" charset="0"/>
                <a:ea typeface="Courier New" pitchFamily="34" charset="-122"/>
                <a:cs typeface="Courier New" pitchFamily="34" charset="-120"/>
              </a:rPr>
              <a:t>C(p) = p / (1 + α(p−1) + βp(p−1))</a:t>
            </a:r>
            <a:endParaRPr lang="en-US" sz="1300" dirty="0"/>
          </a:p>
        </p:txBody>
      </p:sp>
      <p:sp>
        <p:nvSpPr>
          <p:cNvPr id="13" name="Text 11"/>
          <p:cNvSpPr txBox="1"/>
          <p:nvPr/>
        </p:nvSpPr>
        <p:spPr>
          <a:xfrm>
            <a:off x="6501384" y="2999232"/>
            <a:ext cx="4892040" cy="128016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Adds two effects Amdahl omits: α is contention — queueing for a shared resource — and β is coherency, the cost of keeping p workers' data consistent. When β &gt; 0 the throughput curve rises, peaks, and then falls.</a:t>
            </a:r>
            <a:endParaRPr lang="en-US" sz="1050" dirty="0"/>
          </a:p>
        </p:txBody>
      </p:sp>
      <p:sp>
        <p:nvSpPr>
          <p:cNvPr id="14" name="Text 12"/>
          <p:cNvSpPr txBox="1"/>
          <p:nvPr/>
        </p:nvSpPr>
        <p:spPr>
          <a:xfrm>
            <a:off x="6501384" y="4315968"/>
            <a:ext cx="4892040" cy="438912"/>
          </a:xfrm>
          <a:prstGeom prst="rect">
            <a:avLst/>
          </a:prstGeom>
          <a:noFill/>
          <a:ln/>
        </p:spPr>
        <p:txBody>
          <a:bodyPr wrap="square" lIns="0" tIns="0" rIns="0" bIns="0" rtlCol="0" anchor="t"/>
          <a:lstStyle/>
          <a:p>
            <a:pPr indent="0" marL="0">
              <a:lnSpc>
                <a:spcPct val="115000"/>
              </a:lnSpc>
              <a:buNone/>
            </a:pPr>
            <a:r>
              <a:rPr lang="en-US" sz="1000" i="1" dirty="0">
                <a:solidFill>
                  <a:srgbClr val="3D6EA6"/>
                </a:solidFill>
                <a:latin typeface="Calibri" pitchFamily="34" charset="0"/>
                <a:ea typeface="Calibri" pitchFamily="34" charset="-122"/>
                <a:cs typeface="Calibri" pitchFamily="34" charset="-120"/>
              </a:rPr>
              <a:t>Which is what real systems do, and what neither Amdahl nor Gustafson can express at all.</a:t>
            </a:r>
            <a:endParaRPr lang="en-US" sz="1000" dirty="0"/>
          </a:p>
        </p:txBody>
      </p:sp>
      <p:sp>
        <p:nvSpPr>
          <p:cNvPr id="15" name="Shape 13"/>
          <p:cNvSpPr/>
          <p:nvPr/>
        </p:nvSpPr>
        <p:spPr>
          <a:xfrm>
            <a:off x="502920" y="5138928"/>
            <a:ext cx="11183112" cy="969264"/>
          </a:xfrm>
          <a:prstGeom prst="roundRect">
            <a:avLst>
              <a:gd name="adj" fmla="val 4717"/>
            </a:avLst>
          </a:prstGeom>
          <a:solidFill>
            <a:srgbClr val="F3F1FC"/>
          </a:solidFill>
          <a:ln/>
        </p:spPr>
      </p:sp>
      <p:sp>
        <p:nvSpPr>
          <p:cNvPr id="16" name="Text 14"/>
          <p:cNvSpPr txBox="1"/>
          <p:nvPr/>
        </p:nvSpPr>
        <p:spPr>
          <a:xfrm>
            <a:off x="795528" y="5138928"/>
            <a:ext cx="10597896" cy="969264"/>
          </a:xfrm>
          <a:prstGeom prst="rect">
            <a:avLst/>
          </a:prstGeom>
          <a:noFill/>
          <a:ln/>
        </p:spPr>
        <p:txBody>
          <a:bodyPr wrap="square" lIns="0" tIns="0" rIns="0" bIns="0" rtlCol="0" anchor="ctr"/>
          <a:lstStyle/>
          <a:p>
            <a:pPr indent="0" marL="0">
              <a:lnSpc>
                <a:spcPct val="120000"/>
              </a:lnSpc>
              <a:buNone/>
            </a:pPr>
            <a:r>
              <a:rPr lang="en-US" sz="1150" i="1" dirty="0">
                <a:solidFill>
                  <a:srgbClr val="241A4C"/>
                </a:solidFill>
                <a:latin typeface="Calibri" pitchFamily="34" charset="0"/>
                <a:ea typeface="Calibri" pitchFamily="34" charset="-122"/>
                <a:cs typeface="Calibri" pitchFamily="34" charset="-120"/>
              </a:rPr>
              <a:t>The USL's practical value: fit α and β to a handful of measured load points, and it predicts where the throughput curve turns over — the point past which adding capacity actively makes the system slower. That is a prediction, made from measurement, that can then be checked. Lecture 5's whole discipline, applied to a scaling claim.</a:t>
            </a:r>
            <a:endParaRPr lang="en-US" sz="1150" dirty="0"/>
          </a:p>
        </p:txBody>
      </p:sp>
      <p:sp>
        <p:nvSpPr>
          <p:cNvPr id="17" name="Text 1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18" name="Text 1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17 / 26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SCALING AND BOTTLENECKS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Bottleneck Analysis with Operational Bounds</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dirty="0">
                <a:solidFill>
                  <a:srgbClr val="5C5A66"/>
                </a:solidFill>
                <a:latin typeface="Calibri" pitchFamily="34" charset="0"/>
                <a:ea typeface="Calibri" pitchFamily="34" charset="-122"/>
                <a:cs typeface="Calibri" pitchFamily="34" charset="-120"/>
              </a:rPr>
              <a:t>Lecture 5's operational laws again, now used to compute a ceiling before running a single experiment. No distributional assumptions are needed.</a:t>
            </a:r>
            <a:endParaRPr lang="en-US" sz="1250" dirty="0"/>
          </a:p>
        </p:txBody>
      </p:sp>
      <p:sp>
        <p:nvSpPr>
          <p:cNvPr id="5" name="Shape 3"/>
          <p:cNvSpPr/>
          <p:nvPr/>
        </p:nvSpPr>
        <p:spPr>
          <a:xfrm>
            <a:off x="502920" y="1938528"/>
            <a:ext cx="7040880" cy="1371600"/>
          </a:xfrm>
          <a:prstGeom prst="roundRect">
            <a:avLst>
              <a:gd name="adj" fmla="val 3333"/>
            </a:avLst>
          </a:prstGeom>
          <a:solidFill>
            <a:srgbClr val="F5F4FB"/>
          </a:solidFill>
          <a:ln/>
        </p:spPr>
      </p:sp>
      <p:sp>
        <p:nvSpPr>
          <p:cNvPr id="6" name="Text 4"/>
          <p:cNvSpPr txBox="1"/>
          <p:nvPr/>
        </p:nvSpPr>
        <p:spPr>
          <a:xfrm>
            <a:off x="795528" y="2121408"/>
            <a:ext cx="6455664" cy="201168"/>
          </a:xfrm>
          <a:prstGeom prst="rect">
            <a:avLst/>
          </a:prstGeom>
          <a:noFill/>
          <a:ln/>
        </p:spPr>
        <p:txBody>
          <a:bodyPr wrap="square" lIns="0" tIns="0" rIns="0" bIns="0" rtlCol="0" anchor="ctr"/>
          <a:lstStyle/>
          <a:p>
            <a:pPr indent="0" marL="0">
              <a:buNone/>
            </a:pPr>
            <a:r>
              <a:rPr lang="en-US" sz="850" b="1" spc="130" kern="0" dirty="0">
                <a:solidFill>
                  <a:srgbClr val="3D6EA6"/>
                </a:solidFill>
                <a:latin typeface="Calibri" pitchFamily="34" charset="0"/>
                <a:ea typeface="Calibri" pitchFamily="34" charset="-122"/>
                <a:cs typeface="Calibri" pitchFamily="34" charset="-120"/>
              </a:rPr>
              <a:t>THE QUANTITIES, AND THE TWO BOUNDS</a:t>
            </a:r>
            <a:endParaRPr lang="en-US" sz="850" dirty="0"/>
          </a:p>
        </p:txBody>
      </p:sp>
      <p:sp>
        <p:nvSpPr>
          <p:cNvPr id="7" name="Text 5"/>
          <p:cNvSpPr txBox="1"/>
          <p:nvPr/>
        </p:nvSpPr>
        <p:spPr>
          <a:xfrm>
            <a:off x="795528" y="2395728"/>
            <a:ext cx="6455664" cy="841248"/>
          </a:xfrm>
          <a:prstGeom prst="rect">
            <a:avLst/>
          </a:prstGeom>
          <a:noFill/>
          <a:ln/>
        </p:spPr>
        <p:txBody>
          <a:bodyPr wrap="square" lIns="0" tIns="0" rIns="0" bIns="0" rtlCol="0" anchor="t"/>
          <a:lstStyle/>
          <a:p>
            <a:pPr indent="0" marL="0">
              <a:lnSpc>
                <a:spcPct val="126000"/>
              </a:lnSpc>
              <a:buNone/>
            </a:pPr>
            <a:r>
              <a:rPr lang="en-US" sz="1000" dirty="0">
                <a:solidFill>
                  <a:srgbClr val="241A4C"/>
                </a:solidFill>
                <a:latin typeface="Courier New" pitchFamily="34" charset="0"/>
                <a:ea typeface="Courier New" pitchFamily="34" charset="-122"/>
                <a:cs typeface="Courier New" pitchFamily="34" charset="-120"/>
              </a:rPr>
              <a:t>  Di = service demand at device i     D = sum of all Di     Dmax = the largest Di</a:t>
            </a:r>
            <a:endParaRPr lang="en-US" sz="1000" dirty="0"/>
          </a:p>
          <a:p>
            <a:pPr indent="0" marL="0">
              <a:lnSpc>
                <a:spcPct val="126000"/>
              </a:lnSpc>
              <a:buNone/>
            </a:pPr>
            <a:r>
              <a:rPr lang="en-US" sz="1000" dirty="0">
                <a:solidFill>
                  <a:srgbClr val="241A4C"/>
                </a:solidFill>
                <a:latin typeface="Courier New" pitchFamily="34" charset="0"/>
                <a:ea typeface="Courier New" pitchFamily="34" charset="-122"/>
                <a:cs typeface="Courier New" pitchFamily="34" charset="-120"/>
              </a:rPr>
              <a:t>  N  = number of users                Z = think time</a:t>
            </a:r>
            <a:endParaRPr lang="en-US" sz="1000" dirty="0"/>
          </a:p>
          <a:p>
            <a:pPr indent="0" marL="0">
              <a:lnSpc>
                <a:spcPct val="126000"/>
              </a:lnSpc>
              <a:buNone/>
            </a:pPr>
            <a:endParaRPr lang="en-US" sz="1000" dirty="0"/>
          </a:p>
          <a:p>
            <a:pPr indent="0" marL="0">
              <a:lnSpc>
                <a:spcPct val="126000"/>
              </a:lnSpc>
              <a:buNone/>
            </a:pPr>
            <a:r>
              <a:rPr lang="en-US" sz="1000" dirty="0">
                <a:solidFill>
                  <a:srgbClr val="241A4C"/>
                </a:solidFill>
                <a:latin typeface="Courier New" pitchFamily="34" charset="0"/>
                <a:ea typeface="Courier New" pitchFamily="34" charset="-122"/>
                <a:cs typeface="Courier New" pitchFamily="34" charset="-120"/>
              </a:rPr>
              <a:t>  X(N)  ≤  min( N / (D + Z),  1 / Dmax )            R(N)  ≥  max( D,  N·Dmax − Z )</a:t>
            </a:r>
            <a:endParaRPr lang="en-US" sz="1000" dirty="0"/>
          </a:p>
        </p:txBody>
      </p:sp>
      <p:sp>
        <p:nvSpPr>
          <p:cNvPr id="8" name="Shape 6"/>
          <p:cNvSpPr/>
          <p:nvPr/>
        </p:nvSpPr>
        <p:spPr>
          <a:xfrm>
            <a:off x="502920" y="3648456"/>
            <a:ext cx="109728" cy="109728"/>
          </a:xfrm>
          <a:prstGeom prst="ellipse">
            <a:avLst/>
          </a:prstGeom>
          <a:solidFill>
            <a:srgbClr val="D8A73E"/>
          </a:solidFill>
          <a:ln/>
        </p:spPr>
      </p:sp>
      <p:sp>
        <p:nvSpPr>
          <p:cNvPr id="9" name="Text 7"/>
          <p:cNvSpPr txBox="1"/>
          <p:nvPr/>
        </p:nvSpPr>
        <p:spPr>
          <a:xfrm>
            <a:off x="813816" y="3566160"/>
            <a:ext cx="6729984" cy="256032"/>
          </a:xfrm>
          <a:prstGeom prst="rect">
            <a:avLst/>
          </a:prstGeom>
          <a:noFill/>
          <a:ln/>
        </p:spPr>
        <p:txBody>
          <a:bodyPr wrap="square" lIns="0" tIns="0" rIns="0" bIns="0" rtlCol="0" anchor="t"/>
          <a:lstStyle/>
          <a:p>
            <a:pPr indent="0" marL="0">
              <a:buNone/>
            </a:pPr>
            <a:r>
              <a:rPr lang="en-US" sz="1300" b="1" dirty="0">
                <a:solidFill>
                  <a:srgbClr val="241A4C"/>
                </a:solidFill>
                <a:latin typeface="Cambria" pitchFamily="34" charset="0"/>
                <a:ea typeface="Cambria" pitchFamily="34" charset="-122"/>
                <a:cs typeface="Cambria" pitchFamily="34" charset="-120"/>
              </a:rPr>
              <a:t>The bottleneck is the device with the largest service demand.</a:t>
            </a:r>
            <a:endParaRPr lang="en-US" sz="1300" dirty="0"/>
          </a:p>
        </p:txBody>
      </p:sp>
      <p:sp>
        <p:nvSpPr>
          <p:cNvPr id="10" name="Text 8"/>
          <p:cNvSpPr txBox="1"/>
          <p:nvPr/>
        </p:nvSpPr>
        <p:spPr>
          <a:xfrm>
            <a:off x="813816" y="3858768"/>
            <a:ext cx="6729984" cy="7315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Not the busiest-looking one, and not the one that is easiest to optimise. Dmax alone sets the asymptotic throughput ceiling, so improving any other device cannot raise it at all.</a:t>
            </a:r>
            <a:endParaRPr lang="en-US" sz="1050" dirty="0"/>
          </a:p>
        </p:txBody>
      </p:sp>
      <p:sp>
        <p:nvSpPr>
          <p:cNvPr id="11" name="Shape 9"/>
          <p:cNvSpPr/>
          <p:nvPr/>
        </p:nvSpPr>
        <p:spPr>
          <a:xfrm>
            <a:off x="502920" y="4672584"/>
            <a:ext cx="109728" cy="109728"/>
          </a:xfrm>
          <a:prstGeom prst="ellipse">
            <a:avLst/>
          </a:prstGeom>
          <a:solidFill>
            <a:srgbClr val="D8A73E"/>
          </a:solidFill>
          <a:ln/>
        </p:spPr>
      </p:sp>
      <p:sp>
        <p:nvSpPr>
          <p:cNvPr id="12" name="Text 10"/>
          <p:cNvSpPr txBox="1"/>
          <p:nvPr/>
        </p:nvSpPr>
        <p:spPr>
          <a:xfrm>
            <a:off x="813816" y="4590288"/>
            <a:ext cx="6729984" cy="256032"/>
          </a:xfrm>
          <a:prstGeom prst="rect">
            <a:avLst/>
          </a:prstGeom>
          <a:noFill/>
          <a:ln/>
        </p:spPr>
        <p:txBody>
          <a:bodyPr wrap="square" lIns="0" tIns="0" rIns="0" bIns="0" rtlCol="0" anchor="t"/>
          <a:lstStyle/>
          <a:p>
            <a:pPr indent="0" marL="0">
              <a:buNone/>
            </a:pPr>
            <a:r>
              <a:rPr lang="en-US" sz="1300" b="1" dirty="0">
                <a:solidFill>
                  <a:srgbClr val="241A4C"/>
                </a:solidFill>
                <a:latin typeface="Cambria" pitchFamily="34" charset="0"/>
                <a:ea typeface="Cambria" pitchFamily="34" charset="-122"/>
                <a:cs typeface="Cambria" pitchFamily="34" charset="-120"/>
              </a:rPr>
              <a:t>The bounds are free, and they come first.</a:t>
            </a:r>
            <a:endParaRPr lang="en-US" sz="1300" dirty="0"/>
          </a:p>
        </p:txBody>
      </p:sp>
      <p:sp>
        <p:nvSpPr>
          <p:cNvPr id="13" name="Text 11"/>
          <p:cNvSpPr txBox="1"/>
          <p:nvPr/>
        </p:nvSpPr>
        <p:spPr>
          <a:xfrm>
            <a:off x="813816" y="4882896"/>
            <a:ext cx="6729984" cy="7315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They need only the service demands, which a single light-load measurement gives you. You can compute the ceiling before designing the experiment — and then find out whether the system reaches it.</a:t>
            </a:r>
            <a:endParaRPr lang="en-US" sz="1050" dirty="0"/>
          </a:p>
        </p:txBody>
      </p:sp>
      <p:sp>
        <p:nvSpPr>
          <p:cNvPr id="14" name="Shape 12"/>
          <p:cNvSpPr/>
          <p:nvPr/>
        </p:nvSpPr>
        <p:spPr>
          <a:xfrm>
            <a:off x="502920" y="5696712"/>
            <a:ext cx="109728" cy="109728"/>
          </a:xfrm>
          <a:prstGeom prst="ellipse">
            <a:avLst/>
          </a:prstGeom>
          <a:solidFill>
            <a:srgbClr val="D8A73E"/>
          </a:solidFill>
          <a:ln/>
        </p:spPr>
      </p:sp>
      <p:sp>
        <p:nvSpPr>
          <p:cNvPr id="15" name="Text 13"/>
          <p:cNvSpPr txBox="1"/>
          <p:nvPr/>
        </p:nvSpPr>
        <p:spPr>
          <a:xfrm>
            <a:off x="813816" y="5614416"/>
            <a:ext cx="6729984" cy="256032"/>
          </a:xfrm>
          <a:prstGeom prst="rect">
            <a:avLst/>
          </a:prstGeom>
          <a:noFill/>
          <a:ln/>
        </p:spPr>
        <p:txBody>
          <a:bodyPr wrap="square" lIns="0" tIns="0" rIns="0" bIns="0" rtlCol="0" anchor="t"/>
          <a:lstStyle/>
          <a:p>
            <a:pPr indent="0" marL="0">
              <a:buNone/>
            </a:pPr>
            <a:r>
              <a:rPr lang="en-US" sz="1300" b="1" dirty="0">
                <a:solidFill>
                  <a:srgbClr val="241A4C"/>
                </a:solidFill>
                <a:latin typeface="Cambria" pitchFamily="34" charset="0"/>
                <a:ea typeface="Cambria" pitchFamily="34" charset="-122"/>
                <a:cs typeface="Cambria" pitchFamily="34" charset="-120"/>
              </a:rPr>
              <a:t>A gap between bound and measurement is diagnostic.</a:t>
            </a:r>
            <a:endParaRPr lang="en-US" sz="1300" dirty="0"/>
          </a:p>
        </p:txBody>
      </p:sp>
      <p:sp>
        <p:nvSpPr>
          <p:cNvPr id="16" name="Text 14"/>
          <p:cNvSpPr txBox="1"/>
          <p:nvPr/>
        </p:nvSpPr>
        <p:spPr>
          <a:xfrm>
            <a:off x="813816" y="5907024"/>
            <a:ext cx="6729984" cy="7315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If measured throughput falls well short of 1/Dmax, something outside the model — contention, coherency, a software serialisation — is costing you.</a:t>
            </a:r>
            <a:endParaRPr lang="en-US" sz="1050" dirty="0"/>
          </a:p>
        </p:txBody>
      </p:sp>
      <p:sp>
        <p:nvSpPr>
          <p:cNvPr id="17" name="Shape 15"/>
          <p:cNvSpPr/>
          <p:nvPr/>
        </p:nvSpPr>
        <p:spPr>
          <a:xfrm>
            <a:off x="7818120" y="1938528"/>
            <a:ext cx="3867912" cy="4114800"/>
          </a:xfrm>
          <a:prstGeom prst="roundRect">
            <a:avLst>
              <a:gd name="adj" fmla="val 1182"/>
            </a:avLst>
          </a:prstGeom>
          <a:solidFill>
            <a:srgbClr val="F3F1FC"/>
          </a:solidFill>
          <a:ln/>
        </p:spPr>
      </p:sp>
      <p:sp>
        <p:nvSpPr>
          <p:cNvPr id="18" name="Text 16"/>
          <p:cNvSpPr txBox="1"/>
          <p:nvPr/>
        </p:nvSpPr>
        <p:spPr>
          <a:xfrm>
            <a:off x="8092440" y="2212848"/>
            <a:ext cx="3319272" cy="219456"/>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WHY THIS IS METHODOLOGY</a:t>
            </a:r>
            <a:endParaRPr lang="en-US" sz="850" dirty="0"/>
          </a:p>
        </p:txBody>
      </p:sp>
      <p:sp>
        <p:nvSpPr>
          <p:cNvPr id="19" name="Text 17"/>
          <p:cNvSpPr txBox="1"/>
          <p:nvPr/>
        </p:nvSpPr>
        <p:spPr>
          <a:xfrm>
            <a:off x="8092440" y="2615184"/>
            <a:ext cx="3319272" cy="914400"/>
          </a:xfrm>
          <a:prstGeom prst="rect">
            <a:avLst/>
          </a:prstGeom>
          <a:noFill/>
          <a:ln/>
        </p:spPr>
        <p:txBody>
          <a:bodyPr wrap="square" lIns="0" tIns="0" rIns="0" bIns="0" rtlCol="0" anchor="t"/>
          <a:lstStyle/>
          <a:p>
            <a:pPr indent="0" marL="0">
              <a:lnSpc>
                <a:spcPct val="118000"/>
              </a:lnSpc>
              <a:buNone/>
            </a:pPr>
            <a:r>
              <a:rPr lang="en-US" sz="1550" dirty="0">
                <a:solidFill>
                  <a:srgbClr val="241A4C"/>
                </a:solidFill>
                <a:latin typeface="Cambria" pitchFamily="34" charset="0"/>
                <a:ea typeface="Cambria" pitchFamily="34" charset="-122"/>
                <a:cs typeface="Cambria" pitchFamily="34" charset="-120"/>
              </a:rPr>
              <a:t>A bound computed in advance turns a measurement into a test.</a:t>
            </a:r>
            <a:endParaRPr lang="en-US" sz="1550" dirty="0"/>
          </a:p>
        </p:txBody>
      </p:sp>
      <p:sp>
        <p:nvSpPr>
          <p:cNvPr id="20" name="Shape 18"/>
          <p:cNvSpPr/>
          <p:nvPr/>
        </p:nvSpPr>
        <p:spPr>
          <a:xfrm>
            <a:off x="8092440" y="3675888"/>
            <a:ext cx="1371600" cy="0"/>
          </a:xfrm>
          <a:prstGeom prst="line">
            <a:avLst/>
          </a:prstGeom>
          <a:noFill/>
          <a:ln w="15875">
            <a:solidFill>
              <a:srgbClr val="D8A73E"/>
            </a:solidFill>
            <a:prstDash val="solid"/>
          </a:ln>
        </p:spPr>
      </p:sp>
      <p:sp>
        <p:nvSpPr>
          <p:cNvPr id="21" name="Text 19"/>
          <p:cNvSpPr txBox="1"/>
          <p:nvPr/>
        </p:nvSpPr>
        <p:spPr>
          <a:xfrm>
            <a:off x="8092440" y="3858768"/>
            <a:ext cx="3319272" cy="2011680"/>
          </a:xfrm>
          <a:prstGeom prst="rect">
            <a:avLst/>
          </a:prstGeom>
          <a:noFill/>
          <a:ln/>
        </p:spPr>
        <p:txBody>
          <a:bodyPr wrap="square" lIns="0" tIns="0" rIns="0" bIns="0" rtlCol="0" anchor="t"/>
          <a:lstStyle/>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Without it, a throughput number is just a number: nothing could have contradicted it, so nothing was learned by obtaining it.</a:t>
            </a:r>
            <a:endParaRPr lang="en-US" sz="1100" dirty="0"/>
          </a:p>
          <a:p>
            <a:pPr indent="0" marL="0">
              <a:lnSpc>
                <a:spcPct val="122000"/>
              </a:lnSpc>
              <a:buNone/>
            </a:pPr>
            <a:endParaRPr lang="en-US" sz="1100" dirty="0"/>
          </a:p>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With it, the measurement either confirms the bound, or reveals a mechanism the operational model does not contain. Either outcome is informative — which, by Lecture 1's standard, is what makes it an experiment at all.</a:t>
            </a:r>
            <a:endParaRPr lang="en-US" sz="1100" dirty="0"/>
          </a:p>
        </p:txBody>
      </p:sp>
      <p:sp>
        <p:nvSpPr>
          <p:cNvPr id="22" name="Text 2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23" name="Text 2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18 / 26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SCALING AND BOTTLENECKS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Where the Model Meets the Measurement</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Lecture 5 built models that predict performance. This session measures it. Comparing the two is the most informative thing you can do with either.</a:t>
            </a:r>
            <a:endParaRPr lang="en-US" sz="1250" dirty="0"/>
          </a:p>
        </p:txBody>
      </p:sp>
      <p:sp>
        <p:nvSpPr>
          <p:cNvPr id="5" name="Shape 3"/>
          <p:cNvSpPr/>
          <p:nvPr/>
        </p:nvSpPr>
        <p:spPr>
          <a:xfrm>
            <a:off x="502920" y="1938528"/>
            <a:ext cx="3502152" cy="3200400"/>
          </a:xfrm>
          <a:prstGeom prst="roundRect">
            <a:avLst>
              <a:gd name="adj" fmla="val 1429"/>
            </a:avLst>
          </a:prstGeom>
          <a:solidFill>
            <a:srgbClr val="F3F1FC"/>
          </a:solidFill>
          <a:ln/>
        </p:spPr>
      </p:sp>
      <p:sp>
        <p:nvSpPr>
          <p:cNvPr id="6" name="Text 4"/>
          <p:cNvSpPr txBox="1"/>
          <p:nvPr/>
        </p:nvSpPr>
        <p:spPr>
          <a:xfrm>
            <a:off x="758952" y="2157984"/>
            <a:ext cx="2990088" cy="201168"/>
          </a:xfrm>
          <a:prstGeom prst="rect">
            <a:avLst/>
          </a:prstGeom>
          <a:noFill/>
          <a:ln/>
        </p:spPr>
        <p:txBody>
          <a:bodyPr wrap="square" lIns="0" tIns="0" rIns="0" bIns="0" rtlCol="0" anchor="ctr"/>
          <a:lstStyle/>
          <a:p>
            <a:pPr indent="0" marL="0">
              <a:buNone/>
            </a:pPr>
            <a:r>
              <a:rPr lang="en-US" sz="800" b="1" spc="120" kern="0" dirty="0">
                <a:solidFill>
                  <a:srgbClr val="3D6EA6"/>
                </a:solidFill>
                <a:latin typeface="Calibri" pitchFamily="34" charset="0"/>
                <a:ea typeface="Calibri" pitchFamily="34" charset="-122"/>
                <a:cs typeface="Calibri" pitchFamily="34" charset="-120"/>
              </a:rPr>
              <a:t>OUTCOME 1</a:t>
            </a:r>
            <a:endParaRPr lang="en-US" sz="800" dirty="0"/>
          </a:p>
        </p:txBody>
      </p:sp>
      <p:sp>
        <p:nvSpPr>
          <p:cNvPr id="7" name="Text 5"/>
          <p:cNvSpPr txBox="1"/>
          <p:nvPr/>
        </p:nvSpPr>
        <p:spPr>
          <a:xfrm>
            <a:off x="758952" y="2395728"/>
            <a:ext cx="2990088" cy="585216"/>
          </a:xfrm>
          <a:prstGeom prst="rect">
            <a:avLst/>
          </a:prstGeom>
          <a:noFill/>
          <a:ln/>
        </p:spPr>
        <p:txBody>
          <a:bodyPr wrap="square" lIns="0" tIns="0" rIns="0" bIns="0" rtlCol="0" anchor="t"/>
          <a:lstStyle/>
          <a:p>
            <a:pPr indent="0" marL="0">
              <a:lnSpc>
                <a:spcPct val="104000"/>
              </a:lnSpc>
              <a:buNone/>
            </a:pPr>
            <a:r>
              <a:rPr lang="en-US" sz="1700" b="1" dirty="0">
                <a:solidFill>
                  <a:srgbClr val="241A4C"/>
                </a:solidFill>
                <a:latin typeface="Cambria" pitchFamily="34" charset="0"/>
                <a:ea typeface="Cambria" pitchFamily="34" charset="-122"/>
                <a:cs typeface="Cambria" pitchFamily="34" charset="-120"/>
              </a:rPr>
              <a:t>They agree</a:t>
            </a:r>
            <a:endParaRPr lang="en-US" sz="1700" dirty="0"/>
          </a:p>
        </p:txBody>
      </p:sp>
      <p:sp>
        <p:nvSpPr>
          <p:cNvPr id="8" name="Text 6"/>
          <p:cNvSpPr txBox="1"/>
          <p:nvPr/>
        </p:nvSpPr>
        <p:spPr>
          <a:xfrm>
            <a:off x="758952" y="3072384"/>
            <a:ext cx="2990088" cy="1243584"/>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The model is validated within the range you measured — and only within it. You may now use it to interpolate with confidence, and to extrapolate with stated caution.</a:t>
            </a:r>
            <a:endParaRPr lang="en-US" sz="1100" dirty="0"/>
          </a:p>
        </p:txBody>
      </p:sp>
      <p:sp>
        <p:nvSpPr>
          <p:cNvPr id="9" name="Text 7"/>
          <p:cNvSpPr txBox="1"/>
          <p:nvPr/>
        </p:nvSpPr>
        <p:spPr>
          <a:xfrm>
            <a:off x="758952" y="4370832"/>
            <a:ext cx="2990088" cy="640080"/>
          </a:xfrm>
          <a:prstGeom prst="rect">
            <a:avLst/>
          </a:prstGeom>
          <a:noFill/>
          <a:ln/>
        </p:spPr>
        <p:txBody>
          <a:bodyPr wrap="square" lIns="0" tIns="0" rIns="0" bIns="0" rtlCol="0" anchor="t"/>
          <a:lstStyle/>
          <a:p>
            <a:pPr indent="0" marL="0">
              <a:lnSpc>
                <a:spcPct val="118000"/>
              </a:lnSpc>
              <a:buNone/>
            </a:pPr>
            <a:r>
              <a:rPr lang="en-US" sz="1000" i="1" dirty="0">
                <a:solidFill>
                  <a:srgbClr val="3D6EA6"/>
                </a:solidFill>
                <a:latin typeface="Calibri" pitchFamily="34" charset="0"/>
                <a:ea typeface="Calibri" pitchFamily="34" charset="-122"/>
                <a:cs typeface="Calibri" pitchFamily="34" charset="-120"/>
              </a:rPr>
              <a:t>This is the weakest of the three outcomes intellectually, and the most useful practically: you have a cheap predictor you can trust.</a:t>
            </a:r>
            <a:endParaRPr lang="en-US" sz="1000" dirty="0"/>
          </a:p>
        </p:txBody>
      </p:sp>
      <p:sp>
        <p:nvSpPr>
          <p:cNvPr id="10" name="Shape 8"/>
          <p:cNvSpPr/>
          <p:nvPr/>
        </p:nvSpPr>
        <p:spPr>
          <a:xfrm>
            <a:off x="4343400" y="1938528"/>
            <a:ext cx="3502152" cy="3200400"/>
          </a:xfrm>
          <a:prstGeom prst="roundRect">
            <a:avLst>
              <a:gd name="adj" fmla="val 1429"/>
            </a:avLst>
          </a:prstGeom>
          <a:solidFill>
            <a:srgbClr val="F3F1FC"/>
          </a:solidFill>
          <a:ln/>
        </p:spPr>
      </p:sp>
      <p:sp>
        <p:nvSpPr>
          <p:cNvPr id="11" name="Text 9"/>
          <p:cNvSpPr txBox="1"/>
          <p:nvPr/>
        </p:nvSpPr>
        <p:spPr>
          <a:xfrm>
            <a:off x="4599432" y="2157984"/>
            <a:ext cx="2990088" cy="201168"/>
          </a:xfrm>
          <a:prstGeom prst="rect">
            <a:avLst/>
          </a:prstGeom>
          <a:noFill/>
          <a:ln/>
        </p:spPr>
        <p:txBody>
          <a:bodyPr wrap="square" lIns="0" tIns="0" rIns="0" bIns="0" rtlCol="0" anchor="ctr"/>
          <a:lstStyle/>
          <a:p>
            <a:pPr indent="0" marL="0">
              <a:buNone/>
            </a:pPr>
            <a:r>
              <a:rPr lang="en-US" sz="800" b="1" spc="120" kern="0" dirty="0">
                <a:solidFill>
                  <a:srgbClr val="B4522B"/>
                </a:solidFill>
                <a:latin typeface="Calibri" pitchFamily="34" charset="0"/>
                <a:ea typeface="Calibri" pitchFamily="34" charset="-122"/>
                <a:cs typeface="Calibri" pitchFamily="34" charset="-120"/>
              </a:rPr>
              <a:t>OUTCOME 2</a:t>
            </a:r>
            <a:endParaRPr lang="en-US" sz="800" dirty="0"/>
          </a:p>
        </p:txBody>
      </p:sp>
      <p:sp>
        <p:nvSpPr>
          <p:cNvPr id="12" name="Text 10"/>
          <p:cNvSpPr txBox="1"/>
          <p:nvPr/>
        </p:nvSpPr>
        <p:spPr>
          <a:xfrm>
            <a:off x="4599432" y="2395728"/>
            <a:ext cx="2990088" cy="585216"/>
          </a:xfrm>
          <a:prstGeom prst="rect">
            <a:avLst/>
          </a:prstGeom>
          <a:noFill/>
          <a:ln/>
        </p:spPr>
        <p:txBody>
          <a:bodyPr wrap="square" lIns="0" tIns="0" rIns="0" bIns="0" rtlCol="0" anchor="t"/>
          <a:lstStyle/>
          <a:p>
            <a:pPr indent="0" marL="0">
              <a:lnSpc>
                <a:spcPct val="104000"/>
              </a:lnSpc>
              <a:buNone/>
            </a:pPr>
            <a:r>
              <a:rPr lang="en-US" sz="1700" b="1" dirty="0">
                <a:solidFill>
                  <a:srgbClr val="241A4C"/>
                </a:solidFill>
                <a:latin typeface="Cambria" pitchFamily="34" charset="0"/>
                <a:ea typeface="Cambria" pitchFamily="34" charset="-122"/>
                <a:cs typeface="Cambria" pitchFamily="34" charset="-120"/>
              </a:rPr>
              <a:t>They disagree</a:t>
            </a:r>
            <a:endParaRPr lang="en-US" sz="1700" dirty="0"/>
          </a:p>
        </p:txBody>
      </p:sp>
      <p:sp>
        <p:nvSpPr>
          <p:cNvPr id="13" name="Text 11"/>
          <p:cNvSpPr txBox="1"/>
          <p:nvPr/>
        </p:nvSpPr>
        <p:spPr>
          <a:xfrm>
            <a:off x="4599432" y="3072384"/>
            <a:ext cx="2990088" cy="1243584"/>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Some mechanism the model omitted is dominating. Locating it is a finding, not a failure — and it is frequently the most interesting sentence in the paper.</a:t>
            </a:r>
            <a:endParaRPr lang="en-US" sz="1100" dirty="0"/>
          </a:p>
        </p:txBody>
      </p:sp>
      <p:sp>
        <p:nvSpPr>
          <p:cNvPr id="14" name="Text 12"/>
          <p:cNvSpPr txBox="1"/>
          <p:nvPr/>
        </p:nvSpPr>
        <p:spPr>
          <a:xfrm>
            <a:off x="4599432" y="4370832"/>
            <a:ext cx="2990088" cy="640080"/>
          </a:xfrm>
          <a:prstGeom prst="rect">
            <a:avLst/>
          </a:prstGeom>
          <a:noFill/>
          <a:ln/>
        </p:spPr>
        <p:txBody>
          <a:bodyPr wrap="square" lIns="0" tIns="0" rIns="0" bIns="0" rtlCol="0" anchor="t"/>
          <a:lstStyle/>
          <a:p>
            <a:pPr indent="0" marL="0">
              <a:lnSpc>
                <a:spcPct val="118000"/>
              </a:lnSpc>
              <a:buNone/>
            </a:pPr>
            <a:r>
              <a:rPr lang="en-US" sz="1000" i="1" dirty="0">
                <a:solidFill>
                  <a:srgbClr val="B4522B"/>
                </a:solidFill>
                <a:latin typeface="Calibri" pitchFamily="34" charset="0"/>
                <a:ea typeface="Calibri" pitchFamily="34" charset="-122"/>
                <a:cs typeface="Calibri" pitchFamily="34" charset="-120"/>
              </a:rPr>
              <a:t>Contention, coherency, cache behaviour, a software serialisation. Lecture 5 called this structural error; here it has a name and a magnitude.</a:t>
            </a:r>
            <a:endParaRPr lang="en-US" sz="1000" dirty="0"/>
          </a:p>
        </p:txBody>
      </p:sp>
      <p:sp>
        <p:nvSpPr>
          <p:cNvPr id="15" name="Shape 13"/>
          <p:cNvSpPr/>
          <p:nvPr/>
        </p:nvSpPr>
        <p:spPr>
          <a:xfrm>
            <a:off x="8183880" y="1938528"/>
            <a:ext cx="3502152" cy="3200400"/>
          </a:xfrm>
          <a:prstGeom prst="roundRect">
            <a:avLst>
              <a:gd name="adj" fmla="val 1429"/>
            </a:avLst>
          </a:prstGeom>
          <a:solidFill>
            <a:srgbClr val="F3F1FC"/>
          </a:solidFill>
          <a:ln/>
        </p:spPr>
      </p:sp>
      <p:sp>
        <p:nvSpPr>
          <p:cNvPr id="16" name="Text 14"/>
          <p:cNvSpPr txBox="1"/>
          <p:nvPr/>
        </p:nvSpPr>
        <p:spPr>
          <a:xfrm>
            <a:off x="8439912" y="2157984"/>
            <a:ext cx="2990088" cy="201168"/>
          </a:xfrm>
          <a:prstGeom prst="rect">
            <a:avLst/>
          </a:prstGeom>
          <a:noFill/>
          <a:ln/>
        </p:spPr>
        <p:txBody>
          <a:bodyPr wrap="square" lIns="0" tIns="0" rIns="0" bIns="0" rtlCol="0" anchor="ctr"/>
          <a:lstStyle/>
          <a:p>
            <a:pPr indent="0" marL="0">
              <a:buNone/>
            </a:pPr>
            <a:r>
              <a:rPr lang="en-US" sz="800" b="1" spc="120" kern="0" dirty="0">
                <a:solidFill>
                  <a:srgbClr val="B08C3A"/>
                </a:solidFill>
                <a:latin typeface="Calibri" pitchFamily="34" charset="0"/>
                <a:ea typeface="Calibri" pitchFamily="34" charset="-122"/>
                <a:cs typeface="Calibri" pitchFamily="34" charset="-120"/>
              </a:rPr>
              <a:t>OUTCOME 3</a:t>
            </a:r>
            <a:endParaRPr lang="en-US" sz="800" dirty="0"/>
          </a:p>
        </p:txBody>
      </p:sp>
      <p:sp>
        <p:nvSpPr>
          <p:cNvPr id="17" name="Text 15"/>
          <p:cNvSpPr txBox="1"/>
          <p:nvPr/>
        </p:nvSpPr>
        <p:spPr>
          <a:xfrm>
            <a:off x="8439912" y="2395728"/>
            <a:ext cx="2990088" cy="585216"/>
          </a:xfrm>
          <a:prstGeom prst="rect">
            <a:avLst/>
          </a:prstGeom>
          <a:noFill/>
          <a:ln/>
        </p:spPr>
        <p:txBody>
          <a:bodyPr wrap="square" lIns="0" tIns="0" rIns="0" bIns="0" rtlCol="0" anchor="t"/>
          <a:lstStyle/>
          <a:p>
            <a:pPr indent="0" marL="0">
              <a:lnSpc>
                <a:spcPct val="104000"/>
              </a:lnSpc>
              <a:buNone/>
            </a:pPr>
            <a:r>
              <a:rPr lang="en-US" sz="1700" b="1" dirty="0">
                <a:solidFill>
                  <a:srgbClr val="241A4C"/>
                </a:solidFill>
                <a:latin typeface="Cambria" pitchFamily="34" charset="0"/>
                <a:ea typeface="Cambria" pitchFamily="34" charset="-122"/>
                <a:cs typeface="Cambria" pitchFamily="34" charset="-120"/>
              </a:rPr>
              <a:t>The model was fitted after</a:t>
            </a:r>
            <a:endParaRPr lang="en-US" sz="1700" dirty="0"/>
          </a:p>
        </p:txBody>
      </p:sp>
      <p:sp>
        <p:nvSpPr>
          <p:cNvPr id="18" name="Text 16"/>
          <p:cNvSpPr txBox="1"/>
          <p:nvPr/>
        </p:nvSpPr>
        <p:spPr>
          <a:xfrm>
            <a:off x="8439912" y="3072384"/>
            <a:ext cx="2990088" cy="1243584"/>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If the model's parameters were tuned once the measurements were in, nothing has been validated. The model was calibrated, and calibration proves only that the fit succeeded.</a:t>
            </a:r>
            <a:endParaRPr lang="en-US" sz="1100" dirty="0"/>
          </a:p>
        </p:txBody>
      </p:sp>
      <p:sp>
        <p:nvSpPr>
          <p:cNvPr id="19" name="Text 17"/>
          <p:cNvSpPr txBox="1"/>
          <p:nvPr/>
        </p:nvSpPr>
        <p:spPr>
          <a:xfrm>
            <a:off x="8439912" y="4370832"/>
            <a:ext cx="2990088" cy="640080"/>
          </a:xfrm>
          <a:prstGeom prst="rect">
            <a:avLst/>
          </a:prstGeom>
          <a:noFill/>
          <a:ln/>
        </p:spPr>
        <p:txBody>
          <a:bodyPr wrap="square" lIns="0" tIns="0" rIns="0" bIns="0" rtlCol="0" anchor="t"/>
          <a:lstStyle/>
          <a:p>
            <a:pPr indent="0" marL="0">
              <a:lnSpc>
                <a:spcPct val="118000"/>
              </a:lnSpc>
              <a:buNone/>
            </a:pPr>
            <a:r>
              <a:rPr lang="en-US" sz="1000" i="1" dirty="0">
                <a:solidFill>
                  <a:srgbClr val="B08C3A"/>
                </a:solidFill>
                <a:latin typeface="Calibri" pitchFamily="34" charset="0"/>
                <a:ea typeface="Calibri" pitchFamily="34" charset="-122"/>
                <a:cs typeface="Calibri" pitchFamily="34" charset="-120"/>
              </a:rPr>
              <a:t>Lecture 5's central distinction and Lecture 3's HARKing, arriving together in the same paragraph.</a:t>
            </a:r>
            <a:endParaRPr lang="en-US" sz="1000" dirty="0"/>
          </a:p>
        </p:txBody>
      </p:sp>
      <p:sp>
        <p:nvSpPr>
          <p:cNvPr id="20" name="Shape 18"/>
          <p:cNvSpPr/>
          <p:nvPr/>
        </p:nvSpPr>
        <p:spPr>
          <a:xfrm>
            <a:off x="502920" y="5504688"/>
            <a:ext cx="11183112" cy="658368"/>
          </a:xfrm>
          <a:prstGeom prst="roundRect">
            <a:avLst>
              <a:gd name="adj" fmla="val 6944"/>
            </a:avLst>
          </a:prstGeom>
          <a:solidFill>
            <a:srgbClr val="F6EFE4"/>
          </a:solidFill>
          <a:ln/>
        </p:spPr>
      </p:sp>
      <p:sp>
        <p:nvSpPr>
          <p:cNvPr id="21" name="Text 19"/>
          <p:cNvSpPr txBox="1"/>
          <p:nvPr/>
        </p:nvSpPr>
        <p:spPr>
          <a:xfrm>
            <a:off x="795528" y="5504688"/>
            <a:ext cx="10597896" cy="658368"/>
          </a:xfrm>
          <a:prstGeom prst="rect">
            <a:avLst/>
          </a:prstGeom>
          <a:noFill/>
          <a:ln/>
        </p:spPr>
        <p:txBody>
          <a:bodyPr wrap="square" lIns="0" tIns="0" rIns="0" bIns="0" rtlCol="0" anchor="ctr"/>
          <a:lstStyle/>
          <a:p>
            <a:pPr indent="0" marL="0">
              <a:buNone/>
            </a:pPr>
            <a:r>
              <a:rPr lang="en-US" sz="1150" i="1" dirty="0">
                <a:solidFill>
                  <a:srgbClr val="241A4C"/>
                </a:solidFill>
                <a:latin typeface="Calibri" pitchFamily="34" charset="0"/>
                <a:ea typeface="Calibri" pitchFamily="34" charset="-122"/>
                <a:cs typeface="Calibri" pitchFamily="34" charset="-120"/>
              </a:rPr>
              <a:t>Predict first. Then measure. Then explain the gap. That sequence is what turns a table of benchmark numbers into a contribution — and it is where all five earlier sessions of this unit converge.</a:t>
            </a:r>
            <a:endParaRPr lang="en-US" sz="1150" dirty="0"/>
          </a:p>
        </p:txBody>
      </p:sp>
      <p:sp>
        <p:nvSpPr>
          <p:cNvPr id="22" name="Text 2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23" name="Text 2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19 / 26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Matching Evaluation to the Claim</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Find the claim you intend to make, then read across. The last column is the objection to pre-empt.</a:t>
            </a:r>
            <a:endParaRPr lang="en-US" sz="1250" dirty="0"/>
          </a:p>
        </p:txBody>
      </p:sp>
      <p:sp>
        <p:nvSpPr>
          <p:cNvPr id="5" name="Shape 3"/>
          <p:cNvSpPr/>
          <p:nvPr/>
        </p:nvSpPr>
        <p:spPr>
          <a:xfrm>
            <a:off x="502920" y="1938528"/>
            <a:ext cx="3200400" cy="384048"/>
          </a:xfrm>
          <a:prstGeom prst="rect">
            <a:avLst/>
          </a:prstGeom>
          <a:solidFill>
            <a:srgbClr val="241A4C"/>
          </a:solidFill>
          <a:ln w="19050">
            <a:solidFill>
              <a:srgbClr val="FFFFFF"/>
            </a:solidFill>
            <a:prstDash val="solid"/>
          </a:ln>
        </p:spPr>
      </p:sp>
      <p:sp>
        <p:nvSpPr>
          <p:cNvPr id="6" name="Text 4"/>
          <p:cNvSpPr txBox="1"/>
          <p:nvPr/>
        </p:nvSpPr>
        <p:spPr>
          <a:xfrm>
            <a:off x="649224" y="1938528"/>
            <a:ext cx="290779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THE CLAIM YOU WANT TO MAKE</a:t>
            </a:r>
            <a:endParaRPr lang="en-US" sz="850" dirty="0"/>
          </a:p>
        </p:txBody>
      </p:sp>
      <p:sp>
        <p:nvSpPr>
          <p:cNvPr id="7" name="Shape 5"/>
          <p:cNvSpPr/>
          <p:nvPr/>
        </p:nvSpPr>
        <p:spPr>
          <a:xfrm>
            <a:off x="3703320" y="1938528"/>
            <a:ext cx="2286000" cy="384048"/>
          </a:xfrm>
          <a:prstGeom prst="rect">
            <a:avLst/>
          </a:prstGeom>
          <a:solidFill>
            <a:srgbClr val="241A4C"/>
          </a:solidFill>
          <a:ln w="19050">
            <a:solidFill>
              <a:srgbClr val="FFFFFF"/>
            </a:solidFill>
            <a:prstDash val="solid"/>
          </a:ln>
        </p:spPr>
      </p:sp>
      <p:sp>
        <p:nvSpPr>
          <p:cNvPr id="8" name="Text 6"/>
          <p:cNvSpPr txBox="1"/>
          <p:nvPr/>
        </p:nvSpPr>
        <p:spPr>
          <a:xfrm>
            <a:off x="3849624" y="1938528"/>
            <a:ext cx="199339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TECHNIQUE</a:t>
            </a:r>
            <a:endParaRPr lang="en-US" sz="850" dirty="0"/>
          </a:p>
        </p:txBody>
      </p:sp>
      <p:sp>
        <p:nvSpPr>
          <p:cNvPr id="9" name="Shape 7"/>
          <p:cNvSpPr/>
          <p:nvPr/>
        </p:nvSpPr>
        <p:spPr>
          <a:xfrm>
            <a:off x="5989320" y="1938528"/>
            <a:ext cx="2926080" cy="384048"/>
          </a:xfrm>
          <a:prstGeom prst="rect">
            <a:avLst/>
          </a:prstGeom>
          <a:solidFill>
            <a:srgbClr val="241A4C"/>
          </a:solidFill>
          <a:ln w="19050">
            <a:solidFill>
              <a:srgbClr val="FFFFFF"/>
            </a:solidFill>
            <a:prstDash val="solid"/>
          </a:ln>
        </p:spPr>
      </p:sp>
      <p:sp>
        <p:nvSpPr>
          <p:cNvPr id="10" name="Text 8"/>
          <p:cNvSpPr txBox="1"/>
          <p:nvPr/>
        </p:nvSpPr>
        <p:spPr>
          <a:xfrm>
            <a:off x="6135624" y="1938528"/>
            <a:ext cx="263347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WHAT TO REPORT</a:t>
            </a:r>
            <a:endParaRPr lang="en-US" sz="850" dirty="0"/>
          </a:p>
        </p:txBody>
      </p:sp>
      <p:sp>
        <p:nvSpPr>
          <p:cNvPr id="11" name="Shape 9"/>
          <p:cNvSpPr/>
          <p:nvPr/>
        </p:nvSpPr>
        <p:spPr>
          <a:xfrm>
            <a:off x="8915400" y="1938528"/>
            <a:ext cx="2770632" cy="384048"/>
          </a:xfrm>
          <a:prstGeom prst="rect">
            <a:avLst/>
          </a:prstGeom>
          <a:solidFill>
            <a:srgbClr val="241A4C"/>
          </a:solidFill>
          <a:ln w="19050">
            <a:solidFill>
              <a:srgbClr val="FFFFFF"/>
            </a:solidFill>
            <a:prstDash val="solid"/>
          </a:ln>
        </p:spPr>
      </p:sp>
      <p:sp>
        <p:nvSpPr>
          <p:cNvPr id="12" name="Text 10"/>
          <p:cNvSpPr txBox="1"/>
          <p:nvPr/>
        </p:nvSpPr>
        <p:spPr>
          <a:xfrm>
            <a:off x="9061704" y="1938528"/>
            <a:ext cx="247802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THE OBJECTION TO PRE-EMPT</a:t>
            </a:r>
            <a:endParaRPr lang="en-US" sz="850" dirty="0"/>
          </a:p>
        </p:txBody>
      </p:sp>
      <p:sp>
        <p:nvSpPr>
          <p:cNvPr id="13" name="Shape 11"/>
          <p:cNvSpPr/>
          <p:nvPr/>
        </p:nvSpPr>
        <p:spPr>
          <a:xfrm>
            <a:off x="502920" y="2377440"/>
            <a:ext cx="11183112" cy="621792"/>
          </a:xfrm>
          <a:prstGeom prst="rect">
            <a:avLst/>
          </a:prstGeom>
          <a:solidFill>
            <a:srgbClr val="F3F1FC"/>
          </a:solidFill>
          <a:ln/>
        </p:spPr>
      </p:sp>
      <p:sp>
        <p:nvSpPr>
          <p:cNvPr id="14" name="Shape 12"/>
          <p:cNvSpPr/>
          <p:nvPr/>
        </p:nvSpPr>
        <p:spPr>
          <a:xfrm>
            <a:off x="502920" y="2377440"/>
            <a:ext cx="50292" cy="621792"/>
          </a:xfrm>
          <a:prstGeom prst="rect">
            <a:avLst/>
          </a:prstGeom>
          <a:solidFill>
            <a:srgbClr val="B4522B"/>
          </a:solidFill>
          <a:ln/>
        </p:spPr>
      </p:sp>
      <p:sp>
        <p:nvSpPr>
          <p:cNvPr id="15" name="Text 13"/>
          <p:cNvSpPr txBox="1"/>
          <p:nvPr/>
        </p:nvSpPr>
        <p:spPr>
          <a:xfrm>
            <a:off x="722376" y="2377440"/>
            <a:ext cx="28163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“This is faster on workload W”</a:t>
            </a:r>
            <a:endParaRPr lang="en-US" sz="1200" dirty="0"/>
          </a:p>
        </p:txBody>
      </p:sp>
      <p:sp>
        <p:nvSpPr>
          <p:cNvPr id="16" name="Text 14"/>
          <p:cNvSpPr txBox="1"/>
          <p:nvPr/>
        </p:nvSpPr>
        <p:spPr>
          <a:xfrm>
            <a:off x="3867912" y="2377440"/>
            <a:ext cx="195681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Measurement</a:t>
            </a:r>
            <a:endParaRPr lang="en-US" sz="1050" dirty="0"/>
          </a:p>
        </p:txBody>
      </p:sp>
      <p:sp>
        <p:nvSpPr>
          <p:cNvPr id="17" name="Text 15"/>
          <p:cNvSpPr txBox="1"/>
          <p:nvPr/>
        </p:nvSpPr>
        <p:spPr>
          <a:xfrm>
            <a:off x="6153912" y="2377440"/>
            <a:ext cx="259689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Distribution, baseline, full configuration</a:t>
            </a:r>
            <a:endParaRPr lang="en-US" sz="1050" dirty="0"/>
          </a:p>
        </p:txBody>
      </p:sp>
      <p:sp>
        <p:nvSpPr>
          <p:cNvPr id="18" name="Text 16"/>
          <p:cNvSpPr txBox="1"/>
          <p:nvPr/>
        </p:nvSpPr>
        <p:spPr>
          <a:xfrm>
            <a:off x="9079992" y="2377440"/>
            <a:ext cx="244144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Was the baseline tuned, and is W representative?</a:t>
            </a:r>
            <a:endParaRPr lang="en-US" sz="1050" dirty="0"/>
          </a:p>
        </p:txBody>
      </p:sp>
      <p:sp>
        <p:nvSpPr>
          <p:cNvPr id="19" name="Shape 17"/>
          <p:cNvSpPr/>
          <p:nvPr/>
        </p:nvSpPr>
        <p:spPr>
          <a:xfrm>
            <a:off x="502920" y="3054096"/>
            <a:ext cx="11183112" cy="621792"/>
          </a:xfrm>
          <a:prstGeom prst="rect">
            <a:avLst/>
          </a:prstGeom>
          <a:solidFill>
            <a:srgbClr val="FFFFFF"/>
          </a:solidFill>
          <a:ln/>
        </p:spPr>
      </p:sp>
      <p:sp>
        <p:nvSpPr>
          <p:cNvPr id="20" name="Shape 18"/>
          <p:cNvSpPr/>
          <p:nvPr/>
        </p:nvSpPr>
        <p:spPr>
          <a:xfrm>
            <a:off x="502920" y="3054096"/>
            <a:ext cx="50292" cy="621792"/>
          </a:xfrm>
          <a:prstGeom prst="rect">
            <a:avLst/>
          </a:prstGeom>
          <a:solidFill>
            <a:srgbClr val="3D6EA6"/>
          </a:solidFill>
          <a:ln/>
        </p:spPr>
      </p:sp>
      <p:sp>
        <p:nvSpPr>
          <p:cNvPr id="21" name="Text 19"/>
          <p:cNvSpPr txBox="1"/>
          <p:nvPr/>
        </p:nvSpPr>
        <p:spPr>
          <a:xfrm>
            <a:off x="722376" y="3054096"/>
            <a:ext cx="28163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“This scales to p processors”</a:t>
            </a:r>
            <a:endParaRPr lang="en-US" sz="1200" dirty="0"/>
          </a:p>
        </p:txBody>
      </p:sp>
      <p:sp>
        <p:nvSpPr>
          <p:cNvPr id="22" name="Text 20"/>
          <p:cNvSpPr txBox="1"/>
          <p:nvPr/>
        </p:nvSpPr>
        <p:spPr>
          <a:xfrm>
            <a:off x="3867912" y="3054096"/>
            <a:ext cx="195681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Measurement + scaling model</a:t>
            </a:r>
            <a:endParaRPr lang="en-US" sz="1050" dirty="0"/>
          </a:p>
        </p:txBody>
      </p:sp>
      <p:sp>
        <p:nvSpPr>
          <p:cNvPr id="23" name="Text 21"/>
          <p:cNvSpPr txBox="1"/>
          <p:nvPr/>
        </p:nvSpPr>
        <p:spPr>
          <a:xfrm>
            <a:off x="6153912" y="3054096"/>
            <a:ext cx="259689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Speedup and efficiency curves, with T(1) defined</a:t>
            </a:r>
            <a:endParaRPr lang="en-US" sz="1050" dirty="0"/>
          </a:p>
        </p:txBody>
      </p:sp>
      <p:sp>
        <p:nvSpPr>
          <p:cNvPr id="24" name="Text 22"/>
          <p:cNvSpPr txBox="1"/>
          <p:nvPr/>
        </p:nvSpPr>
        <p:spPr>
          <a:xfrm>
            <a:off x="9079992" y="3054096"/>
            <a:ext cx="244144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Which T(1)? And strong or weak scaling?</a:t>
            </a:r>
            <a:endParaRPr lang="en-US" sz="1050" dirty="0"/>
          </a:p>
        </p:txBody>
      </p:sp>
      <p:sp>
        <p:nvSpPr>
          <p:cNvPr id="25" name="Shape 23"/>
          <p:cNvSpPr/>
          <p:nvPr/>
        </p:nvSpPr>
        <p:spPr>
          <a:xfrm>
            <a:off x="502920" y="3730752"/>
            <a:ext cx="11183112" cy="621792"/>
          </a:xfrm>
          <a:prstGeom prst="rect">
            <a:avLst/>
          </a:prstGeom>
          <a:solidFill>
            <a:srgbClr val="F3F1FC"/>
          </a:solidFill>
          <a:ln/>
        </p:spPr>
      </p:sp>
      <p:sp>
        <p:nvSpPr>
          <p:cNvPr id="26" name="Shape 24"/>
          <p:cNvSpPr/>
          <p:nvPr/>
        </p:nvSpPr>
        <p:spPr>
          <a:xfrm>
            <a:off x="502920" y="3730752"/>
            <a:ext cx="50292" cy="621792"/>
          </a:xfrm>
          <a:prstGeom prst="rect">
            <a:avLst/>
          </a:prstGeom>
          <a:solidFill>
            <a:srgbClr val="D8A73E"/>
          </a:solidFill>
          <a:ln/>
        </p:spPr>
      </p:sp>
      <p:sp>
        <p:nvSpPr>
          <p:cNvPr id="27" name="Text 25"/>
          <p:cNvSpPr txBox="1"/>
          <p:nvPr/>
        </p:nvSpPr>
        <p:spPr>
          <a:xfrm>
            <a:off x="722376" y="3730752"/>
            <a:ext cx="28163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“This handles ten times today's load”</a:t>
            </a:r>
            <a:endParaRPr lang="en-US" sz="1200" dirty="0"/>
          </a:p>
        </p:txBody>
      </p:sp>
      <p:sp>
        <p:nvSpPr>
          <p:cNvPr id="28" name="Text 26"/>
          <p:cNvSpPr txBox="1"/>
          <p:nvPr/>
        </p:nvSpPr>
        <p:spPr>
          <a:xfrm>
            <a:off x="3867912" y="3730752"/>
            <a:ext cx="195681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Analytical model or simulation</a:t>
            </a:r>
            <a:endParaRPr lang="en-US" sz="1050" dirty="0"/>
          </a:p>
        </p:txBody>
      </p:sp>
      <p:sp>
        <p:nvSpPr>
          <p:cNvPr id="29" name="Text 27"/>
          <p:cNvSpPr txBox="1"/>
          <p:nvPr/>
        </p:nvSpPr>
        <p:spPr>
          <a:xfrm>
            <a:off x="6153912" y="3730752"/>
            <a:ext cx="259689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Predicted curve, plus validation at current load</a:t>
            </a:r>
            <a:endParaRPr lang="en-US" sz="1050" dirty="0"/>
          </a:p>
        </p:txBody>
      </p:sp>
      <p:sp>
        <p:nvSpPr>
          <p:cNvPr id="30" name="Text 28"/>
          <p:cNvSpPr txBox="1"/>
          <p:nvPr/>
        </p:nvSpPr>
        <p:spPr>
          <a:xfrm>
            <a:off x="9079992" y="3730752"/>
            <a:ext cx="244144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Does the model hold outside the measured range?</a:t>
            </a:r>
            <a:endParaRPr lang="en-US" sz="1050" dirty="0"/>
          </a:p>
        </p:txBody>
      </p:sp>
      <p:sp>
        <p:nvSpPr>
          <p:cNvPr id="31" name="Shape 29"/>
          <p:cNvSpPr/>
          <p:nvPr/>
        </p:nvSpPr>
        <p:spPr>
          <a:xfrm>
            <a:off x="502920" y="4407408"/>
            <a:ext cx="11183112" cy="621792"/>
          </a:xfrm>
          <a:prstGeom prst="rect">
            <a:avLst/>
          </a:prstGeom>
          <a:solidFill>
            <a:srgbClr val="FFFFFF"/>
          </a:solidFill>
          <a:ln/>
        </p:spPr>
      </p:sp>
      <p:sp>
        <p:nvSpPr>
          <p:cNvPr id="32" name="Shape 30"/>
          <p:cNvSpPr/>
          <p:nvPr/>
        </p:nvSpPr>
        <p:spPr>
          <a:xfrm>
            <a:off x="502920" y="4407408"/>
            <a:ext cx="50292" cy="621792"/>
          </a:xfrm>
          <a:prstGeom prst="rect">
            <a:avLst/>
          </a:prstGeom>
          <a:solidFill>
            <a:srgbClr val="D8A73E"/>
          </a:solidFill>
          <a:ln/>
        </p:spPr>
      </p:sp>
      <p:sp>
        <p:nvSpPr>
          <p:cNvPr id="33" name="Text 31"/>
          <p:cNvSpPr txBox="1"/>
          <p:nvPr/>
        </p:nvSpPr>
        <p:spPr>
          <a:xfrm>
            <a:off x="722376" y="4407408"/>
            <a:ext cx="28163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“Component X is the bottleneck”</a:t>
            </a:r>
            <a:endParaRPr lang="en-US" sz="1200" dirty="0"/>
          </a:p>
        </p:txBody>
      </p:sp>
      <p:sp>
        <p:nvSpPr>
          <p:cNvPr id="34" name="Text 32"/>
          <p:cNvSpPr txBox="1"/>
          <p:nvPr/>
        </p:nvSpPr>
        <p:spPr>
          <a:xfrm>
            <a:off x="3867912" y="4407408"/>
            <a:ext cx="195681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Profiling + operational bounds</a:t>
            </a:r>
            <a:endParaRPr lang="en-US" sz="1050" dirty="0"/>
          </a:p>
        </p:txBody>
      </p:sp>
      <p:sp>
        <p:nvSpPr>
          <p:cNvPr id="35" name="Text 33"/>
          <p:cNvSpPr txBox="1"/>
          <p:nvPr/>
        </p:nvSpPr>
        <p:spPr>
          <a:xfrm>
            <a:off x="6153912" y="4407408"/>
            <a:ext cx="259689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Service demands, and the effect of removing X</a:t>
            </a:r>
            <a:endParaRPr lang="en-US" sz="1050" dirty="0"/>
          </a:p>
        </p:txBody>
      </p:sp>
      <p:sp>
        <p:nvSpPr>
          <p:cNvPr id="36" name="Text 34"/>
          <p:cNvSpPr txBox="1"/>
          <p:nvPr/>
        </p:nvSpPr>
        <p:spPr>
          <a:xfrm>
            <a:off x="9079992" y="4407408"/>
            <a:ext cx="244144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Would fixing X actually move the ceiling?</a:t>
            </a:r>
            <a:endParaRPr lang="en-US" sz="1050" dirty="0"/>
          </a:p>
        </p:txBody>
      </p:sp>
      <p:sp>
        <p:nvSpPr>
          <p:cNvPr id="37" name="Shape 35"/>
          <p:cNvSpPr/>
          <p:nvPr/>
        </p:nvSpPr>
        <p:spPr>
          <a:xfrm>
            <a:off x="502920" y="5084064"/>
            <a:ext cx="11183112" cy="621792"/>
          </a:xfrm>
          <a:prstGeom prst="rect">
            <a:avLst/>
          </a:prstGeom>
          <a:solidFill>
            <a:srgbClr val="F3F1FC"/>
          </a:solidFill>
          <a:ln/>
        </p:spPr>
      </p:sp>
      <p:sp>
        <p:nvSpPr>
          <p:cNvPr id="38" name="Shape 36"/>
          <p:cNvSpPr/>
          <p:nvPr/>
        </p:nvSpPr>
        <p:spPr>
          <a:xfrm>
            <a:off x="502920" y="5084064"/>
            <a:ext cx="50292" cy="621792"/>
          </a:xfrm>
          <a:prstGeom prst="rect">
            <a:avLst/>
          </a:prstGeom>
          <a:solidFill>
            <a:srgbClr val="241A4C"/>
          </a:solidFill>
          <a:ln/>
        </p:spPr>
      </p:sp>
      <p:sp>
        <p:nvSpPr>
          <p:cNvPr id="39" name="Text 37"/>
          <p:cNvSpPr txBox="1"/>
          <p:nvPr/>
        </p:nvSpPr>
        <p:spPr>
          <a:xfrm>
            <a:off x="722376" y="5084064"/>
            <a:ext cx="28163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“This uses less energy per request”</a:t>
            </a:r>
            <a:endParaRPr lang="en-US" sz="1200" dirty="0"/>
          </a:p>
        </p:txBody>
      </p:sp>
      <p:sp>
        <p:nvSpPr>
          <p:cNvPr id="40" name="Text 38"/>
          <p:cNvSpPr txBox="1"/>
          <p:nvPr/>
        </p:nvSpPr>
        <p:spPr>
          <a:xfrm>
            <a:off x="3867912" y="5084064"/>
            <a:ext cx="195681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Measurement with power instrumentation</a:t>
            </a:r>
            <a:endParaRPr lang="en-US" sz="1050" dirty="0"/>
          </a:p>
        </p:txBody>
      </p:sp>
      <p:sp>
        <p:nvSpPr>
          <p:cNvPr id="41" name="Text 39"/>
          <p:cNvSpPr txBox="1"/>
          <p:nvPr/>
        </p:nvSpPr>
        <p:spPr>
          <a:xfrm>
            <a:off x="6153912" y="5084064"/>
            <a:ext cx="259689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Joules per operation at matched throughput</a:t>
            </a:r>
            <a:endParaRPr lang="en-US" sz="1050" dirty="0"/>
          </a:p>
        </p:txBody>
      </p:sp>
      <p:sp>
        <p:nvSpPr>
          <p:cNvPr id="42" name="Text 40"/>
          <p:cNvSpPr txBox="1"/>
          <p:nvPr/>
        </p:nvSpPr>
        <p:spPr>
          <a:xfrm>
            <a:off x="9079992" y="5084064"/>
            <a:ext cx="244144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Was throughput held equal, or quietly traded away?</a:t>
            </a:r>
            <a:endParaRPr lang="en-US" sz="1050" dirty="0"/>
          </a:p>
        </p:txBody>
      </p:sp>
      <p:sp>
        <p:nvSpPr>
          <p:cNvPr id="43" name="Text 41"/>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Every row pairs a claim with the only kind of evidence that can settle it — the same discipline as Lecture 2's triangulation table, narrowed to performance.</a:t>
            </a:r>
            <a:endParaRPr lang="en-US" sz="1150" dirty="0"/>
          </a:p>
        </p:txBody>
      </p:sp>
      <p:sp>
        <p:nvSpPr>
          <p:cNvPr id="44" name="Text 42"/>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45" name="Text 43"/>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20 / 26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How Performance Claims Fail</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Six recurring faults. None requires dishonesty — each is an ordinary choice, made without stating it.</a:t>
            </a:r>
            <a:endParaRPr lang="en-US" sz="1250" dirty="0"/>
          </a:p>
        </p:txBody>
      </p:sp>
      <p:sp>
        <p:nvSpPr>
          <p:cNvPr id="5" name="Shape 3"/>
          <p:cNvSpPr/>
          <p:nvPr/>
        </p:nvSpPr>
        <p:spPr>
          <a:xfrm>
            <a:off x="502920" y="1938528"/>
            <a:ext cx="3502152" cy="1737360"/>
          </a:xfrm>
          <a:prstGeom prst="roundRect">
            <a:avLst>
              <a:gd name="adj" fmla="val 2632"/>
            </a:avLst>
          </a:prstGeom>
          <a:solidFill>
            <a:srgbClr val="F3F1FC"/>
          </a:solidFill>
          <a:ln w="12700">
            <a:solidFill>
              <a:srgbClr val="E6E2F5"/>
            </a:solidFill>
            <a:prstDash val="solid"/>
          </a:ln>
        </p:spPr>
      </p:sp>
      <p:sp>
        <p:nvSpPr>
          <p:cNvPr id="6" name="Text 4"/>
          <p:cNvSpPr txBox="1"/>
          <p:nvPr/>
        </p:nvSpPr>
        <p:spPr>
          <a:xfrm>
            <a:off x="758952" y="2157984"/>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B4522B"/>
                </a:solidFill>
                <a:latin typeface="Cambria" pitchFamily="34" charset="0"/>
                <a:ea typeface="Cambria" pitchFamily="34" charset="-122"/>
                <a:cs typeface="Cambria" pitchFamily="34" charset="-120"/>
              </a:rPr>
              <a:t>The arithmetic mean of rates</a:t>
            </a:r>
            <a:endParaRPr lang="en-US" sz="1400" dirty="0"/>
          </a:p>
        </p:txBody>
      </p:sp>
      <p:sp>
        <p:nvSpPr>
          <p:cNvPr id="7" name="Text 5"/>
          <p:cNvSpPr txBox="1"/>
          <p:nvPr/>
        </p:nvSpPr>
        <p:spPr>
          <a:xfrm>
            <a:off x="758952" y="2706624"/>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 summary statistic that can, and demonstrably does, name the losing system as the winner. Slide 8 was not a contrived case.</a:t>
            </a:r>
            <a:endParaRPr lang="en-US" sz="1050" dirty="0"/>
          </a:p>
        </p:txBody>
      </p:sp>
      <p:sp>
        <p:nvSpPr>
          <p:cNvPr id="8" name="Shape 6"/>
          <p:cNvSpPr/>
          <p:nvPr/>
        </p:nvSpPr>
        <p:spPr>
          <a:xfrm>
            <a:off x="4343400" y="1938528"/>
            <a:ext cx="3502152" cy="1737360"/>
          </a:xfrm>
          <a:prstGeom prst="roundRect">
            <a:avLst>
              <a:gd name="adj" fmla="val 2632"/>
            </a:avLst>
          </a:prstGeom>
          <a:solidFill>
            <a:srgbClr val="F3F1FC"/>
          </a:solidFill>
          <a:ln w="12700">
            <a:solidFill>
              <a:srgbClr val="E6E2F5"/>
            </a:solidFill>
            <a:prstDash val="solid"/>
          </a:ln>
        </p:spPr>
      </p:sp>
      <p:sp>
        <p:nvSpPr>
          <p:cNvPr id="9" name="Text 7"/>
          <p:cNvSpPr txBox="1"/>
          <p:nvPr/>
        </p:nvSpPr>
        <p:spPr>
          <a:xfrm>
            <a:off x="4599432" y="2157984"/>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B4522B"/>
                </a:solidFill>
                <a:latin typeface="Cambria" pitchFamily="34" charset="0"/>
                <a:ea typeface="Cambria" pitchFamily="34" charset="-122"/>
                <a:cs typeface="Cambria" pitchFamily="34" charset="-120"/>
              </a:rPr>
              <a:t>The bare mean latency</a:t>
            </a:r>
            <a:endParaRPr lang="en-US" sz="1400" dirty="0"/>
          </a:p>
        </p:txBody>
      </p:sp>
      <p:sp>
        <p:nvSpPr>
          <p:cNvPr id="10" name="Text 8"/>
          <p:cNvSpPr txBox="1"/>
          <p:nvPr/>
        </p:nvSpPr>
        <p:spPr>
          <a:xfrm>
            <a:off x="4599432" y="2706624"/>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 single number summarising a skewed distribution, concealing precisely the tail that determines what users actually experience.</a:t>
            </a:r>
            <a:endParaRPr lang="en-US" sz="1050" dirty="0"/>
          </a:p>
        </p:txBody>
      </p:sp>
      <p:sp>
        <p:nvSpPr>
          <p:cNvPr id="11" name="Shape 9"/>
          <p:cNvSpPr/>
          <p:nvPr/>
        </p:nvSpPr>
        <p:spPr>
          <a:xfrm>
            <a:off x="8183880" y="1938528"/>
            <a:ext cx="3502152" cy="1737360"/>
          </a:xfrm>
          <a:prstGeom prst="roundRect">
            <a:avLst>
              <a:gd name="adj" fmla="val 2632"/>
            </a:avLst>
          </a:prstGeom>
          <a:solidFill>
            <a:srgbClr val="F3F1FC"/>
          </a:solidFill>
          <a:ln w="12700">
            <a:solidFill>
              <a:srgbClr val="E6E2F5"/>
            </a:solidFill>
            <a:prstDash val="solid"/>
          </a:ln>
        </p:spPr>
      </p:sp>
      <p:sp>
        <p:nvSpPr>
          <p:cNvPr id="12" name="Text 10"/>
          <p:cNvSpPr txBox="1"/>
          <p:nvPr/>
        </p:nvSpPr>
        <p:spPr>
          <a:xfrm>
            <a:off x="8439912" y="2157984"/>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B08C3A"/>
                </a:solidFill>
                <a:latin typeface="Cambria" pitchFamily="34" charset="0"/>
                <a:ea typeface="Cambria" pitchFamily="34" charset="-122"/>
                <a:cs typeface="Cambria" pitchFamily="34" charset="-120"/>
              </a:rPr>
              <a:t>The unstated T(1)</a:t>
            </a:r>
            <a:endParaRPr lang="en-US" sz="1400" dirty="0"/>
          </a:p>
        </p:txBody>
      </p:sp>
      <p:sp>
        <p:nvSpPr>
          <p:cNvPr id="13" name="Text 11"/>
          <p:cNvSpPr txBox="1"/>
          <p:nvPr/>
        </p:nvSpPr>
        <p:spPr>
          <a:xfrm>
            <a:off x="8439912" y="2706624"/>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Speedup reported against the authors' own single-threaded code rather than the best known sequential algorithm for the problem.</a:t>
            </a:r>
            <a:endParaRPr lang="en-US" sz="1050" dirty="0"/>
          </a:p>
        </p:txBody>
      </p:sp>
      <p:sp>
        <p:nvSpPr>
          <p:cNvPr id="14" name="Shape 12"/>
          <p:cNvSpPr/>
          <p:nvPr/>
        </p:nvSpPr>
        <p:spPr>
          <a:xfrm>
            <a:off x="502920" y="3895344"/>
            <a:ext cx="3502152" cy="1737360"/>
          </a:xfrm>
          <a:prstGeom prst="roundRect">
            <a:avLst>
              <a:gd name="adj" fmla="val 2632"/>
            </a:avLst>
          </a:prstGeom>
          <a:solidFill>
            <a:srgbClr val="FAF9FE"/>
          </a:solidFill>
          <a:ln w="12700">
            <a:solidFill>
              <a:srgbClr val="E6E2F5"/>
            </a:solidFill>
            <a:prstDash val="solid"/>
          </a:ln>
        </p:spPr>
      </p:sp>
      <p:sp>
        <p:nvSpPr>
          <p:cNvPr id="15" name="Text 13"/>
          <p:cNvSpPr txBox="1"/>
          <p:nvPr/>
        </p:nvSpPr>
        <p:spPr>
          <a:xfrm>
            <a:off x="758952" y="4114800"/>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B08C3A"/>
                </a:solidFill>
                <a:latin typeface="Cambria" pitchFamily="34" charset="0"/>
                <a:ea typeface="Cambria" pitchFamily="34" charset="-122"/>
                <a:cs typeface="Cambria" pitchFamily="34" charset="-120"/>
              </a:rPr>
              <a:t>The unmatched configuration</a:t>
            </a:r>
            <a:endParaRPr lang="en-US" sz="1400" dirty="0"/>
          </a:p>
        </p:txBody>
      </p:sp>
      <p:sp>
        <p:nvSpPr>
          <p:cNvPr id="16" name="Text 14"/>
          <p:cNvSpPr txBox="1"/>
          <p:nvPr/>
        </p:nvSpPr>
        <p:spPr>
          <a:xfrm>
            <a:off x="758952" y="4663440"/>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Different compilers, flags, runtimes or hardware between the proposed system and its baseline — so the comparison measures the setup.</a:t>
            </a:r>
            <a:endParaRPr lang="en-US" sz="1050" dirty="0"/>
          </a:p>
        </p:txBody>
      </p:sp>
      <p:sp>
        <p:nvSpPr>
          <p:cNvPr id="17" name="Shape 15"/>
          <p:cNvSpPr/>
          <p:nvPr/>
        </p:nvSpPr>
        <p:spPr>
          <a:xfrm>
            <a:off x="4343400" y="3895344"/>
            <a:ext cx="3502152" cy="1737360"/>
          </a:xfrm>
          <a:prstGeom prst="roundRect">
            <a:avLst>
              <a:gd name="adj" fmla="val 2632"/>
            </a:avLst>
          </a:prstGeom>
          <a:solidFill>
            <a:srgbClr val="FAF9FE"/>
          </a:solidFill>
          <a:ln w="12700">
            <a:solidFill>
              <a:srgbClr val="E6E2F5"/>
            </a:solidFill>
            <a:prstDash val="solid"/>
          </a:ln>
        </p:spPr>
      </p:sp>
      <p:sp>
        <p:nvSpPr>
          <p:cNvPr id="18" name="Text 16"/>
          <p:cNvSpPr txBox="1"/>
          <p:nvPr/>
        </p:nvSpPr>
        <p:spPr>
          <a:xfrm>
            <a:off x="4599432" y="4114800"/>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3D6EA6"/>
                </a:solidFill>
                <a:latin typeface="Cambria" pitchFamily="34" charset="0"/>
                <a:ea typeface="Cambria" pitchFamily="34" charset="-122"/>
                <a:cs typeface="Cambria" pitchFamily="34" charset="-120"/>
              </a:rPr>
              <a:t>Measurement without isolation</a:t>
            </a:r>
            <a:endParaRPr lang="en-US" sz="1400" dirty="0"/>
          </a:p>
        </p:txBody>
      </p:sp>
      <p:sp>
        <p:nvSpPr>
          <p:cNvPr id="19" name="Text 17"/>
          <p:cNvSpPr txBox="1"/>
          <p:nvPr/>
        </p:nvSpPr>
        <p:spPr>
          <a:xfrm>
            <a:off x="4599432" y="4663440"/>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Numbers collected on a shared or thermally throttled machine, then reported to three significant figures as though the noise were not there.</a:t>
            </a:r>
            <a:endParaRPr lang="en-US" sz="1050" dirty="0"/>
          </a:p>
        </p:txBody>
      </p:sp>
      <p:sp>
        <p:nvSpPr>
          <p:cNvPr id="20" name="Shape 18"/>
          <p:cNvSpPr/>
          <p:nvPr/>
        </p:nvSpPr>
        <p:spPr>
          <a:xfrm>
            <a:off x="8183880" y="3895344"/>
            <a:ext cx="3502152" cy="1737360"/>
          </a:xfrm>
          <a:prstGeom prst="roundRect">
            <a:avLst>
              <a:gd name="adj" fmla="val 2632"/>
            </a:avLst>
          </a:prstGeom>
          <a:solidFill>
            <a:srgbClr val="FAF9FE"/>
          </a:solidFill>
          <a:ln w="12700">
            <a:solidFill>
              <a:srgbClr val="E6E2F5"/>
            </a:solidFill>
            <a:prstDash val="solid"/>
          </a:ln>
        </p:spPr>
      </p:sp>
      <p:sp>
        <p:nvSpPr>
          <p:cNvPr id="21" name="Text 19"/>
          <p:cNvSpPr txBox="1"/>
          <p:nvPr/>
        </p:nvSpPr>
        <p:spPr>
          <a:xfrm>
            <a:off x="8439912" y="4114800"/>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3D6EA6"/>
                </a:solidFill>
                <a:latin typeface="Cambria" pitchFamily="34" charset="0"/>
                <a:ea typeface="Cambria" pitchFamily="34" charset="-122"/>
                <a:cs typeface="Cambria" pitchFamily="34" charset="-120"/>
              </a:rPr>
              <a:t>Extrapolating the curve</a:t>
            </a:r>
            <a:endParaRPr lang="en-US" sz="1400" dirty="0"/>
          </a:p>
        </p:txBody>
      </p:sp>
      <p:sp>
        <p:nvSpPr>
          <p:cNvPr id="22" name="Text 20"/>
          <p:cNvSpPr txBox="1"/>
          <p:nvPr/>
        </p:nvSpPr>
        <p:spPr>
          <a:xfrm>
            <a:off x="8439912" y="4663440"/>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Measuring at twenty per cent load and asserting behaviour at ninety, where queueing makes the relationship sharply non-linear.</a:t>
            </a:r>
            <a:endParaRPr lang="en-US" sz="1050" dirty="0"/>
          </a:p>
        </p:txBody>
      </p:sp>
      <p:sp>
        <p:nvSpPr>
          <p:cNvPr id="23" name="Text 2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24" name="Text 2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21 / 26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Run Rules: What Disciplined Benchmarking Looks Like</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What SPEC and TPC actually require. Each rule exists because a specific defect was found the expensive way.</a:t>
            </a:r>
            <a:endParaRPr lang="en-US" sz="1250" dirty="0"/>
          </a:p>
        </p:txBody>
      </p:sp>
      <p:sp>
        <p:nvSpPr>
          <p:cNvPr id="5" name="Shape 3"/>
          <p:cNvSpPr/>
          <p:nvPr/>
        </p:nvSpPr>
        <p:spPr>
          <a:xfrm>
            <a:off x="502920" y="1938528"/>
            <a:ext cx="2039112" cy="2286000"/>
          </a:xfrm>
          <a:prstGeom prst="roundRect">
            <a:avLst>
              <a:gd name="adj" fmla="val 2691"/>
            </a:avLst>
          </a:prstGeom>
          <a:solidFill>
            <a:srgbClr val="F3F1FC"/>
          </a:solidFill>
          <a:ln/>
        </p:spPr>
      </p:sp>
      <p:sp>
        <p:nvSpPr>
          <p:cNvPr id="6" name="Shape 4"/>
          <p:cNvSpPr/>
          <p:nvPr/>
        </p:nvSpPr>
        <p:spPr>
          <a:xfrm>
            <a:off x="685800" y="2139696"/>
            <a:ext cx="292608" cy="292608"/>
          </a:xfrm>
          <a:prstGeom prst="ellipse">
            <a:avLst/>
          </a:prstGeom>
          <a:solidFill>
            <a:srgbClr val="3D6EA6"/>
          </a:solidFill>
          <a:ln/>
        </p:spPr>
      </p:sp>
      <p:sp>
        <p:nvSpPr>
          <p:cNvPr id="7" name="Text 5"/>
          <p:cNvSpPr txBox="1"/>
          <p:nvPr/>
        </p:nvSpPr>
        <p:spPr>
          <a:xfrm>
            <a:off x="685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685800" y="2542032"/>
            <a:ext cx="1673352" cy="310896"/>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Full disclosure</a:t>
            </a:r>
            <a:endParaRPr lang="en-US" sz="1300" dirty="0"/>
          </a:p>
        </p:txBody>
      </p:sp>
      <p:sp>
        <p:nvSpPr>
          <p:cNvPr id="9" name="Text 7"/>
          <p:cNvSpPr txBox="1"/>
          <p:nvPr/>
        </p:nvSpPr>
        <p:spPr>
          <a:xfrm>
            <a:off x="685800" y="2907792"/>
            <a:ext cx="1673352" cy="1170432"/>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A published configuration report: hardware, software, tuning, and every compiler flag. Results submitted without it are simply not accepted.</a:t>
            </a:r>
            <a:endParaRPr lang="en-US" sz="1000" dirty="0"/>
          </a:p>
        </p:txBody>
      </p:sp>
      <p:sp>
        <p:nvSpPr>
          <p:cNvPr id="10" name="Shape 8"/>
          <p:cNvSpPr/>
          <p:nvPr/>
        </p:nvSpPr>
        <p:spPr>
          <a:xfrm>
            <a:off x="2788920" y="1938528"/>
            <a:ext cx="2039112" cy="2286000"/>
          </a:xfrm>
          <a:prstGeom prst="roundRect">
            <a:avLst>
              <a:gd name="adj" fmla="val 2691"/>
            </a:avLst>
          </a:prstGeom>
          <a:solidFill>
            <a:srgbClr val="F3F1FC"/>
          </a:solidFill>
          <a:ln/>
        </p:spPr>
      </p:sp>
      <p:sp>
        <p:nvSpPr>
          <p:cNvPr id="11" name="Shape 9"/>
          <p:cNvSpPr/>
          <p:nvPr/>
        </p:nvSpPr>
        <p:spPr>
          <a:xfrm>
            <a:off x="2971800" y="2139696"/>
            <a:ext cx="292608" cy="292608"/>
          </a:xfrm>
          <a:prstGeom prst="ellipse">
            <a:avLst/>
          </a:prstGeom>
          <a:solidFill>
            <a:srgbClr val="3D6EA6"/>
          </a:solidFill>
          <a:ln/>
        </p:spPr>
      </p:sp>
      <p:sp>
        <p:nvSpPr>
          <p:cNvPr id="12" name="Text 10"/>
          <p:cNvSpPr txBox="1"/>
          <p:nvPr/>
        </p:nvSpPr>
        <p:spPr>
          <a:xfrm>
            <a:off x="2971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2971800" y="2542032"/>
            <a:ext cx="1673352" cy="310896"/>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Run rules</a:t>
            </a:r>
            <a:endParaRPr lang="en-US" sz="1300" dirty="0"/>
          </a:p>
        </p:txBody>
      </p:sp>
      <p:sp>
        <p:nvSpPr>
          <p:cNvPr id="14" name="Text 12"/>
          <p:cNvSpPr txBox="1"/>
          <p:nvPr/>
        </p:nvSpPr>
        <p:spPr>
          <a:xfrm>
            <a:off x="2971800" y="2907792"/>
            <a:ext cx="1673352" cy="1170432"/>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Which optimisations are permitted, how many iterations must run, and which results may be reported — preventing tuning that helps only the benchmark.</a:t>
            </a:r>
            <a:endParaRPr lang="en-US" sz="1000" dirty="0"/>
          </a:p>
        </p:txBody>
      </p:sp>
      <p:sp>
        <p:nvSpPr>
          <p:cNvPr id="15" name="Shape 13"/>
          <p:cNvSpPr/>
          <p:nvPr/>
        </p:nvSpPr>
        <p:spPr>
          <a:xfrm>
            <a:off x="5074920" y="1938528"/>
            <a:ext cx="2039112" cy="2286000"/>
          </a:xfrm>
          <a:prstGeom prst="roundRect">
            <a:avLst>
              <a:gd name="adj" fmla="val 2691"/>
            </a:avLst>
          </a:prstGeom>
          <a:solidFill>
            <a:srgbClr val="F3F1FC"/>
          </a:solidFill>
          <a:ln/>
        </p:spPr>
      </p:sp>
      <p:sp>
        <p:nvSpPr>
          <p:cNvPr id="16" name="Shape 14"/>
          <p:cNvSpPr/>
          <p:nvPr/>
        </p:nvSpPr>
        <p:spPr>
          <a:xfrm>
            <a:off x="5257800" y="2139696"/>
            <a:ext cx="292608" cy="292608"/>
          </a:xfrm>
          <a:prstGeom prst="ellipse">
            <a:avLst/>
          </a:prstGeom>
          <a:solidFill>
            <a:srgbClr val="B08C3A"/>
          </a:solidFill>
          <a:ln/>
        </p:spPr>
      </p:sp>
      <p:sp>
        <p:nvSpPr>
          <p:cNvPr id="17" name="Text 15"/>
          <p:cNvSpPr txBox="1"/>
          <p:nvPr/>
        </p:nvSpPr>
        <p:spPr>
          <a:xfrm>
            <a:off x="5257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5257800" y="2542032"/>
            <a:ext cx="1673352" cy="310896"/>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Repeated measurement</a:t>
            </a:r>
            <a:endParaRPr lang="en-US" sz="1300" dirty="0"/>
          </a:p>
        </p:txBody>
      </p:sp>
      <p:sp>
        <p:nvSpPr>
          <p:cNvPr id="19" name="Text 17"/>
          <p:cNvSpPr txBox="1"/>
          <p:nvPr/>
        </p:nvSpPr>
        <p:spPr>
          <a:xfrm>
            <a:off x="5257800" y="2907792"/>
            <a:ext cx="1673352" cy="1170432"/>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A required minimum number of runs and a defined statistic over them, so that a single lucky run can never be reported on its own.</a:t>
            </a:r>
            <a:endParaRPr lang="en-US" sz="1000" dirty="0"/>
          </a:p>
        </p:txBody>
      </p:sp>
      <p:sp>
        <p:nvSpPr>
          <p:cNvPr id="20" name="Shape 18"/>
          <p:cNvSpPr/>
          <p:nvPr/>
        </p:nvSpPr>
        <p:spPr>
          <a:xfrm>
            <a:off x="7360920" y="1938528"/>
            <a:ext cx="2039112" cy="2286000"/>
          </a:xfrm>
          <a:prstGeom prst="roundRect">
            <a:avLst>
              <a:gd name="adj" fmla="val 2691"/>
            </a:avLst>
          </a:prstGeom>
          <a:solidFill>
            <a:srgbClr val="F6EFE4"/>
          </a:solidFill>
          <a:ln/>
        </p:spPr>
      </p:sp>
      <p:sp>
        <p:nvSpPr>
          <p:cNvPr id="21" name="Shape 19"/>
          <p:cNvSpPr/>
          <p:nvPr/>
        </p:nvSpPr>
        <p:spPr>
          <a:xfrm>
            <a:off x="7543800" y="2139696"/>
            <a:ext cx="292608" cy="292608"/>
          </a:xfrm>
          <a:prstGeom prst="ellipse">
            <a:avLst/>
          </a:prstGeom>
          <a:solidFill>
            <a:srgbClr val="B4522B"/>
          </a:solidFill>
          <a:ln/>
        </p:spPr>
      </p:sp>
      <p:sp>
        <p:nvSpPr>
          <p:cNvPr id="22" name="Text 20"/>
          <p:cNvSpPr txBox="1"/>
          <p:nvPr/>
        </p:nvSpPr>
        <p:spPr>
          <a:xfrm>
            <a:off x="7543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7543800" y="2542032"/>
            <a:ext cx="1673352" cy="310896"/>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Audit and review</a:t>
            </a:r>
            <a:endParaRPr lang="en-US" sz="1300" dirty="0"/>
          </a:p>
        </p:txBody>
      </p:sp>
      <p:sp>
        <p:nvSpPr>
          <p:cNvPr id="24" name="Text 22"/>
          <p:cNvSpPr txBox="1"/>
          <p:nvPr/>
        </p:nvSpPr>
        <p:spPr>
          <a:xfrm>
            <a:off x="7543800" y="2907792"/>
            <a:ext cx="1673352" cy="1170432"/>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TPC results are independently audited before publication; SPEC results are reviewed by the committee before they are accepted.</a:t>
            </a:r>
            <a:endParaRPr lang="en-US" sz="1000" dirty="0"/>
          </a:p>
        </p:txBody>
      </p:sp>
      <p:sp>
        <p:nvSpPr>
          <p:cNvPr id="25" name="Shape 23"/>
          <p:cNvSpPr/>
          <p:nvPr/>
        </p:nvSpPr>
        <p:spPr>
          <a:xfrm>
            <a:off x="9646920" y="1938528"/>
            <a:ext cx="2039112" cy="2286000"/>
          </a:xfrm>
          <a:prstGeom prst="roundRect">
            <a:avLst>
              <a:gd name="adj" fmla="val 2691"/>
            </a:avLst>
          </a:prstGeom>
          <a:solidFill>
            <a:srgbClr val="F6EFE4"/>
          </a:solidFill>
          <a:ln/>
        </p:spPr>
      </p:sp>
      <p:sp>
        <p:nvSpPr>
          <p:cNvPr id="26" name="Shape 24"/>
          <p:cNvSpPr/>
          <p:nvPr/>
        </p:nvSpPr>
        <p:spPr>
          <a:xfrm>
            <a:off x="9829800" y="2139696"/>
            <a:ext cx="292608" cy="292608"/>
          </a:xfrm>
          <a:prstGeom prst="ellipse">
            <a:avLst/>
          </a:prstGeom>
          <a:solidFill>
            <a:srgbClr val="B4522B"/>
          </a:solidFill>
          <a:ln/>
        </p:spPr>
      </p:sp>
      <p:sp>
        <p:nvSpPr>
          <p:cNvPr id="27" name="Text 25"/>
          <p:cNvSpPr txBox="1"/>
          <p:nvPr/>
        </p:nvSpPr>
        <p:spPr>
          <a:xfrm>
            <a:off x="9829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txBox="1"/>
          <p:nvPr/>
        </p:nvSpPr>
        <p:spPr>
          <a:xfrm>
            <a:off x="9829800" y="2542032"/>
            <a:ext cx="1673352" cy="310896"/>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Price and power</a:t>
            </a:r>
            <a:endParaRPr lang="en-US" sz="1300" dirty="0"/>
          </a:p>
        </p:txBody>
      </p:sp>
      <p:sp>
        <p:nvSpPr>
          <p:cNvPr id="29" name="Text 27"/>
          <p:cNvSpPr txBox="1"/>
          <p:nvPr/>
        </p:nvSpPr>
        <p:spPr>
          <a:xfrm>
            <a:off x="9829800" y="2907792"/>
            <a:ext cx="1673352" cy="1170432"/>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TPC requires a total cost of ownership figure; SPECpower requires energy measured at graduated load. Performance without cost is half a comparison.</a:t>
            </a:r>
            <a:endParaRPr lang="en-US" sz="1000" dirty="0"/>
          </a:p>
        </p:txBody>
      </p:sp>
      <p:sp>
        <p:nvSpPr>
          <p:cNvPr id="30" name="Shape 28"/>
          <p:cNvSpPr/>
          <p:nvPr/>
        </p:nvSpPr>
        <p:spPr>
          <a:xfrm>
            <a:off x="502920" y="4590288"/>
            <a:ext cx="11183112" cy="1060704"/>
          </a:xfrm>
          <a:prstGeom prst="roundRect">
            <a:avLst>
              <a:gd name="adj" fmla="val 4310"/>
            </a:avLst>
          </a:prstGeom>
          <a:solidFill>
            <a:srgbClr val="F3F1FC"/>
          </a:solidFill>
          <a:ln/>
        </p:spPr>
      </p:sp>
      <p:sp>
        <p:nvSpPr>
          <p:cNvPr id="31" name="Text 29"/>
          <p:cNvSpPr txBox="1"/>
          <p:nvPr/>
        </p:nvSpPr>
        <p:spPr>
          <a:xfrm>
            <a:off x="795528" y="4773168"/>
            <a:ext cx="5486400" cy="201168"/>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WHAT THIS MEANS FOR A RESEARCH PAPER</a:t>
            </a:r>
            <a:endParaRPr lang="en-US" sz="850" dirty="0"/>
          </a:p>
        </p:txBody>
      </p:sp>
      <p:sp>
        <p:nvSpPr>
          <p:cNvPr id="32" name="Text 30"/>
          <p:cNvSpPr txBox="1"/>
          <p:nvPr/>
        </p:nvSpPr>
        <p:spPr>
          <a:xfrm>
            <a:off x="795528" y="5029200"/>
            <a:ext cx="10597896" cy="54864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You are not obliged to follow SPEC's rules in a paper — those bodies are certifying products, not publishing research. You are obliged to make a comparable disclosure, because every one of these rules encodes a defect the field discovered by being misled. Adopting them costs an appendix and buys a result that survives scrutiny.</a:t>
            </a:r>
            <a:endParaRPr lang="en-US" sz="1100" dirty="0"/>
          </a:p>
        </p:txBody>
      </p:sp>
      <p:sp>
        <p:nvSpPr>
          <p:cNvPr id="33" name="Text 3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34" name="Text 3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22 / 26</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A Checklist for Your Own Evaluation</a:t>
            </a:r>
            <a:endParaRPr lang="en-US" sz="2800" dirty="0"/>
          </a:p>
        </p:txBody>
      </p:sp>
      <p:sp>
        <p:nvSpPr>
          <p:cNvPr id="4" name="Shape 2"/>
          <p:cNvSpPr/>
          <p:nvPr/>
        </p:nvSpPr>
        <p:spPr>
          <a:xfrm>
            <a:off x="502920" y="1426464"/>
            <a:ext cx="11183112" cy="694944"/>
          </a:xfrm>
          <a:prstGeom prst="roundRect">
            <a:avLst>
              <a:gd name="adj" fmla="val 5263"/>
            </a:avLst>
          </a:prstGeom>
          <a:solidFill>
            <a:srgbClr val="F3F1FC"/>
          </a:solidFill>
          <a:ln/>
        </p:spPr>
      </p:sp>
      <p:sp>
        <p:nvSpPr>
          <p:cNvPr id="5" name="Text 3"/>
          <p:cNvSpPr txBox="1"/>
          <p:nvPr/>
        </p:nvSpPr>
        <p:spPr>
          <a:xfrm>
            <a:off x="722376" y="1426464"/>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6" name="Text 4"/>
          <p:cNvSpPr txBox="1"/>
          <p:nvPr/>
        </p:nvSpPr>
        <p:spPr>
          <a:xfrm>
            <a:off x="1216152" y="1426464"/>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Name the five dependencies.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System, workload, platform, metric, summary statistic. If any is missing from the sentence stating your result, the number cannot be reproduced or contested.</a:t>
            </a:r>
            <a:endParaRPr lang="en-US" sz="1250" dirty="0"/>
          </a:p>
        </p:txBody>
      </p:sp>
      <p:sp>
        <p:nvSpPr>
          <p:cNvPr id="7" name="Shape 5"/>
          <p:cNvSpPr/>
          <p:nvPr/>
        </p:nvSpPr>
        <p:spPr>
          <a:xfrm>
            <a:off x="502920" y="2194560"/>
            <a:ext cx="11183112" cy="694944"/>
          </a:xfrm>
          <a:prstGeom prst="roundRect">
            <a:avLst>
              <a:gd name="adj" fmla="val 5263"/>
            </a:avLst>
          </a:prstGeom>
          <a:solidFill>
            <a:srgbClr val="FFFFFF"/>
          </a:solidFill>
          <a:ln/>
        </p:spPr>
      </p:sp>
      <p:sp>
        <p:nvSpPr>
          <p:cNvPr id="8" name="Text 6"/>
          <p:cNvSpPr txBox="1"/>
          <p:nvPr/>
        </p:nvSpPr>
        <p:spPr>
          <a:xfrm>
            <a:off x="722376" y="2194560"/>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1216152" y="2194560"/>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Justify your mean.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Arithmetic for times, harmonic for rates, geometric for normalised ratios, median for skewed data. Say which you used, and why that one.</a:t>
            </a:r>
            <a:endParaRPr lang="en-US" sz="1250" dirty="0"/>
          </a:p>
        </p:txBody>
      </p:sp>
      <p:sp>
        <p:nvSpPr>
          <p:cNvPr id="10" name="Shape 8"/>
          <p:cNvSpPr/>
          <p:nvPr/>
        </p:nvSpPr>
        <p:spPr>
          <a:xfrm>
            <a:off x="502920" y="2962656"/>
            <a:ext cx="11183112" cy="694944"/>
          </a:xfrm>
          <a:prstGeom prst="roundRect">
            <a:avLst>
              <a:gd name="adj" fmla="val 5263"/>
            </a:avLst>
          </a:prstGeom>
          <a:solidFill>
            <a:srgbClr val="F3F1FC"/>
          </a:solidFill>
          <a:ln/>
        </p:spPr>
      </p:sp>
      <p:sp>
        <p:nvSpPr>
          <p:cNvPr id="11" name="Text 9"/>
          <p:cNvSpPr txBox="1"/>
          <p:nvPr/>
        </p:nvSpPr>
        <p:spPr>
          <a:xfrm>
            <a:off x="722376" y="2962656"/>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1216152" y="2962656"/>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Report a distribution, not a point.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Median and spread, or percentiles with the sample count — and the offered load at which they were measured.</a:t>
            </a:r>
            <a:endParaRPr lang="en-US" sz="1250" dirty="0"/>
          </a:p>
        </p:txBody>
      </p:sp>
      <p:sp>
        <p:nvSpPr>
          <p:cNvPr id="13" name="Shape 11"/>
          <p:cNvSpPr/>
          <p:nvPr/>
        </p:nvSpPr>
        <p:spPr>
          <a:xfrm>
            <a:off x="502920" y="3730752"/>
            <a:ext cx="11183112" cy="694944"/>
          </a:xfrm>
          <a:prstGeom prst="roundRect">
            <a:avLst>
              <a:gd name="adj" fmla="val 5263"/>
            </a:avLst>
          </a:prstGeom>
          <a:solidFill>
            <a:srgbClr val="FFFFFF"/>
          </a:solidFill>
          <a:ln/>
        </p:spPr>
      </p:sp>
      <p:sp>
        <p:nvSpPr>
          <p:cNvPr id="14" name="Text 12"/>
          <p:cNvSpPr txBox="1"/>
          <p:nvPr/>
        </p:nvSpPr>
        <p:spPr>
          <a:xfrm>
            <a:off x="722376" y="3730752"/>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15" name="Text 13"/>
          <p:cNvSpPr txBox="1"/>
          <p:nvPr/>
        </p:nvSpPr>
        <p:spPr>
          <a:xfrm>
            <a:off x="1216152" y="3730752"/>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Tune the baseline as hard as your own system.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And describe what you did to it. This is the single most common reason a performance result does not survive review.</a:t>
            </a:r>
            <a:endParaRPr lang="en-US" sz="1250" dirty="0"/>
          </a:p>
        </p:txBody>
      </p:sp>
      <p:sp>
        <p:nvSpPr>
          <p:cNvPr id="16" name="Shape 14"/>
          <p:cNvSpPr/>
          <p:nvPr/>
        </p:nvSpPr>
        <p:spPr>
          <a:xfrm>
            <a:off x="502920" y="4498848"/>
            <a:ext cx="11183112" cy="694944"/>
          </a:xfrm>
          <a:prstGeom prst="roundRect">
            <a:avLst>
              <a:gd name="adj" fmla="val 5263"/>
            </a:avLst>
          </a:prstGeom>
          <a:solidFill>
            <a:srgbClr val="F3F1FC"/>
          </a:solidFill>
          <a:ln/>
        </p:spPr>
      </p:sp>
      <p:sp>
        <p:nvSpPr>
          <p:cNvPr id="17" name="Text 15"/>
          <p:cNvSpPr txBox="1"/>
          <p:nvPr/>
        </p:nvSpPr>
        <p:spPr>
          <a:xfrm>
            <a:off x="722376" y="4498848"/>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1216152" y="4498848"/>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Control what you can; report what you cannot.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Frequency scaling, memory layout, co-tenancy, NUMA placement, warm-up. Silence here reads as an uncontrolled experiment, because it is one.</a:t>
            </a:r>
            <a:endParaRPr lang="en-US" sz="1250" dirty="0"/>
          </a:p>
        </p:txBody>
      </p:sp>
      <p:sp>
        <p:nvSpPr>
          <p:cNvPr id="19" name="Shape 17"/>
          <p:cNvSpPr/>
          <p:nvPr/>
        </p:nvSpPr>
        <p:spPr>
          <a:xfrm>
            <a:off x="502920" y="5266944"/>
            <a:ext cx="11183112" cy="694944"/>
          </a:xfrm>
          <a:prstGeom prst="roundRect">
            <a:avLst>
              <a:gd name="adj" fmla="val 5263"/>
            </a:avLst>
          </a:prstGeom>
          <a:solidFill>
            <a:srgbClr val="FFFFFF"/>
          </a:solidFill>
          <a:ln/>
        </p:spPr>
      </p:sp>
      <p:sp>
        <p:nvSpPr>
          <p:cNvPr id="20" name="Text 18"/>
          <p:cNvSpPr txBox="1"/>
          <p:nvPr/>
        </p:nvSpPr>
        <p:spPr>
          <a:xfrm>
            <a:off x="722376" y="5266944"/>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21" name="Text 19"/>
          <p:cNvSpPr txBox="1"/>
          <p:nvPr/>
        </p:nvSpPr>
        <p:spPr>
          <a:xfrm>
            <a:off x="1216152" y="5266944"/>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Predict before you measure.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Compute a bound or a model prediction first, then measure, then explain the gap. That gap is usually the most interesting result you have.</a:t>
            </a:r>
            <a:endParaRPr lang="en-US" sz="1250" dirty="0"/>
          </a:p>
        </p:txBody>
      </p:sp>
      <p:sp>
        <p:nvSpPr>
          <p:cNvPr id="22" name="Text 2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23" name="Text 2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23 / 26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Discussion</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In pairs, ten minutes. Bring one answer back for class critique.</a:t>
            </a:r>
            <a:endParaRPr lang="en-US" sz="1250" dirty="0"/>
          </a:p>
        </p:txBody>
      </p:sp>
      <p:sp>
        <p:nvSpPr>
          <p:cNvPr id="5" name="Shape 3"/>
          <p:cNvSpPr/>
          <p:nvPr/>
        </p:nvSpPr>
        <p:spPr>
          <a:xfrm>
            <a:off x="594360" y="2029968"/>
            <a:ext cx="384048" cy="384048"/>
          </a:xfrm>
          <a:prstGeom prst="ellipse">
            <a:avLst/>
          </a:prstGeom>
          <a:solidFill>
            <a:srgbClr val="241A4C"/>
          </a:solidFill>
          <a:ln/>
        </p:spPr>
      </p:sp>
      <p:sp>
        <p:nvSpPr>
          <p:cNvPr id="6" name="Text 4"/>
          <p:cNvSpPr txBox="1"/>
          <p:nvPr/>
        </p:nvSpPr>
        <p:spPr>
          <a:xfrm>
            <a:off x="594360" y="2029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1252728" y="1975104"/>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Find a performance claim in a recent paper from your area. Which of the five dependencies does it actually state, and which must you guess in order to interpret the number?</a:t>
            </a:r>
            <a:endParaRPr lang="en-US" sz="1300" dirty="0"/>
          </a:p>
        </p:txBody>
      </p:sp>
      <p:sp>
        <p:nvSpPr>
          <p:cNvPr id="8" name="Shape 6"/>
          <p:cNvSpPr/>
          <p:nvPr/>
        </p:nvSpPr>
        <p:spPr>
          <a:xfrm>
            <a:off x="594360" y="3072384"/>
            <a:ext cx="384048" cy="384048"/>
          </a:xfrm>
          <a:prstGeom prst="ellipse">
            <a:avLst/>
          </a:prstGeom>
          <a:solidFill>
            <a:srgbClr val="B08C3A"/>
          </a:solidFill>
          <a:ln/>
        </p:spPr>
      </p:sp>
      <p:sp>
        <p:nvSpPr>
          <p:cNvPr id="9" name="Text 7"/>
          <p:cNvSpPr txBox="1"/>
          <p:nvPr/>
        </p:nvSpPr>
        <p:spPr>
          <a:xfrm>
            <a:off x="594360" y="3072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1252728" y="3017520"/>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Take a speedup graph you have seen. What is T(1) in it — and would using the best known sequential algorithm as the baseline change the shape of the curve, or only its height?</a:t>
            </a:r>
            <a:endParaRPr lang="en-US" sz="1300" dirty="0"/>
          </a:p>
        </p:txBody>
      </p:sp>
      <p:sp>
        <p:nvSpPr>
          <p:cNvPr id="11" name="Shape 9"/>
          <p:cNvSpPr/>
          <p:nvPr/>
        </p:nvSpPr>
        <p:spPr>
          <a:xfrm>
            <a:off x="594360" y="4114800"/>
            <a:ext cx="384048" cy="384048"/>
          </a:xfrm>
          <a:prstGeom prst="ellipse">
            <a:avLst/>
          </a:prstGeom>
          <a:solidFill>
            <a:srgbClr val="241A4C"/>
          </a:solidFill>
          <a:ln/>
        </p:spPr>
      </p:sp>
      <p:sp>
        <p:nvSpPr>
          <p:cNvPr id="12" name="Text 10"/>
          <p:cNvSpPr txBox="1"/>
          <p:nvPr/>
        </p:nvSpPr>
        <p:spPr>
          <a:xfrm>
            <a:off x="594360" y="4114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3" name="Text 11"/>
          <p:cNvSpPr txBox="1"/>
          <p:nvPr/>
        </p:nvSpPr>
        <p:spPr>
          <a:xfrm>
            <a:off x="1252728" y="4059936"/>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A service reports a p99 latency of 40 ms, and a user request fans out to fifty such services. What is the user likely to experience, and why is the answer not 40 ms?</a:t>
            </a:r>
            <a:endParaRPr lang="en-US" sz="1300" dirty="0"/>
          </a:p>
        </p:txBody>
      </p:sp>
      <p:sp>
        <p:nvSpPr>
          <p:cNvPr id="14" name="Shape 12"/>
          <p:cNvSpPr/>
          <p:nvPr/>
        </p:nvSpPr>
        <p:spPr>
          <a:xfrm>
            <a:off x="594360" y="5157216"/>
            <a:ext cx="384048" cy="384048"/>
          </a:xfrm>
          <a:prstGeom prst="ellipse">
            <a:avLst/>
          </a:prstGeom>
          <a:solidFill>
            <a:srgbClr val="B08C3A"/>
          </a:solidFill>
          <a:ln/>
        </p:spPr>
      </p:sp>
      <p:sp>
        <p:nvSpPr>
          <p:cNvPr id="15" name="Text 13"/>
          <p:cNvSpPr txBox="1"/>
          <p:nvPr/>
        </p:nvSpPr>
        <p:spPr>
          <a:xfrm>
            <a:off x="594360" y="5157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4"/>
          <p:cNvSpPr txBox="1"/>
          <p:nvPr/>
        </p:nvSpPr>
        <p:spPr>
          <a:xfrm>
            <a:off x="1252728" y="5102352"/>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Pick a system you can actually run. Estimate its service demands, compute the asymptotic throughput bound, then measure. Where does the measurement fall short of the bound, and what does that gap tell you?</a:t>
            </a:r>
            <a:endParaRPr lang="en-US" sz="1300" dirty="0"/>
          </a:p>
        </p:txBody>
      </p:sp>
      <p:sp>
        <p:nvSpPr>
          <p:cNvPr id="17" name="Text 1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18" name="Text 1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24 / 26</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RECAP · UNIT II</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Key Takeaways</a:t>
            </a:r>
            <a:endParaRPr lang="en-US" sz="2800" dirty="0"/>
          </a:p>
        </p:txBody>
      </p:sp>
      <p:sp>
        <p:nvSpPr>
          <p:cNvPr id="4" name="Shape 2"/>
          <p:cNvSpPr/>
          <p:nvPr/>
        </p:nvSpPr>
        <p:spPr>
          <a:xfrm>
            <a:off x="594360" y="1517904"/>
            <a:ext cx="384048" cy="384048"/>
          </a:xfrm>
          <a:prstGeom prst="ellipse">
            <a:avLst/>
          </a:prstGeom>
          <a:solidFill>
            <a:srgbClr val="B08C3A"/>
          </a:solidFill>
          <a:ln/>
        </p:spPr>
      </p:sp>
      <p:sp>
        <p:nvSpPr>
          <p:cNvPr id="5" name="Text 3"/>
          <p:cNvSpPr txBox="1"/>
          <p:nvPr/>
        </p:nvSpPr>
        <p:spPr>
          <a:xfrm>
            <a:off x="594360" y="1517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252728" y="1463040"/>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Performance is not a property of a system. It is a property of a system, on a workload, on a platform, under a metric, summarised by a statistic — and a claim naming fewer than five of those is under-specified.</a:t>
            </a:r>
            <a:endParaRPr lang="en-US" sz="1250" dirty="0"/>
          </a:p>
        </p:txBody>
      </p:sp>
      <p:sp>
        <p:nvSpPr>
          <p:cNvPr id="7" name="Shape 5"/>
          <p:cNvSpPr/>
          <p:nvPr/>
        </p:nvSpPr>
        <p:spPr>
          <a:xfrm>
            <a:off x="594360" y="2487168"/>
            <a:ext cx="384048" cy="384048"/>
          </a:xfrm>
          <a:prstGeom prst="ellipse">
            <a:avLst/>
          </a:prstGeom>
          <a:solidFill>
            <a:srgbClr val="241A4C"/>
          </a:solidFill>
          <a:ln/>
        </p:spPr>
      </p:sp>
      <p:sp>
        <p:nvSpPr>
          <p:cNvPr id="8" name="Text 6"/>
          <p:cNvSpPr txBox="1"/>
          <p:nvPr/>
        </p:nvSpPr>
        <p:spPr>
          <a:xfrm>
            <a:off x="594360" y="2487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9" name="Text 7"/>
          <p:cNvSpPr txBox="1"/>
          <p:nvPr/>
        </p:nvSpPr>
        <p:spPr>
          <a:xfrm>
            <a:off x="1252728" y="2432304"/>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The summary statistic is a methodological choice with consequences: the arithmetic mean of rates can name the losing system as the winner, and a bare mean conceals the tail that users actually experience.</a:t>
            </a:r>
            <a:endParaRPr lang="en-US" sz="1250" dirty="0"/>
          </a:p>
        </p:txBody>
      </p:sp>
      <p:sp>
        <p:nvSpPr>
          <p:cNvPr id="10" name="Shape 8"/>
          <p:cNvSpPr/>
          <p:nvPr/>
        </p:nvSpPr>
        <p:spPr>
          <a:xfrm>
            <a:off x="594360" y="3456432"/>
            <a:ext cx="384048" cy="384048"/>
          </a:xfrm>
          <a:prstGeom prst="ellipse">
            <a:avLst/>
          </a:prstGeom>
          <a:solidFill>
            <a:srgbClr val="B08C3A"/>
          </a:solidFill>
          <a:ln/>
        </p:spPr>
      </p:sp>
      <p:sp>
        <p:nvSpPr>
          <p:cNvPr id="11" name="Text 9"/>
          <p:cNvSpPr txBox="1"/>
          <p:nvPr/>
        </p:nvSpPr>
        <p:spPr>
          <a:xfrm>
            <a:off x="594360" y="3456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2" name="Text 10"/>
          <p:cNvSpPr txBox="1"/>
          <p:nvPr/>
        </p:nvSpPr>
        <p:spPr>
          <a:xfrm>
            <a:off x="1252728" y="3401568"/>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Measurement is the most persuasive technique and the easiest to get wrong. Warm-up, frequency scaling, memory layout and co-tenancy routinely produce swings larger than the speed-ups being reported.</a:t>
            </a:r>
            <a:endParaRPr lang="en-US" sz="1250" dirty="0"/>
          </a:p>
        </p:txBody>
      </p:sp>
      <p:sp>
        <p:nvSpPr>
          <p:cNvPr id="13" name="Shape 11"/>
          <p:cNvSpPr/>
          <p:nvPr/>
        </p:nvSpPr>
        <p:spPr>
          <a:xfrm>
            <a:off x="594360" y="4425696"/>
            <a:ext cx="384048" cy="384048"/>
          </a:xfrm>
          <a:prstGeom prst="ellipse">
            <a:avLst/>
          </a:prstGeom>
          <a:solidFill>
            <a:srgbClr val="241A4C"/>
          </a:solidFill>
          <a:ln/>
        </p:spPr>
      </p:sp>
      <p:sp>
        <p:nvSpPr>
          <p:cNvPr id="14" name="Text 12"/>
          <p:cNvSpPr txBox="1"/>
          <p:nvPr/>
        </p:nvSpPr>
        <p:spPr>
          <a:xfrm>
            <a:off x="594360" y="4425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5" name="Text 13"/>
          <p:cNvSpPr txBox="1"/>
          <p:nvPr/>
        </p:nvSpPr>
        <p:spPr>
          <a:xfrm>
            <a:off x="1252728" y="4370832"/>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Scaling laws are deductions inside models. Amdahl fixes the problem, Gustafson fixes the time, and the Universal Scalability Law adds contention and coherency so that throughput can peak and then fall. Each conclusion follows from its premise.</a:t>
            </a:r>
            <a:endParaRPr lang="en-US" sz="1250" dirty="0"/>
          </a:p>
        </p:txBody>
      </p:sp>
      <p:sp>
        <p:nvSpPr>
          <p:cNvPr id="16" name="Shape 14"/>
          <p:cNvSpPr/>
          <p:nvPr/>
        </p:nvSpPr>
        <p:spPr>
          <a:xfrm>
            <a:off x="594360" y="5394960"/>
            <a:ext cx="384048" cy="384048"/>
          </a:xfrm>
          <a:prstGeom prst="ellipse">
            <a:avLst/>
          </a:prstGeom>
          <a:solidFill>
            <a:srgbClr val="B08C3A"/>
          </a:solidFill>
          <a:ln/>
        </p:spPr>
      </p:sp>
      <p:sp>
        <p:nvSpPr>
          <p:cNvPr id="17" name="Text 15"/>
          <p:cNvSpPr txBox="1"/>
          <p:nvPr/>
        </p:nvSpPr>
        <p:spPr>
          <a:xfrm>
            <a:off x="594360" y="5394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6"/>
          <p:cNvSpPr txBox="1"/>
          <p:nvPr/>
        </p:nvSpPr>
        <p:spPr>
          <a:xfrm>
            <a:off x="1252728" y="5340096"/>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The strongest evaluations predict first and measure second, then explain the gap — which is where this unit's six sessions converge: an argument (L1), proved in a mode (L2), by an inference (L3), within a tradition (L4), through a model (L5), against a number (L6).</a:t>
            </a:r>
            <a:endParaRPr lang="en-US" sz="1250" dirty="0"/>
          </a:p>
        </p:txBody>
      </p:sp>
      <p:sp>
        <p:nvSpPr>
          <p:cNvPr id="19" name="Text 17"/>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20" name="Text 18"/>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25 / 26</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Further Reading</a:t>
            </a:r>
            <a:endParaRPr lang="en-US" sz="2800" dirty="0"/>
          </a:p>
        </p:txBody>
      </p:sp>
      <p:sp>
        <p:nvSpPr>
          <p:cNvPr id="3" name="Shape 1"/>
          <p:cNvSpPr/>
          <p:nvPr/>
        </p:nvSpPr>
        <p:spPr>
          <a:xfrm>
            <a:off x="502920" y="1426464"/>
            <a:ext cx="11183112" cy="502920"/>
          </a:xfrm>
          <a:prstGeom prst="rect">
            <a:avLst/>
          </a:prstGeom>
          <a:solidFill>
            <a:srgbClr val="F3F1FC"/>
          </a:solidFill>
          <a:ln/>
        </p:spPr>
      </p:sp>
      <p:sp>
        <p:nvSpPr>
          <p:cNvPr id="4" name="Text 2"/>
          <p:cNvSpPr txBox="1"/>
          <p:nvPr/>
        </p:nvSpPr>
        <p:spPr>
          <a:xfrm>
            <a:off x="758952" y="1426464"/>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Jain, R.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The Art of Computer Systems Performance Analysis. Wiley, 1991. — the standard text, carried through Lectures 2, 5 and 6.</a:t>
            </a:r>
            <a:endParaRPr lang="en-US" sz="1150" dirty="0"/>
          </a:p>
        </p:txBody>
      </p:sp>
      <p:sp>
        <p:nvSpPr>
          <p:cNvPr id="5" name="Text 3"/>
          <p:cNvSpPr txBox="1"/>
          <p:nvPr/>
        </p:nvSpPr>
        <p:spPr>
          <a:xfrm>
            <a:off x="758952" y="1947672"/>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Lilja, D. J.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Measuring Computer Performance: A Practitioner's Guide. Cambridge University Press, 2000.</a:t>
            </a:r>
            <a:endParaRPr lang="en-US" sz="1150" dirty="0"/>
          </a:p>
        </p:txBody>
      </p:sp>
      <p:sp>
        <p:nvSpPr>
          <p:cNvPr id="6" name="Shape 4"/>
          <p:cNvSpPr/>
          <p:nvPr/>
        </p:nvSpPr>
        <p:spPr>
          <a:xfrm>
            <a:off x="502920" y="2468880"/>
            <a:ext cx="11183112" cy="502920"/>
          </a:xfrm>
          <a:prstGeom prst="rect">
            <a:avLst/>
          </a:prstGeom>
          <a:solidFill>
            <a:srgbClr val="F3F1FC"/>
          </a:solidFill>
          <a:ln/>
        </p:spPr>
      </p:sp>
      <p:sp>
        <p:nvSpPr>
          <p:cNvPr id="7" name="Text 5"/>
          <p:cNvSpPr txBox="1"/>
          <p:nvPr/>
        </p:nvSpPr>
        <p:spPr>
          <a:xfrm>
            <a:off x="758952" y="2468880"/>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Lazowska, E. D. et al.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Quantitative System Performance. Prentice-Hall, 1984. — operational bounds and bottleneck analysis.</a:t>
            </a:r>
            <a:endParaRPr lang="en-US" sz="1150" dirty="0"/>
          </a:p>
        </p:txBody>
      </p:sp>
      <p:sp>
        <p:nvSpPr>
          <p:cNvPr id="8" name="Text 6"/>
          <p:cNvSpPr txBox="1"/>
          <p:nvPr/>
        </p:nvSpPr>
        <p:spPr>
          <a:xfrm>
            <a:off x="758952" y="2990088"/>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Amdahl, G. M.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“Validity of the Single Processor Approach to Achieving Large Scale Computing Capabilities.” AFIPS, 1967.</a:t>
            </a:r>
            <a:endParaRPr lang="en-US" sz="1150" dirty="0"/>
          </a:p>
        </p:txBody>
      </p:sp>
      <p:sp>
        <p:nvSpPr>
          <p:cNvPr id="9" name="Shape 7"/>
          <p:cNvSpPr/>
          <p:nvPr/>
        </p:nvSpPr>
        <p:spPr>
          <a:xfrm>
            <a:off x="502920" y="3511296"/>
            <a:ext cx="11183112" cy="502920"/>
          </a:xfrm>
          <a:prstGeom prst="rect">
            <a:avLst/>
          </a:prstGeom>
          <a:solidFill>
            <a:srgbClr val="F3F1FC"/>
          </a:solidFill>
          <a:ln/>
        </p:spPr>
      </p:sp>
      <p:sp>
        <p:nvSpPr>
          <p:cNvPr id="10" name="Text 8"/>
          <p:cNvSpPr txBox="1"/>
          <p:nvPr/>
        </p:nvSpPr>
        <p:spPr>
          <a:xfrm>
            <a:off x="758952" y="3511296"/>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Gustafson, J. L.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“Reevaluating Amdahl's Law.” Communications of the ACM, 1988.</a:t>
            </a:r>
            <a:endParaRPr lang="en-US" sz="1150" dirty="0"/>
          </a:p>
        </p:txBody>
      </p:sp>
      <p:sp>
        <p:nvSpPr>
          <p:cNvPr id="11" name="Text 9"/>
          <p:cNvSpPr txBox="1"/>
          <p:nvPr/>
        </p:nvSpPr>
        <p:spPr>
          <a:xfrm>
            <a:off x="758952" y="4032504"/>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Gunther, N. J.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Guerrilla Capacity Planning. Springer, 2007. — the Universal Scalability Law.</a:t>
            </a:r>
            <a:endParaRPr lang="en-US" sz="1150" dirty="0"/>
          </a:p>
        </p:txBody>
      </p:sp>
      <p:sp>
        <p:nvSpPr>
          <p:cNvPr id="12" name="Shape 10"/>
          <p:cNvSpPr/>
          <p:nvPr/>
        </p:nvSpPr>
        <p:spPr>
          <a:xfrm>
            <a:off x="502920" y="4553712"/>
            <a:ext cx="11183112" cy="502920"/>
          </a:xfrm>
          <a:prstGeom prst="rect">
            <a:avLst/>
          </a:prstGeom>
          <a:solidFill>
            <a:srgbClr val="F3F1FC"/>
          </a:solidFill>
          <a:ln/>
        </p:spPr>
      </p:sp>
      <p:sp>
        <p:nvSpPr>
          <p:cNvPr id="13" name="Text 11"/>
          <p:cNvSpPr txBox="1"/>
          <p:nvPr/>
        </p:nvSpPr>
        <p:spPr>
          <a:xfrm>
            <a:off x="758952" y="4553712"/>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Mytkowicz, T., Diwan, A., Hauswirth, M. &amp; Sweeney, P. F.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“Producing Wrong Data Without Doing Anything Obviously Wrong!” ASPLOS, 2009.</a:t>
            </a:r>
            <a:endParaRPr lang="en-US" sz="1150" dirty="0"/>
          </a:p>
        </p:txBody>
      </p:sp>
      <p:sp>
        <p:nvSpPr>
          <p:cNvPr id="14" name="Text 12"/>
          <p:cNvSpPr txBox="1"/>
          <p:nvPr/>
        </p:nvSpPr>
        <p:spPr>
          <a:xfrm>
            <a:off x="758952" y="5074920"/>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Georges, A., Buytaert, D. &amp; Eeckhout, L.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“Statistically Rigorous Java Performance Evaluation.” OOPSLA, 2007.</a:t>
            </a:r>
            <a:endParaRPr lang="en-US" sz="1150" dirty="0"/>
          </a:p>
        </p:txBody>
      </p:sp>
      <p:sp>
        <p:nvSpPr>
          <p:cNvPr id="15" name="Shape 13"/>
          <p:cNvSpPr/>
          <p:nvPr/>
        </p:nvSpPr>
        <p:spPr>
          <a:xfrm>
            <a:off x="502920" y="5596128"/>
            <a:ext cx="11183112" cy="502920"/>
          </a:xfrm>
          <a:prstGeom prst="rect">
            <a:avLst/>
          </a:prstGeom>
          <a:solidFill>
            <a:srgbClr val="F3F1FC"/>
          </a:solidFill>
          <a:ln/>
        </p:spPr>
      </p:sp>
      <p:sp>
        <p:nvSpPr>
          <p:cNvPr id="16" name="Text 14"/>
          <p:cNvSpPr txBox="1"/>
          <p:nvPr/>
        </p:nvSpPr>
        <p:spPr>
          <a:xfrm>
            <a:off x="758952" y="5596128"/>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Dean, J. &amp; Barroso, L. A.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“The Tail at Scale.” Communications of the ACM, 2013.</a:t>
            </a:r>
            <a:endParaRPr lang="en-US" sz="1150" dirty="0"/>
          </a:p>
        </p:txBody>
      </p:sp>
      <p:sp>
        <p:nvSpPr>
          <p:cNvPr id="17" name="Text 1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PERFORMANCE ESTIMATION &amp; EVALUATION</a:t>
            </a:r>
            <a:endParaRPr lang="en-US" sz="800" dirty="0"/>
          </a:p>
        </p:txBody>
      </p:sp>
      <p:sp>
        <p:nvSpPr>
          <p:cNvPr id="18" name="Text 1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26 / 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Estimation and Evaluation</dc:title>
  <dc:subject>Unit II, Lecture 6 - Performance Estimation and Evaluation</dc:subject>
  <dc:creator>Research Methodology in CS</dc:creator>
  <cp:lastModifiedBy>Research Methodology in CS</cp:lastModifiedBy>
  <cp:revision>1</cp:revision>
  <dcterms:created xsi:type="dcterms:W3CDTF">2026-09-06T12:21:39Z</dcterms:created>
  <dcterms:modified xsi:type="dcterms:W3CDTF">2026-09-06T12:21:39Z</dcterms:modified>
</cp:coreProperties>
</file>