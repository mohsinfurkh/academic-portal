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3" name="Shape 1"/>
          <p:cNvSpPr/>
          <p:nvPr/>
        </p:nvSpPr>
        <p:spPr>
          <a:xfrm>
            <a:off x="8522208" y="4041648"/>
            <a:ext cx="2121408" cy="2121408"/>
          </a:xfrm>
          <a:prstGeom prst="ellipse">
            <a:avLst/>
          </a:prstGeom>
          <a:solidFill>
            <a:srgbClr val="3D6EA6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98864" y="3310128"/>
            <a:ext cx="2121408" cy="2121408"/>
          </a:xfrm>
          <a:prstGeom prst="ellipse">
            <a:avLst/>
          </a:prstGeom>
          <a:solidFill>
            <a:srgbClr val="D8A73E">
              <a:alpha val="55000"/>
            </a:srgbClr>
          </a:solidFill>
          <a:ln w="9525">
            <a:solidFill>
              <a:srgbClr val="D8A73E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02368" y="4169664"/>
            <a:ext cx="2121408" cy="2121408"/>
          </a:xfrm>
          <a:prstGeom prst="ellipse">
            <a:avLst/>
          </a:prstGeom>
          <a:solidFill>
            <a:srgbClr val="B4522B">
              <a:alpha val="55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3898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D8A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LESSON IN RESEARCH METHODOLOGY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1847088"/>
            <a:ext cx="85953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Deduction and Induction</a:t>
            </a:r>
            <a:endParaRPr lang="en-US" sz="4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Computer Science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76732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4D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Theoretical Models and Approaches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672" y="4315968"/>
            <a:ext cx="2377440" cy="0"/>
          </a:xfrm>
          <a:prstGeom prst="line">
            <a:avLst/>
          </a:prstGeom>
          <a:noFill/>
          <a:ln w="12700">
            <a:solidFill>
              <a:srgbClr val="6E68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457200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directions of inference a researcher can travel — deduction, induction, and abduction —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theoretical models that make each of them possible in computing science.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579729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 in CS   ·   Unit II · Lecture 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TWO DIRECTIONS OF INFERENCE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Research Move Is an Inference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4358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asked how a claim is proved. This session asks the question underneath it: in which direction is the reasoning travelling, and what is that direction allowed to conclude?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56816"/>
            <a:ext cx="310896" cy="310896"/>
          </a:xfrm>
          <a:prstGeom prst="ellipse">
            <a:avLst/>
          </a:prstGeom>
          <a:solidFill>
            <a:srgbClr val="241A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911096"/>
            <a:ext cx="6172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only three directions available. Deduction moves from a general rule to a particular consequence. Induction moves from particulars to a general rule. Abduction moves from an observation to the hypothesis that would explain it.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3099816"/>
            <a:ext cx="310896" cy="310896"/>
          </a:xfrm>
          <a:prstGeom prst="ellipse">
            <a:avLst/>
          </a:prstGeom>
          <a:solidFill>
            <a:srgbClr val="3D6EA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3099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054096"/>
            <a:ext cx="6172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direction has a fixed price. Deduction preserves truth but adds nothing new; induction adds new content but cannot preserve truth; abduction generates the hypotheses on which the other two go to work.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4242816"/>
            <a:ext cx="310896" cy="310896"/>
          </a:xfrm>
          <a:prstGeom prst="ellipse">
            <a:avLst/>
          </a:prstGeom>
          <a:solidFill>
            <a:srgbClr val="241A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" y="4242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197096"/>
            <a:ext cx="6172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CS paper normally uses all three, in sequence — and gets into trouble when it reports a conclusion drawn in one direction as though it had been reached in another.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5385816"/>
            <a:ext cx="310896" cy="310896"/>
          </a:xfrm>
          <a:prstGeom prst="ellipse">
            <a:avLst/>
          </a:prstGeom>
          <a:solidFill>
            <a:srgbClr val="3D6EA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2920" y="5385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5340096"/>
            <a:ext cx="6172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also the machinery behind Unit I: a “research problem” is an abduction, and the “investigative approach” you choose determines which of the other two directions carries the argument.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571232" y="1883664"/>
            <a:ext cx="4114800" cy="4169664"/>
          </a:xfrm>
          <a:prstGeom prst="roundRect">
            <a:avLst>
              <a:gd name="adj" fmla="val 1111"/>
            </a:avLst>
          </a:prstGeom>
          <a:solidFill>
            <a:srgbClr val="F3F1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45552" y="213969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OF EACH DIRECTION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7845552" y="2505456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form of inference gives you both certainty and new information. You choose which one to give up.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7845552" y="3639312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theorem is certain and tells you nothing you had not assumed. A benchmark result is informative and could be overturned tomorrow. Both are legitimate; conflating them is not.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845552" y="5047488"/>
            <a:ext cx="1371600" cy="0"/>
          </a:xfrm>
          <a:prstGeom prst="line">
            <a:avLst/>
          </a:prstGeom>
          <a:noFill/>
          <a:ln w="15875">
            <a:solidFill>
              <a:srgbClr val="D8A73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45552" y="5212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direction before you defend the claim.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36422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&amp; INDUCTION IN CS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9402775" y="63642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TWO DIRECTIONS OF INFERENCE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Deduction, Induction, Abduction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4358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 Sanders Peirce's three-way division, in the form CS actually uses it. Read the “form” row as the shape of the argument, stripped of content.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38528"/>
            <a:ext cx="3502152" cy="3913632"/>
          </a:xfrm>
          <a:prstGeom prst="roundRect">
            <a:avLst>
              <a:gd name="adj" fmla="val 1305"/>
            </a:avLst>
          </a:prstGeom>
          <a:solidFill>
            <a:srgbClr val="FAF9FE"/>
          </a:solidFill>
          <a:ln w="12700">
            <a:solidFill>
              <a:srgbClr val="E6E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2157984"/>
            <a:ext cx="2990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1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2395728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Deduction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281635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8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+ case  ⇒  result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3163824"/>
            <a:ext cx="2990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FROM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333756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rule to a particular consequence.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58952" y="3803904"/>
            <a:ext cx="2990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758952" y="3977640"/>
            <a:ext cx="29900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arrays are searchable in O(log n). A is sorted. So A is searchable in O(log n).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58952" y="4498848"/>
            <a:ext cx="2990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758952" y="4672584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Truth-preserving. If the premises hold, the conclusion cannot fail.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58952" y="5138928"/>
            <a:ext cx="2990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CS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758952" y="5312664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soundness, Hoare logic, complexity bounds, model checking.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43400" y="1938528"/>
            <a:ext cx="3502152" cy="3913632"/>
          </a:xfrm>
          <a:prstGeom prst="roundRect">
            <a:avLst>
              <a:gd name="adj" fmla="val 1305"/>
            </a:avLst>
          </a:prstGeom>
          <a:solidFill>
            <a:srgbClr val="F3F1FC"/>
          </a:solidFill>
          <a:ln w="12700">
            <a:solidFill>
              <a:srgbClr val="E6E2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99432" y="2157984"/>
            <a:ext cx="2990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3D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2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4599432" y="2395728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Induction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4599432" y="281635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6E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+ result  ⇒  rule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99432" y="3163824"/>
            <a:ext cx="2990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FROM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4599432" y="333756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instances to a rule covering unobserved ones.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99432" y="3803904"/>
            <a:ext cx="2990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4599432" y="3977640"/>
            <a:ext cx="29900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40 traces showed a 12% gain. So the method gains ~12% on such traces.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99432" y="4498848"/>
            <a:ext cx="2990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4599432" y="4672584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None. Ampliative — it says more than the premises.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599432" y="5138928"/>
            <a:ext cx="2990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CS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4599432" y="5312664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learning, benchmarking, empirical SE, performance models.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83880" y="1938528"/>
            <a:ext cx="3502152" cy="3913632"/>
          </a:xfrm>
          <a:prstGeom prst="roundRect">
            <a:avLst>
              <a:gd name="adj" fmla="val 1305"/>
            </a:avLst>
          </a:prstGeom>
          <a:solidFill>
            <a:srgbClr val="FAF9FE"/>
          </a:solidFill>
          <a:ln w="12700">
            <a:solidFill>
              <a:srgbClr val="E6E2F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439912" y="2157984"/>
            <a:ext cx="2990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B45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3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8439912" y="2395728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Abduction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439912" y="281635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5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+ result  ⇒  case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439912" y="3163824"/>
            <a:ext cx="2990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FROM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8439912" y="333756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surprising observation to a hypothesis explaining it.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439912" y="3803904"/>
            <a:ext cx="2990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8439912" y="3977640"/>
            <a:ext cx="29900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spikes hourly. An hourly cache flush would cause that. So suspect the flush.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439912" y="4498848"/>
            <a:ext cx="2990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8439912" y="4672584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None, and only as good as the rivals you considered.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8439912" y="5138928"/>
            <a:ext cx="2990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CS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8439912" y="5312664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Debugging, fault localisation, root-cause analysis, problem framing.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502920" y="5870448"/>
            <a:ext cx="11183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Peirce's point was that the three are not competing accounts of reasoning — they are three distinct operations, and a working science needs all of them in rotation.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502920" y="636422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&amp; INDUCTION IN CS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9402775" y="63642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TWO DIRECTIONS OF INFERENCE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Preserves, What Each Risks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4358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three directions, read as a reviewer reads them: what does this step buy, and where can it break?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38528"/>
            <a:ext cx="1783080" cy="384048"/>
          </a:xfrm>
          <a:prstGeom prst="rect">
            <a:avLst/>
          </a:prstGeom>
          <a:solidFill>
            <a:srgbClr val="241A4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9224" y="1938528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286000" y="1938528"/>
            <a:ext cx="1783080" cy="384048"/>
          </a:xfrm>
          <a:prstGeom prst="rect">
            <a:avLst/>
          </a:prstGeom>
          <a:solidFill>
            <a:srgbClr val="241A4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32304" y="1938528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NEW CONTENT?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069080" y="1938528"/>
            <a:ext cx="1691640" cy="384048"/>
          </a:xfrm>
          <a:prstGeom prst="rect">
            <a:avLst/>
          </a:prstGeom>
          <a:solidFill>
            <a:srgbClr val="241A4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15384" y="1938528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TRUTH?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760720" y="1938528"/>
            <a:ext cx="2962656" cy="384048"/>
          </a:xfrm>
          <a:prstGeom prst="rect">
            <a:avLst/>
          </a:prstGeom>
          <a:solidFill>
            <a:srgbClr val="241A4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07024" y="1938528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WHEN…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723376" y="1938528"/>
            <a:ext cx="2962656" cy="384048"/>
          </a:xfrm>
          <a:prstGeom prst="rect">
            <a:avLst/>
          </a:prstGeom>
          <a:solidFill>
            <a:srgbClr val="241A4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69680" y="1938528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DEFENDED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2377440"/>
            <a:ext cx="11183112" cy="1078992"/>
          </a:xfrm>
          <a:prstGeom prst="rect">
            <a:avLst/>
          </a:prstGeom>
          <a:solidFill>
            <a:srgbClr val="F3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2377440"/>
            <a:ext cx="50292" cy="1078992"/>
          </a:xfrm>
          <a:prstGeom prst="rect">
            <a:avLst/>
          </a:prstGeom>
          <a:solidFill>
            <a:srgbClr val="D8A7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2376" y="2377440"/>
            <a:ext cx="13990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Deduction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450592" y="2377440"/>
            <a:ext cx="14538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it unpacks what the premises already entail.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233672" y="2377440"/>
            <a:ext cx="13624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absolutely, given the premises.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925312" y="2377440"/>
            <a:ext cx="26334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premise is false, or the model it describes is not the system you deployed.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887968" y="2377440"/>
            <a:ext cx="26334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the axioms. Show the inference steps. Argue the model applies.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3511296"/>
            <a:ext cx="11183112" cy="10789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3511296"/>
            <a:ext cx="50292" cy="1078992"/>
          </a:xfrm>
          <a:prstGeom prst="rect">
            <a:avLst/>
          </a:prstGeom>
          <a:solidFill>
            <a:srgbClr val="3D6EA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22376" y="3511296"/>
            <a:ext cx="13990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Induction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450592" y="3511296"/>
            <a:ext cx="14538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the conclusion ranges beyond the sample.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233672" y="3511296"/>
            <a:ext cx="13624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The next observation may overturn it.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925312" y="3511296"/>
            <a:ext cx="26334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sample is unrepresentative, or the distribution shifts after training.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887968" y="3511296"/>
            <a:ext cx="26334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design, controls, held-out data, effect size, a stated bias.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4645152"/>
            <a:ext cx="11183112" cy="1078992"/>
          </a:xfrm>
          <a:prstGeom prst="rect">
            <a:avLst/>
          </a:prstGeom>
          <a:solidFill>
            <a:srgbClr val="F3F1FC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" y="4645152"/>
            <a:ext cx="50292" cy="1078992"/>
          </a:xfrm>
          <a:prstGeom prst="rect">
            <a:avLst/>
          </a:prstGeom>
          <a:solidFill>
            <a:srgbClr val="B4522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22376" y="4645152"/>
            <a:ext cx="13990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Abduction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450592" y="4645152"/>
            <a:ext cx="14538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it proposes an entirely new hypothesis.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233672" y="4645152"/>
            <a:ext cx="13624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Several hypotheses can explain one fact.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925312" y="4645152"/>
            <a:ext cx="26334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 explanations were never enumerated, so “best” means “only one considered”.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887968" y="4645152"/>
            <a:ext cx="26334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rivals. Derive a prediction that separates them. Then test it.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5870448"/>
            <a:ext cx="11183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pattern: the only direction that guarantees its conclusion is the one that tells you nothing you had not already assumed.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502920" y="636422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&amp; INDUCTION IN CS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9402775" y="63642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TWO DIRECTIONS OF INFERENCE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“Mathematical Induction” Is Not Induction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4358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 collision that causes real confusion in CS writing — and the single most useful distinction in this session.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38528"/>
            <a:ext cx="5477256" cy="2688336"/>
          </a:xfrm>
          <a:prstGeom prst="roundRect">
            <a:avLst>
              <a:gd name="adj" fmla="val 1701"/>
            </a:avLst>
          </a:prstGeom>
          <a:solidFill>
            <a:srgbClr val="F6EFE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95528" y="215798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INDUCTION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2505456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P(0). Prove P(n) ⇒ P(n+1).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Conclude ∀n ∈ ℕ, P(n).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32918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conclusion is already contained in the two premises together with the induction axiom. Nothing is added; nothing observed. It is a deductive rule that happens to be named after its inductive cousin.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4151376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Belongs to Lecture 2's mathematical mode. Only an error in the proof can defeat it.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08776" y="1938528"/>
            <a:ext cx="5477256" cy="2688336"/>
          </a:xfrm>
          <a:prstGeom prst="roundRect">
            <a:avLst>
              <a:gd name="adj" fmla="val 1701"/>
            </a:avLst>
          </a:prstGeom>
          <a:solidFill>
            <a:srgbClr val="EEF3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01384" y="215798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3D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INDUCTION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501384" y="2505456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 P(x₁) … P(xₘ) on a sample.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Conclude P holds generally.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501384" y="32918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conclusion says strictly more than the premises. It is supported, never entailed, and the next observation can overturn it however careful the sampling was.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501384" y="4151376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3D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Belongs to Lecture 2's empirical mode. This is the induction Hume worried about.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4882896"/>
            <a:ext cx="3502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collision matters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5340096"/>
            <a:ext cx="350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“we prove by induction that our approach generalises” and a reviewer cannot tell whether you are offering a theorem or a hope. The two carry completely different obligations.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343400" y="4882896"/>
            <a:ext cx="3502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quick test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343400" y="5340096"/>
            <a:ext cx="350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what could overturn the conclusion. If only a flawed proof could, the reasoning is deductive. If a new observation could, it is inductive — regardless of the word used.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183880" y="4882896"/>
            <a:ext cx="3502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induction too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183880" y="5340096"/>
            <a:ext cx="350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Induction over terms, derivations, or data types is likewise deductive. It is the standard tool for proving properties of recursive programs and languages.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36422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&amp; INDUCTION IN CS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9402775" y="63642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1920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A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→  PART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68096" y="2395728"/>
            <a:ext cx="950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shape of an inference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the machinery that runs it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387705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E4D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Deduction only guarantees anything inside a formal system. What does such a system consist of, what does it promise, and where does the promise run out?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48280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A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deduction in computing science — formal systems, soundness, and their limits.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36422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6E6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&amp; INDUCTION IN CS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9402775" y="63642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DEDUCTION IN COMPUTING SCIENCE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Deduction: From Model to Consequence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4358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Deriving a particular consequence from a general rule by steps that cannot introduce error — inside a model you chose.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38528"/>
            <a:ext cx="2039112" cy="1883664"/>
          </a:xfrm>
          <a:prstGeom prst="roundRect">
            <a:avLst>
              <a:gd name="adj" fmla="val 2913"/>
            </a:avLst>
          </a:prstGeom>
          <a:solidFill>
            <a:srgbClr val="F3F1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157984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3D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87168"/>
            <a:ext cx="16733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formalisation of the system: a machine model, an operational semantics, a protocol specification.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542032" y="2688336"/>
            <a:ext cx="246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88920" y="1938528"/>
            <a:ext cx="2039112" cy="1883664"/>
          </a:xfrm>
          <a:prstGeom prst="roundRect">
            <a:avLst>
              <a:gd name="adj" fmla="val 2913"/>
            </a:avLst>
          </a:prstGeom>
          <a:solidFill>
            <a:srgbClr val="F3F1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971800" y="2157984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3D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971800" y="2487168"/>
            <a:ext cx="16733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Axioms and assumptions, stated explicitly. Everything the conclusion will rest on lives here.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828032" y="2688336"/>
            <a:ext cx="246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74920" y="1938528"/>
            <a:ext cx="2039112" cy="1883664"/>
          </a:xfrm>
          <a:prstGeom prst="roundRect">
            <a:avLst>
              <a:gd name="adj" fmla="val 2913"/>
            </a:avLst>
          </a:prstGeom>
          <a:solidFill>
            <a:srgbClr val="F3F1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57800" y="2157984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3D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257800" y="2487168"/>
            <a:ext cx="16733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steps that are purely syntactic — applicable without understanding what the symbols mean.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114032" y="2688336"/>
            <a:ext cx="246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60920" y="1938528"/>
            <a:ext cx="2039112" cy="1883664"/>
          </a:xfrm>
          <a:prstGeom prst="roundRect">
            <a:avLst>
              <a:gd name="adj" fmla="val 2913"/>
            </a:avLst>
          </a:prstGeom>
          <a:solidFill>
            <a:srgbClr val="F3F1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543800" y="2157984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3D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543800" y="2487168"/>
            <a:ext cx="16733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finite chain of rule applications, each checkable in isolation, by a person or a machine.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400032" y="2688336"/>
            <a:ext cx="246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646920" y="1938528"/>
            <a:ext cx="2039112" cy="1883664"/>
          </a:xfrm>
          <a:prstGeom prst="roundRect">
            <a:avLst>
              <a:gd name="adj" fmla="val 2913"/>
            </a:avLst>
          </a:prstGeom>
          <a:solidFill>
            <a:srgbClr val="F6EFE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829800" y="2157984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9829800" y="2487168"/>
            <a:ext cx="16733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consequence that holds in every model satisfying the premises. Certain, and bounded by them.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4334256"/>
            <a:ext cx="3502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Mechanical by construction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4901184"/>
            <a:ext cx="35021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rules are syntactic, a derivation can be checked without judgement. This is precisely what makes proof assistants — Coq, Isabelle, Lean — possible at all.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343400" y="4334256"/>
            <a:ext cx="3502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is the contribution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4343400" y="4901184"/>
            <a:ext cx="35021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what to formalise, and at what level of detail, is the creative act. The derivation that follows is comparatively routine.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183880" y="4334256"/>
            <a:ext cx="3502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CS differs from mathematics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8183880" y="4901184"/>
            <a:ext cx="35021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CS theorem usually concerns an artifact that also exists physically. The gap between the formal model and the running system is a permanent part of the argument.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636422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&amp; INDUCTION IN CS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9402775" y="63642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DEDUCTION IN COMPUTING SCIENCE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Formal System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4358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components. The last two are the ones a research claim actually trades 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38528"/>
            <a:ext cx="2039112" cy="2286000"/>
          </a:xfrm>
          <a:prstGeom prst="roundRect">
            <a:avLst>
              <a:gd name="adj" fmla="val 2691"/>
            </a:avLst>
          </a:prstGeom>
          <a:solidFill>
            <a:srgbClr val="F3F1FC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139696"/>
            <a:ext cx="292608" cy="292608"/>
          </a:xfrm>
          <a:prstGeom prst="ellipse">
            <a:avLst/>
          </a:prstGeom>
          <a:solidFill>
            <a:srgbClr val="3D6EA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139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42032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907792"/>
            <a:ext cx="16733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well-formed formulas — what can be written down at all. Grammar, not meaning.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88920" y="1938528"/>
            <a:ext cx="2039112" cy="2286000"/>
          </a:xfrm>
          <a:prstGeom prst="roundRect">
            <a:avLst>
              <a:gd name="adj" fmla="val 2691"/>
            </a:avLst>
          </a:prstGeom>
          <a:solidFill>
            <a:srgbClr val="F3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2971800" y="2139696"/>
            <a:ext cx="292608" cy="292608"/>
          </a:xfrm>
          <a:prstGeom prst="ellipse">
            <a:avLst/>
          </a:prstGeom>
          <a:solidFill>
            <a:srgbClr val="3D6E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971800" y="2139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971800" y="2542032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2907792"/>
            <a:ext cx="16733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formulas mean: the models, states, or executions in which a formula is true. Written ⊨.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74920" y="1938528"/>
            <a:ext cx="2039112" cy="2286000"/>
          </a:xfrm>
          <a:prstGeom prst="roundRect">
            <a:avLst>
              <a:gd name="adj" fmla="val 2691"/>
            </a:avLst>
          </a:prstGeom>
          <a:solidFill>
            <a:srgbClr val="F3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5257800" y="2139696"/>
            <a:ext cx="292608" cy="292608"/>
          </a:xfrm>
          <a:prstGeom prst="ellipse">
            <a:avLst/>
          </a:prstGeom>
          <a:solidFill>
            <a:srgbClr val="3D6EA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257800" y="2139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2542032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 rules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2907792"/>
            <a:ext cx="16733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sanctioned moves from formulas to formulas. Purely syntactic, so a machine can apply and check them. Written ⊢.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60920" y="1938528"/>
            <a:ext cx="2039112" cy="2286000"/>
          </a:xfrm>
          <a:prstGeom prst="roundRect">
            <a:avLst>
              <a:gd name="adj" fmla="val 2691"/>
            </a:avLst>
          </a:prstGeom>
          <a:solidFill>
            <a:srgbClr val="F6EFE4"/>
          </a:solidFill>
          <a:ln/>
        </p:spPr>
      </p:sp>
      <p:sp>
        <p:nvSpPr>
          <p:cNvPr id="21" name="Shape 19"/>
          <p:cNvSpPr/>
          <p:nvPr/>
        </p:nvSpPr>
        <p:spPr>
          <a:xfrm>
            <a:off x="7543800" y="2139696"/>
            <a:ext cx="292608" cy="292608"/>
          </a:xfrm>
          <a:prstGeom prst="ellipse">
            <a:avLst/>
          </a:prstGeom>
          <a:solidFill>
            <a:srgbClr val="B08C3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543800" y="2139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543800" y="2542032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Soundness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43800" y="2907792"/>
            <a:ext cx="16733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provable is true: ⊢ φ implies ⊨ φ. Without it, a proof means nothing — you can derive falsehoods.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646920" y="1938528"/>
            <a:ext cx="2039112" cy="2286000"/>
          </a:xfrm>
          <a:prstGeom prst="roundRect">
            <a:avLst>
              <a:gd name="adj" fmla="val 2691"/>
            </a:avLst>
          </a:prstGeom>
          <a:solidFill>
            <a:srgbClr val="F6EFE4"/>
          </a:solidFill>
          <a:ln/>
        </p:spPr>
      </p:sp>
      <p:sp>
        <p:nvSpPr>
          <p:cNvPr id="26" name="Shape 24"/>
          <p:cNvSpPr/>
          <p:nvPr/>
        </p:nvSpPr>
        <p:spPr>
          <a:xfrm>
            <a:off x="9829800" y="2139696"/>
            <a:ext cx="292608" cy="292608"/>
          </a:xfrm>
          <a:prstGeom prst="ellipse">
            <a:avLst/>
          </a:prstGeom>
          <a:solidFill>
            <a:srgbClr val="B4522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829800" y="2139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829800" y="2542032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Completeness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829800" y="2907792"/>
            <a:ext cx="16733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true is provable: ⊨ φ implies ⊢ φ. Without it, some truths are simply out of the system's reach.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4590288"/>
            <a:ext cx="5477256" cy="1371600"/>
          </a:xfrm>
          <a:prstGeom prst="roundRect">
            <a:avLst>
              <a:gd name="adj" fmla="val 3333"/>
            </a:avLst>
          </a:prstGeom>
          <a:solidFill>
            <a:srgbClr val="F3F1F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95528" y="4773168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ALWAYS HAVE BOTH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795528" y="502920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Gödel showed that any consistent system strong enough to express arithmetic cannot be both complete and able to prove its own consistency. In CS this is not a curiosity — it is why no automatic tool decides every interesting property of every program.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08776" y="4590288"/>
            <a:ext cx="5477256" cy="1371600"/>
          </a:xfrm>
          <a:prstGeom prst="roundRect">
            <a:avLst>
              <a:gd name="adj" fmla="val 3333"/>
            </a:avLst>
          </a:prstGeom>
          <a:solidFill>
            <a:srgbClr val="EEF3F9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01384" y="4773168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3D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TOOLS CHOOSE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6501384" y="502920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Verifiers and static analysers are usually sound but incomplete: they may raise false alarms on correct programs, but never stay silent on a real error. Bug-finders often invert the trade — complete in practice, unsound in principle. A tool paper must say which it is.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636422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&amp; INDUCTION IN CS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9402775" y="63642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DEDUCTION IN COMPUTING SCIENCE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Deduction at Work in Computing Science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4358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research areas whose central results are derived, not measured. Each is a formal system with its own syntax, semantics, and rules.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38528"/>
            <a:ext cx="3502152" cy="1883664"/>
          </a:xfrm>
          <a:prstGeom prst="roundRect">
            <a:avLst>
              <a:gd name="adj" fmla="val 2427"/>
            </a:avLst>
          </a:prstGeom>
          <a:solidFill>
            <a:srgbClr val="F3F1FC"/>
          </a:solidFill>
          <a:ln w="12700">
            <a:solidFill>
              <a:srgbClr val="E6E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2157984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D6E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systems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2596896"/>
            <a:ext cx="299008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and preservation together give type soundness: a well-typed program cannot get stuck. The proof is structural induction over typing derivations.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938528"/>
            <a:ext cx="3502152" cy="1883664"/>
          </a:xfrm>
          <a:prstGeom prst="roundRect">
            <a:avLst>
              <a:gd name="adj" fmla="val 2427"/>
            </a:avLst>
          </a:prstGeom>
          <a:solidFill>
            <a:srgbClr val="F3F1FC"/>
          </a:solidFill>
          <a:ln w="12700">
            <a:solidFill>
              <a:srgbClr val="E6E2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99432" y="2157984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D6E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logics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599432" y="2596896"/>
            <a:ext cx="299008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Hoare logic and separation logic derive {P} C {Q} triples from axioms and rules. The basis of Dafny, Why3, Frama-C, and Iris.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83880" y="1938528"/>
            <a:ext cx="3502152" cy="1883664"/>
          </a:xfrm>
          <a:prstGeom prst="roundRect">
            <a:avLst>
              <a:gd name="adj" fmla="val 2427"/>
            </a:avLst>
          </a:prstGeom>
          <a:solidFill>
            <a:srgbClr val="F3F1FC"/>
          </a:solidFill>
          <a:ln w="12700">
            <a:solidFill>
              <a:srgbClr val="E6E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39912" y="2157984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D6E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checking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8439912" y="2596896"/>
            <a:ext cx="299008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deduction over a finite state space: a temporal-logic property is decided for every reachable state, not sampled on some of them.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4096512"/>
            <a:ext cx="3502152" cy="1883664"/>
          </a:xfrm>
          <a:prstGeom prst="roundRect">
            <a:avLst>
              <a:gd name="adj" fmla="val 2427"/>
            </a:avLst>
          </a:prstGeom>
          <a:solidFill>
            <a:srgbClr val="FAF9FE"/>
          </a:solidFill>
          <a:ln w="12700">
            <a:solidFill>
              <a:srgbClr val="E6E2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4315968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B08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Complexity theory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58952" y="4754880"/>
            <a:ext cx="299008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Bounds, hierarchies and separations derived inside a machine model. Lecture 2's Ω(n log n) argument was one of these.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43400" y="4096512"/>
            <a:ext cx="3502152" cy="1883664"/>
          </a:xfrm>
          <a:prstGeom prst="roundRect">
            <a:avLst>
              <a:gd name="adj" fmla="val 2427"/>
            </a:avLst>
          </a:prstGeom>
          <a:solidFill>
            <a:srgbClr val="FAF9FE"/>
          </a:solidFill>
          <a:ln w="12700">
            <a:solidFill>
              <a:srgbClr val="E6E2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99432" y="4315968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B08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Cryptographic reductions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599432" y="4754880"/>
            <a:ext cx="299008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deduction from an assumption: breaking this scheme would solve a problem believed hard. The guarantee is conditional, and says so.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83880" y="4096512"/>
            <a:ext cx="3502152" cy="1883664"/>
          </a:xfrm>
          <a:prstGeom prst="roundRect">
            <a:avLst>
              <a:gd name="adj" fmla="val 2427"/>
            </a:avLst>
          </a:prstGeom>
          <a:solidFill>
            <a:srgbClr val="FAF9FE"/>
          </a:solidFill>
          <a:ln w="12700">
            <a:solidFill>
              <a:srgbClr val="E6E2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39912" y="4315968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B45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protocols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8439912" y="4754880"/>
            <a:ext cx="299008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and liveness of consensus algorithms — Paxos, Raft, PBFT — specified and machine-checked in TLA+, Coq, or Ivy.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36422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&amp; INDUCTION IN CS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9402775" y="63642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DEDUCTION IN COMPUTING SCIENCE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Deriving a Hoare Triple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25296"/>
            <a:ext cx="11183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1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under test:  </a:t>
            </a:r>
            <a:pPr indent="0" marL="0">
              <a:buNone/>
            </a:pPr>
            <a:r>
              <a:rPr lang="en-US" sz="11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n ≥ 0 }   SUM   { sum = n(n−1)/2 }   —  the program computes the sum of 0 … n−1, for every 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4206240" cy="1773936"/>
          </a:xfrm>
          <a:prstGeom prst="roundRect">
            <a:avLst>
              <a:gd name="adj" fmla="val 2577"/>
            </a:avLst>
          </a:prstGeom>
          <a:solidFill>
            <a:srgbClr val="F5F4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92224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41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:= 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41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:= 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41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i &lt; n do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41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 := sum + i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41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:= i + 1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3584448"/>
            <a:ext cx="4206240" cy="1280160"/>
          </a:xfrm>
          <a:prstGeom prst="roundRect">
            <a:avLst>
              <a:gd name="adj" fmla="val 3571"/>
            </a:avLst>
          </a:prstGeom>
          <a:solidFill>
            <a:srgbClr val="F6EFE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3749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INVARIANT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986784"/>
            <a:ext cx="3657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41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 ≡   sum = i(i−1)/2   ∧   0 ≤ i ≤ 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41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once, it discharges every obligation opposite.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084064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argued an invariant in prose; Hoare logic is the calculus that makes the same argument mechanical, and therefore machine-checkable. Termination is a separate obligation: i strictly increases and is bounded above by 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0" y="1682496"/>
            <a:ext cx="310896" cy="310896"/>
          </a:xfrm>
          <a:prstGeom prst="ellipse">
            <a:avLst/>
          </a:prstGeom>
          <a:solidFill>
            <a:srgbClr val="B08C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0" y="1682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541264" y="1664208"/>
            <a:ext cx="6144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Establish I — the assignment axiom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541264" y="1975104"/>
            <a:ext cx="6144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{ Q[e/x] } x := e { Q } is applied backwards through i := 0 and sum := 0, yielding the precondition 0 = 0 ∧ 0 ≤ 0 ≤ n. The given n ≥ 0 implies it, so I holds when the loop is first reached.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0" y="2779776"/>
            <a:ext cx="310896" cy="310896"/>
          </a:xfrm>
          <a:prstGeom prst="ellipse">
            <a:avLst/>
          </a:prstGeom>
          <a:solidFill>
            <a:srgbClr val="B08C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29200" y="2779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541264" y="2761488"/>
            <a:ext cx="6144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Preserve I — the while rule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541264" y="3072384"/>
            <a:ext cx="6144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{ I ∧ B } body { I } the rule infers { I } while B do body { I ∧ ¬B }. The single obligation is that the body re-establishes I, assuming I and i &lt; n held on entry.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0" y="3877056"/>
            <a:ext cx="310896" cy="310896"/>
          </a:xfrm>
          <a:prstGeom prst="ellipse">
            <a:avLst/>
          </a:prstGeom>
          <a:solidFill>
            <a:srgbClr val="B08C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29200" y="3877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541264" y="3858768"/>
            <a:ext cx="6144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Discharge the body obligation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541264" y="4169664"/>
            <a:ext cx="6144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sum := sum + i we have sum = i(i−1)/2 + i = i(i+1)/2. After i := i + 1 the counter is i+1, and i(i+1)/2 is exactly (i+1)((i+1)−1)/2 — which is I at the new value of i.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0" y="4974336"/>
            <a:ext cx="310896" cy="310896"/>
          </a:xfrm>
          <a:prstGeom prst="ellipse">
            <a:avLst/>
          </a:prstGeom>
          <a:solidFill>
            <a:srgbClr val="B08C3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029200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541264" y="4956048"/>
            <a:ext cx="6144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Conclude — the rule of consequence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5541264" y="5266944"/>
            <a:ext cx="6144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exit I ∧ ¬(i &lt; n) gives sum = i(i−1)/2 ∧ i = n, and weakening that yields sum = n(n−1)/2. The triple is derived, for every n at once.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636422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&amp; INDUCTION IN CS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9402775" y="63642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DEDUCTION IN COMPUTING SCIENCE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Limits of Deduction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4358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boundaries worth stating in your own limitations section, before a reviewer states them for you.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38528"/>
            <a:ext cx="2624328" cy="3310128"/>
          </a:xfrm>
          <a:prstGeom prst="roundRect">
            <a:avLst>
              <a:gd name="adj" fmla="val 1742"/>
            </a:avLst>
          </a:prstGeom>
          <a:solidFill>
            <a:srgbClr val="F3F1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0664" y="215798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D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1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3957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Premises, not truth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40664" y="299923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Soundness guarantees the conclusion given the axioms — and nothing about the axioms.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0664" y="395020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740664" y="4169664"/>
            <a:ext cx="2148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3D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 system is correct with respect to its specification. A wrong specification is verified just as cheerfully as a right one.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55848" y="1938528"/>
            <a:ext cx="2624328" cy="3310128"/>
          </a:xfrm>
          <a:prstGeom prst="roundRect">
            <a:avLst>
              <a:gd name="adj" fmla="val 1742"/>
            </a:avLst>
          </a:prstGeom>
          <a:solidFill>
            <a:srgbClr val="F3F1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93592" y="215798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B45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2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23957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Undecidability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93592" y="299923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complete automatic procedure exists for non-trivial semantic properties of programs.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593592" y="395020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3593592" y="4169664"/>
            <a:ext cx="2148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45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Rice's theorem, met again from Lecture 2. Every analyser must sacrifice completeness, soundness, or termination — and should say which.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08776" y="1938528"/>
            <a:ext cx="2624328" cy="3310128"/>
          </a:xfrm>
          <a:prstGeom prst="roundRect">
            <a:avLst>
              <a:gd name="adj" fmla="val 1742"/>
            </a:avLst>
          </a:prstGeom>
          <a:solidFill>
            <a:srgbClr val="F3F1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6520" y="215798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3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23957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explosion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99923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methods are exhaustive only over spaces small enough to exhaust.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395020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169664"/>
            <a:ext cx="2148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Model-checking state grows exponentially in concurrent components. Abstraction restores tractability and reintroduces approximation.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61704" y="1938528"/>
            <a:ext cx="2624328" cy="3310128"/>
          </a:xfrm>
          <a:prstGeom prst="roundRect">
            <a:avLst>
              <a:gd name="adj" fmla="val 1742"/>
            </a:avLst>
          </a:prstGeom>
          <a:solidFill>
            <a:srgbClr val="F3F1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99448" y="215798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241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4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9299448" y="23957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new content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299448" y="299923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unpacks what the premises entail. It cannot propose the premises.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299448" y="395020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9299448" y="4169664"/>
            <a:ext cx="2148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41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will not tell you which axioms to adopt, which model to formalise, or which hypothesis is worth testing. That is abduction's work — Part 4.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5870448"/>
            <a:ext cx="11183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makes deduction weak. They make its scope precise — and a precisely scoped guarantee is worth more to a reader than an unbounded one.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636422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&amp; INDUCTION IN CS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9402775" y="63642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INDUCTION IN COMPUTING SCIENCE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Induction: From Instances to Generalisation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4358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from observed instances to a rule that covers unobserved ones. The conclusion is supported by the premises, never entailed by them.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38528"/>
            <a:ext cx="2834640" cy="1133856"/>
          </a:xfrm>
          <a:prstGeom prst="roundRect">
            <a:avLst>
              <a:gd name="adj" fmla="val 4839"/>
            </a:avLst>
          </a:prstGeom>
          <a:solidFill>
            <a:srgbClr val="F3F1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22376" y="2139696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3D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722376" y="2414016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finite sample: training examples, benchmark runs, mined repositories, study participants.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22128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generalisation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2450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A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————→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27432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1938528"/>
            <a:ext cx="2834640" cy="1133856"/>
          </a:xfrm>
          <a:prstGeom prst="roundRect">
            <a:avLst>
              <a:gd name="adj" fmla="val 4839"/>
            </a:avLst>
          </a:prstGeom>
          <a:solidFill>
            <a:srgbClr val="F6EFE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28616" y="2139696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928616" y="2414016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hypothesis, model, or classifier that applies to cases nobody has yet observed.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502152"/>
            <a:ext cx="109728" cy="109728"/>
          </a:xfrm>
          <a:prstGeom prst="ellipse">
            <a:avLst/>
          </a:prstGeom>
          <a:solidFill>
            <a:srgbClr val="3D6EA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3816" y="3419856"/>
            <a:ext cx="6729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Ampliative, and therefore fallible.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" y="3712464"/>
            <a:ext cx="67299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asserts something about cases the sample never contained. That surplus is exactly what makes it useful, and exactly what makes it defeasible.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4507992"/>
            <a:ext cx="109728" cy="109728"/>
          </a:xfrm>
          <a:prstGeom prst="ellipse">
            <a:avLst/>
          </a:prstGeom>
          <a:solidFill>
            <a:srgbClr val="3D6EA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3816" y="4425696"/>
            <a:ext cx="6729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2's empirical mode, seen from the inside.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" y="4718304"/>
            <a:ext cx="67299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said there about sampling, controls and effect size is machinery for making one specific inductive leap defensible.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5513832"/>
            <a:ext cx="109728" cy="109728"/>
          </a:xfrm>
          <a:prstGeom prst="ellipse">
            <a:avLst/>
          </a:prstGeom>
          <a:solidFill>
            <a:srgbClr val="3D6EA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13816" y="5431536"/>
            <a:ext cx="6729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CS the leap is usually automated.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" y="5724144"/>
            <a:ext cx="67299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learning algorithm performs the induction. We therefore reason about the algorithm's guarantees rather than about each individual inference it makes.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818120" y="1938528"/>
            <a:ext cx="3867912" cy="4114800"/>
          </a:xfrm>
          <a:prstGeom prst="roundRect">
            <a:avLst>
              <a:gd name="adj" fmla="val 1182"/>
            </a:avLst>
          </a:prstGeom>
          <a:solidFill>
            <a:srgbClr val="F3F1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92440" y="2212848"/>
            <a:ext cx="3319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ASYMMETRY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8092440" y="2615184"/>
            <a:ext cx="33192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Deduction tells you what follows.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Induction tells you what to expect.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the second can be wrong while every step was correct.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092440" y="4553712"/>
            <a:ext cx="1371600" cy="0"/>
          </a:xfrm>
          <a:prstGeom prst="line">
            <a:avLst/>
          </a:prstGeom>
          <a:noFill/>
          <a:ln w="15875">
            <a:solidFill>
              <a:srgbClr val="D8A73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92440" y="4736592"/>
            <a:ext cx="3319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inductive claims must carry qualifiers and deductive ones must carry premises. Each names the place where the reasoning could fail.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636422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&amp; INDUCTION IN CS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9402775" y="63642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INDUCTION IN COMPUTING SCIENCE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Induction Lives in Computing Science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4358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research areas built entirely on the inductive leap. In each, the interesting question is what licenses the generalisation.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38528"/>
            <a:ext cx="2624328" cy="3310128"/>
          </a:xfrm>
          <a:prstGeom prst="roundRect">
            <a:avLst>
              <a:gd name="adj" fmla="val 1742"/>
            </a:avLst>
          </a:prstGeom>
          <a:solidFill>
            <a:srgbClr val="F3F1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0664" y="215798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D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1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395728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740664" y="3163824"/>
            <a:ext cx="2148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learner is literally an inductive engine: it maps a finite sample to a function over an infinite domain.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0664" y="400507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LEAP HIDES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740664" y="4224528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3D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generalisation claim is the contribution. Test accuracy is the sample; deployment accuracy is the population.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55848" y="1938528"/>
            <a:ext cx="2624328" cy="3310128"/>
          </a:xfrm>
          <a:prstGeom prst="roundRect">
            <a:avLst>
              <a:gd name="adj" fmla="val 1742"/>
            </a:avLst>
          </a:prstGeom>
          <a:solidFill>
            <a:srgbClr val="F3F1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93592" y="215798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B45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2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2395728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Empirical software engineering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3593592" y="3163824"/>
            <a:ext cx="2148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induced from observed projects: defect prediction, effort estimation, developer studies.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593592" y="400507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LEAP HIDES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3593592" y="4224528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45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population is “software projects”. The sample is usually “public repositories that happen to be mineable”.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08776" y="1938528"/>
            <a:ext cx="2624328" cy="3310128"/>
          </a:xfrm>
          <a:prstGeom prst="roundRect">
            <a:avLst>
              <a:gd name="adj" fmla="val 1742"/>
            </a:avLst>
          </a:prstGeom>
          <a:solidFill>
            <a:srgbClr val="F3F1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6520" y="215798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3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2395728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modelling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3163824"/>
            <a:ext cx="2148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models and scaling laws fitted to measured runs, then extrapolated past the measured range.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400507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LEAP HIDES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224528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Extrapolation is induction at its most exposed: the fitted curve has no evidence at all where the claim matters most.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61704" y="1938528"/>
            <a:ext cx="2624328" cy="3310128"/>
          </a:xfrm>
          <a:prstGeom prst="roundRect">
            <a:avLst>
              <a:gd name="adj" fmla="val 1742"/>
            </a:avLst>
          </a:prstGeom>
          <a:solidFill>
            <a:srgbClr val="F3F1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99448" y="215798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241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4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9299448" y="2395728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engineering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9299448" y="3163824"/>
            <a:ext cx="2148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Heuristics tuned on instance families and reported as good on “typical” inputs.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299448" y="400507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LEAP HIDES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9299448" y="4224528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41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Average-case and “works well in practice” claims are inductive, even when made about an object that also has theorems.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5870448"/>
            <a:ext cx="11183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all four, the honest question is the same: what is the population, and what makes this particular sample stand in for it?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636422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&amp; INDUCTION IN CS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9402775" y="63642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INDUCTION IN COMPUTING SCIENCE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Inductive Bias and the No-Free-Lunch Theorem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4358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assumption-free learning is not merely difficult but impossible — and why that is good news for your methodology section.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38528"/>
            <a:ext cx="5477256" cy="2889504"/>
          </a:xfrm>
          <a:prstGeom prst="roundRect">
            <a:avLst>
              <a:gd name="adj" fmla="val 1582"/>
            </a:avLst>
          </a:prstGeom>
          <a:solidFill>
            <a:srgbClr val="EEF3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95528" y="215798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D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INDUCTIVE BIAS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2505456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assumptions a learner uses to prefer one generalisation over the others equally consistent with the data.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3419856"/>
            <a:ext cx="4892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finite sample is consistent with infinitely many rules. Something other than the data must choose between them — the hypothesis class itself, a smoothness or sparsity prior, convolutional locality, a preference for shorter descriptions.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44074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3D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learner has one. The only question is whether the paper states it.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08776" y="1938528"/>
            <a:ext cx="5477256" cy="2889504"/>
          </a:xfrm>
          <a:prstGeom prst="roundRect">
            <a:avLst>
              <a:gd name="adj" fmla="val 1582"/>
            </a:avLst>
          </a:prstGeom>
          <a:solidFill>
            <a:srgbClr val="F8EEE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01384" y="215798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B45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 LUNCH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501384" y="2505456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Averaged over all possible target functions, every learning algorithm has the same expected off-training-set error.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501384" y="3419856"/>
            <a:ext cx="4892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Wolpert and Macready's result says superiority is never universal: an algorithm that does better than another on one class of problems must do worse on some other class. There is no best learner, only a best-matched one.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501384" y="44074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B45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“our method is better” always means “better on problems shaped like these”.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5138928"/>
            <a:ext cx="11183112" cy="969264"/>
          </a:xfrm>
          <a:prstGeom prst="roundRect">
            <a:avLst>
              <a:gd name="adj" fmla="val 4717"/>
            </a:avLst>
          </a:prstGeom>
          <a:solidFill>
            <a:srgbClr val="F6EFE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95528" y="5138928"/>
            <a:ext cx="10597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241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is not a defect to be engineered away — it is the precondition for generalising at all. Which makes stating it a methodological obligation, not an admission: an unstated bias is an unstated premise, and Part 2 already established what that does to a claim.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36422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&amp; INDUCTION IN CS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9402775" y="63642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INDUCTION IN COMPUTING SCIENCE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Induction, Made Quantitative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25296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1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under test:  </a:t>
            </a:r>
            <a:pPr indent="0" marL="0">
              <a:buNone/>
            </a:pPr>
            <a:r>
              <a:rPr lang="en-US" sz="11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“With m ≥ (1/ε)(ln|H| + ln(1/δ)) samples, any hypothesis consistent with the data has true error ≤ ε, with probability ≥ 1 − δ.”   </a:t>
            </a:r>
            <a:pPr indent="0" marL="0">
              <a:buNone/>
            </a:pPr>
            <a:r>
              <a:rPr lang="en-US" sz="1050" i="1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Valiant's PAC framework, 1984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773936"/>
            <a:ext cx="2624328" cy="2286000"/>
          </a:xfrm>
          <a:prstGeom prst="roundRect">
            <a:avLst>
              <a:gd name="adj" fmla="val 2000"/>
            </a:avLst>
          </a:prstGeom>
          <a:solidFill>
            <a:srgbClr val="F3F1FC"/>
          </a:solidFill>
          <a:ln/>
        </p:spPr>
      </p:sp>
      <p:sp>
        <p:nvSpPr>
          <p:cNvPr id="6" name="Shape 4"/>
          <p:cNvSpPr/>
          <p:nvPr/>
        </p:nvSpPr>
        <p:spPr>
          <a:xfrm>
            <a:off x="740664" y="1975104"/>
            <a:ext cx="310896" cy="310896"/>
          </a:xfrm>
          <a:prstGeom prst="ellipse">
            <a:avLst/>
          </a:prstGeom>
          <a:solidFill>
            <a:srgbClr val="3D6EA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0664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40664" y="237744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up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40664" y="2724912"/>
            <a:ext cx="2148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unknown distribution D over inputs, an unknown target concept, a finite hypothesis class H fixed in advance, and m examples drawn independently from 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55848" y="1773936"/>
            <a:ext cx="2624328" cy="2286000"/>
          </a:xfrm>
          <a:prstGeom prst="roundRect">
            <a:avLst>
              <a:gd name="adj" fmla="val 2000"/>
            </a:avLst>
          </a:prstGeom>
          <a:solidFill>
            <a:srgbClr val="F3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3593592" y="1975104"/>
            <a:ext cx="310896" cy="310896"/>
          </a:xfrm>
          <a:prstGeom prst="ellipse">
            <a:avLst/>
          </a:prstGeom>
          <a:solidFill>
            <a:srgbClr val="3D6E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93592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237744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“bad”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93592" y="2724912"/>
            <a:ext cx="2148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h bad if its true error on D exceeds ε. A single bad h agrees with one random example with probability at most 1 − ε, so it survives all m with probability ≤ (1 − ε)ᵐ.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08776" y="1773936"/>
            <a:ext cx="2624328" cy="2286000"/>
          </a:xfrm>
          <a:prstGeom prst="roundRect">
            <a:avLst>
              <a:gd name="adj" fmla="val 2000"/>
            </a:avLst>
          </a:prstGeom>
          <a:solidFill>
            <a:srgbClr val="F3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6446520" y="1975104"/>
            <a:ext cx="310896" cy="310896"/>
          </a:xfrm>
          <a:prstGeom prst="ellipse">
            <a:avLst/>
          </a:prstGeom>
          <a:solidFill>
            <a:srgbClr val="3D6EA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46520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37744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Union bound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2724912"/>
            <a:ext cx="2148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at most |H| bad hypotheses, so the chance that any of them survives all m examples is at most |H|(1 − ε)ᵐ ≤ |H|e^(−εm).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61704" y="1773936"/>
            <a:ext cx="2624328" cy="2286000"/>
          </a:xfrm>
          <a:prstGeom prst="roundRect">
            <a:avLst>
              <a:gd name="adj" fmla="val 2000"/>
            </a:avLst>
          </a:prstGeom>
          <a:solidFill>
            <a:srgbClr val="F3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9299448" y="1975104"/>
            <a:ext cx="310896" cy="310896"/>
          </a:xfrm>
          <a:prstGeom prst="ellipse">
            <a:avLst/>
          </a:prstGeom>
          <a:solidFill>
            <a:srgbClr val="3D6EA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99448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299448" y="237744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for m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299448" y="2724912"/>
            <a:ext cx="2148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|H|e^(−εm) ≤ δ. Rearranging gives m ≥ (1/ε)(ln|H| + ln(1/δ)) — a sample size that makes the inductive leap quantitatively safe.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4352544"/>
            <a:ext cx="5477256" cy="1371600"/>
          </a:xfrm>
          <a:prstGeom prst="roundRect">
            <a:avLst>
              <a:gd name="adj" fmla="val 3333"/>
            </a:avLst>
          </a:prstGeom>
          <a:solidFill>
            <a:srgbClr val="F6EFE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95528" y="4517136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SLIDE SITS IN BOTH PARTS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795528" y="4773168"/>
            <a:ext cx="4892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of the argument is deductive — yet the theorem is about induction. Learning theory is precisely this: deduction applied to the reliability of inductive procedures, converting “it seems to generalise” into a bounded quantity.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08776" y="4352544"/>
            <a:ext cx="5477256" cy="1371600"/>
          </a:xfrm>
          <a:prstGeom prst="roundRect">
            <a:avLst>
              <a:gd name="adj" fmla="val 3333"/>
            </a:avLst>
          </a:prstGeom>
          <a:solidFill>
            <a:srgbClr val="F8EEE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01384" y="4517136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B45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WHERE IT STOPS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6501384" y="4773168"/>
            <a:ext cx="4892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premises: examples independent and identically distributed, H fixed before seeing data, some hypothesis in H consistent with it. Modern practice violates all three routinely — which is why the bound is a way of thinking, not a certificate.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636422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&amp; INDUCTION IN CS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9402775" y="63642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INDUCTION IN COMPUTING SCIENCE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Limits of Induction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4358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a correctly executed generalisation still ends up false. Each has a standard name and a standard defence.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38528"/>
            <a:ext cx="2624328" cy="3310128"/>
          </a:xfrm>
          <a:prstGeom prst="roundRect">
            <a:avLst>
              <a:gd name="adj" fmla="val 1742"/>
            </a:avLst>
          </a:prstGeom>
          <a:solidFill>
            <a:srgbClr val="F3F1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0664" y="215798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D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1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3957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Sampling bias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40664" y="299923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population you sampled is not the population your claim is about.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0664" y="395020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740664" y="4169664"/>
            <a:ext cx="2148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3D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Defence: describe the sampling frame explicitly, and qualify the claim down to it. GitHub is not software; ImageNet is not vision.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55848" y="1938528"/>
            <a:ext cx="2624328" cy="3310128"/>
          </a:xfrm>
          <a:prstGeom prst="roundRect">
            <a:avLst>
              <a:gd name="adj" fmla="val 1742"/>
            </a:avLst>
          </a:prstGeom>
          <a:solidFill>
            <a:srgbClr val="F3F1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93592" y="215798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B45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2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23957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93592" y="299923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that fits the sample perfectly and the population poorly.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593592" y="395020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3593592" y="4169664"/>
            <a:ext cx="2148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45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Defence: held-out data untouched during development, and reporting how many configurations were tried before this one.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08776" y="1938528"/>
            <a:ext cx="2624328" cy="3310128"/>
          </a:xfrm>
          <a:prstGeom prst="roundRect">
            <a:avLst>
              <a:gd name="adj" fmla="val 1742"/>
            </a:avLst>
          </a:prstGeom>
          <a:solidFill>
            <a:srgbClr val="F3F1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6520" y="215798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3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23957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shift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99923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i.i.d. premise that licensed the generalisation fails after deployment.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395020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169664"/>
            <a:ext cx="2148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Defence: measure on data from a genuinely later period or a different source, and report the degradation rather than the best case.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61704" y="1938528"/>
            <a:ext cx="2624328" cy="3310128"/>
          </a:xfrm>
          <a:prstGeom prst="roundRect">
            <a:avLst>
              <a:gd name="adj" fmla="val 1742"/>
            </a:avLst>
          </a:prstGeom>
          <a:solidFill>
            <a:srgbClr val="F3F1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99448" y="215798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241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4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9299448" y="23957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Goodhart's law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299448" y="299923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benchmark becomes the target, it stops being a good measure.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299448" y="395020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9299448" y="4169664"/>
            <a:ext cx="2148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41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Defence: report on more than one benchmark, and treat saturation on a leaderboard as evidence about the benchmark, not the field.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5870448"/>
            <a:ext cx="11183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are failures of the population, not of the arithmetic. That is why Lecture 2 put threats to validity, and not statistical technique, at the centre of empirical review.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636422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&amp; INDUCTION IN CS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9402775" y="63642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ABDUCTION AND THEORETICAL MODELS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Abduction: Inference to the Best Explanation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4358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surprising observation to the hypothesis that, if true, would make the observation a matter of course.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38528"/>
            <a:ext cx="7040880" cy="1243584"/>
          </a:xfrm>
          <a:prstGeom prst="roundRect">
            <a:avLst>
              <a:gd name="adj" fmla="val 3676"/>
            </a:avLst>
          </a:prstGeom>
          <a:solidFill>
            <a:srgbClr val="F3F1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95528" y="2121408"/>
            <a:ext cx="6455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PEIRCE'S SCHEMA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2395728"/>
            <a:ext cx="6455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surprising fact C is observed.  ·  But if H were true, C would follow as a matter of course.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Hence, there is reason to suspect that H is true.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3611880"/>
            <a:ext cx="109728" cy="109728"/>
          </a:xfrm>
          <a:prstGeom prst="ellipse">
            <a:avLst/>
          </a:prstGeom>
          <a:solidFill>
            <a:srgbClr val="B452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13816" y="3529584"/>
            <a:ext cx="6729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the only direction that creates hypotheses.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13816" y="3822192"/>
            <a:ext cx="6729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and induction can only operate on candidates already on the table. Everything either of them ever works on was put there by an abduction.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4599432"/>
            <a:ext cx="109728" cy="109728"/>
          </a:xfrm>
          <a:prstGeom prst="ellipse">
            <a:avLst/>
          </a:prstGeom>
          <a:solidFill>
            <a:srgbClr val="B452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13816" y="4517136"/>
            <a:ext cx="6729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fails in one specific way.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" y="4809744"/>
            <a:ext cx="6729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conclusion is only as good as the field of rivals you actually considered. Abduction over a single candidate is not inference — it is a guess with a citation attached.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5586984"/>
            <a:ext cx="109728" cy="109728"/>
          </a:xfrm>
          <a:prstGeom prst="ellipse">
            <a:avLst/>
          </a:prstGeom>
          <a:solidFill>
            <a:srgbClr val="B452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3816" y="5504688"/>
            <a:ext cx="6729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CS it is daily practice, rarely named.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" y="5797296"/>
            <a:ext cx="6729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is abduction: symptom to cause. So are fault localisation, root-cause analysis, performance triage — and framing a research problem, which is Unit I's whole subject.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818120" y="1938528"/>
            <a:ext cx="3867912" cy="4114800"/>
          </a:xfrm>
          <a:prstGeom prst="roundRect">
            <a:avLst>
              <a:gd name="adj" fmla="val 1182"/>
            </a:avLst>
          </a:prstGeom>
          <a:solidFill>
            <a:srgbClr val="F8EEE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92440" y="2212848"/>
            <a:ext cx="3319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B45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OF EVIDENCE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8092440" y="2615184"/>
            <a:ext cx="3319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“Best explanation” is meaningful only relative to the alternatives you listed.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092440" y="3840480"/>
            <a:ext cx="1371600" cy="0"/>
          </a:xfrm>
          <a:prstGeom prst="line">
            <a:avLst/>
          </a:prstGeom>
          <a:noFill/>
          <a:ln w="15875">
            <a:solidFill>
              <a:srgbClr val="B452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92440" y="4023360"/>
            <a:ext cx="33192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an abductive step is defended by enumeration, not by eloquence: name the rival explanations, say what each would predict, and show which predictions the observation rules out. A related-work section that reads as antithesis — Lecture 1's point — is doing exactly this job.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36422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&amp; INDUCTION IN CS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9402775" y="63642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26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ABDUCTION AND THEORETICAL MODELS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Research Cycle: Abduce, Deduce, Test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4358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directions are not alternatives to choose between. They are stages of one loop, and each does work the others cannot.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38528"/>
            <a:ext cx="384048" cy="384048"/>
          </a:xfrm>
          <a:prstGeom prst="ellipse">
            <a:avLst/>
          </a:prstGeom>
          <a:solidFill>
            <a:srgbClr val="3D6E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468880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834640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surprising fact: an anomaly in a measurement, a failure nobody predicted, a gap left open by the literature.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487168" y="1975104"/>
            <a:ext cx="356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88920" y="1938528"/>
            <a:ext cx="384048" cy="384048"/>
          </a:xfrm>
          <a:prstGeom prst="ellipse">
            <a:avLst/>
          </a:prstGeom>
          <a:solidFill>
            <a:srgbClr val="B452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8892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2468880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Abduce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2834640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a hypothesis that would render the fact unsurprising — and propose its rivals at the same time.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773168" y="1975104"/>
            <a:ext cx="356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74920" y="1938528"/>
            <a:ext cx="384048" cy="384048"/>
          </a:xfrm>
          <a:prstGeom prst="ellipse">
            <a:avLst/>
          </a:prstGeom>
          <a:solidFill>
            <a:srgbClr val="B08C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7492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074920" y="2468880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Deduce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5074920" y="2834640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a consequence that your hypothesis entails and the rivals do not. This is what makes the next step decisive.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059168" y="1975104"/>
            <a:ext cx="356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60920" y="1938528"/>
            <a:ext cx="384048" cy="384048"/>
          </a:xfrm>
          <a:prstGeom prst="ellipse">
            <a:avLst/>
          </a:prstGeom>
          <a:solidFill>
            <a:srgbClr val="3D6EA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6092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2468880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360920" y="2834640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Measure. Update confidence across the rival hypotheses — inductively, with all of Lecture 2's machinery.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9345168" y="1975104"/>
            <a:ext cx="356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646920" y="1938528"/>
            <a:ext cx="384048" cy="384048"/>
          </a:xfrm>
          <a:prstGeom prst="ellipse">
            <a:avLst/>
          </a:prstGeom>
          <a:solidFill>
            <a:srgbClr val="241A4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4692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646920" y="2468880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Iterate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9646920" y="2834640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surviving hypothesis becomes the new background, and its own anomalies start the loop again.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4681728"/>
            <a:ext cx="11183112" cy="1133856"/>
          </a:xfrm>
          <a:prstGeom prst="roundRect">
            <a:avLst>
              <a:gd name="adj" fmla="val 4032"/>
            </a:avLst>
          </a:prstGeom>
          <a:solidFill>
            <a:srgbClr val="F3F1F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95528" y="4846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STEP 3 IS THE ONE PAPERS SKIP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795528" y="5084064"/>
            <a:ext cx="10597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easy to observe, easy to propose an explanation, and easy to collect data that is consistent with it. What is hard — and what separates a study from an anecdote — is deriving a prediction that the rival explanations would not also make. Evidence consistent with every hypothesis on the table discriminates between none of them, however much of it you gather.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636422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&amp; INDUCTION IN CS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9402775" y="63642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26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ABDUCTION AND THEORETICAL MODELS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Counts as a Theoretical Model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4358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theoretical model is a deliberate simplification, adopted so that deduction becomes possible. David Marr's three levels are the standard way to say which simplification you have made.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38528"/>
            <a:ext cx="3502152" cy="3200400"/>
          </a:xfrm>
          <a:prstGeom prst="roundRect">
            <a:avLst>
              <a:gd name="adj" fmla="val 1429"/>
            </a:avLst>
          </a:prstGeom>
          <a:solidFill>
            <a:srgbClr val="F3F1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" y="2157984"/>
            <a:ext cx="2990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2395728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Computational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2834640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B08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problem is being solved, and why is solving it appropriate?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3474720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specification, independent of any method: the input–output relation and the constraints it must respect.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4443984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i="1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Sorting: return a permutation of the input in non-decreasing order.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43400" y="1938528"/>
            <a:ext cx="3502152" cy="3200400"/>
          </a:xfrm>
          <a:prstGeom prst="roundRect">
            <a:avLst>
              <a:gd name="adj" fmla="val 1429"/>
            </a:avLst>
          </a:prstGeom>
          <a:solidFill>
            <a:srgbClr val="F3F1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99432" y="2157984"/>
            <a:ext cx="2990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D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2395728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Algorithmic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599432" y="2834640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3D6E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representation, and what process transforms input into output?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99432" y="3474720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structures and the procedure — still abstract, still independent of any particular machine.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99432" y="4443984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i="1" dirty="0">
                <a:solidFill>
                  <a:srgbClr val="3D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Mergesort over arrays: divide, recurse, merge; Θ(n log n) comparisons.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83880" y="1938528"/>
            <a:ext cx="3502152" cy="3200400"/>
          </a:xfrm>
          <a:prstGeom prst="roundRect">
            <a:avLst>
              <a:gd name="adj" fmla="val 1429"/>
            </a:avLst>
          </a:prstGeom>
          <a:solidFill>
            <a:srgbClr val="F3F1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39912" y="2157984"/>
            <a:ext cx="2990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B45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8439912" y="2395728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Implementational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439912" y="2834640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B45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is the process physically realised?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439912" y="3474720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substrate: instruction set, memory hierarchy, cache-line behaviour, compiler, hardware — or, in Marr's original setting, neurons.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439912" y="4443984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i="1" dirty="0">
                <a:solidFill>
                  <a:srgbClr val="B45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cache-aware merge in C, tuned for L2 residency on a specific x86 generation.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5504688"/>
            <a:ext cx="11183112" cy="658368"/>
          </a:xfrm>
          <a:prstGeom prst="roundRect">
            <a:avLst>
              <a:gd name="adj" fmla="val 6944"/>
            </a:avLst>
          </a:prstGeom>
          <a:solidFill>
            <a:srgbClr val="F6EFE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95528" y="5504688"/>
            <a:ext cx="10597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41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great many confused CS papers confuse the levels: a claim proved at level 1 defended with level-3 measurements, or a level-3 optimisation reported as a level-2 advance. Naming your level is half of naming your contribution.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36422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&amp; INDUCTION IN CS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9402775" y="63642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26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ABDUCTION AND THEORETICAL MODELS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of Computation as Deductive Substrates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4358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cost claim and every impossibility result is stated inside one of these. The model is a premise — usually the load-bearing one.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38528"/>
            <a:ext cx="2624328" cy="1572768"/>
          </a:xfrm>
          <a:prstGeom prst="roundRect">
            <a:avLst>
              <a:gd name="adj" fmla="val 2907"/>
            </a:avLst>
          </a:prstGeom>
          <a:solidFill>
            <a:srgbClr val="F3F1FC"/>
          </a:solidFill>
          <a:ln w="12700">
            <a:solidFill>
              <a:srgbClr val="E6E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0664" y="210312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Turing machine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46888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tape, finite control.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40664" y="296265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computability itself; the reference model for decidability and reductions.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55848" y="1938528"/>
            <a:ext cx="2624328" cy="1572768"/>
          </a:xfrm>
          <a:prstGeom prst="roundRect">
            <a:avLst>
              <a:gd name="adj" fmla="val 2907"/>
            </a:avLst>
          </a:prstGeom>
          <a:solidFill>
            <a:srgbClr val="F3F1FC"/>
          </a:solidFill>
          <a:ln w="12700">
            <a:solidFill>
              <a:srgbClr val="E6E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93592" y="210312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λ-calculus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593592" y="246888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as the primitive; substitution as the only rule.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593592" y="296265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 of functional languages, type theory, and proof assistants.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08776" y="1938528"/>
            <a:ext cx="2624328" cy="1572768"/>
          </a:xfrm>
          <a:prstGeom prst="roundRect">
            <a:avLst>
              <a:gd name="adj" fmla="val 2907"/>
            </a:avLst>
          </a:prstGeom>
          <a:solidFill>
            <a:srgbClr val="F3F1FC"/>
          </a:solidFill>
          <a:ln w="12700">
            <a:solidFill>
              <a:srgbClr val="E6E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210312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 model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46888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Unit-cost access to any memory cell.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96265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for algorithm analysis — and the premise Lecture 2 attacked.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61704" y="1938528"/>
            <a:ext cx="2624328" cy="1572768"/>
          </a:xfrm>
          <a:prstGeom prst="roundRect">
            <a:avLst>
              <a:gd name="adj" fmla="val 2907"/>
            </a:avLst>
          </a:prstGeom>
          <a:solidFill>
            <a:srgbClr val="F3F1FC"/>
          </a:solidFill>
          <a:ln w="12700">
            <a:solidFill>
              <a:srgbClr val="E6E2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99448" y="210312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PRAM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299448" y="246888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processors, synchronous shared memory.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9299448" y="296265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algorithm design and lower bounds, abstracting away communication cost.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3712464"/>
            <a:ext cx="2624328" cy="1572768"/>
          </a:xfrm>
          <a:prstGeom prst="roundRect">
            <a:avLst>
              <a:gd name="adj" fmla="val 2907"/>
            </a:avLst>
          </a:prstGeom>
          <a:solidFill>
            <a:srgbClr val="FAF9FE"/>
          </a:solidFill>
          <a:ln w="12700">
            <a:solidFill>
              <a:srgbClr val="E6E2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0664" y="387705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External-memory model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40664" y="424281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block transfers, not instructions; cache-oblivious variants too.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40664" y="47365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real performance once data exceeds cache, where RAM misleads.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55848" y="3712464"/>
            <a:ext cx="2624328" cy="1572768"/>
          </a:xfrm>
          <a:prstGeom prst="roundRect">
            <a:avLst>
              <a:gd name="adj" fmla="val 2907"/>
            </a:avLst>
          </a:prstGeom>
          <a:solidFill>
            <a:srgbClr val="FAF9FE"/>
          </a:solidFill>
          <a:ln w="12700">
            <a:solidFill>
              <a:srgbClr val="E6E2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93592" y="387705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Finite automata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3593592" y="424281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state, no auxiliary memory.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593592" y="47365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Lexing, regular languages, protocols, and the substrate for model checking.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08776" y="3712464"/>
            <a:ext cx="2624328" cy="1572768"/>
          </a:xfrm>
          <a:prstGeom prst="roundRect">
            <a:avLst>
              <a:gd name="adj" fmla="val 2907"/>
            </a:avLst>
          </a:prstGeom>
          <a:solidFill>
            <a:srgbClr val="FAF9FE"/>
          </a:solidFill>
          <a:ln w="12700">
            <a:solidFill>
              <a:srgbClr val="E6E2F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46520" y="387705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calculi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446520" y="424281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agents exchanging messages — CSP, π-calculus, actors.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446520" y="47365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about concurrency, deadlock, and distributed protocol correctness.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061704" y="3712464"/>
            <a:ext cx="2624328" cy="1572768"/>
          </a:xfrm>
          <a:prstGeom prst="roundRect">
            <a:avLst>
              <a:gd name="adj" fmla="val 2907"/>
            </a:avLst>
          </a:prstGeom>
          <a:solidFill>
            <a:srgbClr val="FAF9FE"/>
          </a:solidFill>
          <a:ln w="12700">
            <a:solidFill>
              <a:srgbClr val="E6E2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299448" y="387705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Probabilistic models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9299448" y="424281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Randomised steps; Markov chains; classes such as BPP.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9299448" y="47365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Randomised algorithms, average-case analysis, and probabilistic model checking.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502920" y="5870448"/>
            <a:ext cx="11183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model trades fidelity against tractability: the more faithfully it prices real hardware, the harder it becomes to prove anything in it. State which one you chose, and why.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502920" y="636422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&amp; INDUCTION IN CS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9402775" y="63642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26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PRACTICE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Reasoning to the Research Question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4358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question you are actually asking, then read across. The last column is where the review will land.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38528"/>
            <a:ext cx="3429000" cy="384048"/>
          </a:xfrm>
          <a:prstGeom prst="rect">
            <a:avLst/>
          </a:prstGeom>
          <a:solidFill>
            <a:srgbClr val="241A4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9224" y="1938528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YOU ARE ASKING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931920" y="1938528"/>
            <a:ext cx="1965960" cy="384048"/>
          </a:xfrm>
          <a:prstGeom prst="rect">
            <a:avLst/>
          </a:prstGeom>
          <a:solidFill>
            <a:srgbClr val="241A4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78224" y="1938528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DIRECTION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897880" y="1938528"/>
            <a:ext cx="2798064" cy="384048"/>
          </a:xfrm>
          <a:prstGeom prst="rect">
            <a:avLst/>
          </a:prstGeom>
          <a:solidFill>
            <a:srgbClr val="241A4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44184" y="1938528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LICENSES IT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695944" y="1938528"/>
            <a:ext cx="2990088" cy="384048"/>
          </a:xfrm>
          <a:prstGeom prst="rect">
            <a:avLst/>
          </a:prstGeom>
          <a:solidFill>
            <a:srgbClr val="241A4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42248" y="19385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REVIEWER ATTACKS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2377440"/>
            <a:ext cx="11183112" cy="621792"/>
          </a:xfrm>
          <a:prstGeom prst="rect">
            <a:avLst/>
          </a:prstGeom>
          <a:solidFill>
            <a:srgbClr val="F3F1FC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2377440"/>
            <a:ext cx="50292" cy="621792"/>
          </a:xfrm>
          <a:prstGeom prst="rect">
            <a:avLst/>
          </a:prstGeom>
          <a:solidFill>
            <a:srgbClr val="B452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22376" y="2377440"/>
            <a:ext cx="3044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“Why does this system fail under X?”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096512" y="2377440"/>
            <a:ext cx="16367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Abduction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062472" y="237744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 explanations enumerated and ruled out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860536" y="2377440"/>
            <a:ext cx="2660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explanation you never considered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054096"/>
            <a:ext cx="11183112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3054096"/>
            <a:ext cx="50292" cy="621792"/>
          </a:xfrm>
          <a:prstGeom prst="rect">
            <a:avLst/>
          </a:prstGeom>
          <a:solidFill>
            <a:srgbClr val="D8A73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2376" y="3054096"/>
            <a:ext cx="3044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“Does this property always hold?”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096512" y="3054096"/>
            <a:ext cx="16367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062472" y="3054096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 model with premises stated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860536" y="3054096"/>
            <a:ext cx="2660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premise that fails in deployment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3730752"/>
            <a:ext cx="11183112" cy="621792"/>
          </a:xfrm>
          <a:prstGeom prst="rect">
            <a:avLst/>
          </a:prstGeom>
          <a:solidFill>
            <a:srgbClr val="F3F1FC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3730752"/>
            <a:ext cx="50292" cy="621792"/>
          </a:xfrm>
          <a:prstGeom prst="rect">
            <a:avLst/>
          </a:prstGeom>
          <a:solidFill>
            <a:srgbClr val="3D6EA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22376" y="3730752"/>
            <a:ext cx="3044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“Does this method generalise?”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096512" y="3730752"/>
            <a:ext cx="16367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Induction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062472" y="3730752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design, held-out data, a stated bias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860536" y="3730752"/>
            <a:ext cx="2660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distribution you never sampled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4407408"/>
            <a:ext cx="11183112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502920" y="4407408"/>
            <a:ext cx="50292" cy="621792"/>
          </a:xfrm>
          <a:prstGeom prst="rect">
            <a:avLst/>
          </a:prstGeom>
          <a:solidFill>
            <a:srgbClr val="D8A73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22376" y="4407408"/>
            <a:ext cx="3044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does this algorithm cost?”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096512" y="4407408"/>
            <a:ext cx="16367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Deduction, in a model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062472" y="440740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 model the analysis assumes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8860536" y="4407408"/>
            <a:ext cx="2660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that model prices real hardware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02920" y="5084064"/>
            <a:ext cx="11183112" cy="621792"/>
          </a:xfrm>
          <a:prstGeom prst="rect">
            <a:avLst/>
          </a:prstGeom>
          <a:solidFill>
            <a:srgbClr val="F3F1FC"/>
          </a:solidFill>
          <a:ln/>
        </p:spPr>
      </p:sp>
      <p:sp>
        <p:nvSpPr>
          <p:cNvPr id="38" name="Shape 36"/>
          <p:cNvSpPr/>
          <p:nvPr/>
        </p:nvSpPr>
        <p:spPr>
          <a:xfrm>
            <a:off x="502920" y="5084064"/>
            <a:ext cx="50292" cy="621792"/>
          </a:xfrm>
          <a:prstGeom prst="rect">
            <a:avLst/>
          </a:prstGeom>
          <a:solidFill>
            <a:srgbClr val="B4522B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22376" y="5084064"/>
            <a:ext cx="3044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“Which account of this data is right?”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096512" y="5084064"/>
            <a:ext cx="16367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Abduction, then deduction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6062472" y="5084064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prediction that separates the rivals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8860536" y="5084064"/>
            <a:ext cx="2660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hypotheses predicting the same thing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502920" y="5870448"/>
            <a:ext cx="11183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methodological objections reduce to a mismatch in this table — a question asked in one direction and answered in another.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502920" y="636422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&amp; INDUCTION IN CS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9402775" y="63642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26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PRACTICE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 Failures to Watch For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4358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catalogued argumentative fallacies and Lecture 2 evidential ones. These are their inferential cousins — errors in the direction of travel itself.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38528"/>
            <a:ext cx="3502152" cy="1737360"/>
          </a:xfrm>
          <a:prstGeom prst="roundRect">
            <a:avLst>
              <a:gd name="adj" fmla="val 2632"/>
            </a:avLst>
          </a:prstGeom>
          <a:solidFill>
            <a:srgbClr val="F3F1FC"/>
          </a:solidFill>
          <a:ln w="12700">
            <a:solidFill>
              <a:srgbClr val="E6E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2157984"/>
            <a:ext cx="2990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B08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Affirming the consequent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2706624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“Our theory predicts X. We observed X. Therefore the theory is true.” X may follow from several theories; observing it eliminates none of them on its own.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938528"/>
            <a:ext cx="3502152" cy="1737360"/>
          </a:xfrm>
          <a:prstGeom prst="roundRect">
            <a:avLst>
              <a:gd name="adj" fmla="val 2632"/>
            </a:avLst>
          </a:prstGeom>
          <a:solidFill>
            <a:srgbClr val="F3F1FC"/>
          </a:solidFill>
          <a:ln w="12700">
            <a:solidFill>
              <a:srgbClr val="E6E2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99432" y="2157984"/>
            <a:ext cx="2990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B08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Deductive overreach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99432" y="2706624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a theorem's conclusion as a claim about a running system, when the model's premises were never checked against that system.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83880" y="1938528"/>
            <a:ext cx="3502152" cy="1737360"/>
          </a:xfrm>
          <a:prstGeom prst="roundRect">
            <a:avLst>
              <a:gd name="adj" fmla="val 2632"/>
            </a:avLst>
          </a:prstGeom>
          <a:solidFill>
            <a:srgbClr val="F3F1FC"/>
          </a:solidFill>
          <a:ln w="12700">
            <a:solidFill>
              <a:srgbClr val="E6E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39912" y="2157984"/>
            <a:ext cx="2990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3D6E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convenience sample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439912" y="2706624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Generalising from whatever data was easiest to collect — public repositories, undergraduate participants, one hardware generation — as though it were the population.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895344"/>
            <a:ext cx="3502152" cy="1737360"/>
          </a:xfrm>
          <a:prstGeom prst="roundRect">
            <a:avLst>
              <a:gd name="adj" fmla="val 2632"/>
            </a:avLst>
          </a:prstGeom>
          <a:solidFill>
            <a:srgbClr val="FAF9FE"/>
          </a:solidFill>
          <a:ln w="12700">
            <a:solidFill>
              <a:srgbClr val="E6E2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4114800"/>
            <a:ext cx="2990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B45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Stopping at the first explanation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" y="4663440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abduction that never enumerated rivals, so “best explanation” silently means “the only one that occurred to us.”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43400" y="3895344"/>
            <a:ext cx="3502152" cy="1737360"/>
          </a:xfrm>
          <a:prstGeom prst="roundRect">
            <a:avLst>
              <a:gd name="adj" fmla="val 2632"/>
            </a:avLst>
          </a:prstGeom>
          <a:solidFill>
            <a:srgbClr val="FAF9FE"/>
          </a:solidFill>
          <a:ln w="12700">
            <a:solidFill>
              <a:srgbClr val="E6E2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99432" y="4114800"/>
            <a:ext cx="2990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B45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Confusing the two inductions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99432" y="4663440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a proof by mathematical induction as empirical support, or an empirical trend as though it had been proved. Different obligations, identical vocabulary.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83880" y="3895344"/>
            <a:ext cx="3502152" cy="1737360"/>
          </a:xfrm>
          <a:prstGeom prst="roundRect">
            <a:avLst>
              <a:gd name="adj" fmla="val 2632"/>
            </a:avLst>
          </a:prstGeom>
          <a:solidFill>
            <a:srgbClr val="FAF9FE"/>
          </a:solidFill>
          <a:ln w="12700">
            <a:solidFill>
              <a:srgbClr val="E6E2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39912" y="4114800"/>
            <a:ext cx="2990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3D6E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laundering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439912" y="4663440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Dressing an inductive guess in formal notation so that it inherits deduction's authority without acquiring deduction's guarantees.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36422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&amp; INDUCTION IN CS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9402775" y="63642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26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PRACTICE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Checklist for Your Own Reasoning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26464"/>
            <a:ext cx="11183112" cy="694944"/>
          </a:xfrm>
          <a:prstGeom prst="roundRect">
            <a:avLst>
              <a:gd name="adj" fmla="val 5263"/>
            </a:avLst>
          </a:prstGeom>
          <a:solidFill>
            <a:srgbClr val="F3F1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22376" y="1426464"/>
            <a:ext cx="365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16152" y="1426464"/>
            <a:ext cx="101772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the direction.  </a:t>
            </a:r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central step: deductive, inductive, or abductive? A paper that cannot answer this for its main claim has not yet decided what it is arguing.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11183112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22376" y="2194560"/>
            <a:ext cx="365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16152" y="2194560"/>
            <a:ext cx="101772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Expose the premises, whichever direction you took.  </a:t>
            </a:r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Deduction: which axioms must hold for the theorem to bite? Induction: what population was sampled? Abduction: which rivals were on the table?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962656"/>
            <a:ext cx="11183112" cy="694944"/>
          </a:xfrm>
          <a:prstGeom prst="roundRect">
            <a:avLst>
              <a:gd name="adj" fmla="val 5263"/>
            </a:avLst>
          </a:prstGeom>
          <a:solidFill>
            <a:srgbClr val="F3F1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2376" y="2962656"/>
            <a:ext cx="365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16152" y="2962656"/>
            <a:ext cx="101772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Enumerate before you abduce.  </a:t>
            </a:r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“Best explanation” is empty until at least two candidates exist and you have said what would distinguish them.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730752"/>
            <a:ext cx="11183112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22376" y="3730752"/>
            <a:ext cx="365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16152" y="3730752"/>
            <a:ext cx="101772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the two inductions apart.  </a:t>
            </a:r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and structural induction prove. Empirical induction supports. Never let one word carry both obligations in the same paragraph.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498848"/>
            <a:ext cx="11183112" cy="694944"/>
          </a:xfrm>
          <a:prstGeom prst="roundRect">
            <a:avLst>
              <a:gd name="adj" fmla="val 5263"/>
            </a:avLst>
          </a:prstGeom>
          <a:solidFill>
            <a:srgbClr val="F3F1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2376" y="4498848"/>
            <a:ext cx="365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16152" y="4498848"/>
            <a:ext cx="101772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your model and its level.  </a:t>
            </a:r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 of computation licenses your cost claims, and which of Marr's levels is your contribution at? Both belong in the paper, not in your head.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266944"/>
            <a:ext cx="11183112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22376" y="5266944"/>
            <a:ext cx="365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216152" y="5266944"/>
            <a:ext cx="101772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 what would falsify it.  </a:t>
            </a:r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deductive claim falls to a counter-example or a false premise; an inductive one to a shifted distribution; an abductive one to a better rival.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36422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&amp; INDUCTION IN CS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9402775" y="63642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26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PRACTICE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43584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pairs, ten minutes. Bring one answer back for class critique.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2029968"/>
            <a:ext cx="384048" cy="384048"/>
          </a:xfrm>
          <a:prstGeom prst="ellipse">
            <a:avLst/>
          </a:prstGeom>
          <a:solidFill>
            <a:srgbClr val="241A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52728" y="1975104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theorem from your own area and write out its premises as a numbered list. Which premise is most likely to be false in a system you have actually run — and what would that do to the conclusion?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3072384"/>
            <a:ext cx="384048" cy="384048"/>
          </a:xfrm>
          <a:prstGeom prst="ellipse">
            <a:avLst/>
          </a:prstGeom>
          <a:solidFill>
            <a:srgbClr val="B08C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52728" y="30175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machine-learning or empirical software-engineering paper. What is its inductive bias, and where in the paper is it stated? If it is not stated, what would you have to know to reproduce the result?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4114800"/>
            <a:ext cx="384048" cy="384048"/>
          </a:xfrm>
          <a:prstGeom prst="ellipse">
            <a:avLst/>
          </a:prstGeom>
          <a:solidFill>
            <a:srgbClr val="241A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52728" y="4059936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a bug you have debugged as an abduction. Which hypotheses did you hold at once, and what observation finally discriminated between them?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5157216"/>
            <a:ext cx="384048" cy="384048"/>
          </a:xfrm>
          <a:prstGeom prst="ellipse">
            <a:avLst/>
          </a:prstGeom>
          <a:solidFill>
            <a:srgbClr val="B08C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5157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52728" y="510235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performance claim from any paper. Which model of computation does its cost argument assume, and does that model price the hardware you would run it on?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36422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&amp; INDUCTION IN CS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9402775" y="63642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26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B0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517904"/>
            <a:ext cx="384048" cy="384048"/>
          </a:xfrm>
          <a:prstGeom prst="ellipse">
            <a:avLst/>
          </a:prstGeom>
          <a:solidFill>
            <a:srgbClr val="B08C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52728" y="1463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preserves truth but adds no content; induction adds content but cannot preserve truth; abduction generates the hypotheses on which the other two go to work. Research needs all three, in that cycle.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2487168"/>
            <a:ext cx="384048" cy="384048"/>
          </a:xfrm>
          <a:prstGeom prst="ellipse">
            <a:avLst/>
          </a:prstGeom>
          <a:solidFill>
            <a:srgbClr val="241A4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52728" y="2432304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and structural induction are deductive despite the name. Confusing them with empirical induction lets a hope be read as a guarantee — the most consequential terminological slip in CS writing.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3456432"/>
            <a:ext cx="384048" cy="384048"/>
          </a:xfrm>
          <a:prstGeom prst="ellipse">
            <a:avLst/>
          </a:prstGeom>
          <a:solidFill>
            <a:srgbClr val="B08C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52728" y="340156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in CS happens inside a formal system, and delivers exactly the strength of its premises: soundness, completeness, and the chosen model are all part of the claim.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4425696"/>
            <a:ext cx="384048" cy="384048"/>
          </a:xfrm>
          <a:prstGeom prst="ellipse">
            <a:avLst/>
          </a:prstGeom>
          <a:solidFill>
            <a:srgbClr val="241A4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4425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52728" y="437083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Induction is only possible because of inductive bias. No-free-lunch says an assumption-free learner cannot generalise; PAC theory bounds how much data a stated bias needs. So state the bias.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5394960"/>
            <a:ext cx="384048" cy="384048"/>
          </a:xfrm>
          <a:prstGeom prst="ellipse">
            <a:avLst/>
          </a:prstGeom>
          <a:solidFill>
            <a:srgbClr val="B08C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5394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52728" y="5340096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theoretical model is a deliberate simplification adopted to make deduction possible. Name the model, name its level in Marr's sense, and name where its predictions stop.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36422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&amp; INDUCTION IN CS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9402775" y="63642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26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Further Reading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426464"/>
            <a:ext cx="11183112" cy="502920"/>
          </a:xfrm>
          <a:prstGeom prst="rect">
            <a:avLst/>
          </a:prstGeom>
          <a:solidFill>
            <a:srgbClr val="F3F1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58952" y="1426464"/>
            <a:ext cx="10671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Peirce, C. S.  </a:t>
            </a:r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“Deduction, Induction, and Hypothesis.” Popular Science Monthly, 1878; Collected Papers, Vol. 2.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947672"/>
            <a:ext cx="10671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Hoare, C. A. R.  </a:t>
            </a:r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 Axiomatic Basis for Computer Programming.” Communications of the ACM, 1969.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2468880"/>
            <a:ext cx="11183112" cy="502920"/>
          </a:xfrm>
          <a:prstGeom prst="rect">
            <a:avLst/>
          </a:prstGeom>
          <a:solidFill>
            <a:srgbClr val="F3F1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8952" y="2468880"/>
            <a:ext cx="10671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Pierce, B. C.  </a:t>
            </a:r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and Programming Languages. MIT Press, 2002. — progress, preservation, and structural induction.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2990088"/>
            <a:ext cx="10671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Winskel, G.  </a:t>
            </a:r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Formal Semantics of Programming Languages. MIT Press, 1993.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3511296"/>
            <a:ext cx="11183112" cy="502920"/>
          </a:xfrm>
          <a:prstGeom prst="rect">
            <a:avLst/>
          </a:prstGeom>
          <a:solidFill>
            <a:srgbClr val="F3F1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58952" y="3511296"/>
            <a:ext cx="10671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Clarke, E. M., Grumberg, O. &amp; Peled, D.  </a:t>
            </a:r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Checking. MIT Press, 1999. — exhaustive deduction and state explosion.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58952" y="4032504"/>
            <a:ext cx="10671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Valiant, L. G.  </a:t>
            </a:r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Theory of the Learnable.” Communications of the ACM, 1984. — the PAC framework.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4553712"/>
            <a:ext cx="11183112" cy="502920"/>
          </a:xfrm>
          <a:prstGeom prst="rect">
            <a:avLst/>
          </a:prstGeom>
          <a:solidFill>
            <a:srgbClr val="F3F1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58952" y="4553712"/>
            <a:ext cx="10671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Shalev-Shwartz, S. &amp; Ben-David, S.  </a:t>
            </a:r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Machine Learning: From Theory to Algorithms. Cambridge University Press, 2014.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58952" y="5074920"/>
            <a:ext cx="10671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Wolpert, D. H. &amp; Macready, W. G.  </a:t>
            </a:r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Free Lunch Theorems for Optimization.” IEEE Trans. Evolutionary Computation, 1997.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5596128"/>
            <a:ext cx="11183112" cy="502920"/>
          </a:xfrm>
          <a:prstGeom prst="rect">
            <a:avLst/>
          </a:prstGeom>
          <a:solidFill>
            <a:srgbClr val="F3F1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58952" y="5596128"/>
            <a:ext cx="10671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241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Marr, D.  </a:t>
            </a:r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5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Vision. Freeman, 1982. — the three levels of analysis, Chapter 1.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36422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&amp; INDUCTION IN CS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9402775" y="63642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Deduction and Induction in Computer Science</dc:title>
  <dc:subject>Unit II, Lecture 3 - Deduction and Induction; Theoretical Models</dc:subject>
  <dc:creator>Research Methodology in CS</dc:creator>
  <cp:lastModifiedBy>Research Methodology in CS</cp:lastModifiedBy>
  <cp:revision>1</cp:revision>
  <dcterms:created xsi:type="dcterms:W3CDTF">2026-09-06T11:04:32Z</dcterms:created>
  <dcterms:modified xsi:type="dcterms:W3CDTF">2026-09-06T11:04:32Z</dcterms:modified>
</cp:coreProperties>
</file>