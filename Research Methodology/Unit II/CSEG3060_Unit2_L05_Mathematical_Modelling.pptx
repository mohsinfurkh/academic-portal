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53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535"/>
          </a:solidFill>
          <a:ln/>
        </p:spPr>
      </p:sp>
      <p:sp>
        <p:nvSpPr>
          <p:cNvPr id="3" name="Shape 1"/>
          <p:cNvSpPr/>
          <p:nvPr/>
        </p:nvSpPr>
        <p:spPr>
          <a:xfrm>
            <a:off x="8522208" y="4041648"/>
            <a:ext cx="2121408" cy="2121408"/>
          </a:xfrm>
          <a:prstGeom prst="ellipse">
            <a:avLst/>
          </a:prstGeom>
          <a:solidFill>
            <a:srgbClr val="3D6EA6">
              <a:alpha val="55000"/>
            </a:srgbClr>
          </a:solidFill>
          <a:ln/>
        </p:spPr>
      </p:sp>
      <p:sp>
        <p:nvSpPr>
          <p:cNvPr id="4" name="Shape 2"/>
          <p:cNvSpPr/>
          <p:nvPr/>
        </p:nvSpPr>
        <p:spPr>
          <a:xfrm>
            <a:off x="9198864" y="3310128"/>
            <a:ext cx="2121408" cy="2121408"/>
          </a:xfrm>
          <a:prstGeom prst="ellipse">
            <a:avLst/>
          </a:prstGeom>
          <a:solidFill>
            <a:srgbClr val="D8A73E">
              <a:alpha val="55000"/>
            </a:srgbClr>
          </a:solidFill>
          <a:ln w="9525">
            <a:solidFill>
              <a:srgbClr val="D8A73E">
                <a:alpha val="60000"/>
              </a:srgbClr>
            </a:solidFill>
            <a:prstDash val="solid"/>
          </a:ln>
        </p:spPr>
      </p:sp>
      <p:sp>
        <p:nvSpPr>
          <p:cNvPr id="5" name="Shape 3"/>
          <p:cNvSpPr/>
          <p:nvPr/>
        </p:nvSpPr>
        <p:spPr>
          <a:xfrm>
            <a:off x="9802368" y="4169664"/>
            <a:ext cx="2121408" cy="2121408"/>
          </a:xfrm>
          <a:prstGeom prst="ellipse">
            <a:avLst/>
          </a:prstGeom>
          <a:solidFill>
            <a:srgbClr val="B4522B">
              <a:alpha val="55000"/>
            </a:srgbClr>
          </a:solidFill>
          <a:ln/>
        </p:spPr>
      </p:sp>
      <p:sp>
        <p:nvSpPr>
          <p:cNvPr id="6" name="Text 4"/>
          <p:cNvSpPr txBox="1"/>
          <p:nvPr/>
        </p:nvSpPr>
        <p:spPr>
          <a:xfrm>
            <a:off x="804672" y="1389888"/>
            <a:ext cx="7315200" cy="256032"/>
          </a:xfrm>
          <a:prstGeom prst="rect">
            <a:avLst/>
          </a:prstGeom>
          <a:noFill/>
          <a:ln/>
        </p:spPr>
        <p:txBody>
          <a:bodyPr wrap="square" lIns="0" tIns="0" rIns="0" bIns="0" rtlCol="0" anchor="ctr"/>
          <a:lstStyle/>
          <a:p>
            <a:pPr indent="0" marL="0">
              <a:buNone/>
            </a:pPr>
            <a:r>
              <a:rPr lang="en-US" sz="1000" b="1" spc="190" kern="0" dirty="0">
                <a:solidFill>
                  <a:srgbClr val="D8A73E"/>
                </a:solidFill>
                <a:latin typeface="Calibri" pitchFamily="34" charset="0"/>
                <a:ea typeface="Calibri" pitchFamily="34" charset="-122"/>
                <a:cs typeface="Calibri" pitchFamily="34" charset="-120"/>
              </a:rPr>
              <a:t>A LESSON IN RESEARCH METHODOLOGY</a:t>
            </a:r>
            <a:endParaRPr lang="en-US" sz="1000" dirty="0"/>
          </a:p>
        </p:txBody>
      </p:sp>
      <p:sp>
        <p:nvSpPr>
          <p:cNvPr id="7" name="Text 5"/>
          <p:cNvSpPr txBox="1"/>
          <p:nvPr/>
        </p:nvSpPr>
        <p:spPr>
          <a:xfrm>
            <a:off x="768096" y="1847088"/>
            <a:ext cx="8778240" cy="1572768"/>
          </a:xfrm>
          <a:prstGeom prst="rect">
            <a:avLst/>
          </a:prstGeom>
          <a:noFill/>
          <a:ln/>
        </p:spPr>
        <p:txBody>
          <a:bodyPr wrap="square" lIns="0" tIns="0" rIns="0" bIns="0" rtlCol="0" anchor="ctr"/>
          <a:lstStyle/>
          <a:p>
            <a:pPr indent="0" marL="0">
              <a:lnSpc>
                <a:spcPct val="106000"/>
              </a:lnSpc>
              <a:buNone/>
            </a:pPr>
            <a:r>
              <a:rPr lang="en-US" sz="4100" b="1" dirty="0">
                <a:solidFill>
                  <a:srgbClr val="FFFFFF"/>
                </a:solidFill>
                <a:latin typeface="Cambria" pitchFamily="34" charset="0"/>
                <a:ea typeface="Cambria" pitchFamily="34" charset="-122"/>
                <a:cs typeface="Cambria" pitchFamily="34" charset="-120"/>
              </a:rPr>
              <a:t>Mathematical Modelling</a:t>
            </a:r>
            <a:endParaRPr lang="en-US" sz="4100" dirty="0"/>
          </a:p>
          <a:p>
            <a:pPr indent="0" marL="0">
              <a:lnSpc>
                <a:spcPct val="106000"/>
              </a:lnSpc>
              <a:buNone/>
            </a:pPr>
            <a:r>
              <a:rPr lang="en-US" sz="4100" b="1" dirty="0">
                <a:solidFill>
                  <a:srgbClr val="FFFFFF"/>
                </a:solidFill>
                <a:latin typeface="Cambria" pitchFamily="34" charset="0"/>
                <a:ea typeface="Cambria" pitchFamily="34" charset="-122"/>
                <a:cs typeface="Cambria" pitchFamily="34" charset="-120"/>
              </a:rPr>
              <a:t>in Computing Science</a:t>
            </a:r>
            <a:endParaRPr lang="en-US" sz="4100" dirty="0"/>
          </a:p>
        </p:txBody>
      </p:sp>
      <p:sp>
        <p:nvSpPr>
          <p:cNvPr id="8" name="Text 6"/>
          <p:cNvSpPr txBox="1"/>
          <p:nvPr/>
        </p:nvSpPr>
        <p:spPr>
          <a:xfrm>
            <a:off x="804672" y="3767328"/>
            <a:ext cx="8229600" cy="329184"/>
          </a:xfrm>
          <a:prstGeom prst="rect">
            <a:avLst/>
          </a:prstGeom>
          <a:noFill/>
          <a:ln/>
        </p:spPr>
        <p:txBody>
          <a:bodyPr wrap="square" lIns="0" tIns="0" rIns="0" bIns="0" rtlCol="0" anchor="ctr"/>
          <a:lstStyle/>
          <a:p>
            <a:pPr indent="0" marL="0">
              <a:buNone/>
            </a:pPr>
            <a:r>
              <a:rPr lang="en-US" sz="1600" i="1" dirty="0">
                <a:solidFill>
                  <a:srgbClr val="E4DFFA"/>
                </a:solidFill>
                <a:latin typeface="Cambria" pitchFamily="34" charset="0"/>
                <a:ea typeface="Cambria" pitchFamily="34" charset="-122"/>
                <a:cs typeface="Cambria" pitchFamily="34" charset="-120"/>
              </a:rPr>
              <a:t>Abstraction, Derivation, and Validation</a:t>
            </a:r>
            <a:endParaRPr lang="en-US" sz="1600" dirty="0"/>
          </a:p>
        </p:txBody>
      </p:sp>
      <p:sp>
        <p:nvSpPr>
          <p:cNvPr id="9" name="Shape 7"/>
          <p:cNvSpPr/>
          <p:nvPr/>
        </p:nvSpPr>
        <p:spPr>
          <a:xfrm>
            <a:off x="804672" y="4315968"/>
            <a:ext cx="2377440" cy="0"/>
          </a:xfrm>
          <a:prstGeom prst="line">
            <a:avLst/>
          </a:prstGeom>
          <a:noFill/>
          <a:ln w="12700">
            <a:solidFill>
              <a:srgbClr val="6E688F"/>
            </a:solidFill>
            <a:prstDash val="solid"/>
          </a:ln>
        </p:spPr>
      </p:sp>
      <p:sp>
        <p:nvSpPr>
          <p:cNvPr id="10" name="Text 8"/>
          <p:cNvSpPr txBox="1"/>
          <p:nvPr/>
        </p:nvSpPr>
        <p:spPr>
          <a:xfrm>
            <a:off x="804672" y="4572000"/>
            <a:ext cx="7680960" cy="658368"/>
          </a:xfrm>
          <a:prstGeom prst="rect">
            <a:avLst/>
          </a:prstGeom>
          <a:noFill/>
          <a:ln/>
        </p:spPr>
        <p:txBody>
          <a:bodyPr wrap="square" lIns="0" tIns="0" rIns="0" bIns="0" rtlCol="0" anchor="t"/>
          <a:lstStyle/>
          <a:p>
            <a:pPr indent="0" marL="0">
              <a:lnSpc>
                <a:spcPct val="125000"/>
              </a:lnSpc>
              <a:buNone/>
            </a:pPr>
            <a:r>
              <a:rPr lang="en-US" sz="1150" dirty="0">
                <a:solidFill>
                  <a:srgbClr val="CFCAE6"/>
                </a:solidFill>
                <a:latin typeface="Calibri" pitchFamily="34" charset="0"/>
                <a:ea typeface="Calibri" pitchFamily="34" charset="-122"/>
                <a:cs typeface="Calibri" pitchFamily="34" charset="-120"/>
              </a:rPr>
              <a:t>How to reason quantitatively about a system you have not built, or cannot afford to measure —</a:t>
            </a:r>
            <a:endParaRPr lang="en-US" sz="1150" dirty="0"/>
          </a:p>
          <a:p>
            <a:pPr indent="0" marL="0">
              <a:lnSpc>
                <a:spcPct val="125000"/>
              </a:lnSpc>
              <a:buNone/>
            </a:pPr>
            <a:r>
              <a:rPr lang="en-US" sz="1150" dirty="0">
                <a:solidFill>
                  <a:srgbClr val="CFCAE6"/>
                </a:solidFill>
                <a:latin typeface="Calibri" pitchFamily="34" charset="0"/>
                <a:ea typeface="Calibri" pitchFamily="34" charset="-122"/>
                <a:cs typeface="Calibri" pitchFamily="34" charset="-120"/>
              </a:rPr>
              <a:t>and how to establish that the reasoning is worth anything.</a:t>
            </a:r>
            <a:endParaRPr lang="en-US" sz="1150" dirty="0"/>
          </a:p>
        </p:txBody>
      </p:sp>
      <p:sp>
        <p:nvSpPr>
          <p:cNvPr id="11" name="Text 9"/>
          <p:cNvSpPr txBox="1"/>
          <p:nvPr/>
        </p:nvSpPr>
        <p:spPr>
          <a:xfrm>
            <a:off x="804672" y="5797296"/>
            <a:ext cx="6400800" cy="237744"/>
          </a:xfrm>
          <a:prstGeom prst="rect">
            <a:avLst/>
          </a:prstGeom>
          <a:noFill/>
          <a:ln/>
        </p:spPr>
        <p:txBody>
          <a:bodyPr wrap="square" lIns="0" tIns="0" rIns="0" bIns="0" rtlCol="0" anchor="ctr"/>
          <a:lstStyle/>
          <a:p>
            <a:pPr indent="0" marL="0">
              <a:buNone/>
            </a:pPr>
            <a:r>
              <a:rPr lang="en-US" sz="900" dirty="0">
                <a:solidFill>
                  <a:srgbClr val="6E688F"/>
                </a:solidFill>
                <a:latin typeface="Calibri" pitchFamily="34" charset="0"/>
                <a:ea typeface="Calibri" pitchFamily="34" charset="-122"/>
                <a:cs typeface="Calibri" pitchFamily="34" charset="-120"/>
              </a:rPr>
              <a:t>Research Methodology in CS   ·   Unit II · Lecture 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A MODEL IS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Why Build a Model at All?</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A mathematical model is the bridge between Lecture 3's theoretical models and Lecture 4's measurements: it lets you reason quantitatively about a system that does not yet exist.</a:t>
            </a:r>
            <a:endParaRPr lang="en-US" sz="1250" dirty="0"/>
          </a:p>
        </p:txBody>
      </p:sp>
      <p:sp>
        <p:nvSpPr>
          <p:cNvPr id="5" name="Shape 3"/>
          <p:cNvSpPr/>
          <p:nvPr/>
        </p:nvSpPr>
        <p:spPr>
          <a:xfrm>
            <a:off x="502920" y="1956816"/>
            <a:ext cx="310896" cy="310896"/>
          </a:xfrm>
          <a:prstGeom prst="ellipse">
            <a:avLst/>
          </a:prstGeom>
          <a:solidFill>
            <a:srgbClr val="241A4C"/>
          </a:solidFill>
          <a:ln/>
        </p:spPr>
      </p:sp>
      <p:sp>
        <p:nvSpPr>
          <p:cNvPr id="6" name="Text 4"/>
          <p:cNvSpPr txBox="1"/>
          <p:nvPr/>
        </p:nvSpPr>
        <p:spPr>
          <a:xfrm>
            <a:off x="502920" y="1956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005840" y="1911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Models answer questions measurement cannot. What happens at ten times the load? Where would the bottleneck move under a different arrival pattern? What is the optimum, rather than merely what this configuration happened to achieve?</a:t>
            </a:r>
            <a:endParaRPr lang="en-US" sz="1150" dirty="0"/>
          </a:p>
        </p:txBody>
      </p:sp>
      <p:sp>
        <p:nvSpPr>
          <p:cNvPr id="8" name="Shape 6"/>
          <p:cNvSpPr/>
          <p:nvPr/>
        </p:nvSpPr>
        <p:spPr>
          <a:xfrm>
            <a:off x="502920" y="3099816"/>
            <a:ext cx="310896" cy="310896"/>
          </a:xfrm>
          <a:prstGeom prst="ellipse">
            <a:avLst/>
          </a:prstGeom>
          <a:solidFill>
            <a:srgbClr val="3D6EA6"/>
          </a:solidFill>
          <a:ln/>
        </p:spPr>
      </p:sp>
      <p:sp>
        <p:nvSpPr>
          <p:cNvPr id="9" name="Text 7"/>
          <p:cNvSpPr txBox="1"/>
          <p:nvPr/>
        </p:nvSpPr>
        <p:spPr>
          <a:xfrm>
            <a:off x="502920" y="3099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005840" y="3054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A model is a deliberate simplification built for a purpose. Its worth is not how faithful it is, but how useful its predictions are within a stated scope — the same fidelity-against-tractability trade Lecture 3 named for models of computation.</a:t>
            </a:r>
            <a:endParaRPr lang="en-US" sz="1150" dirty="0"/>
          </a:p>
        </p:txBody>
      </p:sp>
      <p:sp>
        <p:nvSpPr>
          <p:cNvPr id="11" name="Shape 9"/>
          <p:cNvSpPr/>
          <p:nvPr/>
        </p:nvSpPr>
        <p:spPr>
          <a:xfrm>
            <a:off x="502920" y="4242816"/>
            <a:ext cx="310896" cy="310896"/>
          </a:xfrm>
          <a:prstGeom prst="ellipse">
            <a:avLst/>
          </a:prstGeom>
          <a:solidFill>
            <a:srgbClr val="241A4C"/>
          </a:solidFill>
          <a:ln/>
        </p:spPr>
      </p:sp>
      <p:sp>
        <p:nvSpPr>
          <p:cNvPr id="12" name="Text 10"/>
          <p:cNvSpPr txBox="1"/>
          <p:nvPr/>
        </p:nvSpPr>
        <p:spPr>
          <a:xfrm>
            <a:off x="502920" y="4242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005840" y="4197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In computing science the thing modelled is almost always a resource under contention: queues, caches, links, schedulers, and the workloads driving them. That is why queueing and Markov models dominate the field's toolkit.</a:t>
            </a:r>
            <a:endParaRPr lang="en-US" sz="1150" dirty="0"/>
          </a:p>
        </p:txBody>
      </p:sp>
      <p:sp>
        <p:nvSpPr>
          <p:cNvPr id="14" name="Shape 12"/>
          <p:cNvSpPr/>
          <p:nvPr/>
        </p:nvSpPr>
        <p:spPr>
          <a:xfrm>
            <a:off x="502920" y="5385816"/>
            <a:ext cx="310896" cy="310896"/>
          </a:xfrm>
          <a:prstGeom prst="ellipse">
            <a:avLst/>
          </a:prstGeom>
          <a:solidFill>
            <a:srgbClr val="3D6EA6"/>
          </a:solidFill>
          <a:ln/>
        </p:spPr>
      </p:sp>
      <p:sp>
        <p:nvSpPr>
          <p:cNvPr id="15" name="Text 13"/>
          <p:cNvSpPr txBox="1"/>
          <p:nvPr/>
        </p:nvSpPr>
        <p:spPr>
          <a:xfrm>
            <a:off x="502920" y="5385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005840" y="5340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The mathematics is the easy half. The hard half is deciding what to leave out, saying so, and then establishing that what remains still predicts anything.</a:t>
            </a:r>
            <a:endParaRPr lang="en-US" sz="1150" dirty="0"/>
          </a:p>
        </p:txBody>
      </p:sp>
      <p:sp>
        <p:nvSpPr>
          <p:cNvPr id="17" name="Shape 15"/>
          <p:cNvSpPr/>
          <p:nvPr/>
        </p:nvSpPr>
        <p:spPr>
          <a:xfrm>
            <a:off x="7571232" y="1883664"/>
            <a:ext cx="4114800" cy="4169664"/>
          </a:xfrm>
          <a:prstGeom prst="roundRect">
            <a:avLst>
              <a:gd name="adj" fmla="val 1111"/>
            </a:avLst>
          </a:prstGeom>
          <a:solidFill>
            <a:srgbClr val="F3F1FC"/>
          </a:solidFill>
          <a:ln/>
        </p:spPr>
      </p:sp>
      <p:sp>
        <p:nvSpPr>
          <p:cNvPr id="18" name="Text 16"/>
          <p:cNvSpPr txBox="1"/>
          <p:nvPr/>
        </p:nvSpPr>
        <p:spPr>
          <a:xfrm>
            <a:off x="7845552" y="2139696"/>
            <a:ext cx="3566160"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MODELLER'S BARGAIN</a:t>
            </a:r>
            <a:endParaRPr lang="en-US" sz="850" dirty="0"/>
          </a:p>
        </p:txBody>
      </p:sp>
      <p:sp>
        <p:nvSpPr>
          <p:cNvPr id="19" name="Text 17"/>
          <p:cNvSpPr txBox="1"/>
          <p:nvPr/>
        </p:nvSpPr>
        <p:spPr>
          <a:xfrm>
            <a:off x="7845552" y="2505456"/>
            <a:ext cx="3566160" cy="1005840"/>
          </a:xfrm>
          <a:prstGeom prst="rect">
            <a:avLst/>
          </a:prstGeom>
          <a:noFill/>
          <a:ln/>
        </p:spPr>
        <p:txBody>
          <a:bodyPr wrap="square" lIns="0" tIns="0" rIns="0" bIns="0" rtlCol="0" anchor="t"/>
          <a:lstStyle/>
          <a:p>
            <a:pPr indent="0" marL="0">
              <a:lnSpc>
                <a:spcPct val="120000"/>
              </a:lnSpc>
              <a:buNone/>
            </a:pPr>
            <a:r>
              <a:rPr lang="en-US" sz="1450" dirty="0">
                <a:solidFill>
                  <a:srgbClr val="241A4C"/>
                </a:solidFill>
                <a:latin typeface="Cambria" pitchFamily="34" charset="0"/>
                <a:ea typeface="Cambria" pitchFamily="34" charset="-122"/>
                <a:cs typeface="Cambria" pitchFamily="34" charset="-120"/>
              </a:rPr>
              <a:t>Every simplification buys tractability and spends fidelity. A model is honest when it says what it spent.</a:t>
            </a:r>
            <a:endParaRPr lang="en-US" sz="1450" dirty="0"/>
          </a:p>
        </p:txBody>
      </p:sp>
      <p:sp>
        <p:nvSpPr>
          <p:cNvPr id="20" name="Text 18"/>
          <p:cNvSpPr txBox="1"/>
          <p:nvPr/>
        </p:nvSpPr>
        <p:spPr>
          <a:xfrm>
            <a:off x="7845552" y="3639312"/>
            <a:ext cx="3566160" cy="118872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Which is why the question is never “is this model true?”. It is “is this model adequate for the question I am asking, over the range I am asking it in?”</a:t>
            </a:r>
            <a:endParaRPr lang="en-US" sz="1100" dirty="0"/>
          </a:p>
        </p:txBody>
      </p:sp>
      <p:sp>
        <p:nvSpPr>
          <p:cNvPr id="21" name="Shape 19"/>
          <p:cNvSpPr/>
          <p:nvPr/>
        </p:nvSpPr>
        <p:spPr>
          <a:xfrm>
            <a:off x="7845552" y="5047488"/>
            <a:ext cx="1371600" cy="0"/>
          </a:xfrm>
          <a:prstGeom prst="line">
            <a:avLst/>
          </a:prstGeom>
          <a:noFill/>
          <a:ln w="15875">
            <a:solidFill>
              <a:srgbClr val="D8A73E"/>
            </a:solidFill>
            <a:prstDash val="solid"/>
          </a:ln>
        </p:spPr>
      </p:sp>
      <p:sp>
        <p:nvSpPr>
          <p:cNvPr id="22" name="Text 20"/>
          <p:cNvSpPr txBox="1"/>
          <p:nvPr/>
        </p:nvSpPr>
        <p:spPr>
          <a:xfrm>
            <a:off x="7845552" y="5212080"/>
            <a:ext cx="3566160" cy="457200"/>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Adequacy is a claim about scope — so scope must be reported.</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 / 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A MODEL IS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Anatomy of a Model</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Six components. Papers routinely publish the first four and omit the last two — which are precisely the ones a reader needs in order to reuse or challenge the model.</a:t>
            </a:r>
            <a:endParaRPr lang="en-US" sz="1250" dirty="0"/>
          </a:p>
        </p:txBody>
      </p:sp>
      <p:sp>
        <p:nvSpPr>
          <p:cNvPr id="5" name="Shape 3"/>
          <p:cNvSpPr/>
          <p:nvPr/>
        </p:nvSpPr>
        <p:spPr>
          <a:xfrm>
            <a:off x="502920" y="1938528"/>
            <a:ext cx="3502152" cy="1883664"/>
          </a:xfrm>
          <a:prstGeom prst="roundRect">
            <a:avLst>
              <a:gd name="adj" fmla="val 2427"/>
            </a:avLst>
          </a:prstGeom>
          <a:solidFill>
            <a:srgbClr val="F3F1FC"/>
          </a:solidFill>
          <a:ln w="12700">
            <a:solidFill>
              <a:srgbClr val="E6E2F5"/>
            </a:solidFill>
            <a:prstDash val="solid"/>
          </a:ln>
        </p:spPr>
      </p:sp>
      <p:sp>
        <p:nvSpPr>
          <p:cNvPr id="6" name="Shape 4"/>
          <p:cNvSpPr/>
          <p:nvPr/>
        </p:nvSpPr>
        <p:spPr>
          <a:xfrm>
            <a:off x="758952" y="2157984"/>
            <a:ext cx="292608" cy="292608"/>
          </a:xfrm>
          <a:prstGeom prst="ellipse">
            <a:avLst/>
          </a:prstGeom>
          <a:solidFill>
            <a:srgbClr val="3D6EA6"/>
          </a:solidFill>
          <a:ln/>
        </p:spPr>
      </p:sp>
      <p:sp>
        <p:nvSpPr>
          <p:cNvPr id="7" name="Text 5"/>
          <p:cNvSpPr txBox="1"/>
          <p:nvPr/>
        </p:nvSpPr>
        <p:spPr>
          <a:xfrm>
            <a:off x="758952" y="215798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143000" y="2121408"/>
            <a:ext cx="2606040" cy="38404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Entities</a:t>
            </a:r>
            <a:endParaRPr lang="en-US" sz="1450" dirty="0"/>
          </a:p>
        </p:txBody>
      </p:sp>
      <p:sp>
        <p:nvSpPr>
          <p:cNvPr id="9" name="Text 7"/>
          <p:cNvSpPr txBox="1"/>
          <p:nvPr/>
        </p:nvSpPr>
        <p:spPr>
          <a:xfrm>
            <a:off x="758952" y="2615184"/>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The things the model contains: jobs, servers, packets, nodes, processes, users. Choosing them is already an act of abstraction.</a:t>
            </a:r>
            <a:endParaRPr lang="en-US" sz="1050" dirty="0"/>
          </a:p>
        </p:txBody>
      </p:sp>
      <p:sp>
        <p:nvSpPr>
          <p:cNvPr id="10" name="Shape 8"/>
          <p:cNvSpPr/>
          <p:nvPr/>
        </p:nvSpPr>
        <p:spPr>
          <a:xfrm>
            <a:off x="4343400" y="1938528"/>
            <a:ext cx="3502152" cy="1883664"/>
          </a:xfrm>
          <a:prstGeom prst="roundRect">
            <a:avLst>
              <a:gd name="adj" fmla="val 2427"/>
            </a:avLst>
          </a:prstGeom>
          <a:solidFill>
            <a:srgbClr val="F3F1FC"/>
          </a:solidFill>
          <a:ln w="12700">
            <a:solidFill>
              <a:srgbClr val="E6E2F5"/>
            </a:solidFill>
            <a:prstDash val="solid"/>
          </a:ln>
        </p:spPr>
      </p:sp>
      <p:sp>
        <p:nvSpPr>
          <p:cNvPr id="11" name="Shape 9"/>
          <p:cNvSpPr/>
          <p:nvPr/>
        </p:nvSpPr>
        <p:spPr>
          <a:xfrm>
            <a:off x="4599432" y="2157984"/>
            <a:ext cx="292608" cy="292608"/>
          </a:xfrm>
          <a:prstGeom prst="ellipse">
            <a:avLst/>
          </a:prstGeom>
          <a:solidFill>
            <a:srgbClr val="3D6EA6"/>
          </a:solidFill>
          <a:ln/>
        </p:spPr>
      </p:sp>
      <p:sp>
        <p:nvSpPr>
          <p:cNvPr id="12" name="Text 10"/>
          <p:cNvSpPr txBox="1"/>
          <p:nvPr/>
        </p:nvSpPr>
        <p:spPr>
          <a:xfrm>
            <a:off x="4599432" y="215798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4983480" y="2121408"/>
            <a:ext cx="2606040" cy="38404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State variables</a:t>
            </a:r>
            <a:endParaRPr lang="en-US" sz="1450" dirty="0"/>
          </a:p>
        </p:txBody>
      </p:sp>
      <p:sp>
        <p:nvSpPr>
          <p:cNvPr id="14" name="Text 12"/>
          <p:cNvSpPr txBox="1"/>
          <p:nvPr/>
        </p:nvSpPr>
        <p:spPr>
          <a:xfrm>
            <a:off x="4599432" y="2615184"/>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What changes over time: queue length, cache contents, number in system, remaining work. The state is what the model must track to keep predicting.</a:t>
            </a:r>
            <a:endParaRPr lang="en-US" sz="1050" dirty="0"/>
          </a:p>
        </p:txBody>
      </p:sp>
      <p:sp>
        <p:nvSpPr>
          <p:cNvPr id="15" name="Shape 13"/>
          <p:cNvSpPr/>
          <p:nvPr/>
        </p:nvSpPr>
        <p:spPr>
          <a:xfrm>
            <a:off x="8183880" y="1938528"/>
            <a:ext cx="3502152" cy="1883664"/>
          </a:xfrm>
          <a:prstGeom prst="roundRect">
            <a:avLst>
              <a:gd name="adj" fmla="val 2427"/>
            </a:avLst>
          </a:prstGeom>
          <a:solidFill>
            <a:srgbClr val="F3F1FC"/>
          </a:solidFill>
          <a:ln w="12700">
            <a:solidFill>
              <a:srgbClr val="E6E2F5"/>
            </a:solidFill>
            <a:prstDash val="solid"/>
          </a:ln>
        </p:spPr>
      </p:sp>
      <p:sp>
        <p:nvSpPr>
          <p:cNvPr id="16" name="Shape 14"/>
          <p:cNvSpPr/>
          <p:nvPr/>
        </p:nvSpPr>
        <p:spPr>
          <a:xfrm>
            <a:off x="8439912" y="2157984"/>
            <a:ext cx="292608" cy="292608"/>
          </a:xfrm>
          <a:prstGeom prst="ellipse">
            <a:avLst/>
          </a:prstGeom>
          <a:solidFill>
            <a:srgbClr val="3D6EA6"/>
          </a:solidFill>
          <a:ln/>
        </p:spPr>
      </p:sp>
      <p:sp>
        <p:nvSpPr>
          <p:cNvPr id="17" name="Text 15"/>
          <p:cNvSpPr txBox="1"/>
          <p:nvPr/>
        </p:nvSpPr>
        <p:spPr>
          <a:xfrm>
            <a:off x="8439912" y="215798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8823960" y="2121408"/>
            <a:ext cx="2606040" cy="38404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Parameters</a:t>
            </a:r>
            <a:endParaRPr lang="en-US" sz="1450" dirty="0"/>
          </a:p>
        </p:txBody>
      </p:sp>
      <p:sp>
        <p:nvSpPr>
          <p:cNvPr id="19" name="Text 17"/>
          <p:cNvSpPr txBox="1"/>
          <p:nvPr/>
        </p:nvSpPr>
        <p:spPr>
          <a:xfrm>
            <a:off x="8439912" y="2615184"/>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Quantities fixed within a run but varied across experiments: arrival rate λ, service rate μ, buffer size, number of replicas.</a:t>
            </a:r>
            <a:endParaRPr lang="en-US" sz="1050" dirty="0"/>
          </a:p>
        </p:txBody>
      </p:sp>
      <p:sp>
        <p:nvSpPr>
          <p:cNvPr id="20" name="Shape 18"/>
          <p:cNvSpPr/>
          <p:nvPr/>
        </p:nvSpPr>
        <p:spPr>
          <a:xfrm>
            <a:off x="502920" y="4096512"/>
            <a:ext cx="3502152" cy="1883664"/>
          </a:xfrm>
          <a:prstGeom prst="roundRect">
            <a:avLst>
              <a:gd name="adj" fmla="val 2427"/>
            </a:avLst>
          </a:prstGeom>
          <a:solidFill>
            <a:srgbClr val="FAF9FE"/>
          </a:solidFill>
          <a:ln w="12700">
            <a:solidFill>
              <a:srgbClr val="E6E2F5"/>
            </a:solidFill>
            <a:prstDash val="solid"/>
          </a:ln>
        </p:spPr>
      </p:sp>
      <p:sp>
        <p:nvSpPr>
          <p:cNvPr id="21" name="Shape 19"/>
          <p:cNvSpPr/>
          <p:nvPr/>
        </p:nvSpPr>
        <p:spPr>
          <a:xfrm>
            <a:off x="758952" y="4315968"/>
            <a:ext cx="292608" cy="292608"/>
          </a:xfrm>
          <a:prstGeom prst="ellipse">
            <a:avLst/>
          </a:prstGeom>
          <a:solidFill>
            <a:srgbClr val="B08C3A"/>
          </a:solidFill>
          <a:ln/>
        </p:spPr>
      </p:sp>
      <p:sp>
        <p:nvSpPr>
          <p:cNvPr id="22" name="Text 20"/>
          <p:cNvSpPr txBox="1"/>
          <p:nvPr/>
        </p:nvSpPr>
        <p:spPr>
          <a:xfrm>
            <a:off x="758952" y="43159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143000" y="4279392"/>
            <a:ext cx="2606040" cy="38404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Relations</a:t>
            </a:r>
            <a:endParaRPr lang="en-US" sz="1450" dirty="0"/>
          </a:p>
        </p:txBody>
      </p:sp>
      <p:sp>
        <p:nvSpPr>
          <p:cNvPr id="24" name="Text 22"/>
          <p:cNvSpPr txBox="1"/>
          <p:nvPr/>
        </p:nvSpPr>
        <p:spPr>
          <a:xfrm>
            <a:off x="758952" y="4773168"/>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The equations, transitions, or constraints tying entities, state, and parameters together. This is the model proper — everything else is scaffolding around it.</a:t>
            </a:r>
            <a:endParaRPr lang="en-US" sz="1050" dirty="0"/>
          </a:p>
        </p:txBody>
      </p:sp>
      <p:sp>
        <p:nvSpPr>
          <p:cNvPr id="25" name="Shape 23"/>
          <p:cNvSpPr/>
          <p:nvPr/>
        </p:nvSpPr>
        <p:spPr>
          <a:xfrm>
            <a:off x="4343400" y="4096512"/>
            <a:ext cx="3502152" cy="1883664"/>
          </a:xfrm>
          <a:prstGeom prst="roundRect">
            <a:avLst>
              <a:gd name="adj" fmla="val 2427"/>
            </a:avLst>
          </a:prstGeom>
          <a:solidFill>
            <a:srgbClr val="FAF9FE"/>
          </a:solidFill>
          <a:ln w="12700">
            <a:solidFill>
              <a:srgbClr val="E6E2F5"/>
            </a:solidFill>
            <a:prstDash val="solid"/>
          </a:ln>
        </p:spPr>
      </p:sp>
      <p:sp>
        <p:nvSpPr>
          <p:cNvPr id="26" name="Shape 24"/>
          <p:cNvSpPr/>
          <p:nvPr/>
        </p:nvSpPr>
        <p:spPr>
          <a:xfrm>
            <a:off x="4599432" y="4315968"/>
            <a:ext cx="292608" cy="292608"/>
          </a:xfrm>
          <a:prstGeom prst="ellipse">
            <a:avLst/>
          </a:prstGeom>
          <a:solidFill>
            <a:srgbClr val="B4522B"/>
          </a:solidFill>
          <a:ln/>
        </p:spPr>
      </p:sp>
      <p:sp>
        <p:nvSpPr>
          <p:cNvPr id="27" name="Text 25"/>
          <p:cNvSpPr txBox="1"/>
          <p:nvPr/>
        </p:nvSpPr>
        <p:spPr>
          <a:xfrm>
            <a:off x="4599432" y="43159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4983480" y="4279392"/>
            <a:ext cx="2606040" cy="38404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Assumptions</a:t>
            </a:r>
            <a:endParaRPr lang="en-US" sz="1450" dirty="0"/>
          </a:p>
        </p:txBody>
      </p:sp>
      <p:sp>
        <p:nvSpPr>
          <p:cNvPr id="29" name="Text 27"/>
          <p:cNvSpPr txBox="1"/>
          <p:nvPr/>
        </p:nvSpPr>
        <p:spPr>
          <a:xfrm>
            <a:off x="4599432" y="4773168"/>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What is asserted about the world so that the relations hold: independence, stationarity, exponentiality, no failures. These are the premises, in Lecture 3's sense.</a:t>
            </a:r>
            <a:endParaRPr lang="en-US" sz="1050" dirty="0"/>
          </a:p>
        </p:txBody>
      </p:sp>
      <p:sp>
        <p:nvSpPr>
          <p:cNvPr id="30" name="Shape 28"/>
          <p:cNvSpPr/>
          <p:nvPr/>
        </p:nvSpPr>
        <p:spPr>
          <a:xfrm>
            <a:off x="8183880" y="4096512"/>
            <a:ext cx="3502152" cy="1883664"/>
          </a:xfrm>
          <a:prstGeom prst="roundRect">
            <a:avLst>
              <a:gd name="adj" fmla="val 2427"/>
            </a:avLst>
          </a:prstGeom>
          <a:solidFill>
            <a:srgbClr val="FAF9FE"/>
          </a:solidFill>
          <a:ln w="12700">
            <a:solidFill>
              <a:srgbClr val="E6E2F5"/>
            </a:solidFill>
            <a:prstDash val="solid"/>
          </a:ln>
        </p:spPr>
      </p:sp>
      <p:sp>
        <p:nvSpPr>
          <p:cNvPr id="31" name="Shape 29"/>
          <p:cNvSpPr/>
          <p:nvPr/>
        </p:nvSpPr>
        <p:spPr>
          <a:xfrm>
            <a:off x="8439912" y="4315968"/>
            <a:ext cx="292608" cy="292608"/>
          </a:xfrm>
          <a:prstGeom prst="ellipse">
            <a:avLst/>
          </a:prstGeom>
          <a:solidFill>
            <a:srgbClr val="B4522B"/>
          </a:solidFill>
          <a:ln/>
        </p:spPr>
      </p:sp>
      <p:sp>
        <p:nvSpPr>
          <p:cNvPr id="32" name="Text 30"/>
          <p:cNvSpPr txBox="1"/>
          <p:nvPr/>
        </p:nvSpPr>
        <p:spPr>
          <a:xfrm>
            <a:off x="8439912" y="43159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txBox="1"/>
          <p:nvPr/>
        </p:nvSpPr>
        <p:spPr>
          <a:xfrm>
            <a:off x="8823960" y="4279392"/>
            <a:ext cx="2606040" cy="38404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Scope</a:t>
            </a:r>
            <a:endParaRPr lang="en-US" sz="1450" dirty="0"/>
          </a:p>
        </p:txBody>
      </p:sp>
      <p:sp>
        <p:nvSpPr>
          <p:cNvPr id="34" name="Text 32"/>
          <p:cNvSpPr txBox="1"/>
          <p:nvPr/>
        </p:nvSpPr>
        <p:spPr>
          <a:xfrm>
            <a:off x="8439912" y="4773168"/>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The range of conditions over which the model claims to say anything at all — load levels, system sizes, workload types, time horizons.</a:t>
            </a:r>
            <a:endParaRPr lang="en-US" sz="1050" dirty="0"/>
          </a:p>
        </p:txBody>
      </p:sp>
      <p:sp>
        <p:nvSpPr>
          <p:cNvPr id="35" name="Text 33"/>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6" name="Text 34"/>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3 / 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A MODEL IS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Classes of Model</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Five choices, made explicitly or by default, that determine what kind of object you have built.</a:t>
            </a:r>
            <a:endParaRPr lang="en-US" sz="1250" dirty="0"/>
          </a:p>
        </p:txBody>
      </p:sp>
      <p:sp>
        <p:nvSpPr>
          <p:cNvPr id="5" name="Shape 3"/>
          <p:cNvSpPr/>
          <p:nvPr/>
        </p:nvSpPr>
        <p:spPr>
          <a:xfrm>
            <a:off x="502920" y="1938528"/>
            <a:ext cx="160020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13075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CHOICE</a:t>
            </a:r>
            <a:endParaRPr lang="en-US" sz="850" dirty="0"/>
          </a:p>
        </p:txBody>
      </p:sp>
      <p:sp>
        <p:nvSpPr>
          <p:cNvPr id="7" name="Shape 5"/>
          <p:cNvSpPr/>
          <p:nvPr/>
        </p:nvSpPr>
        <p:spPr>
          <a:xfrm>
            <a:off x="2103120" y="1938528"/>
            <a:ext cx="3200400" cy="384048"/>
          </a:xfrm>
          <a:prstGeom prst="rect">
            <a:avLst/>
          </a:prstGeom>
          <a:solidFill>
            <a:srgbClr val="241A4C"/>
          </a:solidFill>
          <a:ln w="19050">
            <a:solidFill>
              <a:srgbClr val="FFFFFF"/>
            </a:solidFill>
            <a:prstDash val="solid"/>
          </a:ln>
        </p:spPr>
      </p:sp>
      <p:sp>
        <p:nvSpPr>
          <p:cNvPr id="8" name="Text 6"/>
          <p:cNvSpPr txBox="1"/>
          <p:nvPr/>
        </p:nvSpPr>
        <p:spPr>
          <a:xfrm>
            <a:off x="2249424" y="1938528"/>
            <a:ext cx="29077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ONE POLE</a:t>
            </a:r>
            <a:endParaRPr lang="en-US" sz="850" dirty="0"/>
          </a:p>
        </p:txBody>
      </p:sp>
      <p:sp>
        <p:nvSpPr>
          <p:cNvPr id="9" name="Shape 7"/>
          <p:cNvSpPr/>
          <p:nvPr/>
        </p:nvSpPr>
        <p:spPr>
          <a:xfrm>
            <a:off x="5303520" y="1938528"/>
            <a:ext cx="3108960" cy="384048"/>
          </a:xfrm>
          <a:prstGeom prst="rect">
            <a:avLst/>
          </a:prstGeom>
          <a:solidFill>
            <a:srgbClr val="241A4C"/>
          </a:solidFill>
          <a:ln w="19050">
            <a:solidFill>
              <a:srgbClr val="FFFFFF"/>
            </a:solidFill>
            <a:prstDash val="solid"/>
          </a:ln>
        </p:spPr>
      </p:sp>
      <p:sp>
        <p:nvSpPr>
          <p:cNvPr id="10" name="Text 8"/>
          <p:cNvSpPr txBox="1"/>
          <p:nvPr/>
        </p:nvSpPr>
        <p:spPr>
          <a:xfrm>
            <a:off x="5449824" y="1938528"/>
            <a:ext cx="28163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OTHER POLE</a:t>
            </a:r>
            <a:endParaRPr lang="en-US" sz="850" dirty="0"/>
          </a:p>
        </p:txBody>
      </p:sp>
      <p:sp>
        <p:nvSpPr>
          <p:cNvPr id="11" name="Shape 9"/>
          <p:cNvSpPr/>
          <p:nvPr/>
        </p:nvSpPr>
        <p:spPr>
          <a:xfrm>
            <a:off x="8412480" y="1938528"/>
            <a:ext cx="3273552" cy="384048"/>
          </a:xfrm>
          <a:prstGeom prst="rect">
            <a:avLst/>
          </a:prstGeom>
          <a:solidFill>
            <a:srgbClr val="241A4C"/>
          </a:solidFill>
          <a:ln w="19050">
            <a:solidFill>
              <a:srgbClr val="FFFFFF"/>
            </a:solidFill>
            <a:prstDash val="solid"/>
          </a:ln>
        </p:spPr>
      </p:sp>
      <p:sp>
        <p:nvSpPr>
          <p:cNvPr id="12" name="Text 10"/>
          <p:cNvSpPr txBox="1"/>
          <p:nvPr/>
        </p:nvSpPr>
        <p:spPr>
          <a:xfrm>
            <a:off x="8558784" y="1938528"/>
            <a:ext cx="298094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HOW TO DECIDE</a:t>
            </a:r>
            <a:endParaRPr lang="en-US" sz="850" dirty="0"/>
          </a:p>
        </p:txBody>
      </p:sp>
      <p:sp>
        <p:nvSpPr>
          <p:cNvPr id="13" name="Shape 11"/>
          <p:cNvSpPr/>
          <p:nvPr/>
        </p:nvSpPr>
        <p:spPr>
          <a:xfrm>
            <a:off x="502920" y="2377440"/>
            <a:ext cx="11183112" cy="621792"/>
          </a:xfrm>
          <a:prstGeom prst="rect">
            <a:avLst/>
          </a:prstGeom>
          <a:solidFill>
            <a:srgbClr val="F3F1FC"/>
          </a:solidFill>
          <a:ln/>
        </p:spPr>
      </p:sp>
      <p:sp>
        <p:nvSpPr>
          <p:cNvPr id="14" name="Shape 12"/>
          <p:cNvSpPr/>
          <p:nvPr/>
        </p:nvSpPr>
        <p:spPr>
          <a:xfrm>
            <a:off x="502920" y="2377440"/>
            <a:ext cx="50292" cy="621792"/>
          </a:xfrm>
          <a:prstGeom prst="rect">
            <a:avLst/>
          </a:prstGeom>
          <a:solidFill>
            <a:srgbClr val="D8A73E"/>
          </a:solidFill>
          <a:ln/>
        </p:spPr>
      </p:sp>
      <p:sp>
        <p:nvSpPr>
          <p:cNvPr id="15" name="Text 13"/>
          <p:cNvSpPr txBox="1"/>
          <p:nvPr/>
        </p:nvSpPr>
        <p:spPr>
          <a:xfrm>
            <a:off x="722376" y="2377440"/>
            <a:ext cx="12161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Determinism</a:t>
            </a:r>
            <a:endParaRPr lang="en-US" sz="1200" dirty="0"/>
          </a:p>
        </p:txBody>
      </p:sp>
      <p:sp>
        <p:nvSpPr>
          <p:cNvPr id="16" name="Text 14"/>
          <p:cNvSpPr txBox="1"/>
          <p:nvPr/>
        </p:nvSpPr>
        <p:spPr>
          <a:xfrm>
            <a:off x="2267712" y="2377440"/>
            <a:ext cx="28712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Deterministic: same input, same output.</a:t>
            </a:r>
            <a:endParaRPr lang="en-US" sz="1050" dirty="0"/>
          </a:p>
        </p:txBody>
      </p:sp>
      <p:sp>
        <p:nvSpPr>
          <p:cNvPr id="17" name="Text 15"/>
          <p:cNvSpPr txBox="1"/>
          <p:nvPr/>
        </p:nvSpPr>
        <p:spPr>
          <a:xfrm>
            <a:off x="5468112" y="2377440"/>
            <a:ext cx="27797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Stochastic: randomness is part of the model; outputs are distributions.</a:t>
            </a:r>
            <a:endParaRPr lang="en-US" sz="1050" dirty="0"/>
          </a:p>
        </p:txBody>
      </p:sp>
      <p:sp>
        <p:nvSpPr>
          <p:cNvPr id="18" name="Text 16"/>
          <p:cNvSpPr txBox="1"/>
          <p:nvPr/>
        </p:nvSpPr>
        <p:spPr>
          <a:xfrm>
            <a:off x="8577072" y="2377440"/>
            <a:ext cx="294436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Stochastic whenever variability is what you are studying — averages hide the tail.</a:t>
            </a:r>
            <a:endParaRPr lang="en-US" sz="1050" dirty="0"/>
          </a:p>
        </p:txBody>
      </p:sp>
      <p:sp>
        <p:nvSpPr>
          <p:cNvPr id="19" name="Shape 17"/>
          <p:cNvSpPr/>
          <p:nvPr/>
        </p:nvSpPr>
        <p:spPr>
          <a:xfrm>
            <a:off x="502920" y="3054096"/>
            <a:ext cx="11183112" cy="621792"/>
          </a:xfrm>
          <a:prstGeom prst="rect">
            <a:avLst/>
          </a:prstGeom>
          <a:solidFill>
            <a:srgbClr val="FFFFFF"/>
          </a:solidFill>
          <a:ln/>
        </p:spPr>
      </p:sp>
      <p:sp>
        <p:nvSpPr>
          <p:cNvPr id="20" name="Shape 18"/>
          <p:cNvSpPr/>
          <p:nvPr/>
        </p:nvSpPr>
        <p:spPr>
          <a:xfrm>
            <a:off x="502920" y="3054096"/>
            <a:ext cx="50292" cy="621792"/>
          </a:xfrm>
          <a:prstGeom prst="rect">
            <a:avLst/>
          </a:prstGeom>
          <a:solidFill>
            <a:srgbClr val="3D6EA6"/>
          </a:solidFill>
          <a:ln/>
        </p:spPr>
      </p:sp>
      <p:sp>
        <p:nvSpPr>
          <p:cNvPr id="21" name="Text 19"/>
          <p:cNvSpPr txBox="1"/>
          <p:nvPr/>
        </p:nvSpPr>
        <p:spPr>
          <a:xfrm>
            <a:off x="722376" y="3054096"/>
            <a:ext cx="12161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Time</a:t>
            </a:r>
            <a:endParaRPr lang="en-US" sz="1200" dirty="0"/>
          </a:p>
        </p:txBody>
      </p:sp>
      <p:sp>
        <p:nvSpPr>
          <p:cNvPr id="22" name="Text 20"/>
          <p:cNvSpPr txBox="1"/>
          <p:nvPr/>
        </p:nvSpPr>
        <p:spPr>
          <a:xfrm>
            <a:off x="2267712" y="3054096"/>
            <a:ext cx="28712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Static: a snapshot, with no evolution.</a:t>
            </a:r>
            <a:endParaRPr lang="en-US" sz="1050" dirty="0"/>
          </a:p>
        </p:txBody>
      </p:sp>
      <p:sp>
        <p:nvSpPr>
          <p:cNvPr id="23" name="Text 21"/>
          <p:cNvSpPr txBox="1"/>
          <p:nvPr/>
        </p:nvSpPr>
        <p:spPr>
          <a:xfrm>
            <a:off x="5468112" y="3054096"/>
            <a:ext cx="27797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Dynamic: state evolves; transient and steady-state behaviour differ.</a:t>
            </a:r>
            <a:endParaRPr lang="en-US" sz="1050" dirty="0"/>
          </a:p>
        </p:txBody>
      </p:sp>
      <p:sp>
        <p:nvSpPr>
          <p:cNvPr id="24" name="Text 22"/>
          <p:cNvSpPr txBox="1"/>
          <p:nvPr/>
        </p:nvSpPr>
        <p:spPr>
          <a:xfrm>
            <a:off x="8577072" y="3054096"/>
            <a:ext cx="294436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Dynamic if warm-up, bursts, or convergence are part of the question.</a:t>
            </a:r>
            <a:endParaRPr lang="en-US" sz="1050" dirty="0"/>
          </a:p>
        </p:txBody>
      </p:sp>
      <p:sp>
        <p:nvSpPr>
          <p:cNvPr id="25" name="Shape 23"/>
          <p:cNvSpPr/>
          <p:nvPr/>
        </p:nvSpPr>
        <p:spPr>
          <a:xfrm>
            <a:off x="502920" y="3730752"/>
            <a:ext cx="11183112" cy="621792"/>
          </a:xfrm>
          <a:prstGeom prst="rect">
            <a:avLst/>
          </a:prstGeom>
          <a:solidFill>
            <a:srgbClr val="F3F1FC"/>
          </a:solidFill>
          <a:ln/>
        </p:spPr>
      </p:sp>
      <p:sp>
        <p:nvSpPr>
          <p:cNvPr id="26" name="Shape 24"/>
          <p:cNvSpPr/>
          <p:nvPr/>
        </p:nvSpPr>
        <p:spPr>
          <a:xfrm>
            <a:off x="502920" y="3730752"/>
            <a:ext cx="50292" cy="621792"/>
          </a:xfrm>
          <a:prstGeom prst="rect">
            <a:avLst/>
          </a:prstGeom>
          <a:solidFill>
            <a:srgbClr val="D8A73E"/>
          </a:solidFill>
          <a:ln/>
        </p:spPr>
      </p:sp>
      <p:sp>
        <p:nvSpPr>
          <p:cNvPr id="27" name="Text 25"/>
          <p:cNvSpPr txBox="1"/>
          <p:nvPr/>
        </p:nvSpPr>
        <p:spPr>
          <a:xfrm>
            <a:off x="722376" y="3730752"/>
            <a:ext cx="12161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State space</a:t>
            </a:r>
            <a:endParaRPr lang="en-US" sz="1200" dirty="0"/>
          </a:p>
        </p:txBody>
      </p:sp>
      <p:sp>
        <p:nvSpPr>
          <p:cNvPr id="28" name="Text 26"/>
          <p:cNvSpPr txBox="1"/>
          <p:nvPr/>
        </p:nvSpPr>
        <p:spPr>
          <a:xfrm>
            <a:off x="2267712" y="3730752"/>
            <a:ext cx="28712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Discrete: countable states and events.</a:t>
            </a:r>
            <a:endParaRPr lang="en-US" sz="1050" dirty="0"/>
          </a:p>
        </p:txBody>
      </p:sp>
      <p:sp>
        <p:nvSpPr>
          <p:cNvPr id="29" name="Text 27"/>
          <p:cNvSpPr txBox="1"/>
          <p:nvPr/>
        </p:nvSpPr>
        <p:spPr>
          <a:xfrm>
            <a:off x="5468112" y="3730752"/>
            <a:ext cx="27797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Continuous: real-valued state, differential or fluid equations.</a:t>
            </a:r>
            <a:endParaRPr lang="en-US" sz="1050" dirty="0"/>
          </a:p>
        </p:txBody>
      </p:sp>
      <p:sp>
        <p:nvSpPr>
          <p:cNvPr id="30" name="Text 28"/>
          <p:cNvSpPr txBox="1"/>
          <p:nvPr/>
        </p:nvSpPr>
        <p:spPr>
          <a:xfrm>
            <a:off x="8577072" y="3730752"/>
            <a:ext cx="294436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Discrete for modest systems; fluid approximations for very large ones.</a:t>
            </a:r>
            <a:endParaRPr lang="en-US" sz="1050" dirty="0"/>
          </a:p>
        </p:txBody>
      </p:sp>
      <p:sp>
        <p:nvSpPr>
          <p:cNvPr id="31" name="Shape 29"/>
          <p:cNvSpPr/>
          <p:nvPr/>
        </p:nvSpPr>
        <p:spPr>
          <a:xfrm>
            <a:off x="502920" y="4407408"/>
            <a:ext cx="11183112" cy="621792"/>
          </a:xfrm>
          <a:prstGeom prst="rect">
            <a:avLst/>
          </a:prstGeom>
          <a:solidFill>
            <a:srgbClr val="FFFFFF"/>
          </a:solidFill>
          <a:ln/>
        </p:spPr>
      </p:sp>
      <p:sp>
        <p:nvSpPr>
          <p:cNvPr id="32" name="Shape 30"/>
          <p:cNvSpPr/>
          <p:nvPr/>
        </p:nvSpPr>
        <p:spPr>
          <a:xfrm>
            <a:off x="502920" y="4407408"/>
            <a:ext cx="50292" cy="621792"/>
          </a:xfrm>
          <a:prstGeom prst="rect">
            <a:avLst/>
          </a:prstGeom>
          <a:solidFill>
            <a:srgbClr val="B4522B"/>
          </a:solidFill>
          <a:ln/>
        </p:spPr>
      </p:sp>
      <p:sp>
        <p:nvSpPr>
          <p:cNvPr id="33" name="Text 31"/>
          <p:cNvSpPr txBox="1"/>
          <p:nvPr/>
        </p:nvSpPr>
        <p:spPr>
          <a:xfrm>
            <a:off x="722376" y="4407408"/>
            <a:ext cx="12161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Purpose</a:t>
            </a:r>
            <a:endParaRPr lang="en-US" sz="1200" dirty="0"/>
          </a:p>
        </p:txBody>
      </p:sp>
      <p:sp>
        <p:nvSpPr>
          <p:cNvPr id="34" name="Text 32"/>
          <p:cNvSpPr txBox="1"/>
          <p:nvPr/>
        </p:nvSpPr>
        <p:spPr>
          <a:xfrm>
            <a:off x="2267712" y="4407408"/>
            <a:ext cx="28712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Descriptive: reproduces observed behaviour.</a:t>
            </a:r>
            <a:endParaRPr lang="en-US" sz="1050" dirty="0"/>
          </a:p>
        </p:txBody>
      </p:sp>
      <p:sp>
        <p:nvSpPr>
          <p:cNvPr id="35" name="Text 33"/>
          <p:cNvSpPr txBox="1"/>
          <p:nvPr/>
        </p:nvSpPr>
        <p:spPr>
          <a:xfrm>
            <a:off x="5468112" y="4407408"/>
            <a:ext cx="27797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Prescriptive: recommends a decision — optimisation or control.</a:t>
            </a:r>
            <a:endParaRPr lang="en-US" sz="1050" dirty="0"/>
          </a:p>
        </p:txBody>
      </p:sp>
      <p:sp>
        <p:nvSpPr>
          <p:cNvPr id="36" name="Text 34"/>
          <p:cNvSpPr txBox="1"/>
          <p:nvPr/>
        </p:nvSpPr>
        <p:spPr>
          <a:xfrm>
            <a:off x="8577072" y="4407408"/>
            <a:ext cx="294436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Say which. A descriptive model used to justify a decision is being misused.</a:t>
            </a:r>
            <a:endParaRPr lang="en-US" sz="1050" dirty="0"/>
          </a:p>
        </p:txBody>
      </p:sp>
      <p:sp>
        <p:nvSpPr>
          <p:cNvPr id="37" name="Shape 35"/>
          <p:cNvSpPr/>
          <p:nvPr/>
        </p:nvSpPr>
        <p:spPr>
          <a:xfrm>
            <a:off x="502920" y="5084064"/>
            <a:ext cx="11183112" cy="621792"/>
          </a:xfrm>
          <a:prstGeom prst="rect">
            <a:avLst/>
          </a:prstGeom>
          <a:solidFill>
            <a:srgbClr val="F3F1FC"/>
          </a:solidFill>
          <a:ln/>
        </p:spPr>
      </p:sp>
      <p:sp>
        <p:nvSpPr>
          <p:cNvPr id="38" name="Shape 36"/>
          <p:cNvSpPr/>
          <p:nvPr/>
        </p:nvSpPr>
        <p:spPr>
          <a:xfrm>
            <a:off x="502920" y="5084064"/>
            <a:ext cx="50292" cy="621792"/>
          </a:xfrm>
          <a:prstGeom prst="rect">
            <a:avLst/>
          </a:prstGeom>
          <a:solidFill>
            <a:srgbClr val="241A4C"/>
          </a:solidFill>
          <a:ln/>
        </p:spPr>
      </p:sp>
      <p:sp>
        <p:nvSpPr>
          <p:cNvPr id="39" name="Text 37"/>
          <p:cNvSpPr txBox="1"/>
          <p:nvPr/>
        </p:nvSpPr>
        <p:spPr>
          <a:xfrm>
            <a:off x="722376" y="5084064"/>
            <a:ext cx="12161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Derivation</a:t>
            </a:r>
            <a:endParaRPr lang="en-US" sz="1200" dirty="0"/>
          </a:p>
        </p:txBody>
      </p:sp>
      <p:sp>
        <p:nvSpPr>
          <p:cNvPr id="40" name="Text 38"/>
          <p:cNvSpPr txBox="1"/>
          <p:nvPr/>
        </p:nvSpPr>
        <p:spPr>
          <a:xfrm>
            <a:off x="2267712" y="5084064"/>
            <a:ext cx="287121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Mechanistic: built from known structure.</a:t>
            </a:r>
            <a:endParaRPr lang="en-US" sz="1050" dirty="0"/>
          </a:p>
        </p:txBody>
      </p:sp>
      <p:sp>
        <p:nvSpPr>
          <p:cNvPr id="41" name="Text 39"/>
          <p:cNvSpPr txBox="1"/>
          <p:nvPr/>
        </p:nvSpPr>
        <p:spPr>
          <a:xfrm>
            <a:off x="5468112" y="5084064"/>
            <a:ext cx="27797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Empirical: fitted to data, with no structural claim.</a:t>
            </a:r>
            <a:endParaRPr lang="en-US" sz="1050" dirty="0"/>
          </a:p>
        </p:txBody>
      </p:sp>
      <p:sp>
        <p:nvSpPr>
          <p:cNvPr id="42" name="Text 40"/>
          <p:cNvSpPr txBox="1"/>
          <p:nvPr/>
        </p:nvSpPr>
        <p:spPr>
          <a:xfrm>
            <a:off x="8577072" y="5084064"/>
            <a:ext cx="294436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Mechanistic models may extrapolate. Empirical ones usually must not.</a:t>
            </a:r>
            <a:endParaRPr lang="en-US" sz="1050" dirty="0"/>
          </a:p>
        </p:txBody>
      </p:sp>
      <p:sp>
        <p:nvSpPr>
          <p:cNvPr id="43" name="Text 4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The last row is the one most often left implicit — and the one that decides whether you are allowed to use the model outside the range you fitted it on.</a:t>
            </a:r>
            <a:endParaRPr lang="en-US" sz="1150" dirty="0"/>
          </a:p>
        </p:txBody>
      </p:sp>
      <p:sp>
        <p:nvSpPr>
          <p:cNvPr id="44" name="Text 4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45" name="Text 4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4 / 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53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535"/>
          </a:solidFill>
          <a:ln/>
        </p:spPr>
      </p:sp>
      <p:sp>
        <p:nvSpPr>
          <p:cNvPr id="3" name="Text 1"/>
          <p:cNvSpPr txBox="1"/>
          <p:nvPr/>
        </p:nvSpPr>
        <p:spPr>
          <a:xfrm>
            <a:off x="804672" y="1920240"/>
            <a:ext cx="7315200" cy="256032"/>
          </a:xfrm>
          <a:prstGeom prst="rect">
            <a:avLst/>
          </a:prstGeom>
          <a:noFill/>
          <a:ln/>
        </p:spPr>
        <p:txBody>
          <a:bodyPr wrap="square" lIns="0" tIns="0" rIns="0" bIns="0" rtlCol="0" anchor="ctr"/>
          <a:lstStyle/>
          <a:p>
            <a:pPr indent="0" marL="0">
              <a:buNone/>
            </a:pPr>
            <a:r>
              <a:rPr lang="en-US" sz="1100" b="1" spc="200" kern="0" dirty="0">
                <a:solidFill>
                  <a:srgbClr val="D8A73E"/>
                </a:solidFill>
                <a:latin typeface="Calibri" pitchFamily="34" charset="0"/>
                <a:ea typeface="Calibri" pitchFamily="34" charset="-122"/>
                <a:cs typeface="Calibri" pitchFamily="34" charset="-120"/>
              </a:rPr>
              <a:t>PART 1  →  PART 2</a:t>
            </a:r>
            <a:endParaRPr lang="en-US" sz="1100" dirty="0"/>
          </a:p>
        </p:txBody>
      </p:sp>
      <p:sp>
        <p:nvSpPr>
          <p:cNvPr id="4" name="Text 2"/>
          <p:cNvSpPr txBox="1"/>
          <p:nvPr/>
        </p:nvSpPr>
        <p:spPr>
          <a:xfrm>
            <a:off x="768096" y="2395728"/>
            <a:ext cx="9509760" cy="128016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From what a model is</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to how one is actually built</a:t>
            </a:r>
            <a:endParaRPr lang="en-US" sz="3200" dirty="0"/>
          </a:p>
        </p:txBody>
      </p:sp>
      <p:sp>
        <p:nvSpPr>
          <p:cNvPr id="5" name="Text 3"/>
          <p:cNvSpPr txBox="1"/>
          <p:nvPr/>
        </p:nvSpPr>
        <p:spPr>
          <a:xfrm>
            <a:off x="804672" y="3877056"/>
            <a:ext cx="8412480" cy="658368"/>
          </a:xfrm>
          <a:prstGeom prst="rect">
            <a:avLst/>
          </a:prstGeom>
          <a:noFill/>
          <a:ln/>
        </p:spPr>
        <p:txBody>
          <a:bodyPr wrap="square" lIns="0" tIns="0" rIns="0" bIns="0" rtlCol="0" anchor="t"/>
          <a:lstStyle/>
          <a:p>
            <a:pPr indent="0" marL="0">
              <a:lnSpc>
                <a:spcPct val="125000"/>
              </a:lnSpc>
              <a:buNone/>
            </a:pPr>
            <a:r>
              <a:rPr lang="en-US" sz="1400" i="1" dirty="0">
                <a:solidFill>
                  <a:srgbClr val="E4DFFA"/>
                </a:solidFill>
                <a:latin typeface="Cambria" pitchFamily="34" charset="0"/>
                <a:ea typeface="Cambria" pitchFamily="34" charset="-122"/>
                <a:cs typeface="Cambria" pitchFamily="34" charset="-120"/>
              </a:rPr>
              <a:t>The mathematics is rarely the difficult part. The difficult part is deciding what to leave out — and then finding out whether what remains still predicts anything.</a:t>
            </a:r>
            <a:endParaRPr lang="en-US" sz="1400" dirty="0"/>
          </a:p>
        </p:txBody>
      </p:sp>
      <p:sp>
        <p:nvSpPr>
          <p:cNvPr id="6" name="Text 4"/>
          <p:cNvSpPr txBox="1"/>
          <p:nvPr/>
        </p:nvSpPr>
        <p:spPr>
          <a:xfrm>
            <a:off x="804672" y="4828032"/>
            <a:ext cx="8412480" cy="274320"/>
          </a:xfrm>
          <a:prstGeom prst="rect">
            <a:avLst/>
          </a:prstGeom>
          <a:noFill/>
          <a:ln/>
        </p:spPr>
        <p:txBody>
          <a:bodyPr wrap="square" lIns="0" tIns="0" rIns="0" bIns="0" rtlCol="0" anchor="ctr"/>
          <a:lstStyle/>
          <a:p>
            <a:pPr indent="0" marL="0">
              <a:buNone/>
            </a:pPr>
            <a:r>
              <a:rPr lang="en-US" sz="1100" dirty="0">
                <a:solidFill>
                  <a:srgbClr val="D8A73E"/>
                </a:solidFill>
                <a:latin typeface="Calibri" pitchFamily="34" charset="0"/>
                <a:ea typeface="Calibri" pitchFamily="34" charset="-122"/>
                <a:cs typeface="Calibri" pitchFamily="34" charset="-120"/>
              </a:rPr>
              <a:t>Next: the modelling cycle, abstraction, the model-class toolkit, and a derivation carried out in full.</a:t>
            </a:r>
            <a:endParaRPr lang="en-US" sz="1100" dirty="0"/>
          </a:p>
        </p:txBody>
      </p:sp>
      <p:sp>
        <p:nvSpPr>
          <p:cNvPr id="7" name="Text 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6E688F"/>
                </a:solidFill>
                <a:latin typeface="Calibri" pitchFamily="34" charset="0"/>
                <a:ea typeface="Calibri" pitchFamily="34" charset="-122"/>
                <a:cs typeface="Calibri" pitchFamily="34" charset="-120"/>
              </a:rPr>
              <a:t>MATHEMATICAL MODELLING IN CS</a:t>
            </a:r>
            <a:endParaRPr lang="en-US" sz="800" dirty="0"/>
          </a:p>
        </p:txBody>
      </p:sp>
      <p:sp>
        <p:nvSpPr>
          <p:cNvPr id="8" name="Text 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6E688F"/>
                </a:solidFill>
                <a:latin typeface="Calibri" pitchFamily="34" charset="0"/>
                <a:ea typeface="Calibri" pitchFamily="34" charset="-122"/>
                <a:cs typeface="Calibri" pitchFamily="34" charset="-120"/>
              </a:rPr>
              <a:t>5 / 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BUILDING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Modelling Cycle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Five stages, and a loop. Compare Lecture 4's algorithm-engineering cycle: the same structure, because it is the same idea.</a:t>
            </a:r>
            <a:endParaRPr lang="en-US" sz="1250" dirty="0"/>
          </a:p>
        </p:txBody>
      </p:sp>
      <p:sp>
        <p:nvSpPr>
          <p:cNvPr id="5" name="Shape 3"/>
          <p:cNvSpPr/>
          <p:nvPr/>
        </p:nvSpPr>
        <p:spPr>
          <a:xfrm>
            <a:off x="502920" y="1938528"/>
            <a:ext cx="384048" cy="384048"/>
          </a:xfrm>
          <a:prstGeom prst="ellipse">
            <a:avLst/>
          </a:prstGeom>
          <a:solidFill>
            <a:srgbClr val="B08C3A"/>
          </a:solidFill>
          <a:ln/>
        </p:spPr>
      </p:sp>
      <p:sp>
        <p:nvSpPr>
          <p:cNvPr id="6" name="Text 4"/>
          <p:cNvSpPr txBox="1"/>
          <p:nvPr/>
        </p:nvSpPr>
        <p:spPr>
          <a:xfrm>
            <a:off x="502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502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Abstract</a:t>
            </a:r>
            <a:endParaRPr lang="en-US" sz="1450" dirty="0"/>
          </a:p>
        </p:txBody>
      </p:sp>
      <p:sp>
        <p:nvSpPr>
          <p:cNvPr id="8" name="Text 6"/>
          <p:cNvSpPr txBox="1"/>
          <p:nvPr/>
        </p:nvSpPr>
        <p:spPr>
          <a:xfrm>
            <a:off x="502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Decide what is inside the system and what is outside. The question you are asking determines this, and nothing else does.</a:t>
            </a:r>
            <a:endParaRPr lang="en-US" sz="1050" dirty="0"/>
          </a:p>
        </p:txBody>
      </p:sp>
      <p:sp>
        <p:nvSpPr>
          <p:cNvPr id="9" name="Text 7"/>
          <p:cNvSpPr txBox="1"/>
          <p:nvPr/>
        </p:nvSpPr>
        <p:spPr>
          <a:xfrm>
            <a:off x="2487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788920" y="1938528"/>
            <a:ext cx="384048" cy="384048"/>
          </a:xfrm>
          <a:prstGeom prst="ellipse">
            <a:avLst/>
          </a:prstGeom>
          <a:solidFill>
            <a:srgbClr val="3D6EA6"/>
          </a:solidFill>
          <a:ln/>
        </p:spPr>
      </p:sp>
      <p:sp>
        <p:nvSpPr>
          <p:cNvPr id="11" name="Text 9"/>
          <p:cNvSpPr txBox="1"/>
          <p:nvPr/>
        </p:nvSpPr>
        <p:spPr>
          <a:xfrm>
            <a:off x="2788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2788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Formalise</a:t>
            </a:r>
            <a:endParaRPr lang="en-US" sz="1450" dirty="0"/>
          </a:p>
        </p:txBody>
      </p:sp>
      <p:sp>
        <p:nvSpPr>
          <p:cNvPr id="13" name="Text 11"/>
          <p:cNvSpPr txBox="1"/>
          <p:nvPr/>
        </p:nvSpPr>
        <p:spPr>
          <a:xfrm>
            <a:off x="2788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Express entities, state, and relations mathematically. Assumptions become explicit at this stage or they never do.</a:t>
            </a:r>
            <a:endParaRPr lang="en-US" sz="1050" dirty="0"/>
          </a:p>
        </p:txBody>
      </p:sp>
      <p:sp>
        <p:nvSpPr>
          <p:cNvPr id="14" name="Text 12"/>
          <p:cNvSpPr txBox="1"/>
          <p:nvPr/>
        </p:nvSpPr>
        <p:spPr>
          <a:xfrm>
            <a:off x="4773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074920" y="1938528"/>
            <a:ext cx="384048" cy="384048"/>
          </a:xfrm>
          <a:prstGeom prst="ellipse">
            <a:avLst/>
          </a:prstGeom>
          <a:solidFill>
            <a:srgbClr val="3D6EA6"/>
          </a:solidFill>
          <a:ln/>
        </p:spPr>
      </p:sp>
      <p:sp>
        <p:nvSpPr>
          <p:cNvPr id="16" name="Text 14"/>
          <p:cNvSpPr txBox="1"/>
          <p:nvPr/>
        </p:nvSpPr>
        <p:spPr>
          <a:xfrm>
            <a:off x="5074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5074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Parameterise</a:t>
            </a:r>
            <a:endParaRPr lang="en-US" sz="1450" dirty="0"/>
          </a:p>
        </p:txBody>
      </p:sp>
      <p:sp>
        <p:nvSpPr>
          <p:cNvPr id="18" name="Text 16"/>
          <p:cNvSpPr txBox="1"/>
          <p:nvPr/>
        </p:nvSpPr>
        <p:spPr>
          <a:xfrm>
            <a:off x="5074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Estimate parameters from measurement, literature, or specification — recording the source and uncertainty of each.</a:t>
            </a:r>
            <a:endParaRPr lang="en-US" sz="1050" dirty="0"/>
          </a:p>
        </p:txBody>
      </p:sp>
      <p:sp>
        <p:nvSpPr>
          <p:cNvPr id="19" name="Text 17"/>
          <p:cNvSpPr txBox="1"/>
          <p:nvPr/>
        </p:nvSpPr>
        <p:spPr>
          <a:xfrm>
            <a:off x="7059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7360920" y="1938528"/>
            <a:ext cx="384048" cy="384048"/>
          </a:xfrm>
          <a:prstGeom prst="ellipse">
            <a:avLst/>
          </a:prstGeom>
          <a:solidFill>
            <a:srgbClr val="B4522B"/>
          </a:solidFill>
          <a:ln/>
        </p:spPr>
      </p:sp>
      <p:sp>
        <p:nvSpPr>
          <p:cNvPr id="21" name="Text 19"/>
          <p:cNvSpPr txBox="1"/>
          <p:nvPr/>
        </p:nvSpPr>
        <p:spPr>
          <a:xfrm>
            <a:off x="7360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7360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Solve</a:t>
            </a:r>
            <a:endParaRPr lang="en-US" sz="1450" dirty="0"/>
          </a:p>
        </p:txBody>
      </p:sp>
      <p:sp>
        <p:nvSpPr>
          <p:cNvPr id="23" name="Text 21"/>
          <p:cNvSpPr txBox="1"/>
          <p:nvPr/>
        </p:nvSpPr>
        <p:spPr>
          <a:xfrm>
            <a:off x="7360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Derive closed-form results where the model class permits it, and simulate where it does not.</a:t>
            </a:r>
            <a:endParaRPr lang="en-US" sz="1050" dirty="0"/>
          </a:p>
        </p:txBody>
      </p:sp>
      <p:sp>
        <p:nvSpPr>
          <p:cNvPr id="24" name="Text 22"/>
          <p:cNvSpPr txBox="1"/>
          <p:nvPr/>
        </p:nvSpPr>
        <p:spPr>
          <a:xfrm>
            <a:off x="9345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9646920" y="1938528"/>
            <a:ext cx="384048" cy="384048"/>
          </a:xfrm>
          <a:prstGeom prst="ellipse">
            <a:avLst/>
          </a:prstGeom>
          <a:solidFill>
            <a:srgbClr val="B4522B"/>
          </a:solidFill>
          <a:ln/>
        </p:spPr>
      </p:sp>
      <p:sp>
        <p:nvSpPr>
          <p:cNvPr id="26" name="Text 24"/>
          <p:cNvSpPr txBox="1"/>
          <p:nvPr/>
        </p:nvSpPr>
        <p:spPr>
          <a:xfrm>
            <a:off x="9646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7" name="Text 25"/>
          <p:cNvSpPr txBox="1"/>
          <p:nvPr/>
        </p:nvSpPr>
        <p:spPr>
          <a:xfrm>
            <a:off x="9646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Validate</a:t>
            </a:r>
            <a:endParaRPr lang="en-US" sz="1450" dirty="0"/>
          </a:p>
        </p:txBody>
      </p:sp>
      <p:sp>
        <p:nvSpPr>
          <p:cNvPr id="28" name="Text 26"/>
          <p:cNvSpPr txBox="1"/>
          <p:nvPr/>
        </p:nvSpPr>
        <p:spPr>
          <a:xfrm>
            <a:off x="9646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Compare predictions against data the model was not fitted to. Then return to stage one with what you learned.</a:t>
            </a:r>
            <a:endParaRPr lang="en-US" sz="1050" dirty="0"/>
          </a:p>
        </p:txBody>
      </p:sp>
      <p:sp>
        <p:nvSpPr>
          <p:cNvPr id="29" name="Text 27"/>
          <p:cNvSpPr txBox="1"/>
          <p:nvPr/>
        </p:nvSpPr>
        <p:spPr>
          <a:xfrm>
            <a:off x="502920" y="4572000"/>
            <a:ext cx="11183112" cy="274320"/>
          </a:xfrm>
          <a:prstGeom prst="rect">
            <a:avLst/>
          </a:prstGeom>
          <a:noFill/>
          <a:ln/>
        </p:spPr>
        <p:txBody>
          <a:bodyPr wrap="square" lIns="0" tIns="0" rIns="0" bIns="0" rtlCol="0" anchor="ctr"/>
          <a:lstStyle/>
          <a:p>
            <a:pPr algn="ctr" indent="0" marL="0">
              <a:buNone/>
            </a:pPr>
            <a:r>
              <a:rPr lang="en-US" sz="1000" i="1" dirty="0">
                <a:solidFill>
                  <a:srgbClr val="B08C3A"/>
                </a:solidFill>
                <a:latin typeface="Calibri" pitchFamily="34" charset="0"/>
                <a:ea typeface="Calibri" pitchFamily="34" charset="-122"/>
                <a:cs typeface="Calibri" pitchFamily="34" charset="-120"/>
              </a:rPr>
              <a:t>←———————————  a failed validation sends you back to the abstraction, not just to the parameters  ———————————</a:t>
            </a:r>
            <a:endParaRPr lang="en-US" sz="1000" dirty="0"/>
          </a:p>
        </p:txBody>
      </p:sp>
      <p:sp>
        <p:nvSpPr>
          <p:cNvPr id="30" name="Shape 28"/>
          <p:cNvSpPr/>
          <p:nvPr/>
        </p:nvSpPr>
        <p:spPr>
          <a:xfrm>
            <a:off x="502920" y="4992624"/>
            <a:ext cx="11183112" cy="822960"/>
          </a:xfrm>
          <a:prstGeom prst="roundRect">
            <a:avLst>
              <a:gd name="adj" fmla="val 5556"/>
            </a:avLst>
          </a:prstGeom>
          <a:solidFill>
            <a:srgbClr val="F3F1FC"/>
          </a:solidFill>
          <a:ln/>
        </p:spPr>
      </p:sp>
      <p:sp>
        <p:nvSpPr>
          <p:cNvPr id="31" name="Text 29"/>
          <p:cNvSpPr txBox="1"/>
          <p:nvPr/>
        </p:nvSpPr>
        <p:spPr>
          <a:xfrm>
            <a:off x="795528" y="4992624"/>
            <a:ext cx="10597896" cy="822960"/>
          </a:xfrm>
          <a:prstGeom prst="rect">
            <a:avLst/>
          </a:prstGeom>
          <a:noFill/>
          <a:ln/>
        </p:spPr>
        <p:txBody>
          <a:bodyPr wrap="square" lIns="0" tIns="0" rIns="0" bIns="0" rtlCol="0" anchor="ctr"/>
          <a:lstStyle/>
          <a:p>
            <a:pPr indent="0" marL="0">
              <a:lnSpc>
                <a:spcPct val="120000"/>
              </a:lnSpc>
              <a:buNone/>
            </a:pPr>
            <a:r>
              <a:rPr lang="en-US" sz="1150" i="1" dirty="0">
                <a:solidFill>
                  <a:srgbClr val="241A4C"/>
                </a:solidFill>
                <a:latin typeface="Calibri" pitchFamily="34" charset="0"/>
                <a:ea typeface="Calibri" pitchFamily="34" charset="-122"/>
                <a:cs typeface="Calibri" pitchFamily="34" charset="-120"/>
              </a:rPr>
              <a:t>The loop is the point. A model that was never revised after contact with data has not been validated — it has merely been published. And note where a failure sends you: if the structure is wrong, no amount of re-fitting the parameters will repair it, though it will usually hide it.</a:t>
            </a:r>
            <a:endParaRPr lang="en-US" sz="1150" dirty="0"/>
          </a:p>
        </p:txBody>
      </p:sp>
      <p:sp>
        <p:nvSpPr>
          <p:cNvPr id="32" name="Text 3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3" name="Text 3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6 / 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BUILDING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Abstraction: Deciding What to Leave Out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The least teachable stage, and the one that decides whether everything downstream is worth doing.</a:t>
            </a:r>
            <a:endParaRPr lang="en-US" sz="1250" dirty="0"/>
          </a:p>
        </p:txBody>
      </p:sp>
      <p:sp>
        <p:nvSpPr>
          <p:cNvPr id="5" name="Shape 3"/>
          <p:cNvSpPr/>
          <p:nvPr/>
        </p:nvSpPr>
        <p:spPr>
          <a:xfrm>
            <a:off x="502920" y="1938528"/>
            <a:ext cx="5852160" cy="1133856"/>
          </a:xfrm>
          <a:prstGeom prst="roundRect">
            <a:avLst>
              <a:gd name="adj" fmla="val 4032"/>
            </a:avLst>
          </a:prstGeom>
          <a:solidFill>
            <a:srgbClr val="F6EFE4"/>
          </a:solidFill>
          <a:ln/>
        </p:spPr>
      </p:sp>
      <p:sp>
        <p:nvSpPr>
          <p:cNvPr id="6" name="Text 4"/>
          <p:cNvSpPr txBox="1"/>
          <p:nvPr/>
        </p:nvSpPr>
        <p:spPr>
          <a:xfrm>
            <a:off x="795528" y="2121408"/>
            <a:ext cx="5266944"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RULE THAT GOVERNS EVERYTHING ELSE</a:t>
            </a:r>
            <a:endParaRPr lang="en-US" sz="850" dirty="0"/>
          </a:p>
        </p:txBody>
      </p:sp>
      <p:sp>
        <p:nvSpPr>
          <p:cNvPr id="7" name="Text 5"/>
          <p:cNvSpPr txBox="1"/>
          <p:nvPr/>
        </p:nvSpPr>
        <p:spPr>
          <a:xfrm>
            <a:off x="795528" y="2395728"/>
            <a:ext cx="5266944" cy="566928"/>
          </a:xfrm>
          <a:prstGeom prst="rect">
            <a:avLst/>
          </a:prstGeom>
          <a:noFill/>
          <a:ln/>
        </p:spPr>
        <p:txBody>
          <a:bodyPr wrap="square" lIns="0" tIns="0" rIns="0" bIns="0" rtlCol="0" anchor="t"/>
          <a:lstStyle/>
          <a:p>
            <a:pPr indent="0" marL="0">
              <a:lnSpc>
                <a:spcPct val="120000"/>
              </a:lnSpc>
              <a:buNone/>
            </a:pPr>
            <a:r>
              <a:rPr lang="en-US" sz="1500" dirty="0">
                <a:solidFill>
                  <a:srgbClr val="241A4C"/>
                </a:solidFill>
                <a:latin typeface="Cambria" pitchFamily="34" charset="0"/>
                <a:ea typeface="Cambria" pitchFamily="34" charset="-122"/>
                <a:cs typeface="Cambria" pitchFamily="34" charset="-120"/>
              </a:rPr>
              <a:t>There is no such thing as a model of a system.</a:t>
            </a:r>
            <a:endParaRPr lang="en-US" sz="1500" dirty="0"/>
          </a:p>
          <a:p>
            <a:pPr indent="0" marL="0">
              <a:lnSpc>
                <a:spcPct val="120000"/>
              </a:lnSpc>
              <a:buNone/>
            </a:pPr>
            <a:r>
              <a:rPr lang="en-US" sz="1500" dirty="0">
                <a:solidFill>
                  <a:srgbClr val="241A4C"/>
                </a:solidFill>
                <a:latin typeface="Cambria" pitchFamily="34" charset="0"/>
                <a:ea typeface="Cambria" pitchFamily="34" charset="-122"/>
                <a:cs typeface="Cambria" pitchFamily="34" charset="-120"/>
              </a:rPr>
              <a:t>There is only a model of a system, for a question.</a:t>
            </a:r>
            <a:endParaRPr lang="en-US" sz="1500" dirty="0"/>
          </a:p>
        </p:txBody>
      </p:sp>
      <p:sp>
        <p:nvSpPr>
          <p:cNvPr id="8" name="Shape 6"/>
          <p:cNvSpPr/>
          <p:nvPr/>
        </p:nvSpPr>
        <p:spPr>
          <a:xfrm>
            <a:off x="502920" y="3502152"/>
            <a:ext cx="109728" cy="109728"/>
          </a:xfrm>
          <a:prstGeom prst="ellipse">
            <a:avLst/>
          </a:prstGeom>
          <a:solidFill>
            <a:srgbClr val="3D6EA6"/>
          </a:solidFill>
          <a:ln/>
        </p:spPr>
      </p:sp>
      <p:sp>
        <p:nvSpPr>
          <p:cNvPr id="9" name="Text 7"/>
          <p:cNvSpPr txBox="1"/>
          <p:nvPr/>
        </p:nvSpPr>
        <p:spPr>
          <a:xfrm>
            <a:off x="813816" y="3419856"/>
            <a:ext cx="554126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“Will the queue stay stable?”</a:t>
            </a:r>
            <a:endParaRPr lang="en-US" sz="1300" dirty="0"/>
          </a:p>
        </p:txBody>
      </p:sp>
      <p:sp>
        <p:nvSpPr>
          <p:cNvPr id="10" name="Text 8"/>
          <p:cNvSpPr txBox="1"/>
          <p:nvPr/>
        </p:nvSpPr>
        <p:spPr>
          <a:xfrm>
            <a:off x="813816" y="3712464"/>
            <a:ext cx="5541264" cy="82296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You need λ and μ, and essentially nothing else. Service-time distribution, scheduling policy and buffer size are all irrelevant to that one question.</a:t>
            </a:r>
            <a:endParaRPr lang="en-US" sz="1050" dirty="0"/>
          </a:p>
        </p:txBody>
      </p:sp>
      <p:sp>
        <p:nvSpPr>
          <p:cNvPr id="11" name="Shape 9"/>
          <p:cNvSpPr/>
          <p:nvPr/>
        </p:nvSpPr>
        <p:spPr>
          <a:xfrm>
            <a:off x="502920" y="4617720"/>
            <a:ext cx="109728" cy="109728"/>
          </a:xfrm>
          <a:prstGeom prst="ellipse">
            <a:avLst/>
          </a:prstGeom>
          <a:solidFill>
            <a:srgbClr val="3D6EA6"/>
          </a:solidFill>
          <a:ln/>
        </p:spPr>
      </p:sp>
      <p:sp>
        <p:nvSpPr>
          <p:cNvPr id="12" name="Text 10"/>
          <p:cNvSpPr txBox="1"/>
          <p:nvPr/>
        </p:nvSpPr>
        <p:spPr>
          <a:xfrm>
            <a:off x="813816" y="4535424"/>
            <a:ext cx="554126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“What is the 99th-percentile latency?”</a:t>
            </a:r>
            <a:endParaRPr lang="en-US" sz="1300" dirty="0"/>
          </a:p>
        </p:txBody>
      </p:sp>
      <p:sp>
        <p:nvSpPr>
          <p:cNvPr id="13" name="Text 11"/>
          <p:cNvSpPr txBox="1"/>
          <p:nvPr/>
        </p:nvSpPr>
        <p:spPr>
          <a:xfrm>
            <a:off x="813816" y="4828032"/>
            <a:ext cx="5541264" cy="82296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Now the service-time distribution is the whole answer, and the mean is nearly useless. A different question has made a discarded detail essential.</a:t>
            </a:r>
            <a:endParaRPr lang="en-US" sz="1050" dirty="0"/>
          </a:p>
        </p:txBody>
      </p:sp>
      <p:sp>
        <p:nvSpPr>
          <p:cNvPr id="14" name="Shape 12"/>
          <p:cNvSpPr/>
          <p:nvPr/>
        </p:nvSpPr>
        <p:spPr>
          <a:xfrm>
            <a:off x="502920" y="5733288"/>
            <a:ext cx="109728" cy="109728"/>
          </a:xfrm>
          <a:prstGeom prst="ellipse">
            <a:avLst/>
          </a:prstGeom>
          <a:solidFill>
            <a:srgbClr val="3D6EA6"/>
          </a:solidFill>
          <a:ln/>
        </p:spPr>
      </p:sp>
      <p:sp>
        <p:nvSpPr>
          <p:cNvPr id="15" name="Text 13"/>
          <p:cNvSpPr txBox="1"/>
          <p:nvPr/>
        </p:nvSpPr>
        <p:spPr>
          <a:xfrm>
            <a:off x="813816" y="5650992"/>
            <a:ext cx="554126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“Will this deployment fit in memory?”</a:t>
            </a:r>
            <a:endParaRPr lang="en-US" sz="1300" dirty="0"/>
          </a:p>
        </p:txBody>
      </p:sp>
      <p:sp>
        <p:nvSpPr>
          <p:cNvPr id="16" name="Text 14"/>
          <p:cNvSpPr txBox="1"/>
          <p:nvPr/>
        </p:nvSpPr>
        <p:spPr>
          <a:xfrm>
            <a:off x="813816" y="5943600"/>
            <a:ext cx="5541264" cy="82296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The queueing model is irrelevant entirely. A different question calls for a different model, not a more detailed version of this one.</a:t>
            </a:r>
            <a:endParaRPr lang="en-US" sz="1050" dirty="0"/>
          </a:p>
        </p:txBody>
      </p:sp>
      <p:sp>
        <p:nvSpPr>
          <p:cNvPr id="17" name="Shape 15"/>
          <p:cNvSpPr/>
          <p:nvPr/>
        </p:nvSpPr>
        <p:spPr>
          <a:xfrm>
            <a:off x="6675120" y="1938528"/>
            <a:ext cx="5010912" cy="4114800"/>
          </a:xfrm>
          <a:prstGeom prst="roundRect">
            <a:avLst>
              <a:gd name="adj" fmla="val 1111"/>
            </a:avLst>
          </a:prstGeom>
          <a:solidFill>
            <a:srgbClr val="F3F1FC"/>
          </a:solidFill>
          <a:ln/>
        </p:spPr>
      </p:sp>
      <p:sp>
        <p:nvSpPr>
          <p:cNvPr id="18" name="Text 16"/>
          <p:cNvSpPr txBox="1"/>
          <p:nvPr/>
        </p:nvSpPr>
        <p:spPr>
          <a:xfrm>
            <a:off x="6967728" y="2194560"/>
            <a:ext cx="4425696" cy="219456"/>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FOUR WORKING RULES</a:t>
            </a:r>
            <a:endParaRPr lang="en-US" sz="850" dirty="0"/>
          </a:p>
        </p:txBody>
      </p:sp>
      <p:sp>
        <p:nvSpPr>
          <p:cNvPr id="19" name="Shape 17"/>
          <p:cNvSpPr/>
          <p:nvPr/>
        </p:nvSpPr>
        <p:spPr>
          <a:xfrm>
            <a:off x="6967728" y="2578608"/>
            <a:ext cx="274320" cy="274320"/>
          </a:xfrm>
          <a:prstGeom prst="ellipse">
            <a:avLst/>
          </a:prstGeom>
          <a:solidFill>
            <a:srgbClr val="3D6EA6"/>
          </a:solidFill>
          <a:ln/>
        </p:spPr>
      </p:sp>
      <p:sp>
        <p:nvSpPr>
          <p:cNvPr id="20" name="Text 18"/>
          <p:cNvSpPr txBox="1"/>
          <p:nvPr/>
        </p:nvSpPr>
        <p:spPr>
          <a:xfrm>
            <a:off x="6967728" y="257860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1" name="Text 19"/>
          <p:cNvSpPr txBox="1"/>
          <p:nvPr/>
        </p:nvSpPr>
        <p:spPr>
          <a:xfrm>
            <a:off x="7351776" y="2560320"/>
            <a:ext cx="4041648" cy="274320"/>
          </a:xfrm>
          <a:prstGeom prst="rect">
            <a:avLst/>
          </a:prstGeom>
          <a:noFill/>
          <a:ln/>
        </p:spPr>
        <p:txBody>
          <a:bodyPr wrap="square" lIns="0" tIns="0" rIns="0" bIns="0" rtlCol="0" anchor="t"/>
          <a:lstStyle/>
          <a:p>
            <a:pPr indent="0" marL="0">
              <a:buNone/>
            </a:pPr>
            <a:r>
              <a:rPr lang="en-US" sz="1200" b="1" dirty="0">
                <a:solidFill>
                  <a:srgbClr val="241A4C"/>
                </a:solidFill>
                <a:latin typeface="Cambria" pitchFamily="34" charset="0"/>
                <a:ea typeface="Cambria" pitchFamily="34" charset="-122"/>
                <a:cs typeface="Cambria" pitchFamily="34" charset="-120"/>
              </a:rPr>
              <a:t>Include what the question is sensitive to.</a:t>
            </a:r>
            <a:endParaRPr lang="en-US" sz="1200" dirty="0"/>
          </a:p>
        </p:txBody>
      </p:sp>
      <p:sp>
        <p:nvSpPr>
          <p:cNvPr id="22" name="Text 20"/>
          <p:cNvSpPr txBox="1"/>
          <p:nvPr/>
        </p:nvSpPr>
        <p:spPr>
          <a:xfrm>
            <a:off x="7351776" y="2852928"/>
            <a:ext cx="4041648" cy="548640"/>
          </a:xfrm>
          <a:prstGeom prst="rect">
            <a:avLst/>
          </a:prstGeom>
          <a:noFill/>
          <a:ln/>
        </p:spPr>
        <p:txBody>
          <a:bodyPr wrap="square" lIns="0" tIns="0" rIns="0" bIns="0" rtlCol="0" anchor="t"/>
          <a:lstStyle/>
          <a:p>
            <a:pPr indent="0" marL="0">
              <a:lnSpc>
                <a:spcPct val="116000"/>
              </a:lnSpc>
              <a:buNone/>
            </a:pPr>
            <a:r>
              <a:rPr lang="en-US" sz="1050" dirty="0">
                <a:solidFill>
                  <a:srgbClr val="5C5A66"/>
                </a:solidFill>
                <a:latin typeface="Calibri" pitchFamily="34" charset="0"/>
                <a:ea typeface="Calibri" pitchFamily="34" charset="-122"/>
                <a:cs typeface="Calibri" pitchFamily="34" charset="-120"/>
              </a:rPr>
              <a:t>Everything else is decoration, and decoration costs tractability without buying accuracy where it matters.</a:t>
            </a:r>
            <a:endParaRPr lang="en-US" sz="1050" dirty="0"/>
          </a:p>
        </p:txBody>
      </p:sp>
      <p:sp>
        <p:nvSpPr>
          <p:cNvPr id="23" name="Shape 21"/>
          <p:cNvSpPr/>
          <p:nvPr/>
        </p:nvSpPr>
        <p:spPr>
          <a:xfrm>
            <a:off x="6967728" y="3456432"/>
            <a:ext cx="274320" cy="274320"/>
          </a:xfrm>
          <a:prstGeom prst="ellipse">
            <a:avLst/>
          </a:prstGeom>
          <a:solidFill>
            <a:srgbClr val="241A4C"/>
          </a:solidFill>
          <a:ln/>
        </p:spPr>
      </p:sp>
      <p:sp>
        <p:nvSpPr>
          <p:cNvPr id="24" name="Text 22"/>
          <p:cNvSpPr txBox="1"/>
          <p:nvPr/>
        </p:nvSpPr>
        <p:spPr>
          <a:xfrm>
            <a:off x="6967728" y="345643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5" name="Text 23"/>
          <p:cNvSpPr txBox="1"/>
          <p:nvPr/>
        </p:nvSpPr>
        <p:spPr>
          <a:xfrm>
            <a:off x="7351776" y="3438144"/>
            <a:ext cx="4041648" cy="274320"/>
          </a:xfrm>
          <a:prstGeom prst="rect">
            <a:avLst/>
          </a:prstGeom>
          <a:noFill/>
          <a:ln/>
        </p:spPr>
        <p:txBody>
          <a:bodyPr wrap="square" lIns="0" tIns="0" rIns="0" bIns="0" rtlCol="0" anchor="t"/>
          <a:lstStyle/>
          <a:p>
            <a:pPr indent="0" marL="0">
              <a:buNone/>
            </a:pPr>
            <a:r>
              <a:rPr lang="en-US" sz="1200" b="1" dirty="0">
                <a:solidFill>
                  <a:srgbClr val="241A4C"/>
                </a:solidFill>
                <a:latin typeface="Cambria" pitchFamily="34" charset="0"/>
                <a:ea typeface="Cambria" pitchFamily="34" charset="-122"/>
                <a:cs typeface="Cambria" pitchFamily="34" charset="-120"/>
              </a:rPr>
              <a:t>Prefer the simplest model that still discriminates.</a:t>
            </a:r>
            <a:endParaRPr lang="en-US" sz="1200" dirty="0"/>
          </a:p>
        </p:txBody>
      </p:sp>
      <p:sp>
        <p:nvSpPr>
          <p:cNvPr id="26" name="Text 24"/>
          <p:cNvSpPr txBox="1"/>
          <p:nvPr/>
        </p:nvSpPr>
        <p:spPr>
          <a:xfrm>
            <a:off x="7351776" y="3730752"/>
            <a:ext cx="4041648" cy="548640"/>
          </a:xfrm>
          <a:prstGeom prst="rect">
            <a:avLst/>
          </a:prstGeom>
          <a:noFill/>
          <a:ln/>
        </p:spPr>
        <p:txBody>
          <a:bodyPr wrap="square" lIns="0" tIns="0" rIns="0" bIns="0" rtlCol="0" anchor="t"/>
          <a:lstStyle/>
          <a:p>
            <a:pPr indent="0" marL="0">
              <a:lnSpc>
                <a:spcPct val="116000"/>
              </a:lnSpc>
              <a:buNone/>
            </a:pPr>
            <a:r>
              <a:rPr lang="en-US" sz="1050" dirty="0">
                <a:solidFill>
                  <a:srgbClr val="5C5A66"/>
                </a:solidFill>
                <a:latin typeface="Calibri" pitchFamily="34" charset="0"/>
                <a:ea typeface="Calibri" pitchFamily="34" charset="-122"/>
                <a:cs typeface="Calibri" pitchFamily="34" charset="-120"/>
              </a:rPr>
              <a:t>If two candidate answers give the same prediction, the model cannot help you choose between them.</a:t>
            </a:r>
            <a:endParaRPr lang="en-US" sz="1050" dirty="0"/>
          </a:p>
        </p:txBody>
      </p:sp>
      <p:sp>
        <p:nvSpPr>
          <p:cNvPr id="27" name="Shape 25"/>
          <p:cNvSpPr/>
          <p:nvPr/>
        </p:nvSpPr>
        <p:spPr>
          <a:xfrm>
            <a:off x="6967728" y="4334256"/>
            <a:ext cx="274320" cy="274320"/>
          </a:xfrm>
          <a:prstGeom prst="ellipse">
            <a:avLst/>
          </a:prstGeom>
          <a:solidFill>
            <a:srgbClr val="3D6EA6"/>
          </a:solidFill>
          <a:ln/>
        </p:spPr>
      </p:sp>
      <p:sp>
        <p:nvSpPr>
          <p:cNvPr id="28" name="Text 26"/>
          <p:cNvSpPr txBox="1"/>
          <p:nvPr/>
        </p:nvSpPr>
        <p:spPr>
          <a:xfrm>
            <a:off x="6967728" y="433425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9" name="Text 27"/>
          <p:cNvSpPr txBox="1"/>
          <p:nvPr/>
        </p:nvSpPr>
        <p:spPr>
          <a:xfrm>
            <a:off x="7351776" y="4315968"/>
            <a:ext cx="4041648" cy="274320"/>
          </a:xfrm>
          <a:prstGeom prst="rect">
            <a:avLst/>
          </a:prstGeom>
          <a:noFill/>
          <a:ln/>
        </p:spPr>
        <p:txBody>
          <a:bodyPr wrap="square" lIns="0" tIns="0" rIns="0" bIns="0" rtlCol="0" anchor="t"/>
          <a:lstStyle/>
          <a:p>
            <a:pPr indent="0" marL="0">
              <a:buNone/>
            </a:pPr>
            <a:r>
              <a:rPr lang="en-US" sz="1200" b="1" dirty="0">
                <a:solidFill>
                  <a:srgbClr val="241A4C"/>
                </a:solidFill>
                <a:latin typeface="Cambria" pitchFamily="34" charset="0"/>
                <a:ea typeface="Cambria" pitchFamily="34" charset="-122"/>
                <a:cs typeface="Cambria" pitchFamily="34" charset="-120"/>
              </a:rPr>
              <a:t>Add detail only when a validation failure demands it.</a:t>
            </a:r>
            <a:endParaRPr lang="en-US" sz="1200" dirty="0"/>
          </a:p>
        </p:txBody>
      </p:sp>
      <p:sp>
        <p:nvSpPr>
          <p:cNvPr id="30" name="Text 28"/>
          <p:cNvSpPr txBox="1"/>
          <p:nvPr/>
        </p:nvSpPr>
        <p:spPr>
          <a:xfrm>
            <a:off x="7351776" y="4608576"/>
            <a:ext cx="4041648" cy="548640"/>
          </a:xfrm>
          <a:prstGeom prst="rect">
            <a:avLst/>
          </a:prstGeom>
          <a:noFill/>
          <a:ln/>
        </p:spPr>
        <p:txBody>
          <a:bodyPr wrap="square" lIns="0" tIns="0" rIns="0" bIns="0" rtlCol="0" anchor="t"/>
          <a:lstStyle/>
          <a:p>
            <a:pPr indent="0" marL="0">
              <a:lnSpc>
                <a:spcPct val="116000"/>
              </a:lnSpc>
              <a:buNone/>
            </a:pPr>
            <a:r>
              <a:rPr lang="en-US" sz="1050" dirty="0">
                <a:solidFill>
                  <a:srgbClr val="5C5A66"/>
                </a:solidFill>
                <a:latin typeface="Calibri" pitchFamily="34" charset="0"/>
                <a:ea typeface="Calibri" pitchFamily="34" charset="-122"/>
                <a:cs typeface="Calibri" pitchFamily="34" charset="-120"/>
              </a:rPr>
              <a:t>Pre-emptive complexity produces models nobody can solve, parameterise, or check. Let the data ask for each addition.</a:t>
            </a:r>
            <a:endParaRPr lang="en-US" sz="1050" dirty="0"/>
          </a:p>
        </p:txBody>
      </p:sp>
      <p:sp>
        <p:nvSpPr>
          <p:cNvPr id="31" name="Shape 29"/>
          <p:cNvSpPr/>
          <p:nvPr/>
        </p:nvSpPr>
        <p:spPr>
          <a:xfrm>
            <a:off x="6967728" y="5212080"/>
            <a:ext cx="274320" cy="274320"/>
          </a:xfrm>
          <a:prstGeom prst="ellipse">
            <a:avLst/>
          </a:prstGeom>
          <a:solidFill>
            <a:srgbClr val="241A4C"/>
          </a:solidFill>
          <a:ln/>
        </p:spPr>
      </p:sp>
      <p:sp>
        <p:nvSpPr>
          <p:cNvPr id="32" name="Text 30"/>
          <p:cNvSpPr txBox="1"/>
          <p:nvPr/>
        </p:nvSpPr>
        <p:spPr>
          <a:xfrm>
            <a:off x="6967728" y="521208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3" name="Text 31"/>
          <p:cNvSpPr txBox="1"/>
          <p:nvPr/>
        </p:nvSpPr>
        <p:spPr>
          <a:xfrm>
            <a:off x="7351776" y="5193792"/>
            <a:ext cx="4041648" cy="274320"/>
          </a:xfrm>
          <a:prstGeom prst="rect">
            <a:avLst/>
          </a:prstGeom>
          <a:noFill/>
          <a:ln/>
        </p:spPr>
        <p:txBody>
          <a:bodyPr wrap="square" lIns="0" tIns="0" rIns="0" bIns="0" rtlCol="0" anchor="t"/>
          <a:lstStyle/>
          <a:p>
            <a:pPr indent="0" marL="0">
              <a:buNone/>
            </a:pPr>
            <a:r>
              <a:rPr lang="en-US" sz="1200" b="1" dirty="0">
                <a:solidFill>
                  <a:srgbClr val="241A4C"/>
                </a:solidFill>
                <a:latin typeface="Cambria" pitchFamily="34" charset="0"/>
                <a:ea typeface="Cambria" pitchFamily="34" charset="-122"/>
                <a:cs typeface="Cambria" pitchFamily="34" charset="-120"/>
              </a:rPr>
              <a:t>Record every omission.</a:t>
            </a:r>
            <a:endParaRPr lang="en-US" sz="1200" dirty="0"/>
          </a:p>
        </p:txBody>
      </p:sp>
      <p:sp>
        <p:nvSpPr>
          <p:cNvPr id="34" name="Text 32"/>
          <p:cNvSpPr txBox="1"/>
          <p:nvPr/>
        </p:nvSpPr>
        <p:spPr>
          <a:xfrm>
            <a:off x="7351776" y="5486400"/>
            <a:ext cx="4041648" cy="548640"/>
          </a:xfrm>
          <a:prstGeom prst="rect">
            <a:avLst/>
          </a:prstGeom>
          <a:noFill/>
          <a:ln/>
        </p:spPr>
        <p:txBody>
          <a:bodyPr wrap="square" lIns="0" tIns="0" rIns="0" bIns="0" rtlCol="0" anchor="t"/>
          <a:lstStyle/>
          <a:p>
            <a:pPr indent="0" marL="0">
              <a:lnSpc>
                <a:spcPct val="116000"/>
              </a:lnSpc>
              <a:buNone/>
            </a:pPr>
            <a:r>
              <a:rPr lang="en-US" sz="1050" dirty="0">
                <a:solidFill>
                  <a:srgbClr val="5C5A66"/>
                </a:solidFill>
                <a:latin typeface="Calibri" pitchFamily="34" charset="0"/>
                <a:ea typeface="Calibri" pitchFamily="34" charset="-122"/>
                <a:cs typeface="Calibri" pitchFamily="34" charset="-120"/>
              </a:rPr>
              <a:t>An omission you cannot name is an assumption you cannot check — and it will be the one a reviewer finds.</a:t>
            </a:r>
            <a:endParaRPr lang="en-US" sz="1050" dirty="0"/>
          </a:p>
        </p:txBody>
      </p:sp>
      <p:sp>
        <p:nvSpPr>
          <p:cNvPr id="35" name="Text 33"/>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6" name="Text 34"/>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7 / 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BUILDING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Model-Class Toolkit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Eight families that between them cover most quantitative modelling in computing science. Recognising which one a problem admits is most of the work.</a:t>
            </a:r>
            <a:endParaRPr lang="en-US" sz="1250" dirty="0"/>
          </a:p>
        </p:txBody>
      </p:sp>
      <p:sp>
        <p:nvSpPr>
          <p:cNvPr id="5" name="Shape 3"/>
          <p:cNvSpPr/>
          <p:nvPr/>
        </p:nvSpPr>
        <p:spPr>
          <a:xfrm>
            <a:off x="502920" y="1938528"/>
            <a:ext cx="2624328" cy="1572768"/>
          </a:xfrm>
          <a:prstGeom prst="roundRect">
            <a:avLst>
              <a:gd name="adj" fmla="val 2907"/>
            </a:avLst>
          </a:prstGeom>
          <a:solidFill>
            <a:srgbClr val="F3F1FC"/>
          </a:solidFill>
          <a:ln w="12700">
            <a:solidFill>
              <a:srgbClr val="E6E2F5"/>
            </a:solidFill>
            <a:prstDash val="solid"/>
          </a:ln>
        </p:spPr>
      </p:sp>
      <p:sp>
        <p:nvSpPr>
          <p:cNvPr id="6" name="Text 4"/>
          <p:cNvSpPr txBox="1"/>
          <p:nvPr/>
        </p:nvSpPr>
        <p:spPr>
          <a:xfrm>
            <a:off x="740664" y="2121408"/>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Queueing models</a:t>
            </a:r>
            <a:endParaRPr lang="en-US" sz="1300" dirty="0"/>
          </a:p>
        </p:txBody>
      </p:sp>
      <p:sp>
        <p:nvSpPr>
          <p:cNvPr id="7" name="Text 5"/>
          <p:cNvSpPr txBox="1"/>
          <p:nvPr/>
        </p:nvSpPr>
        <p:spPr>
          <a:xfrm>
            <a:off x="740664"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Jobs, servers, and waiting.</a:t>
            </a:r>
            <a:endParaRPr lang="en-US" sz="1050" dirty="0"/>
          </a:p>
        </p:txBody>
      </p:sp>
      <p:sp>
        <p:nvSpPr>
          <p:cNvPr id="8" name="Text 6"/>
          <p:cNvSpPr txBox="1"/>
          <p:nvPr/>
        </p:nvSpPr>
        <p:spPr>
          <a:xfrm>
            <a:off x="740664"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M/M/1, M/G/1, queueing networks. Response time, utilisation, throughput.</a:t>
            </a:r>
            <a:endParaRPr lang="en-US" sz="950" dirty="0"/>
          </a:p>
        </p:txBody>
      </p:sp>
      <p:sp>
        <p:nvSpPr>
          <p:cNvPr id="9" name="Shape 7"/>
          <p:cNvSpPr/>
          <p:nvPr/>
        </p:nvSpPr>
        <p:spPr>
          <a:xfrm>
            <a:off x="3355848" y="1938528"/>
            <a:ext cx="2624328" cy="1572768"/>
          </a:xfrm>
          <a:prstGeom prst="roundRect">
            <a:avLst>
              <a:gd name="adj" fmla="val 2907"/>
            </a:avLst>
          </a:prstGeom>
          <a:solidFill>
            <a:srgbClr val="F3F1FC"/>
          </a:solidFill>
          <a:ln w="12700">
            <a:solidFill>
              <a:srgbClr val="E6E2F5"/>
            </a:solidFill>
            <a:prstDash val="solid"/>
          </a:ln>
        </p:spPr>
      </p:sp>
      <p:sp>
        <p:nvSpPr>
          <p:cNvPr id="10" name="Text 8"/>
          <p:cNvSpPr txBox="1"/>
          <p:nvPr/>
        </p:nvSpPr>
        <p:spPr>
          <a:xfrm>
            <a:off x="3593592" y="2121408"/>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Markov chains</a:t>
            </a:r>
            <a:endParaRPr lang="en-US" sz="1300" dirty="0"/>
          </a:p>
        </p:txBody>
      </p:sp>
      <p:sp>
        <p:nvSpPr>
          <p:cNvPr id="11" name="Text 9"/>
          <p:cNvSpPr txBox="1"/>
          <p:nvPr/>
        </p:nvSpPr>
        <p:spPr>
          <a:xfrm>
            <a:off x="3593592"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Memoryless transitions with fixed rates.</a:t>
            </a:r>
            <a:endParaRPr lang="en-US" sz="1050" dirty="0"/>
          </a:p>
        </p:txBody>
      </p:sp>
      <p:sp>
        <p:nvSpPr>
          <p:cNvPr id="12" name="Text 10"/>
          <p:cNvSpPr txBox="1"/>
          <p:nvPr/>
        </p:nvSpPr>
        <p:spPr>
          <a:xfrm>
            <a:off x="3593592"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Reliability, cache behaviour, protocol analysis. Solved by balance equations.</a:t>
            </a:r>
            <a:endParaRPr lang="en-US" sz="950" dirty="0"/>
          </a:p>
        </p:txBody>
      </p:sp>
      <p:sp>
        <p:nvSpPr>
          <p:cNvPr id="13" name="Shape 11"/>
          <p:cNvSpPr/>
          <p:nvPr/>
        </p:nvSpPr>
        <p:spPr>
          <a:xfrm>
            <a:off x="6208776" y="1938528"/>
            <a:ext cx="2624328" cy="1572768"/>
          </a:xfrm>
          <a:prstGeom prst="roundRect">
            <a:avLst>
              <a:gd name="adj" fmla="val 2907"/>
            </a:avLst>
          </a:prstGeom>
          <a:solidFill>
            <a:srgbClr val="F3F1FC"/>
          </a:solidFill>
          <a:ln w="12700">
            <a:solidFill>
              <a:srgbClr val="E6E2F5"/>
            </a:solidFill>
            <a:prstDash val="solid"/>
          </a:ln>
        </p:spPr>
      </p:sp>
      <p:sp>
        <p:nvSpPr>
          <p:cNvPr id="14" name="Text 12"/>
          <p:cNvSpPr txBox="1"/>
          <p:nvPr/>
        </p:nvSpPr>
        <p:spPr>
          <a:xfrm>
            <a:off x="6446520" y="2121408"/>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Graph models</a:t>
            </a:r>
            <a:endParaRPr lang="en-US" sz="1300" dirty="0"/>
          </a:p>
        </p:txBody>
      </p:sp>
      <p:sp>
        <p:nvSpPr>
          <p:cNvPr id="15" name="Text 13"/>
          <p:cNvSpPr txBox="1"/>
          <p:nvPr/>
        </p:nvSpPr>
        <p:spPr>
          <a:xfrm>
            <a:off x="6446520"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Structure as vertices and edges.</a:t>
            </a:r>
            <a:endParaRPr lang="en-US" sz="1050" dirty="0"/>
          </a:p>
        </p:txBody>
      </p:sp>
      <p:sp>
        <p:nvSpPr>
          <p:cNvPr id="16" name="Text 14"/>
          <p:cNvSpPr txBox="1"/>
          <p:nvPr/>
        </p:nvSpPr>
        <p:spPr>
          <a:xfrm>
            <a:off x="6446520"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Networks, dependencies, citation and social structure. Connectivity, flow, centrality.</a:t>
            </a:r>
            <a:endParaRPr lang="en-US" sz="950" dirty="0"/>
          </a:p>
        </p:txBody>
      </p:sp>
      <p:sp>
        <p:nvSpPr>
          <p:cNvPr id="17" name="Shape 15"/>
          <p:cNvSpPr/>
          <p:nvPr/>
        </p:nvSpPr>
        <p:spPr>
          <a:xfrm>
            <a:off x="9061704" y="1938528"/>
            <a:ext cx="2624328" cy="1572768"/>
          </a:xfrm>
          <a:prstGeom prst="roundRect">
            <a:avLst>
              <a:gd name="adj" fmla="val 2907"/>
            </a:avLst>
          </a:prstGeom>
          <a:solidFill>
            <a:srgbClr val="F3F1FC"/>
          </a:solidFill>
          <a:ln w="12700">
            <a:solidFill>
              <a:srgbClr val="E6E2F5"/>
            </a:solidFill>
            <a:prstDash val="solid"/>
          </a:ln>
        </p:spPr>
      </p:sp>
      <p:sp>
        <p:nvSpPr>
          <p:cNvPr id="18" name="Text 16"/>
          <p:cNvSpPr txBox="1"/>
          <p:nvPr/>
        </p:nvSpPr>
        <p:spPr>
          <a:xfrm>
            <a:off x="9299448" y="2121408"/>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Optimisation models</a:t>
            </a:r>
            <a:endParaRPr lang="en-US" sz="1300" dirty="0"/>
          </a:p>
        </p:txBody>
      </p:sp>
      <p:sp>
        <p:nvSpPr>
          <p:cNvPr id="19" name="Text 17"/>
          <p:cNvSpPr txBox="1"/>
          <p:nvPr/>
        </p:nvSpPr>
        <p:spPr>
          <a:xfrm>
            <a:off x="9299448"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Decision variables, objective, constraints.</a:t>
            </a:r>
            <a:endParaRPr lang="en-US" sz="1050" dirty="0"/>
          </a:p>
        </p:txBody>
      </p:sp>
      <p:sp>
        <p:nvSpPr>
          <p:cNvPr id="20" name="Text 18"/>
          <p:cNvSpPr txBox="1"/>
          <p:nvPr/>
        </p:nvSpPr>
        <p:spPr>
          <a:xfrm>
            <a:off x="9299448"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LP, ILP, convex programming. Scheduling, placement, allocation.</a:t>
            </a:r>
            <a:endParaRPr lang="en-US" sz="950" dirty="0"/>
          </a:p>
        </p:txBody>
      </p:sp>
      <p:sp>
        <p:nvSpPr>
          <p:cNvPr id="21" name="Shape 19"/>
          <p:cNvSpPr/>
          <p:nvPr/>
        </p:nvSpPr>
        <p:spPr>
          <a:xfrm>
            <a:off x="502920" y="3712464"/>
            <a:ext cx="2624328" cy="1572768"/>
          </a:xfrm>
          <a:prstGeom prst="roundRect">
            <a:avLst>
              <a:gd name="adj" fmla="val 2907"/>
            </a:avLst>
          </a:prstGeom>
          <a:solidFill>
            <a:srgbClr val="FAF9FE"/>
          </a:solidFill>
          <a:ln w="12700">
            <a:solidFill>
              <a:srgbClr val="E6E2F5"/>
            </a:solidFill>
            <a:prstDash val="solid"/>
          </a:ln>
        </p:spPr>
      </p:sp>
      <p:sp>
        <p:nvSpPr>
          <p:cNvPr id="22" name="Text 20"/>
          <p:cNvSpPr txBox="1"/>
          <p:nvPr/>
        </p:nvSpPr>
        <p:spPr>
          <a:xfrm>
            <a:off x="740664" y="3895344"/>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Game-theoretic models</a:t>
            </a:r>
            <a:endParaRPr lang="en-US" sz="1300" dirty="0"/>
          </a:p>
        </p:txBody>
      </p:sp>
      <p:sp>
        <p:nvSpPr>
          <p:cNvPr id="23" name="Text 21"/>
          <p:cNvSpPr txBox="1"/>
          <p:nvPr/>
        </p:nvSpPr>
        <p:spPr>
          <a:xfrm>
            <a:off x="740664"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Several agents with conflicting aims.</a:t>
            </a:r>
            <a:endParaRPr lang="en-US" sz="1050" dirty="0"/>
          </a:p>
        </p:txBody>
      </p:sp>
      <p:sp>
        <p:nvSpPr>
          <p:cNvPr id="24" name="Text 22"/>
          <p:cNvSpPr txBox="1"/>
          <p:nvPr/>
        </p:nvSpPr>
        <p:spPr>
          <a:xfrm>
            <a:off x="740664"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Equilibria and mechanism design. Congestion, auctions, incentive-compatible protocols.</a:t>
            </a:r>
            <a:endParaRPr lang="en-US" sz="950" dirty="0"/>
          </a:p>
        </p:txBody>
      </p:sp>
      <p:sp>
        <p:nvSpPr>
          <p:cNvPr id="25" name="Shape 23"/>
          <p:cNvSpPr/>
          <p:nvPr/>
        </p:nvSpPr>
        <p:spPr>
          <a:xfrm>
            <a:off x="3355848" y="3712464"/>
            <a:ext cx="2624328" cy="1572768"/>
          </a:xfrm>
          <a:prstGeom prst="roundRect">
            <a:avLst>
              <a:gd name="adj" fmla="val 2907"/>
            </a:avLst>
          </a:prstGeom>
          <a:solidFill>
            <a:srgbClr val="FAF9FE"/>
          </a:solidFill>
          <a:ln w="12700">
            <a:solidFill>
              <a:srgbClr val="E6E2F5"/>
            </a:solidFill>
            <a:prstDash val="solid"/>
          </a:ln>
        </p:spPr>
      </p:sp>
      <p:sp>
        <p:nvSpPr>
          <p:cNvPr id="26" name="Text 24"/>
          <p:cNvSpPr txBox="1"/>
          <p:nvPr/>
        </p:nvSpPr>
        <p:spPr>
          <a:xfrm>
            <a:off x="3593592" y="3895344"/>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Fluid and differential</a:t>
            </a:r>
            <a:endParaRPr lang="en-US" sz="1300" dirty="0"/>
          </a:p>
        </p:txBody>
      </p:sp>
      <p:sp>
        <p:nvSpPr>
          <p:cNvPr id="27" name="Text 25"/>
          <p:cNvSpPr txBox="1"/>
          <p:nvPr/>
        </p:nvSpPr>
        <p:spPr>
          <a:xfrm>
            <a:off x="3593592"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Continuous approximation of large discrete systems.</a:t>
            </a:r>
            <a:endParaRPr lang="en-US" sz="1050" dirty="0"/>
          </a:p>
        </p:txBody>
      </p:sp>
      <p:sp>
        <p:nvSpPr>
          <p:cNvPr id="28" name="Text 26"/>
          <p:cNvSpPr txBox="1"/>
          <p:nvPr/>
        </p:nvSpPr>
        <p:spPr>
          <a:xfrm>
            <a:off x="3593592"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Epidemic spread, congestion-control dynamics, large-scale load behaviour.</a:t>
            </a:r>
            <a:endParaRPr lang="en-US" sz="950" dirty="0"/>
          </a:p>
        </p:txBody>
      </p:sp>
      <p:sp>
        <p:nvSpPr>
          <p:cNvPr id="29" name="Shape 27"/>
          <p:cNvSpPr/>
          <p:nvPr/>
        </p:nvSpPr>
        <p:spPr>
          <a:xfrm>
            <a:off x="6208776" y="3712464"/>
            <a:ext cx="2624328" cy="1572768"/>
          </a:xfrm>
          <a:prstGeom prst="roundRect">
            <a:avLst>
              <a:gd name="adj" fmla="val 2907"/>
            </a:avLst>
          </a:prstGeom>
          <a:solidFill>
            <a:srgbClr val="FAF9FE"/>
          </a:solidFill>
          <a:ln w="12700">
            <a:solidFill>
              <a:srgbClr val="E6E2F5"/>
            </a:solidFill>
            <a:prstDash val="solid"/>
          </a:ln>
        </p:spPr>
      </p:sp>
      <p:sp>
        <p:nvSpPr>
          <p:cNvPr id="30" name="Text 28"/>
          <p:cNvSpPr txBox="1"/>
          <p:nvPr/>
        </p:nvSpPr>
        <p:spPr>
          <a:xfrm>
            <a:off x="6446520" y="3895344"/>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Stochastic processes</a:t>
            </a:r>
            <a:endParaRPr lang="en-US" sz="1300" dirty="0"/>
          </a:p>
        </p:txBody>
      </p:sp>
      <p:sp>
        <p:nvSpPr>
          <p:cNvPr id="31" name="Text 29"/>
          <p:cNvSpPr txBox="1"/>
          <p:nvPr/>
        </p:nvSpPr>
        <p:spPr>
          <a:xfrm>
            <a:off x="6446520"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Randomness evolving in time, beyond Markov.</a:t>
            </a:r>
            <a:endParaRPr lang="en-US" sz="1050" dirty="0"/>
          </a:p>
        </p:txBody>
      </p:sp>
      <p:sp>
        <p:nvSpPr>
          <p:cNvPr id="32" name="Text 30"/>
          <p:cNvSpPr txBox="1"/>
          <p:nvPr/>
        </p:nvSpPr>
        <p:spPr>
          <a:xfrm>
            <a:off x="6446520"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Arrival processes, renewal theory, heavy tails in traffic and file sizes.</a:t>
            </a:r>
            <a:endParaRPr lang="en-US" sz="950" dirty="0"/>
          </a:p>
        </p:txBody>
      </p:sp>
      <p:sp>
        <p:nvSpPr>
          <p:cNvPr id="33" name="Shape 31"/>
          <p:cNvSpPr/>
          <p:nvPr/>
        </p:nvSpPr>
        <p:spPr>
          <a:xfrm>
            <a:off x="9061704" y="3712464"/>
            <a:ext cx="2624328" cy="1572768"/>
          </a:xfrm>
          <a:prstGeom prst="roundRect">
            <a:avLst>
              <a:gd name="adj" fmla="val 2907"/>
            </a:avLst>
          </a:prstGeom>
          <a:solidFill>
            <a:srgbClr val="FAF9FE"/>
          </a:solidFill>
          <a:ln w="12700">
            <a:solidFill>
              <a:srgbClr val="E6E2F5"/>
            </a:solidFill>
            <a:prstDash val="solid"/>
          </a:ln>
        </p:spPr>
      </p:sp>
      <p:sp>
        <p:nvSpPr>
          <p:cNvPr id="34" name="Text 32"/>
          <p:cNvSpPr txBox="1"/>
          <p:nvPr/>
        </p:nvSpPr>
        <p:spPr>
          <a:xfrm>
            <a:off x="9299448" y="3895344"/>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Information-theoretic</a:t>
            </a:r>
            <a:endParaRPr lang="en-US" sz="1300" dirty="0"/>
          </a:p>
        </p:txBody>
      </p:sp>
      <p:sp>
        <p:nvSpPr>
          <p:cNvPr id="35" name="Text 33"/>
          <p:cNvSpPr txBox="1"/>
          <p:nvPr/>
        </p:nvSpPr>
        <p:spPr>
          <a:xfrm>
            <a:off x="9299448"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Uncertainty and capacity as measurable quantities.</a:t>
            </a:r>
            <a:endParaRPr lang="en-US" sz="1050" dirty="0"/>
          </a:p>
        </p:txBody>
      </p:sp>
      <p:sp>
        <p:nvSpPr>
          <p:cNvPr id="36" name="Text 34"/>
          <p:cNvSpPr txBox="1"/>
          <p:nvPr/>
        </p:nvSpPr>
        <p:spPr>
          <a:xfrm>
            <a:off x="9299448"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Entropy, channel capacity, compression and coding bounds.</a:t>
            </a:r>
            <a:endParaRPr lang="en-US" sz="950" dirty="0"/>
          </a:p>
        </p:txBody>
      </p:sp>
      <p:sp>
        <p:nvSpPr>
          <p:cNvPr id="37" name="Text 35"/>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Most real modelling combines them: a queueing network whose service rates come from a measured empirical distribution, optimised over a decision variable, and checked by simulation.</a:t>
            </a:r>
            <a:endParaRPr lang="en-US" sz="1150" dirty="0"/>
          </a:p>
        </p:txBody>
      </p:sp>
      <p:sp>
        <p:nvSpPr>
          <p:cNvPr id="38" name="Text 36"/>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9" name="Text 37"/>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8 / 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BUILDING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Parameters: Estimation and Calibration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A model with unstated parameter provenance is not reproducible, and a model calibrated on the data used to validate it has not been validated at all.</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CONCERN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Provenance</a:t>
            </a:r>
            <a:endParaRPr lang="en-US" sz="155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Where did each number actually come from?</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Measured on a running system, taken from published literature, read off a specification sheet, or estimated by hand. These are not equally trustworthy — say which for every parameter.</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CONCERN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Identifiability</a:t>
            </a:r>
            <a:endParaRPr lang="en-US" sz="155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Can the data you hold determine these parameters uniquely?</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Two parameters that only ever appear as a product cannot be separated by any quantity of data. Fitting them anyway produces confident numbers that mean nothing.</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CONCERN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Calibration ≠ validation</a:t>
            </a:r>
            <a:endParaRPr lang="en-US" sz="155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Fitting parameters so the model reproduces a dataset proves only that the fit succeeded.</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This is Lecture 3's overfitting in modelling dress. Validate on data held back from the fitting, or the exercise is circular.</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CONCERN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Uncertainty</a:t>
            </a:r>
            <a:endParaRPr lang="en-US" sz="155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A parameter estimated from data has a confidence interval.</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Propagate it. Report predicted ranges rather than single numbers whenever the inputs were themselves uncertain — otherwise the output's precision is fictional.</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A useful test: could a reader rebuild your model from the paper and get your numbers? If any parameter has no stated source, the answer is no.</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9 / 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BUILDING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Deriving the M/M/1 Queue</a:t>
            </a:r>
            <a:endParaRPr lang="en-US" sz="2800" dirty="0"/>
          </a:p>
        </p:txBody>
      </p:sp>
      <p:sp>
        <p:nvSpPr>
          <p:cNvPr id="4" name="Text 2"/>
          <p:cNvSpPr txBox="1"/>
          <p:nvPr/>
        </p:nvSpPr>
        <p:spPr>
          <a:xfrm>
            <a:off x="502920" y="1225296"/>
            <a:ext cx="11183112" cy="384048"/>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Question:  </a:t>
            </a:r>
            <a:pPr indent="0" marL="0">
              <a:buNone/>
            </a:pPr>
            <a:r>
              <a:rPr lang="en-US" sz="1150" dirty="0">
                <a:solidFill>
                  <a:srgbClr val="5C5A66"/>
                </a:solidFill>
                <a:latin typeface="Calibri" pitchFamily="34" charset="0"/>
                <a:ea typeface="Calibri" pitchFamily="34" charset="-122"/>
                <a:cs typeface="Calibri" pitchFamily="34" charset="-120"/>
              </a:rPr>
              <a:t>“For a single server with random arrivals, how does mean response time depend on load?”</a:t>
            </a:r>
            <a:endParaRPr lang="en-US" sz="1150" dirty="0"/>
          </a:p>
        </p:txBody>
      </p:sp>
      <p:sp>
        <p:nvSpPr>
          <p:cNvPr id="5" name="Shape 3"/>
          <p:cNvSpPr/>
          <p:nvPr/>
        </p:nvSpPr>
        <p:spPr>
          <a:xfrm>
            <a:off x="502920" y="1627632"/>
            <a:ext cx="4206240" cy="2011680"/>
          </a:xfrm>
          <a:prstGeom prst="roundRect">
            <a:avLst>
              <a:gd name="adj" fmla="val 2273"/>
            </a:avLst>
          </a:prstGeom>
          <a:solidFill>
            <a:srgbClr val="F5F4FB"/>
          </a:solidFill>
          <a:ln/>
        </p:spPr>
      </p:sp>
      <p:sp>
        <p:nvSpPr>
          <p:cNvPr id="6" name="Text 4"/>
          <p:cNvSpPr txBox="1"/>
          <p:nvPr/>
        </p:nvSpPr>
        <p:spPr>
          <a:xfrm>
            <a:off x="777240" y="1810512"/>
            <a:ext cx="365760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THE MODEL</a:t>
            </a:r>
            <a:endParaRPr lang="en-US" sz="850" dirty="0"/>
          </a:p>
        </p:txBody>
      </p:sp>
      <p:sp>
        <p:nvSpPr>
          <p:cNvPr id="7" name="Text 5"/>
          <p:cNvSpPr txBox="1"/>
          <p:nvPr/>
        </p:nvSpPr>
        <p:spPr>
          <a:xfrm>
            <a:off x="777240" y="2084832"/>
            <a:ext cx="3657600" cy="1371600"/>
          </a:xfrm>
          <a:prstGeom prst="rect">
            <a:avLst/>
          </a:prstGeom>
          <a:noFill/>
          <a:ln/>
        </p:spPr>
        <p:txBody>
          <a:bodyPr wrap="square" lIns="0" tIns="0" rIns="0" bIns="0" rtlCol="0" anchor="t"/>
          <a:lstStyle/>
          <a:p>
            <a:pPr indent="0" marL="0">
              <a:lnSpc>
                <a:spcPct val="132000"/>
              </a:lnSpc>
              <a:buNone/>
            </a:pPr>
            <a:r>
              <a:rPr lang="en-US" sz="1150" dirty="0">
                <a:solidFill>
                  <a:srgbClr val="241A4C"/>
                </a:solidFill>
                <a:latin typeface="Calibri" pitchFamily="34" charset="0"/>
                <a:ea typeface="Calibri" pitchFamily="34" charset="-122"/>
                <a:cs typeface="Calibri" pitchFamily="34" charset="-120"/>
              </a:rPr>
              <a:t>Arrivals:  Poisson, rate λ</a:t>
            </a:r>
            <a:endParaRPr lang="en-US" sz="1150" dirty="0"/>
          </a:p>
          <a:p>
            <a:pPr indent="0" marL="0">
              <a:lnSpc>
                <a:spcPct val="132000"/>
              </a:lnSpc>
              <a:buNone/>
            </a:pPr>
            <a:r>
              <a:rPr lang="en-US" sz="1150" dirty="0">
                <a:solidFill>
                  <a:srgbClr val="241A4C"/>
                </a:solidFill>
                <a:latin typeface="Calibri" pitchFamily="34" charset="0"/>
                <a:ea typeface="Calibri" pitchFamily="34" charset="-122"/>
                <a:cs typeface="Calibri" pitchFamily="34" charset="-120"/>
              </a:rPr>
              <a:t>Service:  exponential, rate μ, one server</a:t>
            </a:r>
            <a:endParaRPr lang="en-US" sz="1150" dirty="0"/>
          </a:p>
          <a:p>
            <a:pPr indent="0" marL="0">
              <a:lnSpc>
                <a:spcPct val="132000"/>
              </a:lnSpc>
              <a:buNone/>
            </a:pPr>
            <a:r>
              <a:rPr lang="en-US" sz="1150" dirty="0">
                <a:solidFill>
                  <a:srgbClr val="241A4C"/>
                </a:solidFill>
                <a:latin typeface="Calibri" pitchFamily="34" charset="0"/>
                <a:ea typeface="Calibri" pitchFamily="34" charset="-122"/>
                <a:cs typeface="Calibri" pitchFamily="34" charset="-120"/>
              </a:rPr>
              <a:t>Queue:  infinite capacity, first-come-first-served</a:t>
            </a:r>
            <a:endParaRPr lang="en-US" sz="1150" dirty="0"/>
          </a:p>
          <a:p>
            <a:pPr indent="0" marL="0">
              <a:lnSpc>
                <a:spcPct val="132000"/>
              </a:lnSpc>
              <a:buNone/>
            </a:pPr>
            <a:r>
              <a:rPr lang="en-US" sz="1150" dirty="0">
                <a:solidFill>
                  <a:srgbClr val="241A4C"/>
                </a:solidFill>
                <a:latin typeface="Calibri" pitchFamily="34" charset="0"/>
                <a:ea typeface="Calibri" pitchFamily="34" charset="-122"/>
                <a:cs typeface="Calibri" pitchFamily="34" charset="-120"/>
              </a:rPr>
              <a:t>Stability:  ρ = λ/μ  &lt;  1</a:t>
            </a:r>
            <a:endParaRPr lang="en-US" sz="1150" dirty="0"/>
          </a:p>
        </p:txBody>
      </p:sp>
      <p:sp>
        <p:nvSpPr>
          <p:cNvPr id="8" name="Shape 6"/>
          <p:cNvSpPr/>
          <p:nvPr/>
        </p:nvSpPr>
        <p:spPr>
          <a:xfrm>
            <a:off x="502920" y="3822192"/>
            <a:ext cx="4206240" cy="1371600"/>
          </a:xfrm>
          <a:prstGeom prst="roundRect">
            <a:avLst>
              <a:gd name="adj" fmla="val 3333"/>
            </a:avLst>
          </a:prstGeom>
          <a:solidFill>
            <a:srgbClr val="F6EFE4"/>
          </a:solidFill>
          <a:ln/>
        </p:spPr>
      </p:sp>
      <p:sp>
        <p:nvSpPr>
          <p:cNvPr id="9" name="Text 7"/>
          <p:cNvSpPr txBox="1"/>
          <p:nvPr/>
        </p:nvSpPr>
        <p:spPr>
          <a:xfrm>
            <a:off x="777240" y="4005072"/>
            <a:ext cx="365760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WHAT THE ASSUMPTIONS BUY</a:t>
            </a:r>
            <a:endParaRPr lang="en-US" sz="850" dirty="0"/>
          </a:p>
        </p:txBody>
      </p:sp>
      <p:sp>
        <p:nvSpPr>
          <p:cNvPr id="10" name="Text 8"/>
          <p:cNvSpPr txBox="1"/>
          <p:nvPr/>
        </p:nvSpPr>
        <p:spPr>
          <a:xfrm>
            <a:off x="777240" y="4261104"/>
            <a:ext cx="3657600" cy="822960"/>
          </a:xfrm>
          <a:prstGeom prst="rect">
            <a:avLst/>
          </a:prstGeom>
          <a:noFill/>
          <a:ln/>
        </p:spPr>
        <p:txBody>
          <a:bodyPr wrap="square" lIns="0" tIns="0" rIns="0" bIns="0" rtlCol="0" anchor="t"/>
          <a:lstStyle/>
          <a:p>
            <a:pPr indent="0" marL="0">
              <a:lnSpc>
                <a:spcPct val="120000"/>
              </a:lnSpc>
              <a:buNone/>
            </a:pPr>
            <a:r>
              <a:rPr lang="en-US" sz="1100" dirty="0">
                <a:solidFill>
                  <a:srgbClr val="241A4C"/>
                </a:solidFill>
                <a:latin typeface="Calibri" pitchFamily="34" charset="0"/>
                <a:ea typeface="Calibri" pitchFamily="34" charset="-122"/>
                <a:cs typeface="Calibri" pitchFamily="34" charset="-120"/>
              </a:rPr>
              <a:t>Memorylessness is what makes the number in system a sufficient state. Without it the chain would have to remember elapsed service times, and no closed form would follow.</a:t>
            </a:r>
            <a:endParaRPr lang="en-US" sz="1100" dirty="0"/>
          </a:p>
        </p:txBody>
      </p:sp>
      <p:sp>
        <p:nvSpPr>
          <p:cNvPr id="11" name="Text 9"/>
          <p:cNvSpPr txBox="1"/>
          <p:nvPr/>
        </p:nvSpPr>
        <p:spPr>
          <a:xfrm>
            <a:off x="502920" y="5413248"/>
            <a:ext cx="4206240" cy="822960"/>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Read the result again: as λ approaches μ, response time diverges. The model's most useful output is not a number — it is that shape.</a:t>
            </a:r>
            <a:endParaRPr lang="en-US" sz="1050" dirty="0"/>
          </a:p>
        </p:txBody>
      </p:sp>
      <p:sp>
        <p:nvSpPr>
          <p:cNvPr id="12" name="Shape 10"/>
          <p:cNvSpPr/>
          <p:nvPr/>
        </p:nvSpPr>
        <p:spPr>
          <a:xfrm>
            <a:off x="5029200" y="1609344"/>
            <a:ext cx="310896" cy="310896"/>
          </a:xfrm>
          <a:prstGeom prst="ellipse">
            <a:avLst/>
          </a:prstGeom>
          <a:solidFill>
            <a:srgbClr val="3D6EA6"/>
          </a:solidFill>
          <a:ln/>
        </p:spPr>
      </p:sp>
      <p:sp>
        <p:nvSpPr>
          <p:cNvPr id="13" name="Text 11"/>
          <p:cNvSpPr txBox="1"/>
          <p:nvPr/>
        </p:nvSpPr>
        <p:spPr>
          <a:xfrm>
            <a:off x="5029200" y="16093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4" name="Text 12"/>
          <p:cNvSpPr txBox="1"/>
          <p:nvPr/>
        </p:nvSpPr>
        <p:spPr>
          <a:xfrm>
            <a:off x="5541264" y="1591056"/>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State and transitions</a:t>
            </a:r>
            <a:endParaRPr lang="en-US" sz="1350" dirty="0"/>
          </a:p>
        </p:txBody>
      </p:sp>
      <p:sp>
        <p:nvSpPr>
          <p:cNvPr id="15" name="Text 13"/>
          <p:cNvSpPr txBox="1"/>
          <p:nvPr/>
        </p:nvSpPr>
        <p:spPr>
          <a:xfrm>
            <a:off x="5541264" y="1901952"/>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Let the state be n, the number in system. From state n the chain moves up at rate λ, and for n ≥ 1 down at rate μ. This is a birth–death process.</a:t>
            </a:r>
            <a:endParaRPr lang="en-US" sz="1050" dirty="0"/>
          </a:p>
        </p:txBody>
      </p:sp>
      <p:sp>
        <p:nvSpPr>
          <p:cNvPr id="16" name="Shape 14"/>
          <p:cNvSpPr/>
          <p:nvPr/>
        </p:nvSpPr>
        <p:spPr>
          <a:xfrm>
            <a:off x="5029200" y="2651760"/>
            <a:ext cx="310896" cy="310896"/>
          </a:xfrm>
          <a:prstGeom prst="ellipse">
            <a:avLst/>
          </a:prstGeom>
          <a:solidFill>
            <a:srgbClr val="3D6EA6"/>
          </a:solidFill>
          <a:ln/>
        </p:spPr>
      </p:sp>
      <p:sp>
        <p:nvSpPr>
          <p:cNvPr id="17" name="Text 15"/>
          <p:cNvSpPr txBox="1"/>
          <p:nvPr/>
        </p:nvSpPr>
        <p:spPr>
          <a:xfrm>
            <a:off x="5029200" y="26517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8" name="Text 16"/>
          <p:cNvSpPr txBox="1"/>
          <p:nvPr/>
        </p:nvSpPr>
        <p:spPr>
          <a:xfrm>
            <a:off x="5541264" y="2633472"/>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Balance equations</a:t>
            </a:r>
            <a:endParaRPr lang="en-US" sz="1350" dirty="0"/>
          </a:p>
        </p:txBody>
      </p:sp>
      <p:sp>
        <p:nvSpPr>
          <p:cNvPr id="19" name="Text 17"/>
          <p:cNvSpPr txBox="1"/>
          <p:nvPr/>
        </p:nvSpPr>
        <p:spPr>
          <a:xfrm>
            <a:off x="5541264" y="2944368"/>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In steady state, flow across the cut between n and n+1 must balance: λ·pₙ = μ·pₙ₊₁. Hence pₙ₊₁ = ρ·pₙ, and so pₙ = p₀·ρ^n.</a:t>
            </a:r>
            <a:endParaRPr lang="en-US" sz="1050" dirty="0"/>
          </a:p>
        </p:txBody>
      </p:sp>
      <p:sp>
        <p:nvSpPr>
          <p:cNvPr id="20" name="Shape 18"/>
          <p:cNvSpPr/>
          <p:nvPr/>
        </p:nvSpPr>
        <p:spPr>
          <a:xfrm>
            <a:off x="5029200" y="3694176"/>
            <a:ext cx="310896" cy="310896"/>
          </a:xfrm>
          <a:prstGeom prst="ellipse">
            <a:avLst/>
          </a:prstGeom>
          <a:solidFill>
            <a:srgbClr val="B08C3A"/>
          </a:solidFill>
          <a:ln/>
        </p:spPr>
      </p:sp>
      <p:sp>
        <p:nvSpPr>
          <p:cNvPr id="21" name="Text 19"/>
          <p:cNvSpPr txBox="1"/>
          <p:nvPr/>
        </p:nvSpPr>
        <p:spPr>
          <a:xfrm>
            <a:off x="5029200" y="36941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5541264" y="367588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Normalise</a:t>
            </a:r>
            <a:endParaRPr lang="en-US" sz="1350" dirty="0"/>
          </a:p>
        </p:txBody>
      </p:sp>
      <p:sp>
        <p:nvSpPr>
          <p:cNvPr id="23" name="Text 21"/>
          <p:cNvSpPr txBox="1"/>
          <p:nvPr/>
        </p:nvSpPr>
        <p:spPr>
          <a:xfrm>
            <a:off x="5541264" y="3986784"/>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Probabilities sum to one: p₀ · Σ ρ^n = p₀ / (1 − ρ) = 1. Therefore p₀ = 1 − ρ, giving pₙ = (1 − ρ)·ρ^n — a geometric distribution.</a:t>
            </a:r>
            <a:endParaRPr lang="en-US" sz="1050" dirty="0"/>
          </a:p>
        </p:txBody>
      </p:sp>
      <p:sp>
        <p:nvSpPr>
          <p:cNvPr id="24" name="Shape 22"/>
          <p:cNvSpPr/>
          <p:nvPr/>
        </p:nvSpPr>
        <p:spPr>
          <a:xfrm>
            <a:off x="5029200" y="4736592"/>
            <a:ext cx="310896" cy="310896"/>
          </a:xfrm>
          <a:prstGeom prst="ellipse">
            <a:avLst/>
          </a:prstGeom>
          <a:solidFill>
            <a:srgbClr val="B08C3A"/>
          </a:solidFill>
          <a:ln/>
        </p:spPr>
      </p:sp>
      <p:sp>
        <p:nvSpPr>
          <p:cNvPr id="25" name="Text 23"/>
          <p:cNvSpPr txBox="1"/>
          <p:nvPr/>
        </p:nvSpPr>
        <p:spPr>
          <a:xfrm>
            <a:off x="5029200" y="47365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5541264" y="4718304"/>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Derive the answers</a:t>
            </a:r>
            <a:endParaRPr lang="en-US" sz="1350" dirty="0"/>
          </a:p>
        </p:txBody>
      </p:sp>
      <p:sp>
        <p:nvSpPr>
          <p:cNvPr id="27" name="Text 25"/>
          <p:cNvSpPr txBox="1"/>
          <p:nvPr/>
        </p:nvSpPr>
        <p:spPr>
          <a:xfrm>
            <a:off x="5541264" y="5029200"/>
            <a:ext cx="6144768" cy="7315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Mean number in system L = Σ n·pₙ = ρ / (1 − ρ). By Little's Law, mean response time W = L / λ = 1 / (μ − λ).</a:t>
            </a:r>
            <a:endParaRPr lang="en-US" sz="1050" dirty="0"/>
          </a:p>
        </p:txBody>
      </p:sp>
      <p:sp>
        <p:nvSpPr>
          <p:cNvPr id="28" name="Text 26"/>
          <p:cNvSpPr txBox="1"/>
          <p:nvPr/>
        </p:nvSpPr>
        <p:spPr>
          <a:xfrm>
            <a:off x="5541264" y="5815584"/>
            <a:ext cx="6144768" cy="566928"/>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And that shape is a consequence of the exponential service assumption — which real service times, with their heavy tails, routinely violate. The M/G/1 formula exists precisely because that assumption had to be relaxed.</a:t>
            </a:r>
            <a:endParaRPr lang="en-US" sz="1050" dirty="0"/>
          </a:p>
        </p:txBody>
      </p:sp>
      <p:sp>
        <p:nvSpPr>
          <p:cNvPr id="29" name="Text 27"/>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0" name="Text 28"/>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10 / 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BUILDING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Operational Laws: Checks That Hold Regardless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A small set of relations that follow from bookkeeping alone. They assume nothing about distributions, scheduling, or independence — which makes them the model-builder's sanity checks.</a:t>
            </a:r>
            <a:endParaRPr lang="en-US" sz="1250" dirty="0"/>
          </a:p>
        </p:txBody>
      </p:sp>
      <p:sp>
        <p:nvSpPr>
          <p:cNvPr id="5" name="Shape 3"/>
          <p:cNvSpPr/>
          <p:nvPr/>
        </p:nvSpPr>
        <p:spPr>
          <a:xfrm>
            <a:off x="502920" y="1938528"/>
            <a:ext cx="3502152" cy="3200400"/>
          </a:xfrm>
          <a:prstGeom prst="roundRect">
            <a:avLst>
              <a:gd name="adj" fmla="val 1429"/>
            </a:avLst>
          </a:prstGeom>
          <a:solidFill>
            <a:srgbClr val="F3F1FC"/>
          </a:solidFill>
          <a:ln/>
        </p:spPr>
      </p:sp>
      <p:sp>
        <p:nvSpPr>
          <p:cNvPr id="6" name="Text 4"/>
          <p:cNvSpPr txBox="1"/>
          <p:nvPr/>
        </p:nvSpPr>
        <p:spPr>
          <a:xfrm>
            <a:off x="758952" y="2157984"/>
            <a:ext cx="2990088"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LAW 1</a:t>
            </a:r>
            <a:endParaRPr lang="en-US" sz="800" dirty="0"/>
          </a:p>
        </p:txBody>
      </p:sp>
      <p:sp>
        <p:nvSpPr>
          <p:cNvPr id="7" name="Text 5"/>
          <p:cNvSpPr txBox="1"/>
          <p:nvPr/>
        </p:nvSpPr>
        <p:spPr>
          <a:xfrm>
            <a:off x="758952" y="2395728"/>
            <a:ext cx="2990088" cy="347472"/>
          </a:xfrm>
          <a:prstGeom prst="rect">
            <a:avLst/>
          </a:prstGeom>
          <a:noFill/>
          <a:ln/>
        </p:spPr>
        <p:txBody>
          <a:bodyPr wrap="square" lIns="0" tIns="0" rIns="0" bIns="0" rtlCol="0" anchor="ctr"/>
          <a:lstStyle/>
          <a:p>
            <a:pPr indent="0" marL="0">
              <a:buNone/>
            </a:pPr>
            <a:r>
              <a:rPr lang="en-US" sz="1800" b="1" dirty="0">
                <a:solidFill>
                  <a:srgbClr val="241A4C"/>
                </a:solidFill>
                <a:latin typeface="Cambria" pitchFamily="34" charset="0"/>
                <a:ea typeface="Cambria" pitchFamily="34" charset="-122"/>
                <a:cs typeface="Cambria" pitchFamily="34" charset="-120"/>
              </a:rPr>
              <a:t>Little's Law</a:t>
            </a:r>
            <a:endParaRPr lang="en-US" sz="1800" dirty="0"/>
          </a:p>
        </p:txBody>
      </p:sp>
      <p:sp>
        <p:nvSpPr>
          <p:cNvPr id="8" name="Text 6"/>
          <p:cNvSpPr txBox="1"/>
          <p:nvPr/>
        </p:nvSpPr>
        <p:spPr>
          <a:xfrm>
            <a:off x="758952" y="2816352"/>
            <a:ext cx="2990088" cy="292608"/>
          </a:xfrm>
          <a:prstGeom prst="rect">
            <a:avLst/>
          </a:prstGeom>
          <a:noFill/>
          <a:ln/>
        </p:spPr>
        <p:txBody>
          <a:bodyPr wrap="square" lIns="0" tIns="0" rIns="0" bIns="0" rtlCol="0" anchor="ctr"/>
          <a:lstStyle/>
          <a:p>
            <a:pPr indent="0" marL="0">
              <a:buNone/>
            </a:pPr>
            <a:r>
              <a:rPr lang="en-US" sz="1300" dirty="0">
                <a:solidFill>
                  <a:srgbClr val="B08C3A"/>
                </a:solidFill>
                <a:latin typeface="Courier New" pitchFamily="34" charset="0"/>
                <a:ea typeface="Courier New" pitchFamily="34" charset="-122"/>
                <a:cs typeface="Courier New" pitchFamily="34" charset="-120"/>
              </a:rPr>
              <a:t>L  =  λ · W</a:t>
            </a:r>
            <a:endParaRPr lang="en-US" sz="1300" dirty="0"/>
          </a:p>
        </p:txBody>
      </p:sp>
      <p:sp>
        <p:nvSpPr>
          <p:cNvPr id="9" name="Text 7"/>
          <p:cNvSpPr txBox="1"/>
          <p:nvPr/>
        </p:nvSpPr>
        <p:spPr>
          <a:xfrm>
            <a:off x="758952" y="3218688"/>
            <a:ext cx="2990088"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mean number of jobs in a system equals the arrival rate times the mean time each spends there.</a:t>
            </a:r>
            <a:endParaRPr lang="en-US" sz="1100" dirty="0"/>
          </a:p>
        </p:txBody>
      </p:sp>
      <p:sp>
        <p:nvSpPr>
          <p:cNvPr id="10" name="Text 8"/>
          <p:cNvSpPr txBox="1"/>
          <p:nvPr/>
        </p:nvSpPr>
        <p:spPr>
          <a:xfrm>
            <a:off x="758952" y="4096512"/>
            <a:ext cx="2990088" cy="914400"/>
          </a:xfrm>
          <a:prstGeom prst="rect">
            <a:avLst/>
          </a:prstGeom>
          <a:noFill/>
          <a:ln/>
        </p:spPr>
        <p:txBody>
          <a:bodyPr wrap="square" lIns="0" tIns="0" rIns="0" bIns="0" rtlCol="0" anchor="t"/>
          <a:lstStyle/>
          <a:p>
            <a:pPr indent="0" marL="0">
              <a:lnSpc>
                <a:spcPct val="118000"/>
              </a:lnSpc>
              <a:buNone/>
            </a:pPr>
            <a:r>
              <a:rPr lang="en-US" sz="1000" i="1" dirty="0">
                <a:solidFill>
                  <a:srgbClr val="B08C3A"/>
                </a:solidFill>
                <a:latin typeface="Calibri" pitchFamily="34" charset="0"/>
                <a:ea typeface="Calibri" pitchFamily="34" charset="-122"/>
                <a:cs typeface="Calibri" pitchFamily="34" charset="-120"/>
              </a:rPr>
              <a:t>Holds for any arrival process, any service distribution, and any scheduling discipline — provided the system is stable and you measure L, λ and W over the same boundary.</a:t>
            </a:r>
            <a:endParaRPr lang="en-US" sz="1000" dirty="0"/>
          </a:p>
        </p:txBody>
      </p:sp>
      <p:sp>
        <p:nvSpPr>
          <p:cNvPr id="11" name="Shape 9"/>
          <p:cNvSpPr/>
          <p:nvPr/>
        </p:nvSpPr>
        <p:spPr>
          <a:xfrm>
            <a:off x="4343400" y="1938528"/>
            <a:ext cx="3502152" cy="3200400"/>
          </a:xfrm>
          <a:prstGeom prst="roundRect">
            <a:avLst>
              <a:gd name="adj" fmla="val 1429"/>
            </a:avLst>
          </a:prstGeom>
          <a:solidFill>
            <a:srgbClr val="F3F1FC"/>
          </a:solidFill>
          <a:ln/>
        </p:spPr>
      </p:sp>
      <p:sp>
        <p:nvSpPr>
          <p:cNvPr id="12" name="Text 10"/>
          <p:cNvSpPr txBox="1"/>
          <p:nvPr/>
        </p:nvSpPr>
        <p:spPr>
          <a:xfrm>
            <a:off x="4599432" y="2157984"/>
            <a:ext cx="2990088"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LAW 2</a:t>
            </a:r>
            <a:endParaRPr lang="en-US" sz="800" dirty="0"/>
          </a:p>
        </p:txBody>
      </p:sp>
      <p:sp>
        <p:nvSpPr>
          <p:cNvPr id="13" name="Text 11"/>
          <p:cNvSpPr txBox="1"/>
          <p:nvPr/>
        </p:nvSpPr>
        <p:spPr>
          <a:xfrm>
            <a:off x="4599432" y="2395728"/>
            <a:ext cx="2990088" cy="347472"/>
          </a:xfrm>
          <a:prstGeom prst="rect">
            <a:avLst/>
          </a:prstGeom>
          <a:noFill/>
          <a:ln/>
        </p:spPr>
        <p:txBody>
          <a:bodyPr wrap="square" lIns="0" tIns="0" rIns="0" bIns="0" rtlCol="0" anchor="ctr"/>
          <a:lstStyle/>
          <a:p>
            <a:pPr indent="0" marL="0">
              <a:buNone/>
            </a:pPr>
            <a:r>
              <a:rPr lang="en-US" sz="1800" b="1" dirty="0">
                <a:solidFill>
                  <a:srgbClr val="241A4C"/>
                </a:solidFill>
                <a:latin typeface="Cambria" pitchFamily="34" charset="0"/>
                <a:ea typeface="Cambria" pitchFamily="34" charset="-122"/>
                <a:cs typeface="Cambria" pitchFamily="34" charset="-120"/>
              </a:rPr>
              <a:t>Utilisation Law</a:t>
            </a:r>
            <a:endParaRPr lang="en-US" sz="1800" dirty="0"/>
          </a:p>
        </p:txBody>
      </p:sp>
      <p:sp>
        <p:nvSpPr>
          <p:cNvPr id="14" name="Text 12"/>
          <p:cNvSpPr txBox="1"/>
          <p:nvPr/>
        </p:nvSpPr>
        <p:spPr>
          <a:xfrm>
            <a:off x="4599432" y="2816352"/>
            <a:ext cx="2990088" cy="292608"/>
          </a:xfrm>
          <a:prstGeom prst="rect">
            <a:avLst/>
          </a:prstGeom>
          <a:noFill/>
          <a:ln/>
        </p:spPr>
        <p:txBody>
          <a:bodyPr wrap="square" lIns="0" tIns="0" rIns="0" bIns="0" rtlCol="0" anchor="ctr"/>
          <a:lstStyle/>
          <a:p>
            <a:pPr indent="0" marL="0">
              <a:buNone/>
            </a:pPr>
            <a:r>
              <a:rPr lang="en-US" sz="1300" dirty="0">
                <a:solidFill>
                  <a:srgbClr val="3D6EA6"/>
                </a:solidFill>
                <a:latin typeface="Courier New" pitchFamily="34" charset="0"/>
                <a:ea typeface="Courier New" pitchFamily="34" charset="-122"/>
                <a:cs typeface="Courier New" pitchFamily="34" charset="-120"/>
              </a:rPr>
              <a:t>U  =  X · S</a:t>
            </a:r>
            <a:endParaRPr lang="en-US" sz="1300" dirty="0"/>
          </a:p>
        </p:txBody>
      </p:sp>
      <p:sp>
        <p:nvSpPr>
          <p:cNvPr id="15" name="Text 13"/>
          <p:cNvSpPr txBox="1"/>
          <p:nvPr/>
        </p:nvSpPr>
        <p:spPr>
          <a:xfrm>
            <a:off x="4599432" y="3218688"/>
            <a:ext cx="2990088"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A resource's utilisation equals its throughput times its mean service time per visit.</a:t>
            </a:r>
            <a:endParaRPr lang="en-US" sz="1100" dirty="0"/>
          </a:p>
        </p:txBody>
      </p:sp>
      <p:sp>
        <p:nvSpPr>
          <p:cNvPr id="16" name="Text 14"/>
          <p:cNvSpPr txBox="1"/>
          <p:nvPr/>
        </p:nvSpPr>
        <p:spPr>
          <a:xfrm>
            <a:off x="4599432" y="4096512"/>
            <a:ext cx="2990088" cy="914400"/>
          </a:xfrm>
          <a:prstGeom prst="rect">
            <a:avLst/>
          </a:prstGeom>
          <a:noFill/>
          <a:ln/>
        </p:spPr>
        <p:txBody>
          <a:bodyPr wrap="square" lIns="0" tIns="0" rIns="0" bIns="0" rtlCol="0" anchor="t"/>
          <a:lstStyle/>
          <a:p>
            <a:pPr indent="0" marL="0">
              <a:lnSpc>
                <a:spcPct val="118000"/>
              </a:lnSpc>
              <a:buNone/>
            </a:pPr>
            <a:r>
              <a:rPr lang="en-US" sz="1000" i="1" dirty="0">
                <a:solidFill>
                  <a:srgbClr val="3D6EA6"/>
                </a:solidFill>
                <a:latin typeface="Calibri" pitchFamily="34" charset="0"/>
                <a:ea typeface="Calibri" pitchFamily="34" charset="-122"/>
                <a:cs typeface="Calibri" pitchFamily="34" charset="-120"/>
              </a:rPr>
              <a:t>Gives you an immediate consistency check between three quantities that simulations and measurements report separately — and often inconsistently.</a:t>
            </a:r>
            <a:endParaRPr lang="en-US" sz="1000" dirty="0"/>
          </a:p>
        </p:txBody>
      </p:sp>
      <p:sp>
        <p:nvSpPr>
          <p:cNvPr id="17" name="Shape 15"/>
          <p:cNvSpPr/>
          <p:nvPr/>
        </p:nvSpPr>
        <p:spPr>
          <a:xfrm>
            <a:off x="8183880" y="1938528"/>
            <a:ext cx="3502152" cy="3200400"/>
          </a:xfrm>
          <a:prstGeom prst="roundRect">
            <a:avLst>
              <a:gd name="adj" fmla="val 1429"/>
            </a:avLst>
          </a:prstGeom>
          <a:solidFill>
            <a:srgbClr val="F3F1FC"/>
          </a:solidFill>
          <a:ln/>
        </p:spPr>
      </p:sp>
      <p:sp>
        <p:nvSpPr>
          <p:cNvPr id="18" name="Text 16"/>
          <p:cNvSpPr txBox="1"/>
          <p:nvPr/>
        </p:nvSpPr>
        <p:spPr>
          <a:xfrm>
            <a:off x="8439912" y="2157984"/>
            <a:ext cx="2990088"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LAW 3</a:t>
            </a:r>
            <a:endParaRPr lang="en-US" sz="800" dirty="0"/>
          </a:p>
        </p:txBody>
      </p:sp>
      <p:sp>
        <p:nvSpPr>
          <p:cNvPr id="19" name="Text 17"/>
          <p:cNvSpPr txBox="1"/>
          <p:nvPr/>
        </p:nvSpPr>
        <p:spPr>
          <a:xfrm>
            <a:off x="8439912" y="2395728"/>
            <a:ext cx="2990088" cy="347472"/>
          </a:xfrm>
          <a:prstGeom prst="rect">
            <a:avLst/>
          </a:prstGeom>
          <a:noFill/>
          <a:ln/>
        </p:spPr>
        <p:txBody>
          <a:bodyPr wrap="square" lIns="0" tIns="0" rIns="0" bIns="0" rtlCol="0" anchor="ctr"/>
          <a:lstStyle/>
          <a:p>
            <a:pPr indent="0" marL="0">
              <a:buNone/>
            </a:pPr>
            <a:r>
              <a:rPr lang="en-US" sz="1800" b="1" dirty="0">
                <a:solidFill>
                  <a:srgbClr val="241A4C"/>
                </a:solidFill>
                <a:latin typeface="Cambria" pitchFamily="34" charset="0"/>
                <a:ea typeface="Cambria" pitchFamily="34" charset="-122"/>
                <a:cs typeface="Cambria" pitchFamily="34" charset="-120"/>
              </a:rPr>
              <a:t>Forced Flow Law</a:t>
            </a:r>
            <a:endParaRPr lang="en-US" sz="1800" dirty="0"/>
          </a:p>
        </p:txBody>
      </p:sp>
      <p:sp>
        <p:nvSpPr>
          <p:cNvPr id="20" name="Text 18"/>
          <p:cNvSpPr txBox="1"/>
          <p:nvPr/>
        </p:nvSpPr>
        <p:spPr>
          <a:xfrm>
            <a:off x="8439912" y="2816352"/>
            <a:ext cx="2990088" cy="292608"/>
          </a:xfrm>
          <a:prstGeom prst="rect">
            <a:avLst/>
          </a:prstGeom>
          <a:noFill/>
          <a:ln/>
        </p:spPr>
        <p:txBody>
          <a:bodyPr wrap="square" lIns="0" tIns="0" rIns="0" bIns="0" rtlCol="0" anchor="ctr"/>
          <a:lstStyle/>
          <a:p>
            <a:pPr indent="0" marL="0">
              <a:buNone/>
            </a:pPr>
            <a:r>
              <a:rPr lang="en-US" sz="1300" dirty="0">
                <a:solidFill>
                  <a:srgbClr val="B4522B"/>
                </a:solidFill>
                <a:latin typeface="Courier New" pitchFamily="34" charset="0"/>
                <a:ea typeface="Courier New" pitchFamily="34" charset="-122"/>
                <a:cs typeface="Courier New" pitchFamily="34" charset="-120"/>
              </a:rPr>
              <a:t>Xᵢ  =  Vᵢ · X</a:t>
            </a:r>
            <a:endParaRPr lang="en-US" sz="1300" dirty="0"/>
          </a:p>
        </p:txBody>
      </p:sp>
      <p:sp>
        <p:nvSpPr>
          <p:cNvPr id="21" name="Text 19"/>
          <p:cNvSpPr txBox="1"/>
          <p:nvPr/>
        </p:nvSpPr>
        <p:spPr>
          <a:xfrm>
            <a:off x="8439912" y="3218688"/>
            <a:ext cx="2990088"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Throughput at a device equals system throughput times the number of visits each job makes to it.</a:t>
            </a:r>
            <a:endParaRPr lang="en-US" sz="1100" dirty="0"/>
          </a:p>
        </p:txBody>
      </p:sp>
      <p:sp>
        <p:nvSpPr>
          <p:cNvPr id="22" name="Text 20"/>
          <p:cNvSpPr txBox="1"/>
          <p:nvPr/>
        </p:nvSpPr>
        <p:spPr>
          <a:xfrm>
            <a:off x="8439912" y="4096512"/>
            <a:ext cx="2990088" cy="914400"/>
          </a:xfrm>
          <a:prstGeom prst="rect">
            <a:avLst/>
          </a:prstGeom>
          <a:noFill/>
          <a:ln/>
        </p:spPr>
        <p:txBody>
          <a:bodyPr wrap="square" lIns="0" tIns="0" rIns="0" bIns="0" rtlCol="0" anchor="t"/>
          <a:lstStyle/>
          <a:p>
            <a:pPr indent="0" marL="0">
              <a:lnSpc>
                <a:spcPct val="118000"/>
              </a:lnSpc>
              <a:buNone/>
            </a:pPr>
            <a:r>
              <a:rPr lang="en-US" sz="1000" i="1" dirty="0">
                <a:solidFill>
                  <a:srgbClr val="B4522B"/>
                </a:solidFill>
                <a:latin typeface="Calibri" pitchFamily="34" charset="0"/>
                <a:ea typeface="Calibri" pitchFamily="34" charset="-122"/>
                <a:cs typeface="Calibri" pitchFamily="34" charset="-120"/>
              </a:rPr>
              <a:t>Turns a system-level measurement into per-device predictions, and exposes the bottleneck as the device with the largest product of visits and service time.</a:t>
            </a:r>
            <a:endParaRPr lang="en-US" sz="1000" dirty="0"/>
          </a:p>
        </p:txBody>
      </p:sp>
      <p:sp>
        <p:nvSpPr>
          <p:cNvPr id="23" name="Shape 21"/>
          <p:cNvSpPr/>
          <p:nvPr/>
        </p:nvSpPr>
        <p:spPr>
          <a:xfrm>
            <a:off x="502920" y="5504688"/>
            <a:ext cx="11183112" cy="658368"/>
          </a:xfrm>
          <a:prstGeom prst="roundRect">
            <a:avLst>
              <a:gd name="adj" fmla="val 6944"/>
            </a:avLst>
          </a:prstGeom>
          <a:solidFill>
            <a:srgbClr val="F6EFE4"/>
          </a:solidFill>
          <a:ln/>
        </p:spPr>
      </p:sp>
      <p:sp>
        <p:nvSpPr>
          <p:cNvPr id="24" name="Text 22"/>
          <p:cNvSpPr txBox="1"/>
          <p:nvPr/>
        </p:nvSpPr>
        <p:spPr>
          <a:xfrm>
            <a:off x="795528" y="5504688"/>
            <a:ext cx="10597896" cy="658368"/>
          </a:xfrm>
          <a:prstGeom prst="rect">
            <a:avLst/>
          </a:prstGeom>
          <a:noFill/>
          <a:ln/>
        </p:spPr>
        <p:txBody>
          <a:bodyPr wrap="square" lIns="0" tIns="0" rIns="0" bIns="0" rtlCol="0" anchor="ctr"/>
          <a:lstStyle/>
          <a:p>
            <a:pPr indent="0" marL="0">
              <a:buNone/>
            </a:pPr>
            <a:r>
              <a:rPr lang="en-US" sz="1150" i="1" dirty="0">
                <a:solidFill>
                  <a:srgbClr val="241A4C"/>
                </a:solidFill>
                <a:latin typeface="Calibri" pitchFamily="34" charset="0"/>
                <a:ea typeface="Calibri" pitchFamily="34" charset="-122"/>
                <a:cs typeface="Calibri" pitchFamily="34" charset="-120"/>
              </a:rPr>
              <a:t>If your simulation output violates Little's Law, you do not have an interesting finding — you have a bug. Check the operational laws before you interpret anything else.</a:t>
            </a:r>
            <a:endParaRPr lang="en-US" sz="1150" dirty="0"/>
          </a:p>
        </p:txBody>
      </p:sp>
      <p:sp>
        <p:nvSpPr>
          <p:cNvPr id="25" name="Text 23"/>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6" name="Text 24"/>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11 / 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GETTING ANSWERS OUT OF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Analytical Solution or Simulation?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Two ways to extract predictions from the same model, with opposite strengths. The choice is a methodological decision that must be defended, not a matter of taste.</a:t>
            </a:r>
            <a:endParaRPr lang="en-US" sz="1250" dirty="0"/>
          </a:p>
        </p:txBody>
      </p:sp>
      <p:sp>
        <p:nvSpPr>
          <p:cNvPr id="5" name="Shape 3"/>
          <p:cNvSpPr/>
          <p:nvPr/>
        </p:nvSpPr>
        <p:spPr>
          <a:xfrm>
            <a:off x="502920" y="1938528"/>
            <a:ext cx="5477256" cy="3712464"/>
          </a:xfrm>
          <a:prstGeom prst="roundRect">
            <a:avLst>
              <a:gd name="adj" fmla="val 1232"/>
            </a:avLst>
          </a:prstGeom>
          <a:solidFill>
            <a:srgbClr val="F6EFE4"/>
          </a:solidFill>
          <a:ln/>
        </p:spPr>
      </p:sp>
      <p:sp>
        <p:nvSpPr>
          <p:cNvPr id="6" name="Text 4"/>
          <p:cNvSpPr txBox="1"/>
          <p:nvPr/>
        </p:nvSpPr>
        <p:spPr>
          <a:xfrm>
            <a:off x="795528" y="2157984"/>
            <a:ext cx="4892040" cy="237744"/>
          </a:xfrm>
          <a:prstGeom prst="rect">
            <a:avLst/>
          </a:prstGeom>
          <a:noFill/>
          <a:ln/>
        </p:spPr>
        <p:txBody>
          <a:bodyPr wrap="square" lIns="0" tIns="0" rIns="0" bIns="0" rtlCol="0" anchor="ctr"/>
          <a:lstStyle/>
          <a:p>
            <a:pPr indent="0" marL="0">
              <a:buNone/>
            </a:pPr>
            <a:r>
              <a:rPr lang="en-US" sz="1000" b="1" spc="160" kern="0" dirty="0">
                <a:solidFill>
                  <a:srgbClr val="B08C3A"/>
                </a:solidFill>
                <a:latin typeface="Calibri" pitchFamily="34" charset="0"/>
                <a:ea typeface="Calibri" pitchFamily="34" charset="-122"/>
                <a:cs typeface="Calibri" pitchFamily="34" charset="-120"/>
              </a:rPr>
              <a:t>ANALYTICAL</a:t>
            </a:r>
            <a:endParaRPr lang="en-US" sz="1000" dirty="0"/>
          </a:p>
        </p:txBody>
      </p:sp>
      <p:sp>
        <p:nvSpPr>
          <p:cNvPr id="7" name="Text 5"/>
          <p:cNvSpPr txBox="1"/>
          <p:nvPr/>
        </p:nvSpPr>
        <p:spPr>
          <a:xfrm>
            <a:off x="795528" y="2468880"/>
            <a:ext cx="4892040" cy="365760"/>
          </a:xfrm>
          <a:prstGeom prst="rect">
            <a:avLst/>
          </a:prstGeom>
          <a:noFill/>
          <a:ln/>
        </p:spPr>
        <p:txBody>
          <a:bodyPr wrap="square" lIns="0" tIns="0" rIns="0" bIns="0" rtlCol="0" anchor="t"/>
          <a:lstStyle/>
          <a:p>
            <a:pPr indent="0" marL="0">
              <a:lnSpc>
                <a:spcPct val="115000"/>
              </a:lnSpc>
              <a:buNone/>
            </a:pPr>
            <a:r>
              <a:rPr lang="en-US" sz="1350" dirty="0">
                <a:solidFill>
                  <a:srgbClr val="241A4C"/>
                </a:solidFill>
                <a:latin typeface="Cambria" pitchFamily="34" charset="0"/>
                <a:ea typeface="Cambria" pitchFamily="34" charset="-122"/>
                <a:cs typeface="Cambria" pitchFamily="34" charset="-120"/>
              </a:rPr>
              <a:t>Closed-form expressions relating inputs to outputs.</a:t>
            </a:r>
            <a:endParaRPr lang="en-US" sz="1350" dirty="0"/>
          </a:p>
        </p:txBody>
      </p:sp>
      <p:sp>
        <p:nvSpPr>
          <p:cNvPr id="8" name="Text 6"/>
          <p:cNvSpPr txBox="1"/>
          <p:nvPr/>
        </p:nvSpPr>
        <p:spPr>
          <a:xfrm>
            <a:off x="795528" y="2962656"/>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GIVES YOU</a:t>
            </a:r>
            <a:endParaRPr lang="en-US" sz="750" dirty="0"/>
          </a:p>
        </p:txBody>
      </p:sp>
      <p:sp>
        <p:nvSpPr>
          <p:cNvPr id="9" name="Text 7"/>
          <p:cNvSpPr txBox="1"/>
          <p:nvPr/>
        </p:nvSpPr>
        <p:spPr>
          <a:xfrm>
            <a:off x="795528" y="3145536"/>
            <a:ext cx="4892040" cy="457200"/>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shape of a dependence, not merely points on it. W = 1/(μ−λ) tells you about every load at once.</a:t>
            </a:r>
            <a:endParaRPr lang="en-US" sz="1050" dirty="0"/>
          </a:p>
        </p:txBody>
      </p:sp>
      <p:sp>
        <p:nvSpPr>
          <p:cNvPr id="10" name="Text 8"/>
          <p:cNvSpPr txBox="1"/>
          <p:nvPr/>
        </p:nvSpPr>
        <p:spPr>
          <a:xfrm>
            <a:off x="795528" y="3621024"/>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STRENGTHS</a:t>
            </a:r>
            <a:endParaRPr lang="en-US" sz="750" dirty="0"/>
          </a:p>
        </p:txBody>
      </p:sp>
      <p:sp>
        <p:nvSpPr>
          <p:cNvPr id="11" name="Text 9"/>
          <p:cNvSpPr txBox="1"/>
          <p:nvPr/>
        </p:nvSpPr>
        <p:spPr>
          <a:xfrm>
            <a:off x="795528" y="3803904"/>
            <a:ext cx="4892040" cy="457200"/>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Exact, instant across the whole parameter space, and sensitivity analysis reduces to differentiation.</a:t>
            </a:r>
            <a:endParaRPr lang="en-US" sz="1050" dirty="0"/>
          </a:p>
        </p:txBody>
      </p:sp>
      <p:sp>
        <p:nvSpPr>
          <p:cNvPr id="12" name="Text 10"/>
          <p:cNvSpPr txBox="1"/>
          <p:nvPr/>
        </p:nvSpPr>
        <p:spPr>
          <a:xfrm>
            <a:off x="795528" y="427939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COSTS</a:t>
            </a:r>
            <a:endParaRPr lang="en-US" sz="750" dirty="0"/>
          </a:p>
        </p:txBody>
      </p:sp>
      <p:sp>
        <p:nvSpPr>
          <p:cNvPr id="13" name="Text 11"/>
          <p:cNvSpPr txBox="1"/>
          <p:nvPr/>
        </p:nvSpPr>
        <p:spPr>
          <a:xfrm>
            <a:off x="795528" y="4462272"/>
            <a:ext cx="4892040" cy="457200"/>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Available only for restricted model classes. The closed form is usually bought with assumptions the real system violates.</a:t>
            </a:r>
            <a:endParaRPr lang="en-US" sz="1050" dirty="0"/>
          </a:p>
        </p:txBody>
      </p:sp>
      <p:sp>
        <p:nvSpPr>
          <p:cNvPr id="14" name="Text 12"/>
          <p:cNvSpPr txBox="1"/>
          <p:nvPr/>
        </p:nvSpPr>
        <p:spPr>
          <a:xfrm>
            <a:off x="795528" y="4937760"/>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USE WHEN</a:t>
            </a:r>
            <a:endParaRPr lang="en-US" sz="750" dirty="0"/>
          </a:p>
        </p:txBody>
      </p:sp>
      <p:sp>
        <p:nvSpPr>
          <p:cNvPr id="15" name="Text 13"/>
          <p:cNvSpPr txBox="1"/>
          <p:nvPr/>
        </p:nvSpPr>
        <p:spPr>
          <a:xfrm>
            <a:off x="795528" y="5120640"/>
            <a:ext cx="4892040" cy="457200"/>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question is about trends, limits, asymptotics, or optimising over a parameter.</a:t>
            </a:r>
            <a:endParaRPr lang="en-US" sz="1050" dirty="0"/>
          </a:p>
        </p:txBody>
      </p:sp>
      <p:sp>
        <p:nvSpPr>
          <p:cNvPr id="16" name="Shape 14"/>
          <p:cNvSpPr/>
          <p:nvPr/>
        </p:nvSpPr>
        <p:spPr>
          <a:xfrm>
            <a:off x="6208776" y="1938528"/>
            <a:ext cx="5477256" cy="3712464"/>
          </a:xfrm>
          <a:prstGeom prst="roundRect">
            <a:avLst>
              <a:gd name="adj" fmla="val 1232"/>
            </a:avLst>
          </a:prstGeom>
          <a:solidFill>
            <a:srgbClr val="EEF3F9"/>
          </a:solidFill>
          <a:ln/>
        </p:spPr>
      </p:sp>
      <p:sp>
        <p:nvSpPr>
          <p:cNvPr id="17" name="Text 15"/>
          <p:cNvSpPr txBox="1"/>
          <p:nvPr/>
        </p:nvSpPr>
        <p:spPr>
          <a:xfrm>
            <a:off x="6501384" y="2157984"/>
            <a:ext cx="4892040" cy="237744"/>
          </a:xfrm>
          <a:prstGeom prst="rect">
            <a:avLst/>
          </a:prstGeom>
          <a:noFill/>
          <a:ln/>
        </p:spPr>
        <p:txBody>
          <a:bodyPr wrap="square" lIns="0" tIns="0" rIns="0" bIns="0" rtlCol="0" anchor="ctr"/>
          <a:lstStyle/>
          <a:p>
            <a:pPr indent="0" marL="0">
              <a:buNone/>
            </a:pPr>
            <a:r>
              <a:rPr lang="en-US" sz="1000" b="1" spc="160" kern="0" dirty="0">
                <a:solidFill>
                  <a:srgbClr val="3D6EA6"/>
                </a:solidFill>
                <a:latin typeface="Calibri" pitchFamily="34" charset="0"/>
                <a:ea typeface="Calibri" pitchFamily="34" charset="-122"/>
                <a:cs typeface="Calibri" pitchFamily="34" charset="-120"/>
              </a:rPr>
              <a:t>SIMULATION</a:t>
            </a:r>
            <a:endParaRPr lang="en-US" sz="1000" dirty="0"/>
          </a:p>
        </p:txBody>
      </p:sp>
      <p:sp>
        <p:nvSpPr>
          <p:cNvPr id="18" name="Text 16"/>
          <p:cNvSpPr txBox="1"/>
          <p:nvPr/>
        </p:nvSpPr>
        <p:spPr>
          <a:xfrm>
            <a:off x="6501384" y="2468880"/>
            <a:ext cx="4892040" cy="365760"/>
          </a:xfrm>
          <a:prstGeom prst="rect">
            <a:avLst/>
          </a:prstGeom>
          <a:noFill/>
          <a:ln/>
        </p:spPr>
        <p:txBody>
          <a:bodyPr wrap="square" lIns="0" tIns="0" rIns="0" bIns="0" rtlCol="0" anchor="t"/>
          <a:lstStyle/>
          <a:p>
            <a:pPr indent="0" marL="0">
              <a:lnSpc>
                <a:spcPct val="115000"/>
              </a:lnSpc>
              <a:buNone/>
            </a:pPr>
            <a:r>
              <a:rPr lang="en-US" sz="1350" dirty="0">
                <a:solidFill>
                  <a:srgbClr val="241A4C"/>
                </a:solidFill>
                <a:latin typeface="Cambria" pitchFamily="34" charset="0"/>
                <a:ea typeface="Cambria" pitchFamily="34" charset="-122"/>
                <a:cs typeface="Cambria" pitchFamily="34" charset="-120"/>
              </a:rPr>
              <a:t>Sample paths, from which statistics are estimated.</a:t>
            </a:r>
            <a:endParaRPr lang="en-US" sz="1350" dirty="0"/>
          </a:p>
        </p:txBody>
      </p:sp>
      <p:sp>
        <p:nvSpPr>
          <p:cNvPr id="19" name="Text 17"/>
          <p:cNvSpPr txBox="1"/>
          <p:nvPr/>
        </p:nvSpPr>
        <p:spPr>
          <a:xfrm>
            <a:off x="6501384" y="2962656"/>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GIVES YOU</a:t>
            </a:r>
            <a:endParaRPr lang="en-US" sz="750" dirty="0"/>
          </a:p>
        </p:txBody>
      </p:sp>
      <p:sp>
        <p:nvSpPr>
          <p:cNvPr id="20" name="Text 18"/>
          <p:cNvSpPr txBox="1"/>
          <p:nvPr/>
        </p:nvSpPr>
        <p:spPr>
          <a:xfrm>
            <a:off x="6501384" y="3145536"/>
            <a:ext cx="4892040" cy="457200"/>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Estimates at the parameter points you actually ran — with confidence intervals attached to every one.</a:t>
            </a:r>
            <a:endParaRPr lang="en-US" sz="1050" dirty="0"/>
          </a:p>
        </p:txBody>
      </p:sp>
      <p:sp>
        <p:nvSpPr>
          <p:cNvPr id="21" name="Text 19"/>
          <p:cNvSpPr txBox="1"/>
          <p:nvPr/>
        </p:nvSpPr>
        <p:spPr>
          <a:xfrm>
            <a:off x="6501384" y="3621024"/>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STRENGTHS</a:t>
            </a:r>
            <a:endParaRPr lang="en-US" sz="750" dirty="0"/>
          </a:p>
        </p:txBody>
      </p:sp>
      <p:sp>
        <p:nvSpPr>
          <p:cNvPr id="22" name="Text 20"/>
          <p:cNvSpPr txBox="1"/>
          <p:nvPr/>
        </p:nvSpPr>
        <p:spPr>
          <a:xfrm>
            <a:off x="6501384" y="3803904"/>
            <a:ext cx="4892040" cy="457200"/>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Almost no restriction on structure: arbitrary distributions, priorities, failures, dependence, finite buffers.</a:t>
            </a:r>
            <a:endParaRPr lang="en-US" sz="1050" dirty="0"/>
          </a:p>
        </p:txBody>
      </p:sp>
      <p:sp>
        <p:nvSpPr>
          <p:cNvPr id="23" name="Text 21"/>
          <p:cNvSpPr txBox="1"/>
          <p:nvPr/>
        </p:nvSpPr>
        <p:spPr>
          <a:xfrm>
            <a:off x="6501384" y="427939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COSTS</a:t>
            </a:r>
            <a:endParaRPr lang="en-US" sz="750" dirty="0"/>
          </a:p>
        </p:txBody>
      </p:sp>
      <p:sp>
        <p:nvSpPr>
          <p:cNvPr id="24" name="Text 22"/>
          <p:cNvSpPr txBox="1"/>
          <p:nvPr/>
        </p:nvSpPr>
        <p:spPr>
          <a:xfrm>
            <a:off x="6501384" y="4462272"/>
            <a:ext cx="4892040" cy="457200"/>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Every output is a statistical estimate, so all of Lecture 2's empirical obligations apply in full. Expensive.</a:t>
            </a:r>
            <a:endParaRPr lang="en-US" sz="1050" dirty="0"/>
          </a:p>
        </p:txBody>
      </p:sp>
      <p:sp>
        <p:nvSpPr>
          <p:cNvPr id="25" name="Text 23"/>
          <p:cNvSpPr txBox="1"/>
          <p:nvPr/>
        </p:nvSpPr>
        <p:spPr>
          <a:xfrm>
            <a:off x="6501384" y="4937760"/>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USE WHEN</a:t>
            </a:r>
            <a:endParaRPr lang="en-US" sz="750" dirty="0"/>
          </a:p>
        </p:txBody>
      </p:sp>
      <p:sp>
        <p:nvSpPr>
          <p:cNvPr id="26" name="Text 24"/>
          <p:cNvSpPr txBox="1"/>
          <p:nvPr/>
        </p:nvSpPr>
        <p:spPr>
          <a:xfrm>
            <a:off x="6501384" y="5120640"/>
            <a:ext cx="4892040" cy="457200"/>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realistic features you need destroy analytical tractability — which is most of the time.</a:t>
            </a:r>
            <a:endParaRPr lang="en-US" sz="1050" dirty="0"/>
          </a:p>
        </p:txBody>
      </p:sp>
      <p:sp>
        <p:nvSpPr>
          <p:cNvPr id="27" name="Text 25"/>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The mature answer is usually both: an analytical model to understand the shape, a simulation to check it under realistic conditions, and measurement to validate the simulation.</a:t>
            </a:r>
            <a:endParaRPr lang="en-US" sz="1150" dirty="0"/>
          </a:p>
        </p:txBody>
      </p:sp>
      <p:sp>
        <p:nvSpPr>
          <p:cNvPr id="28" name="Text 26"/>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9" name="Text 27"/>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12 / 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GETTING ANSWERS OUT OF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Discrete-Event Simulation and Its Obligations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A clock, a future-event list, and a state. Repeatedly advance the clock to the next scheduled event, execute it, and schedule its consequences. Time moves by events, not by ticks — which is what makes it efficient.</a:t>
            </a:r>
            <a:endParaRPr lang="en-US" sz="1250" dirty="0"/>
          </a:p>
        </p:txBody>
      </p:sp>
      <p:sp>
        <p:nvSpPr>
          <p:cNvPr id="5" name="Shape 3"/>
          <p:cNvSpPr/>
          <p:nvPr/>
        </p:nvSpPr>
        <p:spPr>
          <a:xfrm>
            <a:off x="502920" y="1938528"/>
            <a:ext cx="3502152" cy="1883664"/>
          </a:xfrm>
          <a:prstGeom prst="roundRect">
            <a:avLst>
              <a:gd name="adj" fmla="val 2427"/>
            </a:avLst>
          </a:prstGeom>
          <a:solidFill>
            <a:srgbClr val="F3F1FC"/>
          </a:solidFill>
          <a:ln w="12700">
            <a:solidFill>
              <a:srgbClr val="E6E2F5"/>
            </a:solidFill>
            <a:prstDash val="solid"/>
          </a:ln>
        </p:spPr>
      </p:sp>
      <p:sp>
        <p:nvSpPr>
          <p:cNvPr id="6" name="Text 4"/>
          <p:cNvSpPr txBox="1"/>
          <p:nvPr/>
        </p:nvSpPr>
        <p:spPr>
          <a:xfrm>
            <a:off x="75895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3D6EA6"/>
                </a:solidFill>
                <a:latin typeface="Cambria" pitchFamily="34" charset="0"/>
                <a:ea typeface="Cambria" pitchFamily="34" charset="-122"/>
                <a:cs typeface="Cambria" pitchFamily="34" charset="-120"/>
              </a:rPr>
              <a:t>Warm-up</a:t>
            </a:r>
            <a:endParaRPr lang="en-US" sz="1450" dirty="0"/>
          </a:p>
        </p:txBody>
      </p:sp>
      <p:sp>
        <p:nvSpPr>
          <p:cNvPr id="7" name="Text 5"/>
          <p:cNvSpPr txBox="1"/>
          <p:nvPr/>
        </p:nvSpPr>
        <p:spPr>
          <a:xfrm>
            <a:off x="75895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Steady-state statistics must exclude the transient start-up period. Deleting too little biases toward the empty system; deleting too much wastes runs and widens intervals.</a:t>
            </a:r>
            <a:endParaRPr lang="en-US" sz="1050" dirty="0"/>
          </a:p>
        </p:txBody>
      </p:sp>
      <p:sp>
        <p:nvSpPr>
          <p:cNvPr id="8" name="Shape 6"/>
          <p:cNvSpPr/>
          <p:nvPr/>
        </p:nvSpPr>
        <p:spPr>
          <a:xfrm>
            <a:off x="4343400" y="1938528"/>
            <a:ext cx="3502152" cy="1883664"/>
          </a:xfrm>
          <a:prstGeom prst="roundRect">
            <a:avLst>
              <a:gd name="adj" fmla="val 2427"/>
            </a:avLst>
          </a:prstGeom>
          <a:solidFill>
            <a:srgbClr val="F3F1FC"/>
          </a:solidFill>
          <a:ln w="12700">
            <a:solidFill>
              <a:srgbClr val="E6E2F5"/>
            </a:solidFill>
            <a:prstDash val="solid"/>
          </a:ln>
        </p:spPr>
      </p:sp>
      <p:sp>
        <p:nvSpPr>
          <p:cNvPr id="9" name="Text 7"/>
          <p:cNvSpPr txBox="1"/>
          <p:nvPr/>
        </p:nvSpPr>
        <p:spPr>
          <a:xfrm>
            <a:off x="459943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3D6EA6"/>
                </a:solidFill>
                <a:latin typeface="Cambria" pitchFamily="34" charset="0"/>
                <a:ea typeface="Cambria" pitchFamily="34" charset="-122"/>
                <a:cs typeface="Cambria" pitchFamily="34" charset="-120"/>
              </a:rPr>
              <a:t>Replications</a:t>
            </a:r>
            <a:endParaRPr lang="en-US" sz="1450" dirty="0"/>
          </a:p>
        </p:txBody>
      </p:sp>
      <p:sp>
        <p:nvSpPr>
          <p:cNvPr id="10" name="Text 8"/>
          <p:cNvSpPr txBox="1"/>
          <p:nvPr/>
        </p:nvSpPr>
        <p:spPr>
          <a:xfrm>
            <a:off x="459943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One run is one sample path, not an answer. Estimate from independent replications and report confidence intervals — never a single number.</a:t>
            </a:r>
            <a:endParaRPr lang="en-US" sz="1050" dirty="0"/>
          </a:p>
        </p:txBody>
      </p:sp>
      <p:sp>
        <p:nvSpPr>
          <p:cNvPr id="11" name="Shape 9"/>
          <p:cNvSpPr/>
          <p:nvPr/>
        </p:nvSpPr>
        <p:spPr>
          <a:xfrm>
            <a:off x="8183880" y="1938528"/>
            <a:ext cx="3502152" cy="1883664"/>
          </a:xfrm>
          <a:prstGeom prst="roundRect">
            <a:avLst>
              <a:gd name="adj" fmla="val 2427"/>
            </a:avLst>
          </a:prstGeom>
          <a:solidFill>
            <a:srgbClr val="F3F1FC"/>
          </a:solidFill>
          <a:ln w="12700">
            <a:solidFill>
              <a:srgbClr val="E6E2F5"/>
            </a:solidFill>
            <a:prstDash val="solid"/>
          </a:ln>
        </p:spPr>
      </p:sp>
      <p:sp>
        <p:nvSpPr>
          <p:cNvPr id="12" name="Text 10"/>
          <p:cNvSpPr txBox="1"/>
          <p:nvPr/>
        </p:nvSpPr>
        <p:spPr>
          <a:xfrm>
            <a:off x="843991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3D6EA6"/>
                </a:solidFill>
                <a:latin typeface="Cambria" pitchFamily="34" charset="0"/>
                <a:ea typeface="Cambria" pitchFamily="34" charset="-122"/>
                <a:cs typeface="Cambria" pitchFamily="34" charset="-120"/>
              </a:rPr>
              <a:t>Run length</a:t>
            </a:r>
            <a:endParaRPr lang="en-US" sz="1450" dirty="0"/>
          </a:p>
        </p:txBody>
      </p:sp>
      <p:sp>
        <p:nvSpPr>
          <p:cNvPr id="13" name="Text 11"/>
          <p:cNvSpPr txBox="1"/>
          <p:nvPr/>
        </p:nvSpPr>
        <p:spPr>
          <a:xfrm>
            <a:off x="843991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Determined by the precision the question needs, computed in advance — not by how long you were willing to wait for the job to finish.</a:t>
            </a:r>
            <a:endParaRPr lang="en-US" sz="1050" dirty="0"/>
          </a:p>
        </p:txBody>
      </p:sp>
      <p:sp>
        <p:nvSpPr>
          <p:cNvPr id="14" name="Shape 12"/>
          <p:cNvSpPr/>
          <p:nvPr/>
        </p:nvSpPr>
        <p:spPr>
          <a:xfrm>
            <a:off x="502920" y="4096512"/>
            <a:ext cx="3502152" cy="1883664"/>
          </a:xfrm>
          <a:prstGeom prst="roundRect">
            <a:avLst>
              <a:gd name="adj" fmla="val 2427"/>
            </a:avLst>
          </a:prstGeom>
          <a:solidFill>
            <a:srgbClr val="FAF9FE"/>
          </a:solidFill>
          <a:ln w="12700">
            <a:solidFill>
              <a:srgbClr val="E6E2F5"/>
            </a:solidFill>
            <a:prstDash val="solid"/>
          </a:ln>
        </p:spPr>
      </p:sp>
      <p:sp>
        <p:nvSpPr>
          <p:cNvPr id="15" name="Text 13"/>
          <p:cNvSpPr txBox="1"/>
          <p:nvPr/>
        </p:nvSpPr>
        <p:spPr>
          <a:xfrm>
            <a:off x="75895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08C3A"/>
                </a:solidFill>
                <a:latin typeface="Cambria" pitchFamily="34" charset="0"/>
                <a:ea typeface="Cambria" pitchFamily="34" charset="-122"/>
                <a:cs typeface="Cambria" pitchFamily="34" charset="-120"/>
              </a:rPr>
              <a:t>Random streams</a:t>
            </a:r>
            <a:endParaRPr lang="en-US" sz="1450" dirty="0"/>
          </a:p>
        </p:txBody>
      </p:sp>
      <p:sp>
        <p:nvSpPr>
          <p:cNvPr id="16" name="Text 14"/>
          <p:cNvSpPr txBox="1"/>
          <p:nvPr/>
        </p:nvSpPr>
        <p:spPr>
          <a:xfrm>
            <a:off x="75895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Use a separate stream per stochastic component, so that changing one part of the model does not perturb the random draws in another. Report the seeds.</a:t>
            </a:r>
            <a:endParaRPr lang="en-US" sz="1050" dirty="0"/>
          </a:p>
        </p:txBody>
      </p:sp>
      <p:sp>
        <p:nvSpPr>
          <p:cNvPr id="17" name="Shape 15"/>
          <p:cNvSpPr/>
          <p:nvPr/>
        </p:nvSpPr>
        <p:spPr>
          <a:xfrm>
            <a:off x="4343400" y="4096512"/>
            <a:ext cx="3502152" cy="1883664"/>
          </a:xfrm>
          <a:prstGeom prst="roundRect">
            <a:avLst>
              <a:gd name="adj" fmla="val 2427"/>
            </a:avLst>
          </a:prstGeom>
          <a:solidFill>
            <a:srgbClr val="FAF9FE"/>
          </a:solidFill>
          <a:ln w="12700">
            <a:solidFill>
              <a:srgbClr val="E6E2F5"/>
            </a:solidFill>
            <a:prstDash val="solid"/>
          </a:ln>
        </p:spPr>
      </p:sp>
      <p:sp>
        <p:nvSpPr>
          <p:cNvPr id="18" name="Text 16"/>
          <p:cNvSpPr txBox="1"/>
          <p:nvPr/>
        </p:nvSpPr>
        <p:spPr>
          <a:xfrm>
            <a:off x="459943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08C3A"/>
                </a:solidFill>
                <a:latin typeface="Cambria" pitchFamily="34" charset="0"/>
                <a:ea typeface="Cambria" pitchFamily="34" charset="-122"/>
                <a:cs typeface="Cambria" pitchFamily="34" charset="-120"/>
              </a:rPr>
              <a:t>Common random numbers</a:t>
            </a:r>
            <a:endParaRPr lang="en-US" sz="1450" dirty="0"/>
          </a:p>
        </p:txBody>
      </p:sp>
      <p:sp>
        <p:nvSpPr>
          <p:cNvPr id="19" name="Text 17"/>
          <p:cNvSpPr txBox="1"/>
          <p:nvPr/>
        </p:nvSpPr>
        <p:spPr>
          <a:xfrm>
            <a:off x="459943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When comparing alternatives, drive them with the same random inputs. This is variance reduction, and it makes a fair comparison dramatically cheaper.</a:t>
            </a:r>
            <a:endParaRPr lang="en-US" sz="1050" dirty="0"/>
          </a:p>
        </p:txBody>
      </p:sp>
      <p:sp>
        <p:nvSpPr>
          <p:cNvPr id="20" name="Shape 18"/>
          <p:cNvSpPr/>
          <p:nvPr/>
        </p:nvSpPr>
        <p:spPr>
          <a:xfrm>
            <a:off x="8183880" y="4096512"/>
            <a:ext cx="3502152" cy="1883664"/>
          </a:xfrm>
          <a:prstGeom prst="roundRect">
            <a:avLst>
              <a:gd name="adj" fmla="val 2427"/>
            </a:avLst>
          </a:prstGeom>
          <a:solidFill>
            <a:srgbClr val="FAF9FE"/>
          </a:solidFill>
          <a:ln w="12700">
            <a:solidFill>
              <a:srgbClr val="E6E2F5"/>
            </a:solidFill>
            <a:prstDash val="solid"/>
          </a:ln>
        </p:spPr>
      </p:sp>
      <p:sp>
        <p:nvSpPr>
          <p:cNvPr id="21" name="Text 19"/>
          <p:cNvSpPr txBox="1"/>
          <p:nvPr/>
        </p:nvSpPr>
        <p:spPr>
          <a:xfrm>
            <a:off x="843991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4522B"/>
                </a:solidFill>
                <a:latin typeface="Cambria" pitchFamily="34" charset="0"/>
                <a:ea typeface="Cambria" pitchFamily="34" charset="-122"/>
                <a:cs typeface="Cambria" pitchFamily="34" charset="-120"/>
              </a:rPr>
              <a:t>Verification</a:t>
            </a:r>
            <a:endParaRPr lang="en-US" sz="1450" dirty="0"/>
          </a:p>
        </p:txBody>
      </p:sp>
      <p:sp>
        <p:nvSpPr>
          <p:cNvPr id="22" name="Text 20"/>
          <p:cNvSpPr txBox="1"/>
          <p:nvPr/>
        </p:nvSpPr>
        <p:spPr>
          <a:xfrm>
            <a:off x="843991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Confirm the simulator implements the model: trace small cases by hand, and compare against an analytical special case such as M/M/1 wherever one exists.</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13 / 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GETTING ANSWERS OUT OF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Formulating an Optimisation Model</a:t>
            </a:r>
            <a:endParaRPr lang="en-US" sz="2800" dirty="0"/>
          </a:p>
        </p:txBody>
      </p:sp>
      <p:sp>
        <p:nvSpPr>
          <p:cNvPr id="4" name="Text 2"/>
          <p:cNvSpPr txBox="1"/>
          <p:nvPr/>
        </p:nvSpPr>
        <p:spPr>
          <a:xfrm>
            <a:off x="502920" y="1225296"/>
            <a:ext cx="11183112" cy="384048"/>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Question:  </a:t>
            </a:r>
            <a:pPr indent="0" marL="0">
              <a:buNone/>
            </a:pPr>
            <a:r>
              <a:rPr lang="en-US" sz="1150" dirty="0">
                <a:solidFill>
                  <a:srgbClr val="5C5A66"/>
                </a:solidFill>
                <a:latin typeface="Calibri" pitchFamily="34" charset="0"/>
                <a:ea typeface="Calibri" pitchFamily="34" charset="-122"/>
                <a:cs typeface="Calibri" pitchFamily="34" charset="-120"/>
              </a:rPr>
              <a:t>“Assign a set of tasks to a set of machines so that the time until the last one finishes is as small as possible.”</a:t>
            </a:r>
            <a:endParaRPr lang="en-US" sz="1150" dirty="0"/>
          </a:p>
        </p:txBody>
      </p:sp>
      <p:sp>
        <p:nvSpPr>
          <p:cNvPr id="5" name="Shape 3"/>
          <p:cNvSpPr/>
          <p:nvPr/>
        </p:nvSpPr>
        <p:spPr>
          <a:xfrm>
            <a:off x="502920" y="1627632"/>
            <a:ext cx="4206240" cy="2743200"/>
          </a:xfrm>
          <a:prstGeom prst="roundRect">
            <a:avLst>
              <a:gd name="adj" fmla="val 1667"/>
            </a:avLst>
          </a:prstGeom>
          <a:solidFill>
            <a:srgbClr val="F5F4FB"/>
          </a:solidFill>
          <a:ln/>
        </p:spPr>
      </p:sp>
      <p:sp>
        <p:nvSpPr>
          <p:cNvPr id="6" name="Text 4"/>
          <p:cNvSpPr txBox="1"/>
          <p:nvPr/>
        </p:nvSpPr>
        <p:spPr>
          <a:xfrm>
            <a:off x="777240" y="1810512"/>
            <a:ext cx="365760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THE FORMULATION</a:t>
            </a:r>
            <a:endParaRPr lang="en-US" sz="850" dirty="0"/>
          </a:p>
        </p:txBody>
      </p:sp>
      <p:sp>
        <p:nvSpPr>
          <p:cNvPr id="7" name="Text 5"/>
          <p:cNvSpPr txBox="1"/>
          <p:nvPr/>
        </p:nvSpPr>
        <p:spPr>
          <a:xfrm>
            <a:off x="777240" y="2084832"/>
            <a:ext cx="3657600" cy="2103120"/>
          </a:xfrm>
          <a:prstGeom prst="rect">
            <a:avLst/>
          </a:prstGeom>
          <a:noFill/>
          <a:ln/>
        </p:spPr>
        <p:txBody>
          <a:bodyPr wrap="square" lIns="0" tIns="0" rIns="0" bIns="0" rtlCol="0" anchor="t"/>
          <a:lstStyle/>
          <a:p>
            <a:pPr indent="0" marL="0">
              <a:lnSpc>
                <a:spcPct val="124000"/>
              </a:lnSpc>
              <a:buNone/>
            </a:pPr>
            <a:r>
              <a:rPr lang="en-US" sz="1050" dirty="0">
                <a:solidFill>
                  <a:srgbClr val="241A4C"/>
                </a:solidFill>
                <a:latin typeface="Courier New" pitchFamily="34" charset="0"/>
                <a:ea typeface="Courier New" pitchFamily="34" charset="-122"/>
                <a:cs typeface="Courier New" pitchFamily="34" charset="-120"/>
              </a:rPr>
              <a:t>Sets:      tasks i ∈ T,  machines j ∈ M</a:t>
            </a:r>
            <a:endParaRPr lang="en-US" sz="1050" dirty="0"/>
          </a:p>
          <a:p>
            <a:pPr indent="0" marL="0">
              <a:lnSpc>
                <a:spcPct val="124000"/>
              </a:lnSpc>
              <a:buNone/>
            </a:pPr>
            <a:r>
              <a:rPr lang="en-US" sz="1050" dirty="0">
                <a:solidFill>
                  <a:srgbClr val="241A4C"/>
                </a:solidFill>
                <a:latin typeface="Courier New" pitchFamily="34" charset="0"/>
                <a:ea typeface="Courier New" pitchFamily="34" charset="-122"/>
                <a:cs typeface="Courier New" pitchFamily="34" charset="-120"/>
              </a:rPr>
              <a:t>Data:      pᵢⱼ = time for task i on machine j</a:t>
            </a:r>
            <a:endParaRPr lang="en-US" sz="1050" dirty="0"/>
          </a:p>
          <a:p>
            <a:pPr indent="0" marL="0">
              <a:lnSpc>
                <a:spcPct val="124000"/>
              </a:lnSpc>
              <a:buNone/>
            </a:pPr>
            <a:r>
              <a:rPr lang="en-US" sz="1050" dirty="0">
                <a:solidFill>
                  <a:srgbClr val="241A4C"/>
                </a:solidFill>
                <a:latin typeface="Courier New" pitchFamily="34" charset="0"/>
                <a:ea typeface="Courier New" pitchFamily="34" charset="-122"/>
                <a:cs typeface="Courier New" pitchFamily="34" charset="-120"/>
              </a:rPr>
              <a:t>Variables: xᵢⱼ ∈ {0,1},  C ≥ 0</a:t>
            </a:r>
            <a:endParaRPr lang="en-US" sz="1050" dirty="0"/>
          </a:p>
          <a:p>
            <a:pPr indent="0" marL="0">
              <a:lnSpc>
                <a:spcPct val="124000"/>
              </a:lnSpc>
              <a:buNone/>
            </a:pPr>
            <a:endParaRPr lang="en-US" sz="1050" dirty="0"/>
          </a:p>
          <a:p>
            <a:pPr indent="0" marL="0">
              <a:lnSpc>
                <a:spcPct val="124000"/>
              </a:lnSpc>
              <a:buNone/>
            </a:pPr>
            <a:r>
              <a:rPr lang="en-US" sz="1050" dirty="0">
                <a:solidFill>
                  <a:srgbClr val="241A4C"/>
                </a:solidFill>
                <a:latin typeface="Courier New" pitchFamily="34" charset="0"/>
                <a:ea typeface="Courier New" pitchFamily="34" charset="-122"/>
                <a:cs typeface="Courier New" pitchFamily="34" charset="-120"/>
              </a:rPr>
              <a:t>minimise   C</a:t>
            </a:r>
            <a:endParaRPr lang="en-US" sz="1050" dirty="0"/>
          </a:p>
          <a:p>
            <a:pPr indent="0" marL="0">
              <a:lnSpc>
                <a:spcPct val="124000"/>
              </a:lnSpc>
              <a:buNone/>
            </a:pPr>
            <a:endParaRPr lang="en-US" sz="1050" dirty="0"/>
          </a:p>
          <a:p>
            <a:pPr indent="0" marL="0">
              <a:lnSpc>
                <a:spcPct val="124000"/>
              </a:lnSpc>
              <a:buNone/>
            </a:pPr>
            <a:r>
              <a:rPr lang="en-US" sz="1050" dirty="0">
                <a:solidFill>
                  <a:srgbClr val="241A4C"/>
                </a:solidFill>
                <a:latin typeface="Courier New" pitchFamily="34" charset="0"/>
                <a:ea typeface="Courier New" pitchFamily="34" charset="-122"/>
                <a:cs typeface="Courier New" pitchFamily="34" charset="-120"/>
              </a:rPr>
              <a:t>subject to   Σⱼ xᵢⱼ = 1        for all i</a:t>
            </a:r>
            <a:endParaRPr lang="en-US" sz="1050" dirty="0"/>
          </a:p>
          <a:p>
            <a:pPr indent="0" marL="0">
              <a:lnSpc>
                <a:spcPct val="124000"/>
              </a:lnSpc>
              <a:buNone/>
            </a:pPr>
            <a:r>
              <a:rPr lang="en-US" sz="1050" dirty="0">
                <a:solidFill>
                  <a:srgbClr val="241A4C"/>
                </a:solidFill>
                <a:latin typeface="Courier New" pitchFamily="34" charset="0"/>
                <a:ea typeface="Courier New" pitchFamily="34" charset="-122"/>
                <a:cs typeface="Courier New" pitchFamily="34" charset="-120"/>
              </a:rPr>
              <a:t>                 Σᵢ pᵢⱼ xᵢⱼ ≤ C   for all j</a:t>
            </a:r>
            <a:endParaRPr lang="en-US" sz="1050" dirty="0"/>
          </a:p>
        </p:txBody>
      </p:sp>
      <p:sp>
        <p:nvSpPr>
          <p:cNvPr id="8" name="Text 6"/>
          <p:cNvSpPr txBox="1"/>
          <p:nvPr/>
        </p:nvSpPr>
        <p:spPr>
          <a:xfrm>
            <a:off x="502920" y="4553712"/>
            <a:ext cx="4206240" cy="1097280"/>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Notice that the second constraint does all the work of the objective. Most of the skill in optimisation modelling lies in expressing what you want as something a solver will accept — without quietly changing what you meant.</a:t>
            </a:r>
            <a:endParaRPr lang="en-US" sz="1050" dirty="0"/>
          </a:p>
        </p:txBody>
      </p:sp>
      <p:sp>
        <p:nvSpPr>
          <p:cNvPr id="9" name="Shape 7"/>
          <p:cNvSpPr/>
          <p:nvPr/>
        </p:nvSpPr>
        <p:spPr>
          <a:xfrm>
            <a:off x="5029200" y="1682496"/>
            <a:ext cx="310896" cy="310896"/>
          </a:xfrm>
          <a:prstGeom prst="ellipse">
            <a:avLst/>
          </a:prstGeom>
          <a:solidFill>
            <a:srgbClr val="3D6EA6"/>
          </a:solidFill>
          <a:ln/>
        </p:spPr>
      </p:sp>
      <p:sp>
        <p:nvSpPr>
          <p:cNvPr id="10" name="Text 8"/>
          <p:cNvSpPr txBox="1"/>
          <p:nvPr/>
        </p:nvSpPr>
        <p:spPr>
          <a:xfrm>
            <a:off x="5029200" y="16824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5541264" y="166420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Identify the decision</a:t>
            </a:r>
            <a:endParaRPr lang="en-US" sz="1350" dirty="0"/>
          </a:p>
        </p:txBody>
      </p:sp>
      <p:sp>
        <p:nvSpPr>
          <p:cNvPr id="12" name="Text 10"/>
          <p:cNvSpPr txBox="1"/>
          <p:nvPr/>
        </p:nvSpPr>
        <p:spPr>
          <a:xfrm>
            <a:off x="5541264" y="1975104"/>
            <a:ext cx="6144768"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What is actually being chosen? Here it is the assignment xᵢⱼ. Everything else is either data or a consequence, and getting this wrong yields a precise model of the wrong problem.</a:t>
            </a:r>
            <a:endParaRPr lang="en-US" sz="1050" dirty="0"/>
          </a:p>
        </p:txBody>
      </p:sp>
      <p:sp>
        <p:nvSpPr>
          <p:cNvPr id="13" name="Shape 11"/>
          <p:cNvSpPr/>
          <p:nvPr/>
        </p:nvSpPr>
        <p:spPr>
          <a:xfrm>
            <a:off x="5029200" y="2779776"/>
            <a:ext cx="310896" cy="310896"/>
          </a:xfrm>
          <a:prstGeom prst="ellipse">
            <a:avLst/>
          </a:prstGeom>
          <a:solidFill>
            <a:srgbClr val="3D6EA6"/>
          </a:solidFill>
          <a:ln/>
        </p:spPr>
      </p:sp>
      <p:sp>
        <p:nvSpPr>
          <p:cNvPr id="14" name="Text 12"/>
          <p:cNvSpPr txBox="1"/>
          <p:nvPr/>
        </p:nvSpPr>
        <p:spPr>
          <a:xfrm>
            <a:off x="5029200" y="27797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5541264" y="276148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Linearise the objective</a:t>
            </a:r>
            <a:endParaRPr lang="en-US" sz="1350" dirty="0"/>
          </a:p>
        </p:txBody>
      </p:sp>
      <p:sp>
        <p:nvSpPr>
          <p:cNvPr id="16" name="Text 14"/>
          <p:cNvSpPr txBox="1"/>
          <p:nvPr/>
        </p:nvSpPr>
        <p:spPr>
          <a:xfrm>
            <a:off x="5541264" y="3072384"/>
            <a:ext cx="6144768"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“Minimise the maximum load” is not a linear function. Introducing C, and forcing it above every machine's load, converts it into one — a standard move worth recognising on sight.</a:t>
            </a:r>
            <a:endParaRPr lang="en-US" sz="1050" dirty="0"/>
          </a:p>
        </p:txBody>
      </p:sp>
      <p:sp>
        <p:nvSpPr>
          <p:cNvPr id="17" name="Shape 15"/>
          <p:cNvSpPr/>
          <p:nvPr/>
        </p:nvSpPr>
        <p:spPr>
          <a:xfrm>
            <a:off x="5029200" y="3877056"/>
            <a:ext cx="310896" cy="310896"/>
          </a:xfrm>
          <a:prstGeom prst="ellipse">
            <a:avLst/>
          </a:prstGeom>
          <a:solidFill>
            <a:srgbClr val="B4522B"/>
          </a:solidFill>
          <a:ln/>
        </p:spPr>
      </p:sp>
      <p:sp>
        <p:nvSpPr>
          <p:cNvPr id="18" name="Text 16"/>
          <p:cNvSpPr txBox="1"/>
          <p:nvPr/>
        </p:nvSpPr>
        <p:spPr>
          <a:xfrm>
            <a:off x="5029200" y="38770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7"/>
          <p:cNvSpPr txBox="1"/>
          <p:nvPr/>
        </p:nvSpPr>
        <p:spPr>
          <a:xfrm>
            <a:off x="5541264" y="385876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State what is assumed away</a:t>
            </a:r>
            <a:endParaRPr lang="en-US" sz="1350" dirty="0"/>
          </a:p>
        </p:txBody>
      </p:sp>
      <p:sp>
        <p:nvSpPr>
          <p:cNvPr id="20" name="Text 18"/>
          <p:cNvSpPr txBox="1"/>
          <p:nvPr/>
        </p:nvSpPr>
        <p:spPr>
          <a:xfrm>
            <a:off x="5541264" y="4169664"/>
            <a:ext cx="6144768"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No precedence between tasks, no machine failures, no setup or migration costs, and processing times known exactly in advance. Each is a modelling decision, and each is where this model can be wrong.</a:t>
            </a:r>
            <a:endParaRPr lang="en-US" sz="1050" dirty="0"/>
          </a:p>
        </p:txBody>
      </p:sp>
      <p:sp>
        <p:nvSpPr>
          <p:cNvPr id="21" name="Shape 19"/>
          <p:cNvSpPr/>
          <p:nvPr/>
        </p:nvSpPr>
        <p:spPr>
          <a:xfrm>
            <a:off x="5029200" y="4974336"/>
            <a:ext cx="310896" cy="310896"/>
          </a:xfrm>
          <a:prstGeom prst="ellipse">
            <a:avLst/>
          </a:prstGeom>
          <a:solidFill>
            <a:srgbClr val="B4522B"/>
          </a:solidFill>
          <a:ln/>
        </p:spPr>
      </p:sp>
      <p:sp>
        <p:nvSpPr>
          <p:cNvPr id="22" name="Text 20"/>
          <p:cNvSpPr txBox="1"/>
          <p:nvPr/>
        </p:nvSpPr>
        <p:spPr>
          <a:xfrm>
            <a:off x="5029200" y="49743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5541264" y="495604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Choose a solution method</a:t>
            </a:r>
            <a:endParaRPr lang="en-US" sz="1350" dirty="0"/>
          </a:p>
        </p:txBody>
      </p:sp>
      <p:sp>
        <p:nvSpPr>
          <p:cNvPr id="24" name="Text 22"/>
          <p:cNvSpPr txBox="1"/>
          <p:nvPr/>
        </p:nvSpPr>
        <p:spPr>
          <a:xfrm>
            <a:off x="5541264" y="5266944"/>
            <a:ext cx="6144768"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This formulation is NP-hard, so Lecture 4's four bargains apply: an exact solver on small instances, an approximation with a proved ratio, or a heuristic carrying experimental evidence.</a:t>
            </a:r>
            <a:endParaRPr lang="en-US" sz="1050" dirty="0"/>
          </a:p>
        </p:txBody>
      </p:sp>
      <p:sp>
        <p:nvSpPr>
          <p:cNvPr id="25" name="Text 23"/>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6" name="Text 24"/>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14 / 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GETTING ANSWERS OUT OF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Sensitivity Analysis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Determining how the model's outputs respond to changes in its inputs — that is, which parameters are actually driving your conclusion.</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APPROACH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Local sensitivity</a:t>
            </a:r>
            <a:endParaRPr lang="en-US" sz="155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Partial derivatives, or one-at-a-time perturbation around the operating point.</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Cheap and often sufficient. Misleading whenever parameters interact, because it only ever explores one axis at a time.</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APPROACH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Global sensitivity</a:t>
            </a:r>
            <a:endParaRPr lang="en-US" sz="155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Vary parameters jointly across their plausible ranges.</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Latin hypercube sampling, variance-based indices. Necessary when the model is non-linear or the parameters are coupled — which is the normal case.</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APPROACH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Extreme-condition tests</a:t>
            </a:r>
            <a:endParaRPr lang="en-US" sz="155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Push parameters to their limits and see whether the model still behaves sensibly.</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Zero load, saturation, a single server, infinite capacity. A model that behaves absurdly at ρ → 1 is telling you something structural.</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APPROACH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Why it is not optional</a:t>
            </a:r>
            <a:endParaRPr lang="en-US" sz="155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It is how you find out whether you have a result or a restatement of a guess.</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If the conclusion flips when a parameter you estimated by hand moves ten per cent, then that guess — and not your model — is what produced the finding.</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Report it. A sensitivity analysis showing your conclusion is robust across the plausible parameter range is often the most persuasive paragraph in a modelling paper.</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15 / 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TRUSTING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Verification, Validation, Calibration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Three words used interchangeably in student write-ups, which name three entirely different questions and demand three different kinds of data.</a:t>
            </a:r>
            <a:endParaRPr lang="en-US" sz="1250" dirty="0"/>
          </a:p>
        </p:txBody>
      </p:sp>
      <p:sp>
        <p:nvSpPr>
          <p:cNvPr id="5" name="Shape 3"/>
          <p:cNvSpPr/>
          <p:nvPr/>
        </p:nvSpPr>
        <p:spPr>
          <a:xfrm>
            <a:off x="502920" y="1938528"/>
            <a:ext cx="3502152" cy="3200400"/>
          </a:xfrm>
          <a:prstGeom prst="roundRect">
            <a:avLst>
              <a:gd name="adj" fmla="val 1429"/>
            </a:avLst>
          </a:prstGeom>
          <a:solidFill>
            <a:srgbClr val="F3F1FC"/>
          </a:solidFill>
          <a:ln/>
        </p:spPr>
      </p:sp>
      <p:sp>
        <p:nvSpPr>
          <p:cNvPr id="6" name="Text 4"/>
          <p:cNvSpPr txBox="1"/>
          <p:nvPr/>
        </p:nvSpPr>
        <p:spPr>
          <a:xfrm>
            <a:off x="758952" y="2157984"/>
            <a:ext cx="2990088"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QUESTION 1</a:t>
            </a:r>
            <a:endParaRPr lang="en-US" sz="800" dirty="0"/>
          </a:p>
        </p:txBody>
      </p:sp>
      <p:sp>
        <p:nvSpPr>
          <p:cNvPr id="7" name="Text 5"/>
          <p:cNvSpPr txBox="1"/>
          <p:nvPr/>
        </p:nvSpPr>
        <p:spPr>
          <a:xfrm>
            <a:off x="758952" y="2395728"/>
            <a:ext cx="2990088" cy="347472"/>
          </a:xfrm>
          <a:prstGeom prst="rect">
            <a:avLst/>
          </a:prstGeom>
          <a:noFill/>
          <a:ln/>
        </p:spPr>
        <p:txBody>
          <a:bodyPr wrap="square" lIns="0" tIns="0" rIns="0" bIns="0" rtlCol="0" anchor="ctr"/>
          <a:lstStyle/>
          <a:p>
            <a:pPr indent="0" marL="0">
              <a:buNone/>
            </a:pPr>
            <a:r>
              <a:rPr lang="en-US" sz="1900" b="1" dirty="0">
                <a:solidFill>
                  <a:srgbClr val="241A4C"/>
                </a:solidFill>
                <a:latin typeface="Cambria" pitchFamily="34" charset="0"/>
                <a:ea typeface="Cambria" pitchFamily="34" charset="-122"/>
                <a:cs typeface="Cambria" pitchFamily="34" charset="-120"/>
              </a:rPr>
              <a:t>Verification</a:t>
            </a:r>
            <a:endParaRPr lang="en-US" sz="1900" dirty="0"/>
          </a:p>
        </p:txBody>
      </p:sp>
      <p:sp>
        <p:nvSpPr>
          <p:cNvPr id="8" name="Text 6"/>
          <p:cNvSpPr txBox="1"/>
          <p:nvPr/>
        </p:nvSpPr>
        <p:spPr>
          <a:xfrm>
            <a:off x="758952" y="2816352"/>
            <a:ext cx="2990088" cy="292608"/>
          </a:xfrm>
          <a:prstGeom prst="rect">
            <a:avLst/>
          </a:prstGeom>
          <a:noFill/>
          <a:ln/>
        </p:spPr>
        <p:txBody>
          <a:bodyPr wrap="square" lIns="0" tIns="0" rIns="0" bIns="0" rtlCol="0" anchor="ctr"/>
          <a:lstStyle/>
          <a:p>
            <a:pPr indent="0" marL="0">
              <a:buNone/>
            </a:pPr>
            <a:r>
              <a:rPr lang="en-US" sz="1250" i="1" dirty="0">
                <a:solidFill>
                  <a:srgbClr val="3D6EA6"/>
                </a:solidFill>
                <a:latin typeface="Cambria" pitchFamily="34" charset="0"/>
                <a:ea typeface="Cambria" pitchFamily="34" charset="-122"/>
                <a:cs typeface="Cambria" pitchFamily="34" charset="-120"/>
              </a:rPr>
              <a:t>“Did I build the model right?”</a:t>
            </a:r>
            <a:endParaRPr lang="en-US" sz="1250" dirty="0"/>
          </a:p>
        </p:txBody>
      </p:sp>
      <p:sp>
        <p:nvSpPr>
          <p:cNvPr id="9" name="Text 7"/>
          <p:cNvSpPr txBox="1"/>
          <p:nvPr/>
        </p:nvSpPr>
        <p:spPr>
          <a:xfrm>
            <a:off x="758952" y="3218688"/>
            <a:ext cx="2990088" cy="1170432"/>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Does the implementation correctly realise the mathematics I intended? Checked by tracing small cases, unit tests, and comparison against analytical special cases.</a:t>
            </a:r>
            <a:endParaRPr lang="en-US" sz="1100" dirty="0"/>
          </a:p>
        </p:txBody>
      </p:sp>
      <p:sp>
        <p:nvSpPr>
          <p:cNvPr id="10" name="Text 8"/>
          <p:cNvSpPr txBox="1"/>
          <p:nvPr/>
        </p:nvSpPr>
        <p:spPr>
          <a:xfrm>
            <a:off x="758952" y="4443984"/>
            <a:ext cx="2990088" cy="548640"/>
          </a:xfrm>
          <a:prstGeom prst="rect">
            <a:avLst/>
          </a:prstGeom>
          <a:noFill/>
          <a:ln/>
        </p:spPr>
        <p:txBody>
          <a:bodyPr wrap="square" lIns="0" tIns="0" rIns="0" bIns="0" rtlCol="0" anchor="t"/>
          <a:lstStyle/>
          <a:p>
            <a:pPr indent="0" marL="0">
              <a:lnSpc>
                <a:spcPct val="118000"/>
              </a:lnSpc>
              <a:buNone/>
            </a:pPr>
            <a:r>
              <a:rPr lang="en-US" sz="1000" i="1" dirty="0">
                <a:solidFill>
                  <a:srgbClr val="3D6EA6"/>
                </a:solidFill>
                <a:latin typeface="Calibri" pitchFamily="34" charset="0"/>
                <a:ea typeface="Calibri" pitchFamily="34" charset="-122"/>
                <a:cs typeface="Calibri" pitchFamily="34" charset="-120"/>
              </a:rPr>
              <a:t>An internal question. It never involves the real system at all.</a:t>
            </a:r>
            <a:endParaRPr lang="en-US" sz="1000" dirty="0"/>
          </a:p>
        </p:txBody>
      </p:sp>
      <p:sp>
        <p:nvSpPr>
          <p:cNvPr id="11" name="Shape 9"/>
          <p:cNvSpPr/>
          <p:nvPr/>
        </p:nvSpPr>
        <p:spPr>
          <a:xfrm>
            <a:off x="4343400" y="1938528"/>
            <a:ext cx="3502152" cy="3200400"/>
          </a:xfrm>
          <a:prstGeom prst="roundRect">
            <a:avLst>
              <a:gd name="adj" fmla="val 1429"/>
            </a:avLst>
          </a:prstGeom>
          <a:solidFill>
            <a:srgbClr val="F3F1FC"/>
          </a:solidFill>
          <a:ln/>
        </p:spPr>
      </p:sp>
      <p:sp>
        <p:nvSpPr>
          <p:cNvPr id="12" name="Text 10"/>
          <p:cNvSpPr txBox="1"/>
          <p:nvPr/>
        </p:nvSpPr>
        <p:spPr>
          <a:xfrm>
            <a:off x="4599432" y="2157984"/>
            <a:ext cx="2990088"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QUESTION 2</a:t>
            </a:r>
            <a:endParaRPr lang="en-US" sz="800" dirty="0"/>
          </a:p>
        </p:txBody>
      </p:sp>
      <p:sp>
        <p:nvSpPr>
          <p:cNvPr id="13" name="Text 11"/>
          <p:cNvSpPr txBox="1"/>
          <p:nvPr/>
        </p:nvSpPr>
        <p:spPr>
          <a:xfrm>
            <a:off x="4599432" y="2395728"/>
            <a:ext cx="2990088" cy="347472"/>
          </a:xfrm>
          <a:prstGeom prst="rect">
            <a:avLst/>
          </a:prstGeom>
          <a:noFill/>
          <a:ln/>
        </p:spPr>
        <p:txBody>
          <a:bodyPr wrap="square" lIns="0" tIns="0" rIns="0" bIns="0" rtlCol="0" anchor="ctr"/>
          <a:lstStyle/>
          <a:p>
            <a:pPr indent="0" marL="0">
              <a:buNone/>
            </a:pPr>
            <a:r>
              <a:rPr lang="en-US" sz="1900" b="1" dirty="0">
                <a:solidFill>
                  <a:srgbClr val="241A4C"/>
                </a:solidFill>
                <a:latin typeface="Cambria" pitchFamily="34" charset="0"/>
                <a:ea typeface="Cambria" pitchFamily="34" charset="-122"/>
                <a:cs typeface="Cambria" pitchFamily="34" charset="-120"/>
              </a:rPr>
              <a:t>Validation</a:t>
            </a:r>
            <a:endParaRPr lang="en-US" sz="1900" dirty="0"/>
          </a:p>
        </p:txBody>
      </p:sp>
      <p:sp>
        <p:nvSpPr>
          <p:cNvPr id="14" name="Text 12"/>
          <p:cNvSpPr txBox="1"/>
          <p:nvPr/>
        </p:nvSpPr>
        <p:spPr>
          <a:xfrm>
            <a:off x="4599432" y="2816352"/>
            <a:ext cx="2990088" cy="292608"/>
          </a:xfrm>
          <a:prstGeom prst="rect">
            <a:avLst/>
          </a:prstGeom>
          <a:noFill/>
          <a:ln/>
        </p:spPr>
        <p:txBody>
          <a:bodyPr wrap="square" lIns="0" tIns="0" rIns="0" bIns="0" rtlCol="0" anchor="ctr"/>
          <a:lstStyle/>
          <a:p>
            <a:pPr indent="0" marL="0">
              <a:buNone/>
            </a:pPr>
            <a:r>
              <a:rPr lang="en-US" sz="1250" i="1" dirty="0">
                <a:solidFill>
                  <a:srgbClr val="B08C3A"/>
                </a:solidFill>
                <a:latin typeface="Cambria" pitchFamily="34" charset="0"/>
                <a:ea typeface="Cambria" pitchFamily="34" charset="-122"/>
                <a:cs typeface="Cambria" pitchFamily="34" charset="-120"/>
              </a:rPr>
              <a:t>“Did I build the right model?”</a:t>
            </a:r>
            <a:endParaRPr lang="en-US" sz="1250" dirty="0"/>
          </a:p>
        </p:txBody>
      </p:sp>
      <p:sp>
        <p:nvSpPr>
          <p:cNvPr id="15" name="Text 13"/>
          <p:cNvSpPr txBox="1"/>
          <p:nvPr/>
        </p:nvSpPr>
        <p:spPr>
          <a:xfrm>
            <a:off x="4599432" y="3218688"/>
            <a:ext cx="2990088" cy="1170432"/>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Does the model correspond adequately to the real system, for the intended purpose and over the intended range? Checked against data the model was not fitted to.</a:t>
            </a:r>
            <a:endParaRPr lang="en-US" sz="1100" dirty="0"/>
          </a:p>
        </p:txBody>
      </p:sp>
      <p:sp>
        <p:nvSpPr>
          <p:cNvPr id="16" name="Text 14"/>
          <p:cNvSpPr txBox="1"/>
          <p:nvPr/>
        </p:nvSpPr>
        <p:spPr>
          <a:xfrm>
            <a:off x="4599432" y="4443984"/>
            <a:ext cx="2990088" cy="548640"/>
          </a:xfrm>
          <a:prstGeom prst="rect">
            <a:avLst/>
          </a:prstGeom>
          <a:noFill/>
          <a:ln/>
        </p:spPr>
        <p:txBody>
          <a:bodyPr wrap="square" lIns="0" tIns="0" rIns="0" bIns="0" rtlCol="0" anchor="t"/>
          <a:lstStyle/>
          <a:p>
            <a:pPr indent="0" marL="0">
              <a:lnSpc>
                <a:spcPct val="118000"/>
              </a:lnSpc>
              <a:buNone/>
            </a:pPr>
            <a:r>
              <a:rPr lang="en-US" sz="1000" i="1" dirty="0">
                <a:solidFill>
                  <a:srgbClr val="B08C3A"/>
                </a:solidFill>
                <a:latin typeface="Calibri" pitchFamily="34" charset="0"/>
                <a:ea typeface="Calibri" pitchFamily="34" charset="-122"/>
                <a:cs typeface="Calibri" pitchFamily="34" charset="-120"/>
              </a:rPr>
              <a:t>An external question — and the only one that licenses a claim about reality.</a:t>
            </a:r>
            <a:endParaRPr lang="en-US" sz="1000" dirty="0"/>
          </a:p>
        </p:txBody>
      </p:sp>
      <p:sp>
        <p:nvSpPr>
          <p:cNvPr id="17" name="Shape 15"/>
          <p:cNvSpPr/>
          <p:nvPr/>
        </p:nvSpPr>
        <p:spPr>
          <a:xfrm>
            <a:off x="8183880" y="1938528"/>
            <a:ext cx="3502152" cy="3200400"/>
          </a:xfrm>
          <a:prstGeom prst="roundRect">
            <a:avLst>
              <a:gd name="adj" fmla="val 1429"/>
            </a:avLst>
          </a:prstGeom>
          <a:solidFill>
            <a:srgbClr val="F3F1FC"/>
          </a:solidFill>
          <a:ln/>
        </p:spPr>
      </p:sp>
      <p:sp>
        <p:nvSpPr>
          <p:cNvPr id="18" name="Text 16"/>
          <p:cNvSpPr txBox="1"/>
          <p:nvPr/>
        </p:nvSpPr>
        <p:spPr>
          <a:xfrm>
            <a:off x="8439912" y="2157984"/>
            <a:ext cx="2990088"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QUESTION 3</a:t>
            </a:r>
            <a:endParaRPr lang="en-US" sz="800" dirty="0"/>
          </a:p>
        </p:txBody>
      </p:sp>
      <p:sp>
        <p:nvSpPr>
          <p:cNvPr id="19" name="Text 17"/>
          <p:cNvSpPr txBox="1"/>
          <p:nvPr/>
        </p:nvSpPr>
        <p:spPr>
          <a:xfrm>
            <a:off x="8439912" y="2395728"/>
            <a:ext cx="2990088" cy="347472"/>
          </a:xfrm>
          <a:prstGeom prst="rect">
            <a:avLst/>
          </a:prstGeom>
          <a:noFill/>
          <a:ln/>
        </p:spPr>
        <p:txBody>
          <a:bodyPr wrap="square" lIns="0" tIns="0" rIns="0" bIns="0" rtlCol="0" anchor="ctr"/>
          <a:lstStyle/>
          <a:p>
            <a:pPr indent="0" marL="0">
              <a:buNone/>
            </a:pPr>
            <a:r>
              <a:rPr lang="en-US" sz="1900" b="1" dirty="0">
                <a:solidFill>
                  <a:srgbClr val="241A4C"/>
                </a:solidFill>
                <a:latin typeface="Cambria" pitchFamily="34" charset="0"/>
                <a:ea typeface="Cambria" pitchFamily="34" charset="-122"/>
                <a:cs typeface="Cambria" pitchFamily="34" charset="-120"/>
              </a:rPr>
              <a:t>Calibration</a:t>
            </a:r>
            <a:endParaRPr lang="en-US" sz="1900" dirty="0"/>
          </a:p>
        </p:txBody>
      </p:sp>
      <p:sp>
        <p:nvSpPr>
          <p:cNvPr id="20" name="Text 18"/>
          <p:cNvSpPr txBox="1"/>
          <p:nvPr/>
        </p:nvSpPr>
        <p:spPr>
          <a:xfrm>
            <a:off x="8439912" y="2816352"/>
            <a:ext cx="2990088" cy="292608"/>
          </a:xfrm>
          <a:prstGeom prst="rect">
            <a:avLst/>
          </a:prstGeom>
          <a:noFill/>
          <a:ln/>
        </p:spPr>
        <p:txBody>
          <a:bodyPr wrap="square" lIns="0" tIns="0" rIns="0" bIns="0" rtlCol="0" anchor="ctr"/>
          <a:lstStyle/>
          <a:p>
            <a:pPr indent="0" marL="0">
              <a:buNone/>
            </a:pPr>
            <a:r>
              <a:rPr lang="en-US" sz="1250" i="1" dirty="0">
                <a:solidFill>
                  <a:srgbClr val="B4522B"/>
                </a:solidFill>
                <a:latin typeface="Cambria" pitchFamily="34" charset="0"/>
                <a:ea typeface="Cambria" pitchFamily="34" charset="-122"/>
                <a:cs typeface="Cambria" pitchFamily="34" charset="-120"/>
              </a:rPr>
              <a:t>“What parameter values make it fit?”</a:t>
            </a:r>
            <a:endParaRPr lang="en-US" sz="1250" dirty="0"/>
          </a:p>
        </p:txBody>
      </p:sp>
      <p:sp>
        <p:nvSpPr>
          <p:cNvPr id="21" name="Text 19"/>
          <p:cNvSpPr txBox="1"/>
          <p:nvPr/>
        </p:nvSpPr>
        <p:spPr>
          <a:xfrm>
            <a:off x="8439912" y="3218688"/>
            <a:ext cx="2990088" cy="1170432"/>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Tuning parameters until the model reproduces observed data. Necessary, routine, and not evidence of anything on its own.</a:t>
            </a:r>
            <a:endParaRPr lang="en-US" sz="1100" dirty="0"/>
          </a:p>
        </p:txBody>
      </p:sp>
      <p:sp>
        <p:nvSpPr>
          <p:cNvPr id="22" name="Text 20"/>
          <p:cNvSpPr txBox="1"/>
          <p:nvPr/>
        </p:nvSpPr>
        <p:spPr>
          <a:xfrm>
            <a:off x="8439912" y="4443984"/>
            <a:ext cx="2990088" cy="548640"/>
          </a:xfrm>
          <a:prstGeom prst="rect">
            <a:avLst/>
          </a:prstGeom>
          <a:noFill/>
          <a:ln/>
        </p:spPr>
        <p:txBody>
          <a:bodyPr wrap="square" lIns="0" tIns="0" rIns="0" bIns="0" rtlCol="0" anchor="t"/>
          <a:lstStyle/>
          <a:p>
            <a:pPr indent="0" marL="0">
              <a:lnSpc>
                <a:spcPct val="118000"/>
              </a:lnSpc>
              <a:buNone/>
            </a:pPr>
            <a:r>
              <a:rPr lang="en-US" sz="1000" i="1" dirty="0">
                <a:solidFill>
                  <a:srgbClr val="B4522B"/>
                </a:solidFill>
                <a:latin typeface="Calibri" pitchFamily="34" charset="0"/>
                <a:ea typeface="Calibri" pitchFamily="34" charset="-122"/>
                <a:cs typeface="Calibri" pitchFamily="34" charset="-120"/>
              </a:rPr>
              <a:t>A model can be calibrated to fit almost anything and still be structurally wrong.</a:t>
            </a:r>
            <a:endParaRPr lang="en-US" sz="1000" dirty="0"/>
          </a:p>
        </p:txBody>
      </p:sp>
      <p:sp>
        <p:nvSpPr>
          <p:cNvPr id="23" name="Shape 21"/>
          <p:cNvSpPr/>
          <p:nvPr/>
        </p:nvSpPr>
        <p:spPr>
          <a:xfrm>
            <a:off x="502920" y="5504688"/>
            <a:ext cx="11183112" cy="658368"/>
          </a:xfrm>
          <a:prstGeom prst="roundRect">
            <a:avLst>
              <a:gd name="adj" fmla="val 6944"/>
            </a:avLst>
          </a:prstGeom>
          <a:solidFill>
            <a:srgbClr val="F8EEEA"/>
          </a:solidFill>
          <a:ln/>
        </p:spPr>
      </p:sp>
      <p:sp>
        <p:nvSpPr>
          <p:cNvPr id="24" name="Text 22"/>
          <p:cNvSpPr txBox="1"/>
          <p:nvPr/>
        </p:nvSpPr>
        <p:spPr>
          <a:xfrm>
            <a:off x="795528" y="5504688"/>
            <a:ext cx="10597896" cy="658368"/>
          </a:xfrm>
          <a:prstGeom prst="rect">
            <a:avLst/>
          </a:prstGeom>
          <a:noFill/>
          <a:ln/>
        </p:spPr>
        <p:txBody>
          <a:bodyPr wrap="square" lIns="0" tIns="0" rIns="0" bIns="0" rtlCol="0" anchor="ctr"/>
          <a:lstStyle/>
          <a:p>
            <a:pPr indent="0" marL="0">
              <a:buNone/>
            </a:pPr>
            <a:r>
              <a:rPr lang="en-US" sz="1150" i="1" dirty="0">
                <a:solidFill>
                  <a:srgbClr val="241A4C"/>
                </a:solidFill>
                <a:latin typeface="Calibri" pitchFamily="34" charset="0"/>
                <a:ea typeface="Calibri" pitchFamily="34" charset="-122"/>
                <a:cs typeface="Calibri" pitchFamily="34" charset="-120"/>
              </a:rPr>
              <a:t>The commonest modelling error in student work is presenting calibration results as validation: fitting on a dataset, then showing the fit on that same dataset as evidence the model is right.</a:t>
            </a:r>
            <a:endParaRPr lang="en-US" sz="1150" dirty="0"/>
          </a:p>
        </p:txBody>
      </p:sp>
      <p:sp>
        <p:nvSpPr>
          <p:cNvPr id="25" name="Text 23"/>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6" name="Text 24"/>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16 / 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TRUSTING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How a Model Is Validated</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Five techniques, roughly ordered by how hard they are to pass. A model reported with only the first has been checked in the weakest way available.</a:t>
            </a:r>
            <a:endParaRPr lang="en-US" sz="1250" dirty="0"/>
          </a:p>
        </p:txBody>
      </p:sp>
      <p:sp>
        <p:nvSpPr>
          <p:cNvPr id="5" name="Shape 3"/>
          <p:cNvSpPr/>
          <p:nvPr/>
        </p:nvSpPr>
        <p:spPr>
          <a:xfrm>
            <a:off x="502920" y="1938528"/>
            <a:ext cx="2039112" cy="2286000"/>
          </a:xfrm>
          <a:prstGeom prst="roundRect">
            <a:avLst>
              <a:gd name="adj" fmla="val 2691"/>
            </a:avLst>
          </a:prstGeom>
          <a:solidFill>
            <a:srgbClr val="F3F1FC"/>
          </a:solidFill>
          <a:ln/>
        </p:spPr>
      </p:sp>
      <p:sp>
        <p:nvSpPr>
          <p:cNvPr id="6" name="Shape 4"/>
          <p:cNvSpPr/>
          <p:nvPr/>
        </p:nvSpPr>
        <p:spPr>
          <a:xfrm>
            <a:off x="685800" y="2139696"/>
            <a:ext cx="292608" cy="292608"/>
          </a:xfrm>
          <a:prstGeom prst="ellipse">
            <a:avLst/>
          </a:prstGeom>
          <a:solidFill>
            <a:srgbClr val="3D6EA6"/>
          </a:solidFill>
          <a:ln/>
        </p:spPr>
      </p:sp>
      <p:sp>
        <p:nvSpPr>
          <p:cNvPr id="7" name="Text 5"/>
          <p:cNvSpPr txBox="1"/>
          <p:nvPr/>
        </p:nvSpPr>
        <p:spPr>
          <a:xfrm>
            <a:off x="685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685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Face validity</a:t>
            </a:r>
            <a:endParaRPr lang="en-US" sz="1250" dirty="0"/>
          </a:p>
        </p:txBody>
      </p:sp>
      <p:sp>
        <p:nvSpPr>
          <p:cNvPr id="9" name="Text 7"/>
          <p:cNvSpPr txBox="1"/>
          <p:nvPr/>
        </p:nvSpPr>
        <p:spPr>
          <a:xfrm>
            <a:off x="685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Does it behave as domain experts expect? Weak evidence, but a cheap filter that catches gross structural errors early.</a:t>
            </a:r>
            <a:endParaRPr lang="en-US" sz="1000" dirty="0"/>
          </a:p>
        </p:txBody>
      </p:sp>
      <p:sp>
        <p:nvSpPr>
          <p:cNvPr id="10" name="Shape 8"/>
          <p:cNvSpPr/>
          <p:nvPr/>
        </p:nvSpPr>
        <p:spPr>
          <a:xfrm>
            <a:off x="2788920" y="1938528"/>
            <a:ext cx="2039112" cy="2286000"/>
          </a:xfrm>
          <a:prstGeom prst="roundRect">
            <a:avLst>
              <a:gd name="adj" fmla="val 2691"/>
            </a:avLst>
          </a:prstGeom>
          <a:solidFill>
            <a:srgbClr val="F3F1FC"/>
          </a:solidFill>
          <a:ln/>
        </p:spPr>
      </p:sp>
      <p:sp>
        <p:nvSpPr>
          <p:cNvPr id="11" name="Shape 9"/>
          <p:cNvSpPr/>
          <p:nvPr/>
        </p:nvSpPr>
        <p:spPr>
          <a:xfrm>
            <a:off x="2971800" y="2139696"/>
            <a:ext cx="292608" cy="292608"/>
          </a:xfrm>
          <a:prstGeom prst="ellipse">
            <a:avLst/>
          </a:prstGeom>
          <a:solidFill>
            <a:srgbClr val="3D6EA6"/>
          </a:solidFill>
          <a:ln/>
        </p:spPr>
      </p:sp>
      <p:sp>
        <p:nvSpPr>
          <p:cNvPr id="12" name="Text 10"/>
          <p:cNvSpPr txBox="1"/>
          <p:nvPr/>
        </p:nvSpPr>
        <p:spPr>
          <a:xfrm>
            <a:off x="2971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2971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Extreme conditions</a:t>
            </a:r>
            <a:endParaRPr lang="en-US" sz="1250" dirty="0"/>
          </a:p>
        </p:txBody>
      </p:sp>
      <p:sp>
        <p:nvSpPr>
          <p:cNvPr id="14" name="Text 12"/>
          <p:cNvSpPr txBox="1"/>
          <p:nvPr/>
        </p:nvSpPr>
        <p:spPr>
          <a:xfrm>
            <a:off x="2971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Set parameters to their limits — zero load, saturation, one server, infinite buffer — and check the model degenerates correctly.</a:t>
            </a:r>
            <a:endParaRPr lang="en-US" sz="1000" dirty="0"/>
          </a:p>
        </p:txBody>
      </p:sp>
      <p:sp>
        <p:nvSpPr>
          <p:cNvPr id="15" name="Shape 13"/>
          <p:cNvSpPr/>
          <p:nvPr/>
        </p:nvSpPr>
        <p:spPr>
          <a:xfrm>
            <a:off x="5074920" y="1938528"/>
            <a:ext cx="2039112" cy="2286000"/>
          </a:xfrm>
          <a:prstGeom prst="roundRect">
            <a:avLst>
              <a:gd name="adj" fmla="val 2691"/>
            </a:avLst>
          </a:prstGeom>
          <a:solidFill>
            <a:srgbClr val="F3F1FC"/>
          </a:solidFill>
          <a:ln/>
        </p:spPr>
      </p:sp>
      <p:sp>
        <p:nvSpPr>
          <p:cNvPr id="16" name="Shape 14"/>
          <p:cNvSpPr/>
          <p:nvPr/>
        </p:nvSpPr>
        <p:spPr>
          <a:xfrm>
            <a:off x="5257800" y="2139696"/>
            <a:ext cx="292608" cy="292608"/>
          </a:xfrm>
          <a:prstGeom prst="ellipse">
            <a:avLst/>
          </a:prstGeom>
          <a:solidFill>
            <a:srgbClr val="B08C3A"/>
          </a:solidFill>
          <a:ln/>
        </p:spPr>
      </p:sp>
      <p:sp>
        <p:nvSpPr>
          <p:cNvPr id="17" name="Text 15"/>
          <p:cNvSpPr txBox="1"/>
          <p:nvPr/>
        </p:nvSpPr>
        <p:spPr>
          <a:xfrm>
            <a:off x="5257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5257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Trace validation</a:t>
            </a:r>
            <a:endParaRPr lang="en-US" sz="1250" dirty="0"/>
          </a:p>
        </p:txBody>
      </p:sp>
      <p:sp>
        <p:nvSpPr>
          <p:cNvPr id="19" name="Text 17"/>
          <p:cNvSpPr txBox="1"/>
          <p:nvPr/>
        </p:nvSpPr>
        <p:spPr>
          <a:xfrm>
            <a:off x="5257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Drive the model with a recorded workload trace and compare its output against what the real system actually did.</a:t>
            </a:r>
            <a:endParaRPr lang="en-US" sz="1000" dirty="0"/>
          </a:p>
        </p:txBody>
      </p:sp>
      <p:sp>
        <p:nvSpPr>
          <p:cNvPr id="20" name="Shape 18"/>
          <p:cNvSpPr/>
          <p:nvPr/>
        </p:nvSpPr>
        <p:spPr>
          <a:xfrm>
            <a:off x="7360920" y="1938528"/>
            <a:ext cx="2039112" cy="2286000"/>
          </a:xfrm>
          <a:prstGeom prst="roundRect">
            <a:avLst>
              <a:gd name="adj" fmla="val 2691"/>
            </a:avLst>
          </a:prstGeom>
          <a:solidFill>
            <a:srgbClr val="F6EFE4"/>
          </a:solidFill>
          <a:ln/>
        </p:spPr>
      </p:sp>
      <p:sp>
        <p:nvSpPr>
          <p:cNvPr id="21" name="Shape 19"/>
          <p:cNvSpPr/>
          <p:nvPr/>
        </p:nvSpPr>
        <p:spPr>
          <a:xfrm>
            <a:off x="7543800" y="2139696"/>
            <a:ext cx="292608" cy="292608"/>
          </a:xfrm>
          <a:prstGeom prst="ellipse">
            <a:avLst/>
          </a:prstGeom>
          <a:solidFill>
            <a:srgbClr val="B4522B"/>
          </a:solidFill>
          <a:ln/>
        </p:spPr>
      </p:sp>
      <p:sp>
        <p:nvSpPr>
          <p:cNvPr id="22" name="Text 20"/>
          <p:cNvSpPr txBox="1"/>
          <p:nvPr/>
        </p:nvSpPr>
        <p:spPr>
          <a:xfrm>
            <a:off x="7543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7543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Predictive validation</a:t>
            </a:r>
            <a:endParaRPr lang="en-US" sz="1250" dirty="0"/>
          </a:p>
        </p:txBody>
      </p:sp>
      <p:sp>
        <p:nvSpPr>
          <p:cNvPr id="24" name="Text 22"/>
          <p:cNvSpPr txBox="1"/>
          <p:nvPr/>
        </p:nvSpPr>
        <p:spPr>
          <a:xfrm>
            <a:off x="7543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Fit on one period or configuration, predict a different one, and compare. The strongest routine check available.</a:t>
            </a:r>
            <a:endParaRPr lang="en-US" sz="1000" dirty="0"/>
          </a:p>
        </p:txBody>
      </p:sp>
      <p:sp>
        <p:nvSpPr>
          <p:cNvPr id="25" name="Shape 23"/>
          <p:cNvSpPr/>
          <p:nvPr/>
        </p:nvSpPr>
        <p:spPr>
          <a:xfrm>
            <a:off x="9646920" y="1938528"/>
            <a:ext cx="2039112" cy="2286000"/>
          </a:xfrm>
          <a:prstGeom prst="roundRect">
            <a:avLst>
              <a:gd name="adj" fmla="val 2691"/>
            </a:avLst>
          </a:prstGeom>
          <a:solidFill>
            <a:srgbClr val="F6EFE4"/>
          </a:solidFill>
          <a:ln/>
        </p:spPr>
      </p:sp>
      <p:sp>
        <p:nvSpPr>
          <p:cNvPr id="26" name="Shape 24"/>
          <p:cNvSpPr/>
          <p:nvPr/>
        </p:nvSpPr>
        <p:spPr>
          <a:xfrm>
            <a:off x="9829800" y="2139696"/>
            <a:ext cx="292608" cy="292608"/>
          </a:xfrm>
          <a:prstGeom prst="ellipse">
            <a:avLst/>
          </a:prstGeom>
          <a:solidFill>
            <a:srgbClr val="B4522B"/>
          </a:solidFill>
          <a:ln/>
        </p:spPr>
      </p:sp>
      <p:sp>
        <p:nvSpPr>
          <p:cNvPr id="27" name="Text 25"/>
          <p:cNvSpPr txBox="1"/>
          <p:nvPr/>
        </p:nvSpPr>
        <p:spPr>
          <a:xfrm>
            <a:off x="9829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9829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Structural validation</a:t>
            </a:r>
            <a:endParaRPr lang="en-US" sz="1250" dirty="0"/>
          </a:p>
        </p:txBody>
      </p:sp>
      <p:sp>
        <p:nvSpPr>
          <p:cNvPr id="29" name="Text 27"/>
          <p:cNvSpPr txBox="1"/>
          <p:nvPr/>
        </p:nvSpPr>
        <p:spPr>
          <a:xfrm>
            <a:off x="9829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Compare the model's mechanism, not just its outputs, against known system behaviour. Two wrong assumptions can cancel and still fit.</a:t>
            </a:r>
            <a:endParaRPr lang="en-US" sz="1000" dirty="0"/>
          </a:p>
        </p:txBody>
      </p:sp>
      <p:sp>
        <p:nvSpPr>
          <p:cNvPr id="30" name="Shape 28"/>
          <p:cNvSpPr/>
          <p:nvPr/>
        </p:nvSpPr>
        <p:spPr>
          <a:xfrm>
            <a:off x="502920" y="4590288"/>
            <a:ext cx="5477256" cy="1371600"/>
          </a:xfrm>
          <a:prstGeom prst="roundRect">
            <a:avLst>
              <a:gd name="adj" fmla="val 3333"/>
            </a:avLst>
          </a:prstGeom>
          <a:solidFill>
            <a:srgbClr val="F3F1FC"/>
          </a:solidFill>
          <a:ln/>
        </p:spPr>
      </p:sp>
      <p:sp>
        <p:nvSpPr>
          <p:cNvPr id="31" name="Text 29"/>
          <p:cNvSpPr txBox="1"/>
          <p:nvPr/>
        </p:nvSpPr>
        <p:spPr>
          <a:xfrm>
            <a:off x="795528" y="4773168"/>
            <a:ext cx="489204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WHY OUTPUT AGREEMENT IS NOT ENOUGH</a:t>
            </a:r>
            <a:endParaRPr lang="en-US" sz="850" dirty="0"/>
          </a:p>
        </p:txBody>
      </p:sp>
      <p:sp>
        <p:nvSpPr>
          <p:cNvPr id="32" name="Text 30"/>
          <p:cNvSpPr txBox="1"/>
          <p:nvPr/>
        </p:nvSpPr>
        <p:spPr>
          <a:xfrm>
            <a:off x="795528" y="5029200"/>
            <a:ext cx="4892040"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A model can reproduce observed output through compensating errors — one mechanism overstated, another understated — and will then fail the moment conditions change. Structural checks are what distinguish a model that works from one that happens to fit.</a:t>
            </a:r>
            <a:endParaRPr lang="en-US" sz="1100" dirty="0"/>
          </a:p>
        </p:txBody>
      </p:sp>
      <p:sp>
        <p:nvSpPr>
          <p:cNvPr id="33" name="Shape 31"/>
          <p:cNvSpPr/>
          <p:nvPr/>
        </p:nvSpPr>
        <p:spPr>
          <a:xfrm>
            <a:off x="6208776" y="4590288"/>
            <a:ext cx="5477256" cy="1371600"/>
          </a:xfrm>
          <a:prstGeom prst="roundRect">
            <a:avLst>
              <a:gd name="adj" fmla="val 3333"/>
            </a:avLst>
          </a:prstGeom>
          <a:solidFill>
            <a:srgbClr val="EEF3F9"/>
          </a:solidFill>
          <a:ln/>
        </p:spPr>
      </p:sp>
      <p:sp>
        <p:nvSpPr>
          <p:cNvPr id="34" name="Text 32"/>
          <p:cNvSpPr txBox="1"/>
          <p:nvPr/>
        </p:nvSpPr>
        <p:spPr>
          <a:xfrm>
            <a:off x="6501384" y="4773168"/>
            <a:ext cx="489204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HOW MUCH AGREEMENT IS ENOUGH?</a:t>
            </a:r>
            <a:endParaRPr lang="en-US" sz="850" dirty="0"/>
          </a:p>
        </p:txBody>
      </p:sp>
      <p:sp>
        <p:nvSpPr>
          <p:cNvPr id="35" name="Text 33"/>
          <p:cNvSpPr txBox="1"/>
          <p:nvPr/>
        </p:nvSpPr>
        <p:spPr>
          <a:xfrm>
            <a:off x="6501384" y="5029200"/>
            <a:ext cx="4892040"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There is no universal threshold — it depends on the decision the model supports. State the accuracy you need before you validate, so that “close enough” is a criterion rather than a verdict reached after seeing the plot.</a:t>
            </a:r>
            <a:endParaRPr lang="en-US" sz="1100" dirty="0"/>
          </a:p>
        </p:txBody>
      </p:sp>
      <p:sp>
        <p:nvSpPr>
          <p:cNvPr id="36" name="Text 34"/>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7" name="Text 35"/>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17 / 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TRUSTING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Where Model Error Comes From</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Four distinct sources. They are not equally detectable, and calibration can conceal the most serious of them.</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SOURCE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Structural error</a:t>
            </a:r>
            <a:endParaRPr lang="en-US" sz="155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relations themselves are wrong: a mechanism omitted, or a dependence assumed away.</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WHY IT MATTERS</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The most serious and least detectable, because fitting parameters can absorb it — producing a model that matches the data and mispredicts everything new.</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SOURCE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Parameter error</a:t>
            </a:r>
            <a:endParaRPr lang="en-US" sz="155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structure is right but the values are off.</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WHY IT MATTERS</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Measurement noise, a small sample, or an estimate imported from a different system. Detectable, and quantifiable through sensitivity analysis.</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SOURCE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Numerical error</a:t>
            </a:r>
            <a:endParaRPr lang="en-US" sz="155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Introduced by how the model was solved rather than by the model itself.</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WHY IT MATTERS</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Discretisation, truncation, floating-point accumulation, or a solver stopped short of convergence. Usually small, occasionally decisive.</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SOURCE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550" b="1" dirty="0">
                <a:solidFill>
                  <a:srgbClr val="241A4C"/>
                </a:solidFill>
                <a:latin typeface="Cambria" pitchFamily="34" charset="0"/>
                <a:ea typeface="Cambria" pitchFamily="34" charset="-122"/>
                <a:cs typeface="Cambria" pitchFamily="34" charset="-120"/>
              </a:rPr>
              <a:t>Scope error</a:t>
            </a:r>
            <a:endParaRPr lang="en-US" sz="155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model is used outside the range it was built and validated for.</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WHY IT MATTERS</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This is extrapolation, and it is the commonest way a perfectly good model produces a confidently wrong answer.</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Only two of the four are visible in a goodness-of-fit plot. That is why validation has to include structural and extreme-condition checks, and not just agreement on the data you happen to hold.</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18 / 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TRUSTING A MODEL</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All Models Are Wrong</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George Box's remark is quoted so often that its methodological content is usually lost. It is a statement about scope, not a licence for imprecision.</a:t>
            </a:r>
            <a:endParaRPr lang="en-US" sz="1250" dirty="0"/>
          </a:p>
        </p:txBody>
      </p:sp>
      <p:sp>
        <p:nvSpPr>
          <p:cNvPr id="5" name="Shape 3"/>
          <p:cNvSpPr/>
          <p:nvPr/>
        </p:nvSpPr>
        <p:spPr>
          <a:xfrm>
            <a:off x="502920" y="1938528"/>
            <a:ext cx="7040880" cy="1133856"/>
          </a:xfrm>
          <a:prstGeom prst="roundRect">
            <a:avLst>
              <a:gd name="adj" fmla="val 4032"/>
            </a:avLst>
          </a:prstGeom>
          <a:solidFill>
            <a:srgbClr val="F6EFE4"/>
          </a:solidFill>
          <a:ln/>
        </p:spPr>
      </p:sp>
      <p:sp>
        <p:nvSpPr>
          <p:cNvPr id="6" name="Text 4"/>
          <p:cNvSpPr txBox="1"/>
          <p:nvPr/>
        </p:nvSpPr>
        <p:spPr>
          <a:xfrm>
            <a:off x="795528" y="2121408"/>
            <a:ext cx="6455664"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GEORGE BOX, 1976</a:t>
            </a:r>
            <a:endParaRPr lang="en-US" sz="850" dirty="0"/>
          </a:p>
        </p:txBody>
      </p:sp>
      <p:sp>
        <p:nvSpPr>
          <p:cNvPr id="7" name="Text 5"/>
          <p:cNvSpPr txBox="1"/>
          <p:nvPr/>
        </p:nvSpPr>
        <p:spPr>
          <a:xfrm>
            <a:off x="795528" y="2414016"/>
            <a:ext cx="6455664" cy="457200"/>
          </a:xfrm>
          <a:prstGeom prst="rect">
            <a:avLst/>
          </a:prstGeom>
          <a:noFill/>
          <a:ln/>
        </p:spPr>
        <p:txBody>
          <a:bodyPr wrap="square" lIns="0" tIns="0" rIns="0" bIns="0" rtlCol="0" anchor="ctr"/>
          <a:lstStyle/>
          <a:p>
            <a:pPr indent="0" marL="0">
              <a:buNone/>
            </a:pPr>
            <a:r>
              <a:rPr lang="en-US" sz="1900" dirty="0">
                <a:solidFill>
                  <a:srgbClr val="241A4C"/>
                </a:solidFill>
                <a:latin typeface="Cambria" pitchFamily="34" charset="0"/>
                <a:ea typeface="Cambria" pitchFamily="34" charset="-122"/>
                <a:cs typeface="Cambria" pitchFamily="34" charset="-120"/>
              </a:rPr>
              <a:t>“All models are wrong, but some are useful.”</a:t>
            </a:r>
            <a:endParaRPr lang="en-US" sz="1900" dirty="0"/>
          </a:p>
        </p:txBody>
      </p:sp>
      <p:sp>
        <p:nvSpPr>
          <p:cNvPr id="8" name="Shape 6"/>
          <p:cNvSpPr/>
          <p:nvPr/>
        </p:nvSpPr>
        <p:spPr>
          <a:xfrm>
            <a:off x="502920" y="3410712"/>
            <a:ext cx="109728" cy="109728"/>
          </a:xfrm>
          <a:prstGeom prst="ellipse">
            <a:avLst/>
          </a:prstGeom>
          <a:solidFill>
            <a:srgbClr val="D8A73E"/>
          </a:solidFill>
          <a:ln/>
        </p:spPr>
      </p:sp>
      <p:sp>
        <p:nvSpPr>
          <p:cNvPr id="9" name="Text 7"/>
          <p:cNvSpPr txBox="1"/>
          <p:nvPr/>
        </p:nvSpPr>
        <p:spPr>
          <a:xfrm>
            <a:off x="813816" y="3328416"/>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Wrongness is not a defect to be repaired.</a:t>
            </a:r>
            <a:endParaRPr lang="en-US" sz="1300" dirty="0"/>
          </a:p>
        </p:txBody>
      </p:sp>
      <p:sp>
        <p:nvSpPr>
          <p:cNvPr id="10" name="Text 8"/>
          <p:cNvSpPr txBox="1"/>
          <p:nvPr/>
        </p:nvSpPr>
        <p:spPr>
          <a:xfrm>
            <a:off x="813816" y="3621024"/>
            <a:ext cx="6729984"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A model that was wrong in no respect would be the system itself, and would be no easier to reason about than the system was. Simplification is the entire mechanism by which a model earns its keep.</a:t>
            </a:r>
            <a:endParaRPr lang="en-US" sz="1050" dirty="0"/>
          </a:p>
        </p:txBody>
      </p:sp>
      <p:sp>
        <p:nvSpPr>
          <p:cNvPr id="11" name="Shape 9"/>
          <p:cNvSpPr/>
          <p:nvPr/>
        </p:nvSpPr>
        <p:spPr>
          <a:xfrm>
            <a:off x="502920" y="4526280"/>
            <a:ext cx="109728" cy="109728"/>
          </a:xfrm>
          <a:prstGeom prst="ellipse">
            <a:avLst/>
          </a:prstGeom>
          <a:solidFill>
            <a:srgbClr val="D8A73E"/>
          </a:solidFill>
          <a:ln/>
        </p:spPr>
      </p:sp>
      <p:sp>
        <p:nvSpPr>
          <p:cNvPr id="12" name="Text 10"/>
          <p:cNvSpPr txBox="1"/>
          <p:nvPr/>
        </p:nvSpPr>
        <p:spPr>
          <a:xfrm>
            <a:off x="813816" y="4443984"/>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Parsimony, up to a point.</a:t>
            </a:r>
            <a:endParaRPr lang="en-US" sz="1300" dirty="0"/>
          </a:p>
        </p:txBody>
      </p:sp>
      <p:sp>
        <p:nvSpPr>
          <p:cNvPr id="13" name="Text 11"/>
          <p:cNvSpPr txBox="1"/>
          <p:nvPr/>
        </p:nvSpPr>
        <p:spPr>
          <a:xfrm>
            <a:off x="813816" y="4736592"/>
            <a:ext cx="6729984"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Adding parameters always improves the fit and eventually destroys the predictive power. This is Lecture 3's overfitting again, and preferring the simpler model is an inductive bias — a necessary one, not a stylistic preference.</a:t>
            </a:r>
            <a:endParaRPr lang="en-US" sz="1050" dirty="0"/>
          </a:p>
        </p:txBody>
      </p:sp>
      <p:sp>
        <p:nvSpPr>
          <p:cNvPr id="14" name="Shape 12"/>
          <p:cNvSpPr/>
          <p:nvPr/>
        </p:nvSpPr>
        <p:spPr>
          <a:xfrm>
            <a:off x="502920" y="5641848"/>
            <a:ext cx="109728" cy="109728"/>
          </a:xfrm>
          <a:prstGeom prst="ellipse">
            <a:avLst/>
          </a:prstGeom>
          <a:solidFill>
            <a:srgbClr val="D8A73E"/>
          </a:solidFill>
          <a:ln/>
        </p:spPr>
      </p:sp>
      <p:sp>
        <p:nvSpPr>
          <p:cNvPr id="15" name="Text 13"/>
          <p:cNvSpPr txBox="1"/>
          <p:nvPr/>
        </p:nvSpPr>
        <p:spPr>
          <a:xfrm>
            <a:off x="813816" y="5559552"/>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The question is adequacy, not truth.</a:t>
            </a:r>
            <a:endParaRPr lang="en-US" sz="1300" dirty="0"/>
          </a:p>
        </p:txBody>
      </p:sp>
      <p:sp>
        <p:nvSpPr>
          <p:cNvPr id="16" name="Text 14"/>
          <p:cNvSpPr txBox="1"/>
          <p:nvPr/>
        </p:nvSpPr>
        <p:spPr>
          <a:xfrm>
            <a:off x="813816" y="5852160"/>
            <a:ext cx="6729984"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“Is it adequate for this question, over this range, at this accuracy?” — the same fidelity-against-tractability trade Lecture 3 named for models of computation.</a:t>
            </a:r>
            <a:endParaRPr lang="en-US" sz="1050" dirty="0"/>
          </a:p>
        </p:txBody>
      </p:sp>
      <p:sp>
        <p:nvSpPr>
          <p:cNvPr id="17" name="Shape 15"/>
          <p:cNvSpPr/>
          <p:nvPr/>
        </p:nvSpPr>
        <p:spPr>
          <a:xfrm>
            <a:off x="7818120" y="1938528"/>
            <a:ext cx="3867912" cy="4114800"/>
          </a:xfrm>
          <a:prstGeom prst="roundRect">
            <a:avLst>
              <a:gd name="adj" fmla="val 1182"/>
            </a:avLst>
          </a:prstGeom>
          <a:solidFill>
            <a:srgbClr val="F3F1FC"/>
          </a:solidFill>
          <a:ln/>
        </p:spPr>
      </p:sp>
      <p:sp>
        <p:nvSpPr>
          <p:cNvPr id="18" name="Text 16"/>
          <p:cNvSpPr txBox="1"/>
          <p:nvPr/>
        </p:nvSpPr>
        <p:spPr>
          <a:xfrm>
            <a:off x="8092440" y="2212848"/>
            <a:ext cx="3319272"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WHAT THE OBLIGATION ACTUALLY IS</a:t>
            </a:r>
            <a:endParaRPr lang="en-US" sz="850" dirty="0"/>
          </a:p>
        </p:txBody>
      </p:sp>
      <p:sp>
        <p:nvSpPr>
          <p:cNvPr id="19" name="Text 17"/>
          <p:cNvSpPr txBox="1"/>
          <p:nvPr/>
        </p:nvSpPr>
        <p:spPr>
          <a:xfrm>
            <a:off x="8092440" y="2615184"/>
            <a:ext cx="3319272" cy="914400"/>
          </a:xfrm>
          <a:prstGeom prst="rect">
            <a:avLst/>
          </a:prstGeom>
          <a:noFill/>
          <a:ln/>
        </p:spPr>
        <p:txBody>
          <a:bodyPr wrap="square" lIns="0" tIns="0" rIns="0" bIns="0" rtlCol="0" anchor="t"/>
          <a:lstStyle/>
          <a:p>
            <a:pPr indent="0" marL="0">
              <a:lnSpc>
                <a:spcPct val="118000"/>
              </a:lnSpc>
              <a:buNone/>
            </a:pPr>
            <a:r>
              <a:rPr lang="en-US" sz="1550" dirty="0">
                <a:solidFill>
                  <a:srgbClr val="241A4C"/>
                </a:solidFill>
                <a:latin typeface="Cambria" pitchFamily="34" charset="0"/>
                <a:ea typeface="Cambria" pitchFamily="34" charset="-122"/>
                <a:cs typeface="Cambria" pitchFamily="34" charset="-120"/>
              </a:rPr>
              <a:t>Not to be right. To say precisely how you are wrong.</a:t>
            </a:r>
            <a:endParaRPr lang="en-US" sz="1550" dirty="0"/>
          </a:p>
        </p:txBody>
      </p:sp>
      <p:sp>
        <p:nvSpPr>
          <p:cNvPr id="20" name="Shape 18"/>
          <p:cNvSpPr/>
          <p:nvPr/>
        </p:nvSpPr>
        <p:spPr>
          <a:xfrm>
            <a:off x="8092440" y="3675888"/>
            <a:ext cx="1371600" cy="0"/>
          </a:xfrm>
          <a:prstGeom prst="line">
            <a:avLst/>
          </a:prstGeom>
          <a:noFill/>
          <a:ln w="15875">
            <a:solidFill>
              <a:srgbClr val="D8A73E"/>
            </a:solidFill>
            <a:prstDash val="solid"/>
          </a:ln>
        </p:spPr>
      </p:sp>
      <p:sp>
        <p:nvSpPr>
          <p:cNvPr id="21" name="Text 19"/>
          <p:cNvSpPr txBox="1"/>
          <p:nvPr/>
        </p:nvSpPr>
        <p:spPr>
          <a:xfrm>
            <a:off x="8092440" y="3858768"/>
            <a:ext cx="3319272" cy="201168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Which mechanisms you omitted, which parameters you guessed, over what range you validated, and where the predictions should not be trusted at all.</a:t>
            </a:r>
            <a:endParaRPr lang="en-US" sz="1100" dirty="0"/>
          </a:p>
          <a:p>
            <a:pPr indent="0" marL="0">
              <a:lnSpc>
                <a:spcPct val="122000"/>
              </a:lnSpc>
              <a:buNone/>
            </a:pPr>
            <a:endParaRPr lang="en-US" sz="1100" dirty="0"/>
          </a:p>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A modelling paper that supplies those four things is useful even when its numbers are later shown to be off. One that omits them is not useful even when its numbers happen to be right.</a:t>
            </a:r>
            <a:endParaRPr lang="en-US" sz="1100" dirty="0"/>
          </a:p>
        </p:txBody>
      </p:sp>
      <p:sp>
        <p:nvSpPr>
          <p:cNvPr id="22" name="Text 2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3" name="Text 2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19 / 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What Must Appear in the Paper</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Six elements a reader needs in order to reuse, check, or challenge your model. The last column is how often each is actually supplied.</a:t>
            </a:r>
            <a:endParaRPr lang="en-US" sz="1250" dirty="0"/>
          </a:p>
        </p:txBody>
      </p:sp>
      <p:sp>
        <p:nvSpPr>
          <p:cNvPr id="5" name="Shape 3"/>
          <p:cNvSpPr/>
          <p:nvPr/>
        </p:nvSpPr>
        <p:spPr>
          <a:xfrm>
            <a:off x="502920" y="1938528"/>
            <a:ext cx="288036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25877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ELEMENT</a:t>
            </a:r>
            <a:endParaRPr lang="en-US" sz="850" dirty="0"/>
          </a:p>
        </p:txBody>
      </p:sp>
      <p:sp>
        <p:nvSpPr>
          <p:cNvPr id="7" name="Shape 5"/>
          <p:cNvSpPr/>
          <p:nvPr/>
        </p:nvSpPr>
        <p:spPr>
          <a:xfrm>
            <a:off x="3383280" y="1938528"/>
            <a:ext cx="5943600" cy="384048"/>
          </a:xfrm>
          <a:prstGeom prst="rect">
            <a:avLst/>
          </a:prstGeom>
          <a:solidFill>
            <a:srgbClr val="241A4C"/>
          </a:solidFill>
          <a:ln w="19050">
            <a:solidFill>
              <a:srgbClr val="FFFFFF"/>
            </a:solidFill>
            <a:prstDash val="solid"/>
          </a:ln>
        </p:spPr>
      </p:sp>
      <p:sp>
        <p:nvSpPr>
          <p:cNvPr id="8" name="Text 6"/>
          <p:cNvSpPr txBox="1"/>
          <p:nvPr/>
        </p:nvSpPr>
        <p:spPr>
          <a:xfrm>
            <a:off x="3529584" y="1938528"/>
            <a:ext cx="56509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WHY A READER NEEDS IT</a:t>
            </a:r>
            <a:endParaRPr lang="en-US" sz="850" dirty="0"/>
          </a:p>
        </p:txBody>
      </p:sp>
      <p:sp>
        <p:nvSpPr>
          <p:cNvPr id="9" name="Shape 7"/>
          <p:cNvSpPr/>
          <p:nvPr/>
        </p:nvSpPr>
        <p:spPr>
          <a:xfrm>
            <a:off x="9326880" y="1938528"/>
            <a:ext cx="2359152" cy="384048"/>
          </a:xfrm>
          <a:prstGeom prst="rect">
            <a:avLst/>
          </a:prstGeom>
          <a:solidFill>
            <a:srgbClr val="241A4C"/>
          </a:solidFill>
          <a:ln w="19050">
            <a:solidFill>
              <a:srgbClr val="FFFFFF"/>
            </a:solidFill>
            <a:prstDash val="solid"/>
          </a:ln>
        </p:spPr>
      </p:sp>
      <p:sp>
        <p:nvSpPr>
          <p:cNvPr id="10" name="Text 8"/>
          <p:cNvSpPr txBox="1"/>
          <p:nvPr/>
        </p:nvSpPr>
        <p:spPr>
          <a:xfrm>
            <a:off x="9473184" y="1938528"/>
            <a:ext cx="206654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USUALLY OMITTED?</a:t>
            </a:r>
            <a:endParaRPr lang="en-US" sz="850" dirty="0"/>
          </a:p>
        </p:txBody>
      </p:sp>
      <p:sp>
        <p:nvSpPr>
          <p:cNvPr id="11" name="Shape 9"/>
          <p:cNvSpPr/>
          <p:nvPr/>
        </p:nvSpPr>
        <p:spPr>
          <a:xfrm>
            <a:off x="502920" y="2377440"/>
            <a:ext cx="11183112" cy="502920"/>
          </a:xfrm>
          <a:prstGeom prst="rect">
            <a:avLst/>
          </a:prstGeom>
          <a:solidFill>
            <a:srgbClr val="F3F1FC"/>
          </a:solidFill>
          <a:ln/>
        </p:spPr>
      </p:sp>
      <p:sp>
        <p:nvSpPr>
          <p:cNvPr id="12" name="Shape 10"/>
          <p:cNvSpPr/>
          <p:nvPr/>
        </p:nvSpPr>
        <p:spPr>
          <a:xfrm>
            <a:off x="502920" y="2377440"/>
            <a:ext cx="50292" cy="502920"/>
          </a:xfrm>
          <a:prstGeom prst="rect">
            <a:avLst/>
          </a:prstGeom>
          <a:solidFill>
            <a:srgbClr val="3D6EA6"/>
          </a:solidFill>
          <a:ln/>
        </p:spPr>
      </p:sp>
      <p:sp>
        <p:nvSpPr>
          <p:cNvPr id="13" name="Text 11"/>
          <p:cNvSpPr txBox="1"/>
          <p:nvPr/>
        </p:nvSpPr>
        <p:spPr>
          <a:xfrm>
            <a:off x="722376" y="2377440"/>
            <a:ext cx="249631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The purpose and question</a:t>
            </a:r>
            <a:endParaRPr lang="en-US" sz="1200" dirty="0"/>
          </a:p>
        </p:txBody>
      </p:sp>
      <p:sp>
        <p:nvSpPr>
          <p:cNvPr id="14" name="Text 12"/>
          <p:cNvSpPr txBox="1"/>
          <p:nvPr/>
        </p:nvSpPr>
        <p:spPr>
          <a:xfrm>
            <a:off x="3547872" y="2377440"/>
            <a:ext cx="5614416"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It determines whether every simplification you made was legitimate.</a:t>
            </a:r>
            <a:endParaRPr lang="en-US" sz="1050" dirty="0"/>
          </a:p>
        </p:txBody>
      </p:sp>
      <p:sp>
        <p:nvSpPr>
          <p:cNvPr id="15" name="Text 13"/>
          <p:cNvSpPr txBox="1"/>
          <p:nvPr/>
        </p:nvSpPr>
        <p:spPr>
          <a:xfrm>
            <a:off x="9491472" y="2377440"/>
            <a:ext cx="202996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Often</a:t>
            </a:r>
            <a:endParaRPr lang="en-US" sz="1050" dirty="0"/>
          </a:p>
        </p:txBody>
      </p:sp>
      <p:sp>
        <p:nvSpPr>
          <p:cNvPr id="16" name="Shape 14"/>
          <p:cNvSpPr/>
          <p:nvPr/>
        </p:nvSpPr>
        <p:spPr>
          <a:xfrm>
            <a:off x="502920" y="2935224"/>
            <a:ext cx="11183112" cy="502920"/>
          </a:xfrm>
          <a:prstGeom prst="rect">
            <a:avLst/>
          </a:prstGeom>
          <a:solidFill>
            <a:srgbClr val="FFFFFF"/>
          </a:solidFill>
          <a:ln/>
        </p:spPr>
      </p:sp>
      <p:sp>
        <p:nvSpPr>
          <p:cNvPr id="17" name="Shape 15"/>
          <p:cNvSpPr/>
          <p:nvPr/>
        </p:nvSpPr>
        <p:spPr>
          <a:xfrm>
            <a:off x="502920" y="2935224"/>
            <a:ext cx="50292" cy="502920"/>
          </a:xfrm>
          <a:prstGeom prst="rect">
            <a:avLst/>
          </a:prstGeom>
          <a:solidFill>
            <a:srgbClr val="B4522B"/>
          </a:solidFill>
          <a:ln/>
        </p:spPr>
      </p:sp>
      <p:sp>
        <p:nvSpPr>
          <p:cNvPr id="18" name="Text 16"/>
          <p:cNvSpPr txBox="1"/>
          <p:nvPr/>
        </p:nvSpPr>
        <p:spPr>
          <a:xfrm>
            <a:off x="722376" y="2935224"/>
            <a:ext cx="249631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Assumptions, listed explicitly</a:t>
            </a:r>
            <a:endParaRPr lang="en-US" sz="1200" dirty="0"/>
          </a:p>
        </p:txBody>
      </p:sp>
      <p:sp>
        <p:nvSpPr>
          <p:cNvPr id="19" name="Text 17"/>
          <p:cNvSpPr txBox="1"/>
          <p:nvPr/>
        </p:nvSpPr>
        <p:spPr>
          <a:xfrm>
            <a:off x="3547872" y="2935224"/>
            <a:ext cx="5614416"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They are the premises; Lecture 3 showed that is where a result's content actually sits.</a:t>
            </a:r>
            <a:endParaRPr lang="en-US" sz="1050" dirty="0"/>
          </a:p>
        </p:txBody>
      </p:sp>
      <p:sp>
        <p:nvSpPr>
          <p:cNvPr id="20" name="Text 18"/>
          <p:cNvSpPr txBox="1"/>
          <p:nvPr/>
        </p:nvSpPr>
        <p:spPr>
          <a:xfrm>
            <a:off x="9491472" y="2935224"/>
            <a:ext cx="202996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Very often</a:t>
            </a:r>
            <a:endParaRPr lang="en-US" sz="1050" dirty="0"/>
          </a:p>
        </p:txBody>
      </p:sp>
      <p:sp>
        <p:nvSpPr>
          <p:cNvPr id="21" name="Shape 19"/>
          <p:cNvSpPr/>
          <p:nvPr/>
        </p:nvSpPr>
        <p:spPr>
          <a:xfrm>
            <a:off x="502920" y="3493008"/>
            <a:ext cx="11183112" cy="502920"/>
          </a:xfrm>
          <a:prstGeom prst="rect">
            <a:avLst/>
          </a:prstGeom>
          <a:solidFill>
            <a:srgbClr val="F3F1FC"/>
          </a:solidFill>
          <a:ln/>
        </p:spPr>
      </p:sp>
      <p:sp>
        <p:nvSpPr>
          <p:cNvPr id="22" name="Shape 20"/>
          <p:cNvSpPr/>
          <p:nvPr/>
        </p:nvSpPr>
        <p:spPr>
          <a:xfrm>
            <a:off x="502920" y="3493008"/>
            <a:ext cx="50292" cy="502920"/>
          </a:xfrm>
          <a:prstGeom prst="rect">
            <a:avLst/>
          </a:prstGeom>
          <a:solidFill>
            <a:srgbClr val="D8A73E"/>
          </a:solidFill>
          <a:ln/>
        </p:spPr>
      </p:sp>
      <p:sp>
        <p:nvSpPr>
          <p:cNvPr id="23" name="Text 21"/>
          <p:cNvSpPr txBox="1"/>
          <p:nvPr/>
        </p:nvSpPr>
        <p:spPr>
          <a:xfrm>
            <a:off x="722376" y="3493008"/>
            <a:ext cx="249631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Parameters, with source and uncertainty</a:t>
            </a:r>
            <a:endParaRPr lang="en-US" sz="1200" dirty="0"/>
          </a:p>
        </p:txBody>
      </p:sp>
      <p:sp>
        <p:nvSpPr>
          <p:cNvPr id="24" name="Text 22"/>
          <p:cNvSpPr txBox="1"/>
          <p:nvPr/>
        </p:nvSpPr>
        <p:spPr>
          <a:xfrm>
            <a:off x="3547872" y="3493008"/>
            <a:ext cx="5614416"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It distinguishes measured quantities from guessed ones, which readers cannot otherwise tell apart.</a:t>
            </a:r>
            <a:endParaRPr lang="en-US" sz="1050" dirty="0"/>
          </a:p>
        </p:txBody>
      </p:sp>
      <p:sp>
        <p:nvSpPr>
          <p:cNvPr id="25" name="Text 23"/>
          <p:cNvSpPr txBox="1"/>
          <p:nvPr/>
        </p:nvSpPr>
        <p:spPr>
          <a:xfrm>
            <a:off x="9491472" y="3493008"/>
            <a:ext cx="202996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Very often</a:t>
            </a:r>
            <a:endParaRPr lang="en-US" sz="1050" dirty="0"/>
          </a:p>
        </p:txBody>
      </p:sp>
      <p:sp>
        <p:nvSpPr>
          <p:cNvPr id="26" name="Shape 24"/>
          <p:cNvSpPr/>
          <p:nvPr/>
        </p:nvSpPr>
        <p:spPr>
          <a:xfrm>
            <a:off x="502920" y="4050792"/>
            <a:ext cx="11183112" cy="502920"/>
          </a:xfrm>
          <a:prstGeom prst="rect">
            <a:avLst/>
          </a:prstGeom>
          <a:solidFill>
            <a:srgbClr val="FFFFFF"/>
          </a:solidFill>
          <a:ln/>
        </p:spPr>
      </p:sp>
      <p:sp>
        <p:nvSpPr>
          <p:cNvPr id="27" name="Shape 25"/>
          <p:cNvSpPr/>
          <p:nvPr/>
        </p:nvSpPr>
        <p:spPr>
          <a:xfrm>
            <a:off x="502920" y="4050792"/>
            <a:ext cx="50292" cy="502920"/>
          </a:xfrm>
          <a:prstGeom prst="rect">
            <a:avLst/>
          </a:prstGeom>
          <a:solidFill>
            <a:srgbClr val="3D6EA6"/>
          </a:solidFill>
          <a:ln/>
        </p:spPr>
      </p:sp>
      <p:sp>
        <p:nvSpPr>
          <p:cNvPr id="28" name="Text 26"/>
          <p:cNvSpPr txBox="1"/>
          <p:nvPr/>
        </p:nvSpPr>
        <p:spPr>
          <a:xfrm>
            <a:off x="722376" y="4050792"/>
            <a:ext cx="249631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Solution method and its error</a:t>
            </a:r>
            <a:endParaRPr lang="en-US" sz="1200" dirty="0"/>
          </a:p>
        </p:txBody>
      </p:sp>
      <p:sp>
        <p:nvSpPr>
          <p:cNvPr id="29" name="Text 27"/>
          <p:cNvSpPr txBox="1"/>
          <p:nvPr/>
        </p:nvSpPr>
        <p:spPr>
          <a:xfrm>
            <a:off x="3547872" y="4050792"/>
            <a:ext cx="5614416"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Analytical, numerical, or simulated — each carries a different kind of error to account for.</a:t>
            </a:r>
            <a:endParaRPr lang="en-US" sz="1050" dirty="0"/>
          </a:p>
        </p:txBody>
      </p:sp>
      <p:sp>
        <p:nvSpPr>
          <p:cNvPr id="30" name="Text 28"/>
          <p:cNvSpPr txBox="1"/>
          <p:nvPr/>
        </p:nvSpPr>
        <p:spPr>
          <a:xfrm>
            <a:off x="9491472" y="4050792"/>
            <a:ext cx="202996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Sometimes</a:t>
            </a:r>
            <a:endParaRPr lang="en-US" sz="1050" dirty="0"/>
          </a:p>
        </p:txBody>
      </p:sp>
      <p:sp>
        <p:nvSpPr>
          <p:cNvPr id="31" name="Shape 29"/>
          <p:cNvSpPr/>
          <p:nvPr/>
        </p:nvSpPr>
        <p:spPr>
          <a:xfrm>
            <a:off x="502920" y="4608576"/>
            <a:ext cx="11183112" cy="502920"/>
          </a:xfrm>
          <a:prstGeom prst="rect">
            <a:avLst/>
          </a:prstGeom>
          <a:solidFill>
            <a:srgbClr val="F3F1FC"/>
          </a:solidFill>
          <a:ln/>
        </p:spPr>
      </p:sp>
      <p:sp>
        <p:nvSpPr>
          <p:cNvPr id="32" name="Shape 30"/>
          <p:cNvSpPr/>
          <p:nvPr/>
        </p:nvSpPr>
        <p:spPr>
          <a:xfrm>
            <a:off x="502920" y="4608576"/>
            <a:ext cx="50292" cy="502920"/>
          </a:xfrm>
          <a:prstGeom prst="rect">
            <a:avLst/>
          </a:prstGeom>
          <a:solidFill>
            <a:srgbClr val="B4522B"/>
          </a:solidFill>
          <a:ln/>
        </p:spPr>
      </p:sp>
      <p:sp>
        <p:nvSpPr>
          <p:cNvPr id="33" name="Text 31"/>
          <p:cNvSpPr txBox="1"/>
          <p:nvPr/>
        </p:nvSpPr>
        <p:spPr>
          <a:xfrm>
            <a:off x="722376" y="4608576"/>
            <a:ext cx="249631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Validation evidence, and against what data</a:t>
            </a:r>
            <a:endParaRPr lang="en-US" sz="1200" dirty="0"/>
          </a:p>
        </p:txBody>
      </p:sp>
      <p:sp>
        <p:nvSpPr>
          <p:cNvPr id="34" name="Text 32"/>
          <p:cNvSpPr txBox="1"/>
          <p:nvPr/>
        </p:nvSpPr>
        <p:spPr>
          <a:xfrm>
            <a:off x="3547872" y="4608576"/>
            <a:ext cx="5614416"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It distinguishes a validated model from one that was merely calibrated successfully.</a:t>
            </a:r>
            <a:endParaRPr lang="en-US" sz="1050" dirty="0"/>
          </a:p>
        </p:txBody>
      </p:sp>
      <p:sp>
        <p:nvSpPr>
          <p:cNvPr id="35" name="Text 33"/>
          <p:cNvSpPr txBox="1"/>
          <p:nvPr/>
        </p:nvSpPr>
        <p:spPr>
          <a:xfrm>
            <a:off x="9491472" y="4608576"/>
            <a:ext cx="202996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Very often</a:t>
            </a:r>
            <a:endParaRPr lang="en-US" sz="1050" dirty="0"/>
          </a:p>
        </p:txBody>
      </p:sp>
      <p:sp>
        <p:nvSpPr>
          <p:cNvPr id="36" name="Shape 34"/>
          <p:cNvSpPr/>
          <p:nvPr/>
        </p:nvSpPr>
        <p:spPr>
          <a:xfrm>
            <a:off x="502920" y="5166360"/>
            <a:ext cx="11183112" cy="502920"/>
          </a:xfrm>
          <a:prstGeom prst="rect">
            <a:avLst/>
          </a:prstGeom>
          <a:solidFill>
            <a:srgbClr val="FFFFFF"/>
          </a:solidFill>
          <a:ln/>
        </p:spPr>
      </p:sp>
      <p:sp>
        <p:nvSpPr>
          <p:cNvPr id="37" name="Shape 35"/>
          <p:cNvSpPr/>
          <p:nvPr/>
        </p:nvSpPr>
        <p:spPr>
          <a:xfrm>
            <a:off x="502920" y="5166360"/>
            <a:ext cx="50292" cy="502920"/>
          </a:xfrm>
          <a:prstGeom prst="rect">
            <a:avLst/>
          </a:prstGeom>
          <a:solidFill>
            <a:srgbClr val="8E3F20"/>
          </a:solidFill>
          <a:ln/>
        </p:spPr>
      </p:sp>
      <p:sp>
        <p:nvSpPr>
          <p:cNvPr id="38" name="Text 36"/>
          <p:cNvSpPr txBox="1"/>
          <p:nvPr/>
        </p:nvSpPr>
        <p:spPr>
          <a:xfrm>
            <a:off x="722376" y="5166360"/>
            <a:ext cx="249631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The range validated over</a:t>
            </a:r>
            <a:endParaRPr lang="en-US" sz="1200" dirty="0"/>
          </a:p>
        </p:txBody>
      </p:sp>
      <p:sp>
        <p:nvSpPr>
          <p:cNvPr id="39" name="Text 37"/>
          <p:cNvSpPr txBox="1"/>
          <p:nvPr/>
        </p:nvSpPr>
        <p:spPr>
          <a:xfrm>
            <a:off x="3547872" y="5166360"/>
            <a:ext cx="5614416"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It tells a reader exactly where to stop trusting the model, which is the most useful sentence you can write.</a:t>
            </a:r>
            <a:endParaRPr lang="en-US" sz="1050" dirty="0"/>
          </a:p>
        </p:txBody>
      </p:sp>
      <p:sp>
        <p:nvSpPr>
          <p:cNvPr id="40" name="Text 38"/>
          <p:cNvSpPr txBox="1"/>
          <p:nvPr/>
        </p:nvSpPr>
        <p:spPr>
          <a:xfrm>
            <a:off x="9491472" y="5166360"/>
            <a:ext cx="202996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Almost always</a:t>
            </a:r>
            <a:endParaRPr lang="en-US" sz="1050" dirty="0"/>
          </a:p>
        </p:txBody>
      </p:sp>
      <p:sp>
        <p:nvSpPr>
          <p:cNvPr id="41" name="Text 39"/>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None of these is difficult to supply. They are omitted because they are the parts that limit the claim — which is exactly why a careful reader looks for them first.</a:t>
            </a:r>
            <a:endParaRPr lang="en-US" sz="1150" dirty="0"/>
          </a:p>
        </p:txBody>
      </p:sp>
      <p:sp>
        <p:nvSpPr>
          <p:cNvPr id="42" name="Text 4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43" name="Text 4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20 / 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Matching Model Class to Research Question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Find the question, then read across. The last column is the assumption a reviewer will test first.</a:t>
            </a:r>
            <a:endParaRPr lang="en-US" sz="1250" dirty="0"/>
          </a:p>
        </p:txBody>
      </p:sp>
      <p:sp>
        <p:nvSpPr>
          <p:cNvPr id="5" name="Shape 3"/>
          <p:cNvSpPr/>
          <p:nvPr/>
        </p:nvSpPr>
        <p:spPr>
          <a:xfrm>
            <a:off x="502920" y="1938528"/>
            <a:ext cx="342900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31363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IF YOUR QUESTION IS…</a:t>
            </a:r>
            <a:endParaRPr lang="en-US" sz="850" dirty="0"/>
          </a:p>
        </p:txBody>
      </p:sp>
      <p:sp>
        <p:nvSpPr>
          <p:cNvPr id="7" name="Shape 5"/>
          <p:cNvSpPr/>
          <p:nvPr/>
        </p:nvSpPr>
        <p:spPr>
          <a:xfrm>
            <a:off x="3931920" y="1938528"/>
            <a:ext cx="2148840" cy="384048"/>
          </a:xfrm>
          <a:prstGeom prst="rect">
            <a:avLst/>
          </a:prstGeom>
          <a:solidFill>
            <a:srgbClr val="241A4C"/>
          </a:solidFill>
          <a:ln w="19050">
            <a:solidFill>
              <a:srgbClr val="FFFFFF"/>
            </a:solidFill>
            <a:prstDash val="solid"/>
          </a:ln>
        </p:spPr>
      </p:sp>
      <p:sp>
        <p:nvSpPr>
          <p:cNvPr id="8" name="Text 6"/>
          <p:cNvSpPr txBox="1"/>
          <p:nvPr/>
        </p:nvSpPr>
        <p:spPr>
          <a:xfrm>
            <a:off x="4078224" y="1938528"/>
            <a:ext cx="185623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MODEL CLASS</a:t>
            </a:r>
            <a:endParaRPr lang="en-US" sz="850" dirty="0"/>
          </a:p>
        </p:txBody>
      </p:sp>
      <p:sp>
        <p:nvSpPr>
          <p:cNvPr id="9" name="Shape 7"/>
          <p:cNvSpPr/>
          <p:nvPr/>
        </p:nvSpPr>
        <p:spPr>
          <a:xfrm>
            <a:off x="6080760" y="1938528"/>
            <a:ext cx="2651760" cy="384048"/>
          </a:xfrm>
          <a:prstGeom prst="rect">
            <a:avLst/>
          </a:prstGeom>
          <a:solidFill>
            <a:srgbClr val="241A4C"/>
          </a:solidFill>
          <a:ln w="19050">
            <a:solidFill>
              <a:srgbClr val="FFFFFF"/>
            </a:solidFill>
            <a:prstDash val="solid"/>
          </a:ln>
        </p:spPr>
      </p:sp>
      <p:sp>
        <p:nvSpPr>
          <p:cNvPr id="10" name="Text 8"/>
          <p:cNvSpPr txBox="1"/>
          <p:nvPr/>
        </p:nvSpPr>
        <p:spPr>
          <a:xfrm>
            <a:off x="6227064" y="1938528"/>
            <a:ext cx="23591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TYPICAL OUTPUT</a:t>
            </a:r>
            <a:endParaRPr lang="en-US" sz="850" dirty="0"/>
          </a:p>
        </p:txBody>
      </p:sp>
      <p:sp>
        <p:nvSpPr>
          <p:cNvPr id="11" name="Shape 9"/>
          <p:cNvSpPr/>
          <p:nvPr/>
        </p:nvSpPr>
        <p:spPr>
          <a:xfrm>
            <a:off x="8732520" y="1938528"/>
            <a:ext cx="2953512" cy="384048"/>
          </a:xfrm>
          <a:prstGeom prst="rect">
            <a:avLst/>
          </a:prstGeom>
          <a:solidFill>
            <a:srgbClr val="241A4C"/>
          </a:solidFill>
          <a:ln w="19050">
            <a:solidFill>
              <a:srgbClr val="FFFFFF"/>
            </a:solidFill>
            <a:prstDash val="solid"/>
          </a:ln>
        </p:spPr>
      </p:sp>
      <p:sp>
        <p:nvSpPr>
          <p:cNvPr id="12" name="Text 10"/>
          <p:cNvSpPr txBox="1"/>
          <p:nvPr/>
        </p:nvSpPr>
        <p:spPr>
          <a:xfrm>
            <a:off x="8878824" y="1938528"/>
            <a:ext cx="266090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ASSUMPTION MOST LIKELY TO BREAK</a:t>
            </a:r>
            <a:endParaRPr lang="en-US" sz="850" dirty="0"/>
          </a:p>
        </p:txBody>
      </p:sp>
      <p:sp>
        <p:nvSpPr>
          <p:cNvPr id="13" name="Shape 11"/>
          <p:cNvSpPr/>
          <p:nvPr/>
        </p:nvSpPr>
        <p:spPr>
          <a:xfrm>
            <a:off x="502920" y="2377440"/>
            <a:ext cx="11183112" cy="621792"/>
          </a:xfrm>
          <a:prstGeom prst="rect">
            <a:avLst/>
          </a:prstGeom>
          <a:solidFill>
            <a:srgbClr val="F3F1FC"/>
          </a:solidFill>
          <a:ln/>
        </p:spPr>
      </p:sp>
      <p:sp>
        <p:nvSpPr>
          <p:cNvPr id="14" name="Shape 12"/>
          <p:cNvSpPr/>
          <p:nvPr/>
        </p:nvSpPr>
        <p:spPr>
          <a:xfrm>
            <a:off x="502920" y="2377440"/>
            <a:ext cx="50292" cy="621792"/>
          </a:xfrm>
          <a:prstGeom prst="rect">
            <a:avLst/>
          </a:prstGeom>
          <a:solidFill>
            <a:srgbClr val="D8A73E"/>
          </a:solidFill>
          <a:ln/>
        </p:spPr>
      </p:sp>
      <p:sp>
        <p:nvSpPr>
          <p:cNvPr id="15" name="Text 13"/>
          <p:cNvSpPr txBox="1"/>
          <p:nvPr/>
        </p:nvSpPr>
        <p:spPr>
          <a:xfrm>
            <a:off x="722376" y="2377440"/>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“How does latency grow with load?”</a:t>
            </a:r>
            <a:endParaRPr lang="en-US" sz="1200" dirty="0"/>
          </a:p>
        </p:txBody>
      </p:sp>
      <p:sp>
        <p:nvSpPr>
          <p:cNvPr id="16" name="Text 14"/>
          <p:cNvSpPr txBox="1"/>
          <p:nvPr/>
        </p:nvSpPr>
        <p:spPr>
          <a:xfrm>
            <a:off x="4096512" y="2377440"/>
            <a:ext cx="18196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Queueing model</a:t>
            </a:r>
            <a:endParaRPr lang="en-US" sz="1050" dirty="0"/>
          </a:p>
        </p:txBody>
      </p:sp>
      <p:sp>
        <p:nvSpPr>
          <p:cNvPr id="17" name="Text 15"/>
          <p:cNvSpPr txBox="1"/>
          <p:nvPr/>
        </p:nvSpPr>
        <p:spPr>
          <a:xfrm>
            <a:off x="6245352" y="2377440"/>
            <a:ext cx="23225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Closed-form W(λ), or simulated percentiles</a:t>
            </a:r>
            <a:endParaRPr lang="en-US" sz="1050" dirty="0"/>
          </a:p>
        </p:txBody>
      </p:sp>
      <p:sp>
        <p:nvSpPr>
          <p:cNvPr id="18" name="Text 16"/>
          <p:cNvSpPr txBox="1"/>
          <p:nvPr/>
        </p:nvSpPr>
        <p:spPr>
          <a:xfrm>
            <a:off x="8897112" y="2377440"/>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Exponential service times; independent arrivals</a:t>
            </a:r>
            <a:endParaRPr lang="en-US" sz="1050" dirty="0"/>
          </a:p>
        </p:txBody>
      </p:sp>
      <p:sp>
        <p:nvSpPr>
          <p:cNvPr id="19" name="Shape 17"/>
          <p:cNvSpPr/>
          <p:nvPr/>
        </p:nvSpPr>
        <p:spPr>
          <a:xfrm>
            <a:off x="502920" y="3054096"/>
            <a:ext cx="11183112" cy="621792"/>
          </a:xfrm>
          <a:prstGeom prst="rect">
            <a:avLst/>
          </a:prstGeom>
          <a:solidFill>
            <a:srgbClr val="FFFFFF"/>
          </a:solidFill>
          <a:ln/>
        </p:spPr>
      </p:sp>
      <p:sp>
        <p:nvSpPr>
          <p:cNvPr id="20" name="Shape 18"/>
          <p:cNvSpPr/>
          <p:nvPr/>
        </p:nvSpPr>
        <p:spPr>
          <a:xfrm>
            <a:off x="502920" y="3054096"/>
            <a:ext cx="50292" cy="621792"/>
          </a:xfrm>
          <a:prstGeom prst="rect">
            <a:avLst/>
          </a:prstGeom>
          <a:solidFill>
            <a:srgbClr val="3D6EA6"/>
          </a:solidFill>
          <a:ln/>
        </p:spPr>
      </p:sp>
      <p:sp>
        <p:nvSpPr>
          <p:cNvPr id="21" name="Text 19"/>
          <p:cNvSpPr txBox="1"/>
          <p:nvPr/>
        </p:nvSpPr>
        <p:spPr>
          <a:xfrm>
            <a:off x="722376" y="3054096"/>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“What is the long-run failure probability?”</a:t>
            </a:r>
            <a:endParaRPr lang="en-US" sz="1200" dirty="0"/>
          </a:p>
        </p:txBody>
      </p:sp>
      <p:sp>
        <p:nvSpPr>
          <p:cNvPr id="22" name="Text 20"/>
          <p:cNvSpPr txBox="1"/>
          <p:nvPr/>
        </p:nvSpPr>
        <p:spPr>
          <a:xfrm>
            <a:off x="4096512" y="3054096"/>
            <a:ext cx="18196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Markov / reliability</a:t>
            </a:r>
            <a:endParaRPr lang="en-US" sz="1050" dirty="0"/>
          </a:p>
        </p:txBody>
      </p:sp>
      <p:sp>
        <p:nvSpPr>
          <p:cNvPr id="23" name="Text 21"/>
          <p:cNvSpPr txBox="1"/>
          <p:nvPr/>
        </p:nvSpPr>
        <p:spPr>
          <a:xfrm>
            <a:off x="6245352" y="3054096"/>
            <a:ext cx="23225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Steady-state distribution, mean time to failure</a:t>
            </a:r>
            <a:endParaRPr lang="en-US" sz="1050" dirty="0"/>
          </a:p>
        </p:txBody>
      </p:sp>
      <p:sp>
        <p:nvSpPr>
          <p:cNvPr id="24" name="Text 22"/>
          <p:cNvSpPr txBox="1"/>
          <p:nvPr/>
        </p:nvSpPr>
        <p:spPr>
          <a:xfrm>
            <a:off x="8897112" y="3054096"/>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Memorylessness; constant failure rates</a:t>
            </a:r>
            <a:endParaRPr lang="en-US" sz="1050" dirty="0"/>
          </a:p>
        </p:txBody>
      </p:sp>
      <p:sp>
        <p:nvSpPr>
          <p:cNvPr id="25" name="Shape 23"/>
          <p:cNvSpPr/>
          <p:nvPr/>
        </p:nvSpPr>
        <p:spPr>
          <a:xfrm>
            <a:off x="502920" y="3730752"/>
            <a:ext cx="11183112" cy="621792"/>
          </a:xfrm>
          <a:prstGeom prst="rect">
            <a:avLst/>
          </a:prstGeom>
          <a:solidFill>
            <a:srgbClr val="F3F1FC"/>
          </a:solidFill>
          <a:ln/>
        </p:spPr>
      </p:sp>
      <p:sp>
        <p:nvSpPr>
          <p:cNvPr id="26" name="Shape 24"/>
          <p:cNvSpPr/>
          <p:nvPr/>
        </p:nvSpPr>
        <p:spPr>
          <a:xfrm>
            <a:off x="502920" y="3730752"/>
            <a:ext cx="50292" cy="621792"/>
          </a:xfrm>
          <a:prstGeom prst="rect">
            <a:avLst/>
          </a:prstGeom>
          <a:solidFill>
            <a:srgbClr val="B4522B"/>
          </a:solidFill>
          <a:ln/>
        </p:spPr>
      </p:sp>
      <p:sp>
        <p:nvSpPr>
          <p:cNvPr id="27" name="Text 25"/>
          <p:cNvSpPr txBox="1"/>
          <p:nvPr/>
        </p:nvSpPr>
        <p:spPr>
          <a:xfrm>
            <a:off x="722376" y="3730752"/>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“What is the best allocation here?”</a:t>
            </a:r>
            <a:endParaRPr lang="en-US" sz="1200" dirty="0"/>
          </a:p>
        </p:txBody>
      </p:sp>
      <p:sp>
        <p:nvSpPr>
          <p:cNvPr id="28" name="Text 26"/>
          <p:cNvSpPr txBox="1"/>
          <p:nvPr/>
        </p:nvSpPr>
        <p:spPr>
          <a:xfrm>
            <a:off x="4096512" y="3730752"/>
            <a:ext cx="18196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Optimisation (LP/ILP)</a:t>
            </a:r>
            <a:endParaRPr lang="en-US" sz="1050" dirty="0"/>
          </a:p>
        </p:txBody>
      </p:sp>
      <p:sp>
        <p:nvSpPr>
          <p:cNvPr id="29" name="Text 27"/>
          <p:cNvSpPr txBox="1"/>
          <p:nvPr/>
        </p:nvSpPr>
        <p:spPr>
          <a:xfrm>
            <a:off x="6245352" y="3730752"/>
            <a:ext cx="23225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An optimal or near-optimal decision</a:t>
            </a:r>
            <a:endParaRPr lang="en-US" sz="1050" dirty="0"/>
          </a:p>
        </p:txBody>
      </p:sp>
      <p:sp>
        <p:nvSpPr>
          <p:cNvPr id="30" name="Text 28"/>
          <p:cNvSpPr txBox="1"/>
          <p:nvPr/>
        </p:nvSpPr>
        <p:spPr>
          <a:xfrm>
            <a:off x="8897112" y="3730752"/>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That the objective captures what you actually want</a:t>
            </a:r>
            <a:endParaRPr lang="en-US" sz="1050" dirty="0"/>
          </a:p>
        </p:txBody>
      </p:sp>
      <p:sp>
        <p:nvSpPr>
          <p:cNvPr id="31" name="Shape 29"/>
          <p:cNvSpPr/>
          <p:nvPr/>
        </p:nvSpPr>
        <p:spPr>
          <a:xfrm>
            <a:off x="502920" y="4407408"/>
            <a:ext cx="11183112" cy="621792"/>
          </a:xfrm>
          <a:prstGeom prst="rect">
            <a:avLst/>
          </a:prstGeom>
          <a:solidFill>
            <a:srgbClr val="FFFFFF"/>
          </a:solidFill>
          <a:ln/>
        </p:spPr>
      </p:sp>
      <p:sp>
        <p:nvSpPr>
          <p:cNvPr id="32" name="Shape 30"/>
          <p:cNvSpPr/>
          <p:nvPr/>
        </p:nvSpPr>
        <p:spPr>
          <a:xfrm>
            <a:off x="502920" y="4407408"/>
            <a:ext cx="50292" cy="621792"/>
          </a:xfrm>
          <a:prstGeom prst="rect">
            <a:avLst/>
          </a:prstGeom>
          <a:solidFill>
            <a:srgbClr val="D8A73E"/>
          </a:solidFill>
          <a:ln/>
        </p:spPr>
      </p:sp>
      <p:sp>
        <p:nvSpPr>
          <p:cNvPr id="33" name="Text 31"/>
          <p:cNvSpPr txBox="1"/>
          <p:nvPr/>
        </p:nvSpPr>
        <p:spPr>
          <a:xfrm>
            <a:off x="722376" y="4407408"/>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“How does something spread in a network?”</a:t>
            </a:r>
            <a:endParaRPr lang="en-US" sz="1200" dirty="0"/>
          </a:p>
        </p:txBody>
      </p:sp>
      <p:sp>
        <p:nvSpPr>
          <p:cNvPr id="34" name="Text 32"/>
          <p:cNvSpPr txBox="1"/>
          <p:nvPr/>
        </p:nvSpPr>
        <p:spPr>
          <a:xfrm>
            <a:off x="4096512" y="4407408"/>
            <a:ext cx="18196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Graph or epidemic</a:t>
            </a:r>
            <a:endParaRPr lang="en-US" sz="1050" dirty="0"/>
          </a:p>
        </p:txBody>
      </p:sp>
      <p:sp>
        <p:nvSpPr>
          <p:cNvPr id="35" name="Text 33"/>
          <p:cNvSpPr txBox="1"/>
          <p:nvPr/>
        </p:nvSpPr>
        <p:spPr>
          <a:xfrm>
            <a:off x="6245352" y="4407408"/>
            <a:ext cx="23225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Reach, threshold, time to saturation</a:t>
            </a:r>
            <a:endParaRPr lang="en-US" sz="1050" dirty="0"/>
          </a:p>
        </p:txBody>
      </p:sp>
      <p:sp>
        <p:nvSpPr>
          <p:cNvPr id="36" name="Text 34"/>
          <p:cNvSpPr txBox="1"/>
          <p:nvPr/>
        </p:nvSpPr>
        <p:spPr>
          <a:xfrm>
            <a:off x="8897112" y="4407408"/>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Homogeneous mixing; a static topology</a:t>
            </a:r>
            <a:endParaRPr lang="en-US" sz="1050" dirty="0"/>
          </a:p>
        </p:txBody>
      </p:sp>
      <p:sp>
        <p:nvSpPr>
          <p:cNvPr id="37" name="Shape 35"/>
          <p:cNvSpPr/>
          <p:nvPr/>
        </p:nvSpPr>
        <p:spPr>
          <a:xfrm>
            <a:off x="502920" y="5084064"/>
            <a:ext cx="11183112" cy="621792"/>
          </a:xfrm>
          <a:prstGeom prst="rect">
            <a:avLst/>
          </a:prstGeom>
          <a:solidFill>
            <a:srgbClr val="F3F1FC"/>
          </a:solidFill>
          <a:ln/>
        </p:spPr>
      </p:sp>
      <p:sp>
        <p:nvSpPr>
          <p:cNvPr id="38" name="Shape 36"/>
          <p:cNvSpPr/>
          <p:nvPr/>
        </p:nvSpPr>
        <p:spPr>
          <a:xfrm>
            <a:off x="502920" y="5084064"/>
            <a:ext cx="50292" cy="621792"/>
          </a:xfrm>
          <a:prstGeom prst="rect">
            <a:avLst/>
          </a:prstGeom>
          <a:solidFill>
            <a:srgbClr val="241A4C"/>
          </a:solidFill>
          <a:ln/>
        </p:spPr>
      </p:sp>
      <p:sp>
        <p:nvSpPr>
          <p:cNvPr id="39" name="Text 37"/>
          <p:cNvSpPr txBox="1"/>
          <p:nvPr/>
        </p:nvSpPr>
        <p:spPr>
          <a:xfrm>
            <a:off x="722376" y="5084064"/>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“What will self-interested agents do?”</a:t>
            </a:r>
            <a:endParaRPr lang="en-US" sz="1200" dirty="0"/>
          </a:p>
        </p:txBody>
      </p:sp>
      <p:sp>
        <p:nvSpPr>
          <p:cNvPr id="40" name="Text 38"/>
          <p:cNvSpPr txBox="1"/>
          <p:nvPr/>
        </p:nvSpPr>
        <p:spPr>
          <a:xfrm>
            <a:off x="4096512" y="5084064"/>
            <a:ext cx="18196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Game-theoretic</a:t>
            </a:r>
            <a:endParaRPr lang="en-US" sz="1050" dirty="0"/>
          </a:p>
        </p:txBody>
      </p:sp>
      <p:sp>
        <p:nvSpPr>
          <p:cNvPr id="41" name="Text 39"/>
          <p:cNvSpPr txBox="1"/>
          <p:nvPr/>
        </p:nvSpPr>
        <p:spPr>
          <a:xfrm>
            <a:off x="6245352" y="5084064"/>
            <a:ext cx="23225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Equilibria, price of anarchy</a:t>
            </a:r>
            <a:endParaRPr lang="en-US" sz="1050" dirty="0"/>
          </a:p>
        </p:txBody>
      </p:sp>
      <p:sp>
        <p:nvSpPr>
          <p:cNvPr id="42" name="Text 40"/>
          <p:cNvSpPr txBox="1"/>
          <p:nvPr/>
        </p:nvSpPr>
        <p:spPr>
          <a:xfrm>
            <a:off x="8897112" y="5084064"/>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Rationality, common knowledge, correct payoffs</a:t>
            </a:r>
            <a:endParaRPr lang="en-US" sz="1050" dirty="0"/>
          </a:p>
        </p:txBody>
      </p:sp>
      <p:sp>
        <p:nvSpPr>
          <p:cNvPr id="43" name="Text 4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Every entry in the last column is a premise you can state, test, and if necessary relax. That is what makes a modelling paper reviewable rather than merely impressive.</a:t>
            </a:r>
            <a:endParaRPr lang="en-US" sz="1150" dirty="0"/>
          </a:p>
        </p:txBody>
      </p:sp>
      <p:sp>
        <p:nvSpPr>
          <p:cNvPr id="44" name="Text 4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45" name="Text 4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21 / 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Modelling Failures to Watch For</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Six recurring faults. Each has appeared, in a different dialect, in one of the previous four lectures.</a:t>
            </a:r>
            <a:endParaRPr lang="en-US" sz="1250" dirty="0"/>
          </a:p>
        </p:txBody>
      </p:sp>
      <p:sp>
        <p:nvSpPr>
          <p:cNvPr id="5" name="Shape 3"/>
          <p:cNvSpPr/>
          <p:nvPr/>
        </p:nvSpPr>
        <p:spPr>
          <a:xfrm>
            <a:off x="502920" y="1938528"/>
            <a:ext cx="3502152" cy="1737360"/>
          </a:xfrm>
          <a:prstGeom prst="roundRect">
            <a:avLst>
              <a:gd name="adj" fmla="val 2632"/>
            </a:avLst>
          </a:prstGeom>
          <a:solidFill>
            <a:srgbClr val="F3F1FC"/>
          </a:solidFill>
          <a:ln w="12700">
            <a:solidFill>
              <a:srgbClr val="E6E2F5"/>
            </a:solidFill>
            <a:prstDash val="solid"/>
          </a:ln>
        </p:spPr>
      </p:sp>
      <p:sp>
        <p:nvSpPr>
          <p:cNvPr id="6" name="Text 4"/>
          <p:cNvSpPr txBox="1"/>
          <p:nvPr/>
        </p:nvSpPr>
        <p:spPr>
          <a:xfrm>
            <a:off x="75895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4522B"/>
                </a:solidFill>
                <a:latin typeface="Cambria" pitchFamily="34" charset="0"/>
                <a:ea typeface="Cambria" pitchFamily="34" charset="-122"/>
                <a:cs typeface="Cambria" pitchFamily="34" charset="-120"/>
              </a:rPr>
              <a:t>Calibration as validation</a:t>
            </a:r>
            <a:endParaRPr lang="en-US" sz="1400" dirty="0"/>
          </a:p>
        </p:txBody>
      </p:sp>
      <p:sp>
        <p:nvSpPr>
          <p:cNvPr id="7" name="Text 5"/>
          <p:cNvSpPr txBox="1"/>
          <p:nvPr/>
        </p:nvSpPr>
        <p:spPr>
          <a:xfrm>
            <a:off x="75895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Parameters tuned on exactly the data later used to demonstrate that the model fits. The demonstration was guaranteed to succeed before it was run.</a:t>
            </a:r>
            <a:endParaRPr lang="en-US" sz="1050" dirty="0"/>
          </a:p>
        </p:txBody>
      </p:sp>
      <p:sp>
        <p:nvSpPr>
          <p:cNvPr id="8" name="Shape 6"/>
          <p:cNvSpPr/>
          <p:nvPr/>
        </p:nvSpPr>
        <p:spPr>
          <a:xfrm>
            <a:off x="4343400" y="1938528"/>
            <a:ext cx="3502152" cy="1737360"/>
          </a:xfrm>
          <a:prstGeom prst="roundRect">
            <a:avLst>
              <a:gd name="adj" fmla="val 2632"/>
            </a:avLst>
          </a:prstGeom>
          <a:solidFill>
            <a:srgbClr val="F3F1FC"/>
          </a:solidFill>
          <a:ln w="12700">
            <a:solidFill>
              <a:srgbClr val="E6E2F5"/>
            </a:solidFill>
            <a:prstDash val="solid"/>
          </a:ln>
        </p:spPr>
      </p:sp>
      <p:sp>
        <p:nvSpPr>
          <p:cNvPr id="9" name="Text 7"/>
          <p:cNvSpPr txBox="1"/>
          <p:nvPr/>
        </p:nvSpPr>
        <p:spPr>
          <a:xfrm>
            <a:off x="459943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4522B"/>
                </a:solidFill>
                <a:latin typeface="Cambria" pitchFamily="34" charset="0"/>
                <a:ea typeface="Cambria" pitchFamily="34" charset="-122"/>
                <a:cs typeface="Cambria" pitchFamily="34" charset="-120"/>
              </a:rPr>
              <a:t>The unstated assumption</a:t>
            </a:r>
            <a:endParaRPr lang="en-US" sz="1400" dirty="0"/>
          </a:p>
        </p:txBody>
      </p:sp>
      <p:sp>
        <p:nvSpPr>
          <p:cNvPr id="10" name="Text 8"/>
          <p:cNvSpPr txBox="1"/>
          <p:nvPr/>
        </p:nvSpPr>
        <p:spPr>
          <a:xfrm>
            <a:off x="459943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Exponentiality, independence, or stationarity adopted for tractability, used throughout, and never mentioned again after the first page.</a:t>
            </a:r>
            <a:endParaRPr lang="en-US" sz="1050" dirty="0"/>
          </a:p>
        </p:txBody>
      </p:sp>
      <p:sp>
        <p:nvSpPr>
          <p:cNvPr id="11" name="Shape 9"/>
          <p:cNvSpPr/>
          <p:nvPr/>
        </p:nvSpPr>
        <p:spPr>
          <a:xfrm>
            <a:off x="8183880" y="1938528"/>
            <a:ext cx="3502152" cy="1737360"/>
          </a:xfrm>
          <a:prstGeom prst="roundRect">
            <a:avLst>
              <a:gd name="adj" fmla="val 2632"/>
            </a:avLst>
          </a:prstGeom>
          <a:solidFill>
            <a:srgbClr val="F3F1FC"/>
          </a:solidFill>
          <a:ln w="12700">
            <a:solidFill>
              <a:srgbClr val="E6E2F5"/>
            </a:solidFill>
            <a:prstDash val="solid"/>
          </a:ln>
        </p:spPr>
      </p:sp>
      <p:sp>
        <p:nvSpPr>
          <p:cNvPr id="12" name="Text 10"/>
          <p:cNvSpPr txBox="1"/>
          <p:nvPr/>
        </p:nvSpPr>
        <p:spPr>
          <a:xfrm>
            <a:off x="843991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Extrapolation past the range</a:t>
            </a:r>
            <a:endParaRPr lang="en-US" sz="1400" dirty="0"/>
          </a:p>
        </p:txBody>
      </p:sp>
      <p:sp>
        <p:nvSpPr>
          <p:cNvPr id="13" name="Text 11"/>
          <p:cNvSpPr txBox="1"/>
          <p:nvPr/>
        </p:nvSpPr>
        <p:spPr>
          <a:xfrm>
            <a:off x="843991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model fitted and checked at ten to fifty per cent utilisation, then used to make confident claims about behaviour at ninety-five.</a:t>
            </a:r>
            <a:endParaRPr lang="en-US" sz="1050" dirty="0"/>
          </a:p>
        </p:txBody>
      </p:sp>
      <p:sp>
        <p:nvSpPr>
          <p:cNvPr id="14" name="Shape 12"/>
          <p:cNvSpPr/>
          <p:nvPr/>
        </p:nvSpPr>
        <p:spPr>
          <a:xfrm>
            <a:off x="502920" y="3895344"/>
            <a:ext cx="3502152" cy="1737360"/>
          </a:xfrm>
          <a:prstGeom prst="roundRect">
            <a:avLst>
              <a:gd name="adj" fmla="val 2632"/>
            </a:avLst>
          </a:prstGeom>
          <a:solidFill>
            <a:srgbClr val="FAF9FE"/>
          </a:solidFill>
          <a:ln w="12700">
            <a:solidFill>
              <a:srgbClr val="E6E2F5"/>
            </a:solidFill>
            <a:prstDash val="solid"/>
          </a:ln>
        </p:spPr>
      </p:sp>
      <p:sp>
        <p:nvSpPr>
          <p:cNvPr id="15" name="Text 13"/>
          <p:cNvSpPr txBox="1"/>
          <p:nvPr/>
        </p:nvSpPr>
        <p:spPr>
          <a:xfrm>
            <a:off x="75895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Precision without accuracy</a:t>
            </a:r>
            <a:endParaRPr lang="en-US" sz="1400" dirty="0"/>
          </a:p>
        </p:txBody>
      </p:sp>
      <p:sp>
        <p:nvSpPr>
          <p:cNvPr id="16" name="Text 14"/>
          <p:cNvSpPr txBox="1"/>
          <p:nvPr/>
        </p:nvSpPr>
        <p:spPr>
          <a:xfrm>
            <a:off x="75895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Four significant figures reported from a model whose input parameters were estimated to within a factor of two.</a:t>
            </a:r>
            <a:endParaRPr lang="en-US" sz="1050" dirty="0"/>
          </a:p>
        </p:txBody>
      </p:sp>
      <p:sp>
        <p:nvSpPr>
          <p:cNvPr id="17" name="Shape 15"/>
          <p:cNvSpPr/>
          <p:nvPr/>
        </p:nvSpPr>
        <p:spPr>
          <a:xfrm>
            <a:off x="4343400" y="3895344"/>
            <a:ext cx="3502152" cy="1737360"/>
          </a:xfrm>
          <a:prstGeom prst="roundRect">
            <a:avLst>
              <a:gd name="adj" fmla="val 2632"/>
            </a:avLst>
          </a:prstGeom>
          <a:solidFill>
            <a:srgbClr val="FAF9FE"/>
          </a:solidFill>
          <a:ln w="12700">
            <a:solidFill>
              <a:srgbClr val="E6E2F5"/>
            </a:solidFill>
            <a:prstDash val="solid"/>
          </a:ln>
        </p:spPr>
      </p:sp>
      <p:sp>
        <p:nvSpPr>
          <p:cNvPr id="18" name="Text 16"/>
          <p:cNvSpPr txBox="1"/>
          <p:nvPr/>
        </p:nvSpPr>
        <p:spPr>
          <a:xfrm>
            <a:off x="459943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The decorative model</a:t>
            </a:r>
            <a:endParaRPr lang="en-US" sz="1400" dirty="0"/>
          </a:p>
        </p:txBody>
      </p:sp>
      <p:sp>
        <p:nvSpPr>
          <p:cNvPr id="19" name="Text 17"/>
          <p:cNvSpPr txBox="1"/>
          <p:nvPr/>
        </p:nvSpPr>
        <p:spPr>
          <a:xfrm>
            <a:off x="459943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Mathematics added to a paper that makes no prediction, is never solved, and is never checked against anything. It signals rigour without supplying it.</a:t>
            </a:r>
            <a:endParaRPr lang="en-US" sz="1050" dirty="0"/>
          </a:p>
        </p:txBody>
      </p:sp>
      <p:sp>
        <p:nvSpPr>
          <p:cNvPr id="20" name="Shape 18"/>
          <p:cNvSpPr/>
          <p:nvPr/>
        </p:nvSpPr>
        <p:spPr>
          <a:xfrm>
            <a:off x="8183880" y="3895344"/>
            <a:ext cx="3502152" cy="1737360"/>
          </a:xfrm>
          <a:prstGeom prst="roundRect">
            <a:avLst>
              <a:gd name="adj" fmla="val 2632"/>
            </a:avLst>
          </a:prstGeom>
          <a:solidFill>
            <a:srgbClr val="FAF9FE"/>
          </a:solidFill>
          <a:ln w="12700">
            <a:solidFill>
              <a:srgbClr val="E6E2F5"/>
            </a:solidFill>
            <a:prstDash val="solid"/>
          </a:ln>
        </p:spPr>
      </p:sp>
      <p:sp>
        <p:nvSpPr>
          <p:cNvPr id="21" name="Text 19"/>
          <p:cNvSpPr txBox="1"/>
          <p:nvPr/>
        </p:nvSpPr>
        <p:spPr>
          <a:xfrm>
            <a:off x="843991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Fitting the model to the conclusion</a:t>
            </a:r>
            <a:endParaRPr lang="en-US" sz="1400" dirty="0"/>
          </a:p>
        </p:txBody>
      </p:sp>
      <p:sp>
        <p:nvSpPr>
          <p:cNvPr id="22" name="Text 20"/>
          <p:cNvSpPr txBox="1"/>
          <p:nvPr/>
        </p:nvSpPr>
        <p:spPr>
          <a:xfrm>
            <a:off x="843991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Adding structure or parameters until the desired result appears — and stopping there, which guarantees the search terminated at a flattering point.</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22 / 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 Checklist for Your Own Model</a:t>
            </a:r>
            <a:endParaRPr lang="en-US" sz="2800" dirty="0"/>
          </a:p>
        </p:txBody>
      </p:sp>
      <p:sp>
        <p:nvSpPr>
          <p:cNvPr id="4" name="Shape 2"/>
          <p:cNvSpPr/>
          <p:nvPr/>
        </p:nvSpPr>
        <p:spPr>
          <a:xfrm>
            <a:off x="502920" y="1426464"/>
            <a:ext cx="11183112" cy="694944"/>
          </a:xfrm>
          <a:prstGeom prst="roundRect">
            <a:avLst>
              <a:gd name="adj" fmla="val 5263"/>
            </a:avLst>
          </a:prstGeom>
          <a:solidFill>
            <a:srgbClr val="F3F1FC"/>
          </a:solidFill>
          <a:ln/>
        </p:spPr>
      </p:sp>
      <p:sp>
        <p:nvSpPr>
          <p:cNvPr id="5" name="Text 3"/>
          <p:cNvSpPr txBox="1"/>
          <p:nvPr/>
        </p:nvSpPr>
        <p:spPr>
          <a:xfrm>
            <a:off x="722376" y="1426464"/>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1216152" y="1426464"/>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State the question before the model.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A model is built for a question, never for a system. If you cannot write the question in one sentence, you cannot yet judge which simplifications are safe.</a:t>
            </a:r>
            <a:endParaRPr lang="en-US" sz="1250" dirty="0"/>
          </a:p>
        </p:txBody>
      </p:sp>
      <p:sp>
        <p:nvSpPr>
          <p:cNvPr id="7" name="Shape 5"/>
          <p:cNvSpPr/>
          <p:nvPr/>
        </p:nvSpPr>
        <p:spPr>
          <a:xfrm>
            <a:off x="502920" y="2194560"/>
            <a:ext cx="11183112" cy="694944"/>
          </a:xfrm>
          <a:prstGeom prst="roundRect">
            <a:avLst>
              <a:gd name="adj" fmla="val 5263"/>
            </a:avLst>
          </a:prstGeom>
          <a:solidFill>
            <a:srgbClr val="FFFFFF"/>
          </a:solidFill>
          <a:ln/>
        </p:spPr>
      </p:sp>
      <p:sp>
        <p:nvSpPr>
          <p:cNvPr id="8" name="Text 6"/>
          <p:cNvSpPr txBox="1"/>
          <p:nvPr/>
        </p:nvSpPr>
        <p:spPr>
          <a:xfrm>
            <a:off x="722376" y="2194560"/>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216152" y="2194560"/>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List every assumption where a reader will find it.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These are your premises, and Lecture 3 established that a result's real content sits in its premises rather than its derivation.</a:t>
            </a:r>
            <a:endParaRPr lang="en-US" sz="1250" dirty="0"/>
          </a:p>
        </p:txBody>
      </p:sp>
      <p:sp>
        <p:nvSpPr>
          <p:cNvPr id="10" name="Shape 8"/>
          <p:cNvSpPr/>
          <p:nvPr/>
        </p:nvSpPr>
        <p:spPr>
          <a:xfrm>
            <a:off x="502920" y="2962656"/>
            <a:ext cx="11183112" cy="694944"/>
          </a:xfrm>
          <a:prstGeom prst="roundRect">
            <a:avLst>
              <a:gd name="adj" fmla="val 5263"/>
            </a:avLst>
          </a:prstGeom>
          <a:solidFill>
            <a:srgbClr val="F3F1FC"/>
          </a:solidFill>
          <a:ln/>
        </p:spPr>
      </p:sp>
      <p:sp>
        <p:nvSpPr>
          <p:cNvPr id="11" name="Text 9"/>
          <p:cNvSpPr txBox="1"/>
          <p:nvPr/>
        </p:nvSpPr>
        <p:spPr>
          <a:xfrm>
            <a:off x="722376" y="2962656"/>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216152" y="2962656"/>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Give every parameter a source and an uncertainty.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Measured, cited, specified, or estimated by hand — never leave a reader unable to tell which, or unable to propagate the error.</a:t>
            </a:r>
            <a:endParaRPr lang="en-US" sz="1250" dirty="0"/>
          </a:p>
        </p:txBody>
      </p:sp>
      <p:sp>
        <p:nvSpPr>
          <p:cNvPr id="13" name="Shape 11"/>
          <p:cNvSpPr/>
          <p:nvPr/>
        </p:nvSpPr>
        <p:spPr>
          <a:xfrm>
            <a:off x="502920" y="3730752"/>
            <a:ext cx="11183112" cy="694944"/>
          </a:xfrm>
          <a:prstGeom prst="roundRect">
            <a:avLst>
              <a:gd name="adj" fmla="val 5263"/>
            </a:avLst>
          </a:prstGeom>
          <a:solidFill>
            <a:srgbClr val="FFFFFF"/>
          </a:solidFill>
          <a:ln/>
        </p:spPr>
      </p:sp>
      <p:sp>
        <p:nvSpPr>
          <p:cNvPr id="14" name="Text 12"/>
          <p:cNvSpPr txBox="1"/>
          <p:nvPr/>
        </p:nvSpPr>
        <p:spPr>
          <a:xfrm>
            <a:off x="722376" y="3730752"/>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1216152" y="3730752"/>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Keep verification, validation, and calibration apart.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Say which data was used for each, and never use the same data for the last two. This single discipline prevents the commonest failure in the field.</a:t>
            </a:r>
            <a:endParaRPr lang="en-US" sz="1250" dirty="0"/>
          </a:p>
        </p:txBody>
      </p:sp>
      <p:sp>
        <p:nvSpPr>
          <p:cNvPr id="16" name="Shape 14"/>
          <p:cNvSpPr/>
          <p:nvPr/>
        </p:nvSpPr>
        <p:spPr>
          <a:xfrm>
            <a:off x="502920" y="4498848"/>
            <a:ext cx="11183112" cy="694944"/>
          </a:xfrm>
          <a:prstGeom prst="roundRect">
            <a:avLst>
              <a:gd name="adj" fmla="val 5263"/>
            </a:avLst>
          </a:prstGeom>
          <a:solidFill>
            <a:srgbClr val="F3F1FC"/>
          </a:solidFill>
          <a:ln/>
        </p:spPr>
      </p:sp>
      <p:sp>
        <p:nvSpPr>
          <p:cNvPr id="17" name="Text 15"/>
          <p:cNvSpPr txBox="1"/>
          <p:nvPr/>
        </p:nvSpPr>
        <p:spPr>
          <a:xfrm>
            <a:off x="722376" y="4498848"/>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216152" y="4498848"/>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Run a sensitivity analysis before interpreting anything.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If a parameter you guessed can flip the conclusion, that fact is the finding — and it belongs in the paper rather than in your drawer.</a:t>
            </a:r>
            <a:endParaRPr lang="en-US" sz="1250" dirty="0"/>
          </a:p>
        </p:txBody>
      </p:sp>
      <p:sp>
        <p:nvSpPr>
          <p:cNvPr id="19" name="Shape 17"/>
          <p:cNvSpPr/>
          <p:nvPr/>
        </p:nvSpPr>
        <p:spPr>
          <a:xfrm>
            <a:off x="502920" y="5266944"/>
            <a:ext cx="11183112" cy="694944"/>
          </a:xfrm>
          <a:prstGeom prst="roundRect">
            <a:avLst>
              <a:gd name="adj" fmla="val 5263"/>
            </a:avLst>
          </a:prstGeom>
          <a:solidFill>
            <a:srgbClr val="FFFFFF"/>
          </a:solidFill>
          <a:ln/>
        </p:spPr>
      </p:sp>
      <p:sp>
        <p:nvSpPr>
          <p:cNvPr id="20" name="Text 18"/>
          <p:cNvSpPr txBox="1"/>
          <p:nvPr/>
        </p:nvSpPr>
        <p:spPr>
          <a:xfrm>
            <a:off x="722376" y="5266944"/>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1216152" y="5266944"/>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Publish the range you validated over.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And say plainly that outside it the model makes no claim. This is Lecture 2's rebuttal component, doing its job for a model.</a:t>
            </a:r>
            <a:endParaRPr lang="en-US" sz="1250" dirty="0"/>
          </a:p>
        </p:txBody>
      </p:sp>
      <p:sp>
        <p:nvSpPr>
          <p:cNvPr id="22" name="Text 2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3" name="Text 2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23 / 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Discussion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In pairs, ten minutes. Bring one answer back for class critique.</a:t>
            </a:r>
            <a:endParaRPr lang="en-US" sz="1250" dirty="0"/>
          </a:p>
        </p:txBody>
      </p:sp>
      <p:sp>
        <p:nvSpPr>
          <p:cNvPr id="5" name="Shape 3"/>
          <p:cNvSpPr/>
          <p:nvPr/>
        </p:nvSpPr>
        <p:spPr>
          <a:xfrm>
            <a:off x="594360" y="2029968"/>
            <a:ext cx="384048" cy="384048"/>
          </a:xfrm>
          <a:prstGeom prst="ellipse">
            <a:avLst/>
          </a:prstGeom>
          <a:solidFill>
            <a:srgbClr val="241A4C"/>
          </a:solidFill>
          <a:ln/>
        </p:spPr>
      </p:sp>
      <p:sp>
        <p:nvSpPr>
          <p:cNvPr id="6" name="Text 4"/>
          <p:cNvSpPr txBox="1"/>
          <p:nvPr/>
        </p:nvSpPr>
        <p:spPr>
          <a:xfrm>
            <a:off x="594360" y="2029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252728" y="1975104"/>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Take a system you know well. Write down the simplest model that would answer one specific question about it — then list what you left out, and why each omission is safe for that question.</a:t>
            </a:r>
            <a:endParaRPr lang="en-US" sz="1300" dirty="0"/>
          </a:p>
        </p:txBody>
      </p:sp>
      <p:sp>
        <p:nvSpPr>
          <p:cNvPr id="8" name="Shape 6"/>
          <p:cNvSpPr/>
          <p:nvPr/>
        </p:nvSpPr>
        <p:spPr>
          <a:xfrm>
            <a:off x="594360" y="3072384"/>
            <a:ext cx="384048" cy="384048"/>
          </a:xfrm>
          <a:prstGeom prst="ellipse">
            <a:avLst/>
          </a:prstGeom>
          <a:solidFill>
            <a:srgbClr val="B08C3A"/>
          </a:solidFill>
          <a:ln/>
        </p:spPr>
      </p:sp>
      <p:sp>
        <p:nvSpPr>
          <p:cNvPr id="9" name="Text 7"/>
          <p:cNvSpPr txBox="1"/>
          <p:nvPr/>
        </p:nvSpPr>
        <p:spPr>
          <a:xfrm>
            <a:off x="594360" y="3072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252728" y="3017520"/>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Find a paper in your area containing a mathematical model. Which of its assumptions is doing the most work, and is it stated where a reader will find it or buried in a preamble?</a:t>
            </a:r>
            <a:endParaRPr lang="en-US" sz="1300" dirty="0"/>
          </a:p>
        </p:txBody>
      </p:sp>
      <p:sp>
        <p:nvSpPr>
          <p:cNvPr id="11" name="Shape 9"/>
          <p:cNvSpPr/>
          <p:nvPr/>
        </p:nvSpPr>
        <p:spPr>
          <a:xfrm>
            <a:off x="594360" y="4114800"/>
            <a:ext cx="384048" cy="384048"/>
          </a:xfrm>
          <a:prstGeom prst="ellipse">
            <a:avLst/>
          </a:prstGeom>
          <a:solidFill>
            <a:srgbClr val="241A4C"/>
          </a:solidFill>
          <a:ln/>
        </p:spPr>
      </p:sp>
      <p:sp>
        <p:nvSpPr>
          <p:cNvPr id="12" name="Text 10"/>
          <p:cNvSpPr txBox="1"/>
          <p:nvPr/>
        </p:nvSpPr>
        <p:spPr>
          <a:xfrm>
            <a:off x="59436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252728" y="4059936"/>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The M/M/1 result says response time diverges as λ approaches μ. Real systems do not become infinitely slow — they shed load, time out, or fail. What does that tell you about the model's scope?</a:t>
            </a:r>
            <a:endParaRPr lang="en-US" sz="1300" dirty="0"/>
          </a:p>
        </p:txBody>
      </p:sp>
      <p:sp>
        <p:nvSpPr>
          <p:cNvPr id="14" name="Shape 12"/>
          <p:cNvSpPr/>
          <p:nvPr/>
        </p:nvSpPr>
        <p:spPr>
          <a:xfrm>
            <a:off x="594360" y="5157216"/>
            <a:ext cx="384048" cy="384048"/>
          </a:xfrm>
          <a:prstGeom prst="ellipse">
            <a:avLst/>
          </a:prstGeom>
          <a:solidFill>
            <a:srgbClr val="B08C3A"/>
          </a:solidFill>
          <a:ln/>
        </p:spPr>
      </p:sp>
      <p:sp>
        <p:nvSpPr>
          <p:cNvPr id="15" name="Text 13"/>
          <p:cNvSpPr txBox="1"/>
          <p:nvPr/>
        </p:nvSpPr>
        <p:spPr>
          <a:xfrm>
            <a:off x="59436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252728" y="5102352"/>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Take a model validated on data from one system. What exactly would you need to check before using it on a different one — and which of Lecture 3's inferences is that check?</a:t>
            </a:r>
            <a:endParaRPr lang="en-US" sz="130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24 / 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RECAP</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Key Takeaways</a:t>
            </a:r>
            <a:endParaRPr lang="en-US" sz="2800" dirty="0"/>
          </a:p>
        </p:txBody>
      </p:sp>
      <p:sp>
        <p:nvSpPr>
          <p:cNvPr id="4" name="Shape 2"/>
          <p:cNvSpPr/>
          <p:nvPr/>
        </p:nvSpPr>
        <p:spPr>
          <a:xfrm>
            <a:off x="594360" y="1517904"/>
            <a:ext cx="384048" cy="384048"/>
          </a:xfrm>
          <a:prstGeom prst="ellipse">
            <a:avLst/>
          </a:prstGeom>
          <a:solidFill>
            <a:srgbClr val="B08C3A"/>
          </a:solidFill>
          <a:ln/>
        </p:spPr>
      </p:sp>
      <p:sp>
        <p:nvSpPr>
          <p:cNvPr id="5" name="Text 3"/>
          <p:cNvSpPr txBox="1"/>
          <p:nvPr/>
        </p:nvSpPr>
        <p:spPr>
          <a:xfrm>
            <a:off x="594360"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252728" y="1463040"/>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A mathematical model is a deliberate simplification built for a question. There is no model of a system — only a model of a system, for a purpose, over a stated range.</a:t>
            </a:r>
            <a:endParaRPr lang="en-US" sz="1250" dirty="0"/>
          </a:p>
        </p:txBody>
      </p:sp>
      <p:sp>
        <p:nvSpPr>
          <p:cNvPr id="7" name="Shape 5"/>
          <p:cNvSpPr/>
          <p:nvPr/>
        </p:nvSpPr>
        <p:spPr>
          <a:xfrm>
            <a:off x="594360" y="2487168"/>
            <a:ext cx="384048" cy="384048"/>
          </a:xfrm>
          <a:prstGeom prst="ellipse">
            <a:avLst/>
          </a:prstGeom>
          <a:solidFill>
            <a:srgbClr val="241A4C"/>
          </a:solidFill>
          <a:ln/>
        </p:spPr>
      </p:sp>
      <p:sp>
        <p:nvSpPr>
          <p:cNvPr id="8" name="Text 6"/>
          <p:cNvSpPr txBox="1"/>
          <p:nvPr/>
        </p:nvSpPr>
        <p:spPr>
          <a:xfrm>
            <a:off x="59436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9" name="Text 7"/>
          <p:cNvSpPr txBox="1"/>
          <p:nvPr/>
        </p:nvSpPr>
        <p:spPr>
          <a:xfrm>
            <a:off x="1252728" y="2432304"/>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The modelling cycle runs abstract, formalise, parameterise, solve, validate — and loops. A model never revised after contact with data has not been validated; it has only been published.</a:t>
            </a:r>
            <a:endParaRPr lang="en-US" sz="1250" dirty="0"/>
          </a:p>
        </p:txBody>
      </p:sp>
      <p:sp>
        <p:nvSpPr>
          <p:cNvPr id="10" name="Shape 8"/>
          <p:cNvSpPr/>
          <p:nvPr/>
        </p:nvSpPr>
        <p:spPr>
          <a:xfrm>
            <a:off x="594360" y="3456432"/>
            <a:ext cx="384048" cy="384048"/>
          </a:xfrm>
          <a:prstGeom prst="ellipse">
            <a:avLst/>
          </a:prstGeom>
          <a:solidFill>
            <a:srgbClr val="B08C3A"/>
          </a:solidFill>
          <a:ln/>
        </p:spPr>
      </p:sp>
      <p:sp>
        <p:nvSpPr>
          <p:cNvPr id="11" name="Text 9"/>
          <p:cNvSpPr txBox="1"/>
          <p:nvPr/>
        </p:nvSpPr>
        <p:spPr>
          <a:xfrm>
            <a:off x="594360"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2" name="Text 10"/>
          <p:cNvSpPr txBox="1"/>
          <p:nvPr/>
        </p:nvSpPr>
        <p:spPr>
          <a:xfrm>
            <a:off x="1252728" y="3401568"/>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Analytical solutions give you the shape of a dependence and are bought with restrictive assumptions; simulation relaxes the assumptions and returns statistical estimates, inheriting every empirical obligation from Lecture 2.</a:t>
            </a:r>
            <a:endParaRPr lang="en-US" sz="1250" dirty="0"/>
          </a:p>
        </p:txBody>
      </p:sp>
      <p:sp>
        <p:nvSpPr>
          <p:cNvPr id="13" name="Shape 11"/>
          <p:cNvSpPr/>
          <p:nvPr/>
        </p:nvSpPr>
        <p:spPr>
          <a:xfrm>
            <a:off x="594360" y="4425696"/>
            <a:ext cx="384048" cy="384048"/>
          </a:xfrm>
          <a:prstGeom prst="ellipse">
            <a:avLst/>
          </a:prstGeom>
          <a:solidFill>
            <a:srgbClr val="241A4C"/>
          </a:solidFill>
          <a:ln/>
        </p:spPr>
      </p:sp>
      <p:sp>
        <p:nvSpPr>
          <p:cNvPr id="14" name="Text 12"/>
          <p:cNvSpPr txBox="1"/>
          <p:nvPr/>
        </p:nvSpPr>
        <p:spPr>
          <a:xfrm>
            <a:off x="594360" y="4425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5" name="Text 13"/>
          <p:cNvSpPr txBox="1"/>
          <p:nvPr/>
        </p:nvSpPr>
        <p:spPr>
          <a:xfrm>
            <a:off x="1252728" y="4370832"/>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Verification, validation, and calibration answer three different questions and need three different datasets. Presenting calibration as validation is the commonest modelling error in student work.</a:t>
            </a:r>
            <a:endParaRPr lang="en-US" sz="1250" dirty="0"/>
          </a:p>
        </p:txBody>
      </p:sp>
      <p:sp>
        <p:nvSpPr>
          <p:cNvPr id="16" name="Shape 14"/>
          <p:cNvSpPr/>
          <p:nvPr/>
        </p:nvSpPr>
        <p:spPr>
          <a:xfrm>
            <a:off x="594360" y="5394960"/>
            <a:ext cx="384048" cy="384048"/>
          </a:xfrm>
          <a:prstGeom prst="ellipse">
            <a:avLst/>
          </a:prstGeom>
          <a:solidFill>
            <a:srgbClr val="B08C3A"/>
          </a:solidFill>
          <a:ln/>
        </p:spPr>
      </p:sp>
      <p:sp>
        <p:nvSpPr>
          <p:cNvPr id="17" name="Text 15"/>
          <p:cNvSpPr txBox="1"/>
          <p:nvPr/>
        </p:nvSpPr>
        <p:spPr>
          <a:xfrm>
            <a:off x="594360" y="5394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6"/>
          <p:cNvSpPr txBox="1"/>
          <p:nvPr/>
        </p:nvSpPr>
        <p:spPr>
          <a:xfrm>
            <a:off x="1252728" y="5340096"/>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Every model is wrong. The obligation is to say precisely how: which mechanisms were omitted, which parameters were guessed, and over what range the predictions may be trusted at all.</a:t>
            </a:r>
            <a:endParaRPr lang="en-US" sz="1250" dirty="0"/>
          </a:p>
        </p:txBody>
      </p:sp>
      <p:sp>
        <p:nvSpPr>
          <p:cNvPr id="19" name="Text 17"/>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20" name="Text 18"/>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25 / 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Further Reading</a:t>
            </a:r>
            <a:endParaRPr lang="en-US" sz="2800" dirty="0"/>
          </a:p>
        </p:txBody>
      </p:sp>
      <p:sp>
        <p:nvSpPr>
          <p:cNvPr id="3" name="Shape 1"/>
          <p:cNvSpPr/>
          <p:nvPr/>
        </p:nvSpPr>
        <p:spPr>
          <a:xfrm>
            <a:off x="502920" y="1426464"/>
            <a:ext cx="11183112" cy="502920"/>
          </a:xfrm>
          <a:prstGeom prst="rect">
            <a:avLst/>
          </a:prstGeom>
          <a:solidFill>
            <a:srgbClr val="F3F1FC"/>
          </a:solidFill>
          <a:ln/>
        </p:spPr>
      </p:sp>
      <p:sp>
        <p:nvSpPr>
          <p:cNvPr id="4" name="Text 2"/>
          <p:cNvSpPr txBox="1"/>
          <p:nvPr/>
        </p:nvSpPr>
        <p:spPr>
          <a:xfrm>
            <a:off x="758952" y="1426464"/>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Box, G. E. P.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“Science and Statistics.” Journal of the American Statistical Association, 1976. — the source of the remark.</a:t>
            </a:r>
            <a:endParaRPr lang="en-US" sz="1150" dirty="0"/>
          </a:p>
        </p:txBody>
      </p:sp>
      <p:sp>
        <p:nvSpPr>
          <p:cNvPr id="5" name="Text 3"/>
          <p:cNvSpPr txBox="1"/>
          <p:nvPr/>
        </p:nvSpPr>
        <p:spPr>
          <a:xfrm>
            <a:off x="758952" y="1947672"/>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Kleinrock, L.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Queueing Systems, Volume 1: Theory. Wiley, 1975. — the standard derivation of the results in this session.</a:t>
            </a:r>
            <a:endParaRPr lang="en-US" sz="1150" dirty="0"/>
          </a:p>
        </p:txBody>
      </p:sp>
      <p:sp>
        <p:nvSpPr>
          <p:cNvPr id="6" name="Shape 4"/>
          <p:cNvSpPr/>
          <p:nvPr/>
        </p:nvSpPr>
        <p:spPr>
          <a:xfrm>
            <a:off x="502920" y="2468880"/>
            <a:ext cx="11183112" cy="502920"/>
          </a:xfrm>
          <a:prstGeom prst="rect">
            <a:avLst/>
          </a:prstGeom>
          <a:solidFill>
            <a:srgbClr val="F3F1FC"/>
          </a:solidFill>
          <a:ln/>
        </p:spPr>
      </p:sp>
      <p:sp>
        <p:nvSpPr>
          <p:cNvPr id="7" name="Text 5"/>
          <p:cNvSpPr txBox="1"/>
          <p:nvPr/>
        </p:nvSpPr>
        <p:spPr>
          <a:xfrm>
            <a:off x="758952" y="2468880"/>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Lazowska, E. D., Zahorjan, J., Graham, G. S. &amp; Sevcik, K. C.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Quantitative System Performance: Computer System Analysis Using Queueing Network Models. Prentice-Hall, 1984.</a:t>
            </a:r>
            <a:endParaRPr lang="en-US" sz="1150" dirty="0"/>
          </a:p>
        </p:txBody>
      </p:sp>
      <p:sp>
        <p:nvSpPr>
          <p:cNvPr id="8" name="Text 6"/>
          <p:cNvSpPr txBox="1"/>
          <p:nvPr/>
        </p:nvSpPr>
        <p:spPr>
          <a:xfrm>
            <a:off x="758952" y="2990088"/>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Denning, P. J. &amp; Buzen, J. P.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“The Operational Analysis of Queueing Network Models.” ACM Computing Surveys, 1978. — the operational laws.</a:t>
            </a:r>
            <a:endParaRPr lang="en-US" sz="1150" dirty="0"/>
          </a:p>
        </p:txBody>
      </p:sp>
      <p:sp>
        <p:nvSpPr>
          <p:cNvPr id="9" name="Shape 7"/>
          <p:cNvSpPr/>
          <p:nvPr/>
        </p:nvSpPr>
        <p:spPr>
          <a:xfrm>
            <a:off x="502920" y="3511296"/>
            <a:ext cx="11183112" cy="502920"/>
          </a:xfrm>
          <a:prstGeom prst="rect">
            <a:avLst/>
          </a:prstGeom>
          <a:solidFill>
            <a:srgbClr val="F3F1FC"/>
          </a:solidFill>
          <a:ln/>
        </p:spPr>
      </p:sp>
      <p:sp>
        <p:nvSpPr>
          <p:cNvPr id="10" name="Text 8"/>
          <p:cNvSpPr txBox="1"/>
          <p:nvPr/>
        </p:nvSpPr>
        <p:spPr>
          <a:xfrm>
            <a:off x="758952" y="3511296"/>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Jain, R.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The Art of Computer Systems Performance Analysis. Wiley, 1991. — carried over from Lecture 2.</a:t>
            </a:r>
            <a:endParaRPr lang="en-US" sz="1150" dirty="0"/>
          </a:p>
        </p:txBody>
      </p:sp>
      <p:sp>
        <p:nvSpPr>
          <p:cNvPr id="11" name="Text 9"/>
          <p:cNvSpPr txBox="1"/>
          <p:nvPr/>
        </p:nvSpPr>
        <p:spPr>
          <a:xfrm>
            <a:off x="758952" y="4032504"/>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Law, A. M.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Simulation Modeling and Analysis. 5th ed., McGraw-Hill, 2015. — warm-up, replications, and run length.</a:t>
            </a:r>
            <a:endParaRPr lang="en-US" sz="1150" dirty="0"/>
          </a:p>
        </p:txBody>
      </p:sp>
      <p:sp>
        <p:nvSpPr>
          <p:cNvPr id="12" name="Shape 10"/>
          <p:cNvSpPr/>
          <p:nvPr/>
        </p:nvSpPr>
        <p:spPr>
          <a:xfrm>
            <a:off x="502920" y="4553712"/>
            <a:ext cx="11183112" cy="502920"/>
          </a:xfrm>
          <a:prstGeom prst="rect">
            <a:avLst/>
          </a:prstGeom>
          <a:solidFill>
            <a:srgbClr val="F3F1FC"/>
          </a:solidFill>
          <a:ln/>
        </p:spPr>
      </p:sp>
      <p:sp>
        <p:nvSpPr>
          <p:cNvPr id="13" name="Text 11"/>
          <p:cNvSpPr txBox="1"/>
          <p:nvPr/>
        </p:nvSpPr>
        <p:spPr>
          <a:xfrm>
            <a:off x="758952" y="4553712"/>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Sargent, R. G.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“Verification and Validation of Simulation Models.” Proc. Winter Simulation Conference, revised across editions.</a:t>
            </a:r>
            <a:endParaRPr lang="en-US" sz="1150" dirty="0"/>
          </a:p>
        </p:txBody>
      </p:sp>
      <p:sp>
        <p:nvSpPr>
          <p:cNvPr id="14" name="Text 12"/>
          <p:cNvSpPr txBox="1"/>
          <p:nvPr/>
        </p:nvSpPr>
        <p:spPr>
          <a:xfrm>
            <a:off x="758952" y="5074920"/>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Wolsey, L. A.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Integer Programming. 2nd ed., Wiley, 2020. — formulation technique for the optimisation example.</a:t>
            </a:r>
            <a:endParaRPr lang="en-US" sz="1150" dirty="0"/>
          </a:p>
        </p:txBody>
      </p:sp>
      <p:sp>
        <p:nvSpPr>
          <p:cNvPr id="15" name="Shape 13"/>
          <p:cNvSpPr/>
          <p:nvPr/>
        </p:nvSpPr>
        <p:spPr>
          <a:xfrm>
            <a:off x="502920" y="5596128"/>
            <a:ext cx="11183112" cy="502920"/>
          </a:xfrm>
          <a:prstGeom prst="rect">
            <a:avLst/>
          </a:prstGeom>
          <a:solidFill>
            <a:srgbClr val="F3F1FC"/>
          </a:solidFill>
          <a:ln/>
        </p:spPr>
      </p:sp>
      <p:sp>
        <p:nvSpPr>
          <p:cNvPr id="16" name="Text 14"/>
          <p:cNvSpPr txBox="1"/>
          <p:nvPr/>
        </p:nvSpPr>
        <p:spPr>
          <a:xfrm>
            <a:off x="758952" y="5596128"/>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Saltelli, A. et al.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Global Sensitivity Analysis: The Primer. Wiley, 2008.</a:t>
            </a:r>
            <a:endParaRPr lang="en-US" sz="115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MATHEMATICAL MODELLING IN CS</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26 / 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Modelling in Computing Science</dc:title>
  <dc:subject>Unit II, Lecture 5 - Mathematical Modelling</dc:subject>
  <dc:creator>Research Methodology in CS</dc:creator>
  <cp:lastModifiedBy>Research Methodology in CS</cp:lastModifiedBy>
  <cp:revision>1</cp:revision>
  <dcterms:created xsi:type="dcterms:W3CDTF">2026-09-06T11:50:59Z</dcterms:created>
  <dcterms:modified xsi:type="dcterms:W3CDTF">2026-09-06T11:50:59Z</dcterms:modified>
</cp:coreProperties>
</file>