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Shape 1"/>
          <p:cNvSpPr/>
          <p:nvPr/>
        </p:nvSpPr>
        <p:spPr>
          <a:xfrm>
            <a:off x="8522208" y="4041648"/>
            <a:ext cx="2121408" cy="2121408"/>
          </a:xfrm>
          <a:prstGeom prst="ellipse">
            <a:avLst/>
          </a:prstGeom>
          <a:solidFill>
            <a:srgbClr val="3D6EA6">
              <a:alpha val="55000"/>
            </a:srgbClr>
          </a:solidFill>
          <a:ln/>
        </p:spPr>
      </p:sp>
      <p:sp>
        <p:nvSpPr>
          <p:cNvPr id="4" name="Shape 2"/>
          <p:cNvSpPr/>
          <p:nvPr/>
        </p:nvSpPr>
        <p:spPr>
          <a:xfrm>
            <a:off x="9198864" y="3310128"/>
            <a:ext cx="2121408" cy="2121408"/>
          </a:xfrm>
          <a:prstGeom prst="ellipse">
            <a:avLst/>
          </a:prstGeom>
          <a:solidFill>
            <a:srgbClr val="D8A73E">
              <a:alpha val="55000"/>
            </a:srgbClr>
          </a:solidFill>
          <a:ln w="9525">
            <a:solidFill>
              <a:srgbClr val="D8A73E">
                <a:alpha val="60000"/>
              </a:srgbClr>
            </a:solidFill>
            <a:prstDash val="solid"/>
          </a:ln>
        </p:spPr>
      </p:sp>
      <p:sp>
        <p:nvSpPr>
          <p:cNvPr id="5" name="Shape 3"/>
          <p:cNvSpPr/>
          <p:nvPr/>
        </p:nvSpPr>
        <p:spPr>
          <a:xfrm>
            <a:off x="9802368" y="4169664"/>
            <a:ext cx="2121408" cy="2121408"/>
          </a:xfrm>
          <a:prstGeom prst="ellipse">
            <a:avLst/>
          </a:prstGeom>
          <a:solidFill>
            <a:srgbClr val="B4522B">
              <a:alpha val="55000"/>
            </a:srgbClr>
          </a:solidFill>
          <a:ln/>
        </p:spPr>
      </p:sp>
      <p:sp>
        <p:nvSpPr>
          <p:cNvPr id="6" name="Text 4"/>
          <p:cNvSpPr txBox="1"/>
          <p:nvPr/>
        </p:nvSpPr>
        <p:spPr>
          <a:xfrm>
            <a:off x="804672" y="1389888"/>
            <a:ext cx="7315200" cy="256032"/>
          </a:xfrm>
          <a:prstGeom prst="rect">
            <a:avLst/>
          </a:prstGeom>
          <a:noFill/>
          <a:ln/>
        </p:spPr>
        <p:txBody>
          <a:bodyPr wrap="square" lIns="0" tIns="0" rIns="0" bIns="0" rtlCol="0" anchor="ctr"/>
          <a:lstStyle/>
          <a:p>
            <a:pPr indent="0" marL="0">
              <a:buNone/>
            </a:pPr>
            <a:r>
              <a:rPr lang="en-US" sz="1000" b="1" spc="190" kern="0" dirty="0">
                <a:solidFill>
                  <a:srgbClr val="D8A73E"/>
                </a:solidFill>
                <a:latin typeface="Calibri" pitchFamily="34" charset="0"/>
                <a:ea typeface="Calibri" pitchFamily="34" charset="-122"/>
                <a:cs typeface="Calibri" pitchFamily="34" charset="-120"/>
              </a:rPr>
              <a:t>A LESSON IN RESEARCH METHODOLOGY</a:t>
            </a:r>
            <a:endParaRPr lang="en-US" sz="1000" dirty="0"/>
          </a:p>
        </p:txBody>
      </p:sp>
      <p:sp>
        <p:nvSpPr>
          <p:cNvPr id="7" name="Text 5"/>
          <p:cNvSpPr txBox="1"/>
          <p:nvPr/>
        </p:nvSpPr>
        <p:spPr>
          <a:xfrm>
            <a:off x="768096" y="1847088"/>
            <a:ext cx="8961120" cy="1572768"/>
          </a:xfrm>
          <a:prstGeom prst="rect">
            <a:avLst/>
          </a:prstGeom>
          <a:noFill/>
          <a:ln/>
        </p:spPr>
        <p:txBody>
          <a:bodyPr wrap="square" lIns="0" tIns="0" rIns="0" bIns="0" rtlCol="0" anchor="ctr"/>
          <a:lstStyle/>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Algorithmic and Software</a:t>
            </a:r>
            <a:endParaRPr lang="en-US" sz="4000" dirty="0"/>
          </a:p>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Engineering Approaches</a:t>
            </a:r>
            <a:endParaRPr lang="en-US" sz="4000" dirty="0"/>
          </a:p>
        </p:txBody>
      </p:sp>
      <p:sp>
        <p:nvSpPr>
          <p:cNvPr id="8" name="Text 6"/>
          <p:cNvSpPr txBox="1"/>
          <p:nvPr/>
        </p:nvSpPr>
        <p:spPr>
          <a:xfrm>
            <a:off x="804672" y="3767328"/>
            <a:ext cx="8229600" cy="329184"/>
          </a:xfrm>
          <a:prstGeom prst="rect">
            <a:avLst/>
          </a:prstGeom>
          <a:noFill/>
          <a:ln/>
        </p:spPr>
        <p:txBody>
          <a:bodyPr wrap="square" lIns="0" tIns="0" rIns="0" bIns="0" rtlCol="0" anchor="ctr"/>
          <a:lstStyle/>
          <a:p>
            <a:pPr indent="0" marL="0">
              <a:buNone/>
            </a:pPr>
            <a:r>
              <a:rPr lang="en-US" sz="1600" i="1" dirty="0">
                <a:solidFill>
                  <a:srgbClr val="E4DFFA"/>
                </a:solidFill>
                <a:latin typeface="Cambria" pitchFamily="34" charset="0"/>
                <a:ea typeface="Cambria" pitchFamily="34" charset="-122"/>
                <a:cs typeface="Cambria" pitchFamily="34" charset="-120"/>
              </a:rPr>
              <a:t>Two Research Traditions in Computing Science</a:t>
            </a:r>
            <a:endParaRPr lang="en-US" sz="1600" dirty="0"/>
          </a:p>
        </p:txBody>
      </p:sp>
      <p:sp>
        <p:nvSpPr>
          <p:cNvPr id="9" name="Shape 7"/>
          <p:cNvSpPr/>
          <p:nvPr/>
        </p:nvSpPr>
        <p:spPr>
          <a:xfrm>
            <a:off x="804672" y="4315968"/>
            <a:ext cx="2377440" cy="0"/>
          </a:xfrm>
          <a:prstGeom prst="line">
            <a:avLst/>
          </a:prstGeom>
          <a:noFill/>
          <a:ln w="12700">
            <a:solidFill>
              <a:srgbClr val="6E688F"/>
            </a:solidFill>
            <a:prstDash val="solid"/>
          </a:ln>
        </p:spPr>
      </p:sp>
      <p:sp>
        <p:nvSpPr>
          <p:cNvPr id="10" name="Text 8"/>
          <p:cNvSpPr txBox="1"/>
          <p:nvPr/>
        </p:nvSpPr>
        <p:spPr>
          <a:xfrm>
            <a:off x="804672" y="4572000"/>
            <a:ext cx="7680960" cy="658368"/>
          </a:xfrm>
          <a:prstGeom prst="rect">
            <a:avLst/>
          </a:prstGeom>
          <a:noFill/>
          <a:ln/>
        </p:spPr>
        <p:txBody>
          <a:bodyPr wrap="square" lIns="0" tIns="0" rIns="0" bIns="0" rtlCol="0" anchor="t"/>
          <a:lstStyle/>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How research is actually organised when the object of study is an algorithm, and how it changes</a:t>
            </a:r>
            <a:endParaRPr lang="en-US" sz="1150" dirty="0"/>
          </a:p>
          <a:p>
            <a:pPr indent="0" marL="0">
              <a:lnSpc>
                <a:spcPct val="125000"/>
              </a:lnSpc>
              <a:buNone/>
            </a:pPr>
            <a:r>
              <a:rPr lang="en-US" sz="1150" dirty="0">
                <a:solidFill>
                  <a:srgbClr val="CFCAE6"/>
                </a:solidFill>
                <a:latin typeface="Calibri" pitchFamily="34" charset="0"/>
                <a:ea typeface="Calibri" pitchFamily="34" charset="-122"/>
                <a:cs typeface="Calibri" pitchFamily="34" charset="-120"/>
              </a:rPr>
              <a:t>when the object is a software system built and maintained by people.</a:t>
            </a:r>
            <a:endParaRPr lang="en-US" sz="1150" dirty="0"/>
          </a:p>
        </p:txBody>
      </p:sp>
      <p:sp>
        <p:nvSpPr>
          <p:cNvPr id="11" name="Text 9"/>
          <p:cNvSpPr txBox="1"/>
          <p:nvPr/>
        </p:nvSpPr>
        <p:spPr>
          <a:xfrm>
            <a:off x="804672" y="5797296"/>
            <a:ext cx="6400800" cy="237744"/>
          </a:xfrm>
          <a:prstGeom prst="rect">
            <a:avLst/>
          </a:prstGeom>
          <a:noFill/>
          <a:ln/>
        </p:spPr>
        <p:txBody>
          <a:bodyPr wrap="square" lIns="0" tIns="0" rIns="0" bIns="0" rtlCol="0" anchor="ctr"/>
          <a:lstStyle/>
          <a:p>
            <a:pPr indent="0" marL="0">
              <a:buNone/>
            </a:pPr>
            <a:r>
              <a:rPr lang="en-US" sz="900" dirty="0">
                <a:solidFill>
                  <a:srgbClr val="6E688F"/>
                </a:solidFill>
                <a:latin typeface="Calibri" pitchFamily="34" charset="0"/>
                <a:ea typeface="Calibri" pitchFamily="34" charset="-122"/>
                <a:cs typeface="Calibri" pitchFamily="34" charset="-120"/>
              </a:rPr>
              <a:t>Research Methodology in CS   ·   Unit II · Lecture 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TWO RESEARCH TRADITIONS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Object of Study Decides the Method</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Unit II has covered how a claim is argued, proved, and inferred. This session is about how the work is organised — and computing science organises it in two quite different ways.</a:t>
            </a:r>
            <a:endParaRPr lang="en-US" sz="1250" dirty="0"/>
          </a:p>
        </p:txBody>
      </p:sp>
      <p:sp>
        <p:nvSpPr>
          <p:cNvPr id="5" name="Shape 3"/>
          <p:cNvSpPr/>
          <p:nvPr/>
        </p:nvSpPr>
        <p:spPr>
          <a:xfrm>
            <a:off x="502920" y="1956816"/>
            <a:ext cx="310896" cy="310896"/>
          </a:xfrm>
          <a:prstGeom prst="ellipse">
            <a:avLst/>
          </a:prstGeom>
          <a:solidFill>
            <a:srgbClr val="241A4C"/>
          </a:solidFill>
          <a:ln/>
        </p:spPr>
      </p:sp>
      <p:sp>
        <p:nvSpPr>
          <p:cNvPr id="6" name="Text 4"/>
          <p:cNvSpPr txBox="1"/>
          <p:nvPr/>
        </p:nvSpPr>
        <p:spPr>
          <a:xfrm>
            <a:off x="502920" y="1956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005840" y="1911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In the algorithmic tradition the object of study is a problem and the procedures that solve it: a mathematical object that also executes. In the software-engineering tradition it is a socio-technical practice — code, tools, process, and the people using them.</a:t>
            </a:r>
            <a:endParaRPr lang="en-US" sz="1150" dirty="0"/>
          </a:p>
        </p:txBody>
      </p:sp>
      <p:sp>
        <p:nvSpPr>
          <p:cNvPr id="8" name="Shape 6"/>
          <p:cNvSpPr/>
          <p:nvPr/>
        </p:nvSpPr>
        <p:spPr>
          <a:xfrm>
            <a:off x="502920" y="3099816"/>
            <a:ext cx="310896" cy="310896"/>
          </a:xfrm>
          <a:prstGeom prst="ellipse">
            <a:avLst/>
          </a:prstGeom>
          <a:solidFill>
            <a:srgbClr val="3D6EA6"/>
          </a:solidFill>
          <a:ln/>
        </p:spPr>
      </p:sp>
      <p:sp>
        <p:nvSpPr>
          <p:cNvPr id="9" name="Text 7"/>
          <p:cNvSpPr txBox="1"/>
          <p:nvPr/>
        </p:nvSpPr>
        <p:spPr>
          <a:xfrm>
            <a:off x="502920" y="3099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005840" y="3054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Nearly everything downstream follows from that difference: which of Lecture 2's proof modes carries the argument, which of Lecture 3's inference directions dominates, and what a reviewer will attack first.</a:t>
            </a:r>
            <a:endParaRPr lang="en-US" sz="1150" dirty="0"/>
          </a:p>
        </p:txBody>
      </p:sp>
      <p:sp>
        <p:nvSpPr>
          <p:cNvPr id="11" name="Shape 9"/>
          <p:cNvSpPr/>
          <p:nvPr/>
        </p:nvSpPr>
        <p:spPr>
          <a:xfrm>
            <a:off x="502920" y="4242816"/>
            <a:ext cx="310896" cy="310896"/>
          </a:xfrm>
          <a:prstGeom prst="ellipse">
            <a:avLst/>
          </a:prstGeom>
          <a:solidFill>
            <a:srgbClr val="241A4C"/>
          </a:solidFill>
          <a:ln/>
        </p:spPr>
      </p:sp>
      <p:sp>
        <p:nvSpPr>
          <p:cNvPr id="12" name="Text 10"/>
          <p:cNvSpPr txBox="1"/>
          <p:nvPr/>
        </p:nvSpPr>
        <p:spPr>
          <a:xfrm>
            <a:off x="502920" y="4242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005840" y="4197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This is not “theory versus practice”. Both traditions build artifacts, both measure, and both prove things. What differs is where the uncertainty sits — and therefore what the paper must spend its effort defending.</a:t>
            </a:r>
            <a:endParaRPr lang="en-US" sz="1150" dirty="0"/>
          </a:p>
        </p:txBody>
      </p:sp>
      <p:sp>
        <p:nvSpPr>
          <p:cNvPr id="14" name="Shape 12"/>
          <p:cNvSpPr/>
          <p:nvPr/>
        </p:nvSpPr>
        <p:spPr>
          <a:xfrm>
            <a:off x="502920" y="5385816"/>
            <a:ext cx="310896" cy="310896"/>
          </a:xfrm>
          <a:prstGeom prst="ellipse">
            <a:avLst/>
          </a:prstGeom>
          <a:solidFill>
            <a:srgbClr val="3D6EA6"/>
          </a:solidFill>
          <a:ln/>
        </p:spPr>
      </p:sp>
      <p:sp>
        <p:nvSpPr>
          <p:cNvPr id="15" name="Text 13"/>
          <p:cNvSpPr txBox="1"/>
          <p:nvPr/>
        </p:nvSpPr>
        <p:spPr>
          <a:xfrm>
            <a:off x="502920" y="53858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005840" y="5340096"/>
            <a:ext cx="6172200" cy="969264"/>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Most CS theses draw on both. The trouble starts when one tradition's standards are used to judge the other's work: demanding a theorem from a field study, or a user study from a lower bound.</a:t>
            </a:r>
            <a:endParaRPr lang="en-US" sz="1150" dirty="0"/>
          </a:p>
        </p:txBody>
      </p:sp>
      <p:sp>
        <p:nvSpPr>
          <p:cNvPr id="17" name="Shape 15"/>
          <p:cNvSpPr/>
          <p:nvPr/>
        </p:nvSpPr>
        <p:spPr>
          <a:xfrm>
            <a:off x="7571232" y="1883664"/>
            <a:ext cx="4114800" cy="4169664"/>
          </a:xfrm>
          <a:prstGeom prst="roundRect">
            <a:avLst>
              <a:gd name="adj" fmla="val 1111"/>
            </a:avLst>
          </a:prstGeom>
          <a:solidFill>
            <a:srgbClr val="F3F1FC"/>
          </a:solidFill>
          <a:ln/>
        </p:spPr>
      </p:sp>
      <p:sp>
        <p:nvSpPr>
          <p:cNvPr id="18" name="Text 16"/>
          <p:cNvSpPr txBox="1"/>
          <p:nvPr/>
        </p:nvSpPr>
        <p:spPr>
          <a:xfrm>
            <a:off x="7845552" y="2139696"/>
            <a:ext cx="356616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WHERE THE UNCERTAINTY SITS</a:t>
            </a:r>
            <a:endParaRPr lang="en-US" sz="850" dirty="0"/>
          </a:p>
        </p:txBody>
      </p:sp>
      <p:sp>
        <p:nvSpPr>
          <p:cNvPr id="19" name="Text 17"/>
          <p:cNvSpPr txBox="1"/>
          <p:nvPr/>
        </p:nvSpPr>
        <p:spPr>
          <a:xfrm>
            <a:off x="7845552" y="2505456"/>
            <a:ext cx="3566160" cy="1005840"/>
          </a:xfrm>
          <a:prstGeom prst="rect">
            <a:avLst/>
          </a:prstGeom>
          <a:noFill/>
          <a:ln/>
        </p:spPr>
        <p:txBody>
          <a:bodyPr wrap="square" lIns="0" tIns="0" rIns="0" bIns="0" rtlCol="0" anchor="t"/>
          <a:lstStyle/>
          <a:p>
            <a:pPr indent="0" marL="0">
              <a:lnSpc>
                <a:spcPct val="120000"/>
              </a:lnSpc>
              <a:buNone/>
            </a:pPr>
            <a:r>
              <a:rPr lang="en-US" sz="1450" dirty="0">
                <a:solidFill>
                  <a:srgbClr val="241A4C"/>
                </a:solidFill>
                <a:latin typeface="Cambria" pitchFamily="34" charset="0"/>
                <a:ea typeface="Cambria" pitchFamily="34" charset="-122"/>
                <a:cs typeface="Cambria" pitchFamily="34" charset="-120"/>
              </a:rPr>
              <a:t>In algorithmic work the risky premise is the model. In software-engineering work it is the population.</a:t>
            </a:r>
            <a:endParaRPr lang="en-US" sz="1450" dirty="0"/>
          </a:p>
        </p:txBody>
      </p:sp>
      <p:sp>
        <p:nvSpPr>
          <p:cNvPr id="20" name="Text 18"/>
          <p:cNvSpPr txBox="1"/>
          <p:nvPr/>
        </p:nvSpPr>
        <p:spPr>
          <a:xfrm>
            <a:off x="7845552" y="3639312"/>
            <a:ext cx="3566160" cy="118872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One asks whether the machine model prices real hardware; the other asks whether these projects and these developers stand for the ones you claim about. Same slot in the argument, different contents.</a:t>
            </a:r>
            <a:endParaRPr lang="en-US" sz="1100" dirty="0"/>
          </a:p>
        </p:txBody>
      </p:sp>
      <p:sp>
        <p:nvSpPr>
          <p:cNvPr id="21" name="Shape 19"/>
          <p:cNvSpPr/>
          <p:nvPr/>
        </p:nvSpPr>
        <p:spPr>
          <a:xfrm>
            <a:off x="7845552" y="5047488"/>
            <a:ext cx="1371600" cy="0"/>
          </a:xfrm>
          <a:prstGeom prst="line">
            <a:avLst/>
          </a:prstGeom>
          <a:noFill/>
          <a:ln w="15875">
            <a:solidFill>
              <a:srgbClr val="D8A73E"/>
            </a:solidFill>
            <a:prstDash val="solid"/>
          </a:ln>
        </p:spPr>
      </p:sp>
      <p:sp>
        <p:nvSpPr>
          <p:cNvPr id="22" name="Text 20"/>
          <p:cNvSpPr txBox="1"/>
          <p:nvPr/>
        </p:nvSpPr>
        <p:spPr>
          <a:xfrm>
            <a:off x="7845552" y="5212080"/>
            <a:ext cx="3566160" cy="45720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Find that slot in your own work before a reviewer does.</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 / 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TWO RESEARCH TRADITIONS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Two Traditions, Side by Side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Read down either column: each row is the same methodological question, answered differently.</a:t>
            </a:r>
            <a:endParaRPr lang="en-US" sz="1250" dirty="0"/>
          </a:p>
        </p:txBody>
      </p:sp>
      <p:sp>
        <p:nvSpPr>
          <p:cNvPr id="5" name="Shape 3"/>
          <p:cNvSpPr/>
          <p:nvPr/>
        </p:nvSpPr>
        <p:spPr>
          <a:xfrm>
            <a:off x="502920" y="1938528"/>
            <a:ext cx="5477256" cy="4206240"/>
          </a:xfrm>
          <a:prstGeom prst="roundRect">
            <a:avLst>
              <a:gd name="adj" fmla="val 1087"/>
            </a:avLst>
          </a:prstGeom>
          <a:solidFill>
            <a:srgbClr val="FAF9FE"/>
          </a:solidFill>
          <a:ln w="12700">
            <a:solidFill>
              <a:srgbClr val="E6E2F5"/>
            </a:solidFill>
            <a:prstDash val="solid"/>
          </a:ln>
        </p:spPr>
      </p:sp>
      <p:sp>
        <p:nvSpPr>
          <p:cNvPr id="6" name="Text 4"/>
          <p:cNvSpPr txBox="1"/>
          <p:nvPr/>
        </p:nvSpPr>
        <p:spPr>
          <a:xfrm>
            <a:off x="795528" y="2139696"/>
            <a:ext cx="489204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TRADITION 1</a:t>
            </a:r>
            <a:endParaRPr lang="en-US" sz="850" dirty="0"/>
          </a:p>
        </p:txBody>
      </p:sp>
      <p:sp>
        <p:nvSpPr>
          <p:cNvPr id="7" name="Text 5"/>
          <p:cNvSpPr txBox="1"/>
          <p:nvPr/>
        </p:nvSpPr>
        <p:spPr>
          <a:xfrm>
            <a:off x="795528" y="2359152"/>
            <a:ext cx="4892040"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Algorithmic</a:t>
            </a:r>
            <a:endParaRPr lang="en-US" sz="2000" dirty="0"/>
          </a:p>
        </p:txBody>
      </p:sp>
      <p:sp>
        <p:nvSpPr>
          <p:cNvPr id="8" name="Text 6"/>
          <p:cNvSpPr txBox="1"/>
          <p:nvPr/>
        </p:nvSpPr>
        <p:spPr>
          <a:xfrm>
            <a:off x="795528" y="281635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OBJECT OF STUDY</a:t>
            </a:r>
            <a:endParaRPr lang="en-US" sz="750" dirty="0"/>
          </a:p>
        </p:txBody>
      </p:sp>
      <p:sp>
        <p:nvSpPr>
          <p:cNvPr id="9" name="Text 7"/>
          <p:cNvSpPr txBox="1"/>
          <p:nvPr/>
        </p:nvSpPr>
        <p:spPr>
          <a:xfrm>
            <a:off x="795528" y="299923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problem, and the procedures that solve it.</a:t>
            </a:r>
            <a:endParaRPr lang="en-US" sz="1050" dirty="0"/>
          </a:p>
        </p:txBody>
      </p:sp>
      <p:sp>
        <p:nvSpPr>
          <p:cNvPr id="10" name="Text 8"/>
          <p:cNvSpPr txBox="1"/>
          <p:nvPr/>
        </p:nvSpPr>
        <p:spPr>
          <a:xfrm>
            <a:off x="795528" y="336499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CENTRAL QUESTION</a:t>
            </a:r>
            <a:endParaRPr lang="en-US" sz="750" dirty="0"/>
          </a:p>
        </p:txBody>
      </p:sp>
      <p:sp>
        <p:nvSpPr>
          <p:cNvPr id="11" name="Text 9"/>
          <p:cNvSpPr txBox="1"/>
          <p:nvPr/>
        </p:nvSpPr>
        <p:spPr>
          <a:xfrm>
            <a:off x="795528" y="354787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How well can this problem be solved, and can it be proved?</a:t>
            </a:r>
            <a:endParaRPr lang="en-US" sz="1050" dirty="0"/>
          </a:p>
        </p:txBody>
      </p:sp>
      <p:sp>
        <p:nvSpPr>
          <p:cNvPr id="12" name="Text 10"/>
          <p:cNvSpPr txBox="1"/>
          <p:nvPr/>
        </p:nvSpPr>
        <p:spPr>
          <a:xfrm>
            <a:off x="795528" y="391363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PROOF MODE (LECTURE 2)</a:t>
            </a:r>
            <a:endParaRPr lang="en-US" sz="750" dirty="0"/>
          </a:p>
        </p:txBody>
      </p:sp>
      <p:sp>
        <p:nvSpPr>
          <p:cNvPr id="13" name="Text 11"/>
          <p:cNvSpPr txBox="1"/>
          <p:nvPr/>
        </p:nvSpPr>
        <p:spPr>
          <a:xfrm>
            <a:off x="795528" y="409651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Mathematical, with empirical support from an implementation.</a:t>
            </a:r>
            <a:endParaRPr lang="en-US" sz="1050" dirty="0"/>
          </a:p>
        </p:txBody>
      </p:sp>
      <p:sp>
        <p:nvSpPr>
          <p:cNvPr id="14" name="Text 12"/>
          <p:cNvSpPr txBox="1"/>
          <p:nvPr/>
        </p:nvSpPr>
        <p:spPr>
          <a:xfrm>
            <a:off x="795528" y="446227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INFERENCE (LECTURE 3)</a:t>
            </a:r>
            <a:endParaRPr lang="en-US" sz="750" dirty="0"/>
          </a:p>
        </p:txBody>
      </p:sp>
      <p:sp>
        <p:nvSpPr>
          <p:cNvPr id="15" name="Text 13"/>
          <p:cNvSpPr txBox="1"/>
          <p:nvPr/>
        </p:nvSpPr>
        <p:spPr>
          <a:xfrm>
            <a:off x="795528" y="464515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Deduction, inside a stated machine model.</a:t>
            </a:r>
            <a:endParaRPr lang="en-US" sz="1050" dirty="0"/>
          </a:p>
        </p:txBody>
      </p:sp>
      <p:sp>
        <p:nvSpPr>
          <p:cNvPr id="16" name="Text 14"/>
          <p:cNvSpPr txBox="1"/>
          <p:nvPr/>
        </p:nvSpPr>
        <p:spPr>
          <a:xfrm>
            <a:off x="795528" y="501091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A RESULT LOOKS LIKE</a:t>
            </a:r>
            <a:endParaRPr lang="en-US" sz="750" dirty="0"/>
          </a:p>
        </p:txBody>
      </p:sp>
      <p:sp>
        <p:nvSpPr>
          <p:cNvPr id="17" name="Text 15"/>
          <p:cNvSpPr txBox="1"/>
          <p:nvPr/>
        </p:nvSpPr>
        <p:spPr>
          <a:xfrm>
            <a:off x="795528" y="519379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bound, a guarantee, a hardness result, or a measured speed-up.</a:t>
            </a:r>
            <a:endParaRPr lang="en-US" sz="1050" dirty="0"/>
          </a:p>
        </p:txBody>
      </p:sp>
      <p:sp>
        <p:nvSpPr>
          <p:cNvPr id="18" name="Text 16"/>
          <p:cNvSpPr txBox="1"/>
          <p:nvPr/>
        </p:nvSpPr>
        <p:spPr>
          <a:xfrm>
            <a:off x="795528" y="555955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TYPICAL VENUES</a:t>
            </a:r>
            <a:endParaRPr lang="en-US" sz="750" dirty="0"/>
          </a:p>
        </p:txBody>
      </p:sp>
      <p:sp>
        <p:nvSpPr>
          <p:cNvPr id="19" name="Text 17"/>
          <p:cNvSpPr txBox="1"/>
          <p:nvPr/>
        </p:nvSpPr>
        <p:spPr>
          <a:xfrm>
            <a:off x="795528" y="574243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SODA, ICALP, ESA, SEA, ALENEX.</a:t>
            </a:r>
            <a:endParaRPr lang="en-US" sz="1050" dirty="0"/>
          </a:p>
        </p:txBody>
      </p:sp>
      <p:sp>
        <p:nvSpPr>
          <p:cNvPr id="20" name="Shape 18"/>
          <p:cNvSpPr/>
          <p:nvPr/>
        </p:nvSpPr>
        <p:spPr>
          <a:xfrm>
            <a:off x="6208776" y="1938528"/>
            <a:ext cx="5477256" cy="4206240"/>
          </a:xfrm>
          <a:prstGeom prst="roundRect">
            <a:avLst>
              <a:gd name="adj" fmla="val 1087"/>
            </a:avLst>
          </a:prstGeom>
          <a:solidFill>
            <a:srgbClr val="F3F1FC"/>
          </a:solidFill>
          <a:ln w="12700">
            <a:solidFill>
              <a:srgbClr val="E6E2F5"/>
            </a:solidFill>
            <a:prstDash val="solid"/>
          </a:ln>
        </p:spPr>
      </p:sp>
      <p:sp>
        <p:nvSpPr>
          <p:cNvPr id="21" name="Text 19"/>
          <p:cNvSpPr txBox="1"/>
          <p:nvPr/>
        </p:nvSpPr>
        <p:spPr>
          <a:xfrm>
            <a:off x="6501384" y="2139696"/>
            <a:ext cx="489204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TRADITION 2</a:t>
            </a:r>
            <a:endParaRPr lang="en-US" sz="850" dirty="0"/>
          </a:p>
        </p:txBody>
      </p:sp>
      <p:sp>
        <p:nvSpPr>
          <p:cNvPr id="22" name="Text 20"/>
          <p:cNvSpPr txBox="1"/>
          <p:nvPr/>
        </p:nvSpPr>
        <p:spPr>
          <a:xfrm>
            <a:off x="6501384" y="2359152"/>
            <a:ext cx="4892040" cy="365760"/>
          </a:xfrm>
          <a:prstGeom prst="rect">
            <a:avLst/>
          </a:prstGeom>
          <a:noFill/>
          <a:ln/>
        </p:spPr>
        <p:txBody>
          <a:bodyPr wrap="square" lIns="0" tIns="0" rIns="0" bIns="0" rtlCol="0" anchor="ctr"/>
          <a:lstStyle/>
          <a:p>
            <a:pPr indent="0" marL="0">
              <a:buNone/>
            </a:pPr>
            <a:r>
              <a:rPr lang="en-US" sz="2000" b="1" dirty="0">
                <a:solidFill>
                  <a:srgbClr val="241A4C"/>
                </a:solidFill>
                <a:latin typeface="Cambria" pitchFamily="34" charset="0"/>
                <a:ea typeface="Cambria" pitchFamily="34" charset="-122"/>
                <a:cs typeface="Cambria" pitchFamily="34" charset="-120"/>
              </a:rPr>
              <a:t>Software engineering</a:t>
            </a:r>
            <a:endParaRPr lang="en-US" sz="2000" dirty="0"/>
          </a:p>
        </p:txBody>
      </p:sp>
      <p:sp>
        <p:nvSpPr>
          <p:cNvPr id="23" name="Text 21"/>
          <p:cNvSpPr txBox="1"/>
          <p:nvPr/>
        </p:nvSpPr>
        <p:spPr>
          <a:xfrm>
            <a:off x="6501384" y="281635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OBJECT OF STUDY</a:t>
            </a:r>
            <a:endParaRPr lang="en-US" sz="750" dirty="0"/>
          </a:p>
        </p:txBody>
      </p:sp>
      <p:sp>
        <p:nvSpPr>
          <p:cNvPr id="24" name="Text 22"/>
          <p:cNvSpPr txBox="1"/>
          <p:nvPr/>
        </p:nvSpPr>
        <p:spPr>
          <a:xfrm>
            <a:off x="6501384" y="299923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socio-technical system: code, tools, process, and people.</a:t>
            </a:r>
            <a:endParaRPr lang="en-US" sz="1050" dirty="0"/>
          </a:p>
        </p:txBody>
      </p:sp>
      <p:sp>
        <p:nvSpPr>
          <p:cNvPr id="25" name="Text 23"/>
          <p:cNvSpPr txBox="1"/>
          <p:nvPr/>
        </p:nvSpPr>
        <p:spPr>
          <a:xfrm>
            <a:off x="6501384" y="336499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CENTRAL QUESTION</a:t>
            </a:r>
            <a:endParaRPr lang="en-US" sz="750" dirty="0"/>
          </a:p>
        </p:txBody>
      </p:sp>
      <p:sp>
        <p:nvSpPr>
          <p:cNvPr id="26" name="Text 24"/>
          <p:cNvSpPr txBox="1"/>
          <p:nvPr/>
        </p:nvSpPr>
        <p:spPr>
          <a:xfrm>
            <a:off x="6501384" y="354787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What happens when people build software, and what helps?</a:t>
            </a:r>
            <a:endParaRPr lang="en-US" sz="1050" dirty="0"/>
          </a:p>
        </p:txBody>
      </p:sp>
      <p:sp>
        <p:nvSpPr>
          <p:cNvPr id="27" name="Text 25"/>
          <p:cNvSpPr txBox="1"/>
          <p:nvPr/>
        </p:nvSpPr>
        <p:spPr>
          <a:xfrm>
            <a:off x="6501384" y="391363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PROOF MODE (LECTURE 2)</a:t>
            </a:r>
            <a:endParaRPr lang="en-US" sz="750" dirty="0"/>
          </a:p>
        </p:txBody>
      </p:sp>
      <p:sp>
        <p:nvSpPr>
          <p:cNvPr id="28" name="Text 26"/>
          <p:cNvSpPr txBox="1"/>
          <p:nvPr/>
        </p:nvSpPr>
        <p:spPr>
          <a:xfrm>
            <a:off x="6501384" y="409651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Empirical, often with a demonstration artifact alongside.</a:t>
            </a:r>
            <a:endParaRPr lang="en-US" sz="1050" dirty="0"/>
          </a:p>
        </p:txBody>
      </p:sp>
      <p:sp>
        <p:nvSpPr>
          <p:cNvPr id="29" name="Text 27"/>
          <p:cNvSpPr txBox="1"/>
          <p:nvPr/>
        </p:nvSpPr>
        <p:spPr>
          <a:xfrm>
            <a:off x="6501384" y="446227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INFERENCE (LECTURE 3)</a:t>
            </a:r>
            <a:endParaRPr lang="en-US" sz="750" dirty="0"/>
          </a:p>
        </p:txBody>
      </p:sp>
      <p:sp>
        <p:nvSpPr>
          <p:cNvPr id="30" name="Text 28"/>
          <p:cNvSpPr txBox="1"/>
          <p:nvPr/>
        </p:nvSpPr>
        <p:spPr>
          <a:xfrm>
            <a:off x="6501384" y="464515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Induction, from sampled projects, repositories, developers.</a:t>
            </a:r>
            <a:endParaRPr lang="en-US" sz="1050" dirty="0"/>
          </a:p>
        </p:txBody>
      </p:sp>
      <p:sp>
        <p:nvSpPr>
          <p:cNvPr id="31" name="Text 29"/>
          <p:cNvSpPr txBox="1"/>
          <p:nvPr/>
        </p:nvSpPr>
        <p:spPr>
          <a:xfrm>
            <a:off x="6501384" y="501091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A RESULT LOOKS LIKE</a:t>
            </a:r>
            <a:endParaRPr lang="en-US" sz="750" dirty="0"/>
          </a:p>
        </p:txBody>
      </p:sp>
      <p:sp>
        <p:nvSpPr>
          <p:cNvPr id="32" name="Text 30"/>
          <p:cNvSpPr txBox="1"/>
          <p:nvPr/>
        </p:nvSpPr>
        <p:spPr>
          <a:xfrm>
            <a:off x="6501384" y="519379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finding on a defined population, or an artifact plus evaluation.</a:t>
            </a:r>
            <a:endParaRPr lang="en-US" sz="1050" dirty="0"/>
          </a:p>
        </p:txBody>
      </p:sp>
      <p:sp>
        <p:nvSpPr>
          <p:cNvPr id="33" name="Text 31"/>
          <p:cNvSpPr txBox="1"/>
          <p:nvPr/>
        </p:nvSpPr>
        <p:spPr>
          <a:xfrm>
            <a:off x="6501384" y="5559552"/>
            <a:ext cx="4892040" cy="164592"/>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TYPICAL VENUES</a:t>
            </a:r>
            <a:endParaRPr lang="en-US" sz="750" dirty="0"/>
          </a:p>
        </p:txBody>
      </p:sp>
      <p:sp>
        <p:nvSpPr>
          <p:cNvPr id="34" name="Text 32"/>
          <p:cNvSpPr txBox="1"/>
          <p:nvPr/>
        </p:nvSpPr>
        <p:spPr>
          <a:xfrm>
            <a:off x="6501384" y="5742432"/>
            <a:ext cx="4892040" cy="310896"/>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ICSE, FSE, ASE, MSR, EMSE.</a:t>
            </a:r>
            <a:endParaRPr lang="en-US" sz="1050" dirty="0"/>
          </a:p>
        </p:txBody>
      </p:sp>
      <p:sp>
        <p:nvSpPr>
          <p:cNvPr id="35" name="Text 33"/>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6" name="Text 34"/>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3 / 26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1 · TWO RESEARCH TRADITIONS</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What Counts as a Finished Contribution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Three families of CS work, and the standard each is actually held to.</a:t>
            </a:r>
            <a:endParaRPr lang="en-US" sz="1250" dirty="0"/>
          </a:p>
        </p:txBody>
      </p:sp>
      <p:sp>
        <p:nvSpPr>
          <p:cNvPr id="5" name="Shape 3"/>
          <p:cNvSpPr/>
          <p:nvPr/>
        </p:nvSpPr>
        <p:spPr>
          <a:xfrm>
            <a:off x="502920" y="1938528"/>
            <a:ext cx="210312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8105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FAMILY OF WORK</a:t>
            </a:r>
            <a:endParaRPr lang="en-US" sz="850" dirty="0"/>
          </a:p>
        </p:txBody>
      </p:sp>
      <p:sp>
        <p:nvSpPr>
          <p:cNvPr id="7" name="Shape 5"/>
          <p:cNvSpPr/>
          <p:nvPr/>
        </p:nvSpPr>
        <p:spPr>
          <a:xfrm>
            <a:off x="2606040" y="1938528"/>
            <a:ext cx="4023360" cy="384048"/>
          </a:xfrm>
          <a:prstGeom prst="rect">
            <a:avLst/>
          </a:prstGeom>
          <a:solidFill>
            <a:srgbClr val="241A4C"/>
          </a:solidFill>
          <a:ln w="19050">
            <a:solidFill>
              <a:srgbClr val="FFFFFF"/>
            </a:solidFill>
            <a:prstDash val="solid"/>
          </a:ln>
        </p:spPr>
      </p:sp>
      <p:sp>
        <p:nvSpPr>
          <p:cNvPr id="8" name="Text 6"/>
          <p:cNvSpPr txBox="1"/>
          <p:nvPr/>
        </p:nvSpPr>
        <p:spPr>
          <a:xfrm>
            <a:off x="2752344" y="1938528"/>
            <a:ext cx="37307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IT IS COMPLETE WHEN…</a:t>
            </a:r>
            <a:endParaRPr lang="en-US" sz="850" dirty="0"/>
          </a:p>
        </p:txBody>
      </p:sp>
      <p:sp>
        <p:nvSpPr>
          <p:cNvPr id="9" name="Shape 7"/>
          <p:cNvSpPr/>
          <p:nvPr/>
        </p:nvSpPr>
        <p:spPr>
          <a:xfrm>
            <a:off x="6629400" y="1938528"/>
            <a:ext cx="2286000" cy="384048"/>
          </a:xfrm>
          <a:prstGeom prst="rect">
            <a:avLst/>
          </a:prstGeom>
          <a:solidFill>
            <a:srgbClr val="241A4C"/>
          </a:solidFill>
          <a:ln w="19050">
            <a:solidFill>
              <a:srgbClr val="FFFFFF"/>
            </a:solidFill>
            <a:prstDash val="solid"/>
          </a:ln>
        </p:spPr>
      </p:sp>
      <p:sp>
        <p:nvSpPr>
          <p:cNvPr id="10" name="Text 8"/>
          <p:cNvSpPr txBox="1"/>
          <p:nvPr/>
        </p:nvSpPr>
        <p:spPr>
          <a:xfrm>
            <a:off x="6775704" y="1938528"/>
            <a:ext cx="19933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REVIEWER'S FIRST QUESTION</a:t>
            </a:r>
            <a:endParaRPr lang="en-US" sz="850" dirty="0"/>
          </a:p>
        </p:txBody>
      </p:sp>
      <p:sp>
        <p:nvSpPr>
          <p:cNvPr id="11" name="Shape 9"/>
          <p:cNvSpPr/>
          <p:nvPr/>
        </p:nvSpPr>
        <p:spPr>
          <a:xfrm>
            <a:off x="8915400" y="1938528"/>
            <a:ext cx="2770632" cy="384048"/>
          </a:xfrm>
          <a:prstGeom prst="rect">
            <a:avLst/>
          </a:prstGeom>
          <a:solidFill>
            <a:srgbClr val="241A4C"/>
          </a:solidFill>
          <a:ln w="19050">
            <a:solidFill>
              <a:srgbClr val="FFFFFF"/>
            </a:solidFill>
            <a:prstDash val="solid"/>
          </a:ln>
        </p:spPr>
      </p:sp>
      <p:sp>
        <p:nvSpPr>
          <p:cNvPr id="12" name="Text 10"/>
          <p:cNvSpPr txBox="1"/>
          <p:nvPr/>
        </p:nvSpPr>
        <p:spPr>
          <a:xfrm>
            <a:off x="9061704" y="1938528"/>
            <a:ext cx="247802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CHARACTERISTIC WEAK PAPER</a:t>
            </a:r>
            <a:endParaRPr lang="en-US" sz="850" dirty="0"/>
          </a:p>
        </p:txBody>
      </p:sp>
      <p:sp>
        <p:nvSpPr>
          <p:cNvPr id="13" name="Shape 11"/>
          <p:cNvSpPr/>
          <p:nvPr/>
        </p:nvSpPr>
        <p:spPr>
          <a:xfrm>
            <a:off x="502920" y="2377440"/>
            <a:ext cx="11183112" cy="1078992"/>
          </a:xfrm>
          <a:prstGeom prst="rect">
            <a:avLst/>
          </a:prstGeom>
          <a:solidFill>
            <a:srgbClr val="F3F1FC"/>
          </a:solidFill>
          <a:ln/>
        </p:spPr>
      </p:sp>
      <p:sp>
        <p:nvSpPr>
          <p:cNvPr id="14" name="Shape 12"/>
          <p:cNvSpPr/>
          <p:nvPr/>
        </p:nvSpPr>
        <p:spPr>
          <a:xfrm>
            <a:off x="502920" y="2377440"/>
            <a:ext cx="50292" cy="1078992"/>
          </a:xfrm>
          <a:prstGeom prst="rect">
            <a:avLst/>
          </a:prstGeom>
          <a:solidFill>
            <a:srgbClr val="D8A73E"/>
          </a:solidFill>
          <a:ln/>
        </p:spPr>
      </p:sp>
      <p:sp>
        <p:nvSpPr>
          <p:cNvPr id="15" name="Text 13"/>
          <p:cNvSpPr txBox="1"/>
          <p:nvPr/>
        </p:nvSpPr>
        <p:spPr>
          <a:xfrm>
            <a:off x="722376" y="2377440"/>
            <a:ext cx="1719072" cy="10789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Algorithmic</a:t>
            </a:r>
            <a:endParaRPr lang="en-US" sz="1200" dirty="0"/>
          </a:p>
        </p:txBody>
      </p:sp>
      <p:sp>
        <p:nvSpPr>
          <p:cNvPr id="16" name="Text 14"/>
          <p:cNvSpPr txBox="1"/>
          <p:nvPr/>
        </p:nvSpPr>
        <p:spPr>
          <a:xfrm>
            <a:off x="2770632" y="2377440"/>
            <a:ext cx="36941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There is a stated model, a proved correctness argument, a derived bound or a proved impossibility — and, increasingly, an implementation measured on accepted instances.</a:t>
            </a:r>
            <a:endParaRPr lang="en-US" sz="1050" dirty="0"/>
          </a:p>
        </p:txBody>
      </p:sp>
      <p:sp>
        <p:nvSpPr>
          <p:cNvPr id="17" name="Text 15"/>
          <p:cNvSpPr txBox="1"/>
          <p:nvPr/>
        </p:nvSpPr>
        <p:spPr>
          <a:xfrm>
            <a:off x="6793992" y="2377440"/>
            <a:ext cx="195681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Is the bound tight, and is the model the right one?</a:t>
            </a:r>
            <a:endParaRPr lang="en-US" sz="1050" dirty="0"/>
          </a:p>
        </p:txBody>
      </p:sp>
      <p:sp>
        <p:nvSpPr>
          <p:cNvPr id="18" name="Text 16"/>
          <p:cNvSpPr txBox="1"/>
          <p:nvPr/>
        </p:nvSpPr>
        <p:spPr>
          <a:xfrm>
            <a:off x="9079992" y="2377440"/>
            <a:ext cx="2441448"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new procedure with no analysis and no baseline, evaluated on instances the authors generated themselves.</a:t>
            </a:r>
            <a:endParaRPr lang="en-US" sz="1050" dirty="0"/>
          </a:p>
        </p:txBody>
      </p:sp>
      <p:sp>
        <p:nvSpPr>
          <p:cNvPr id="19" name="Shape 17"/>
          <p:cNvSpPr/>
          <p:nvPr/>
        </p:nvSpPr>
        <p:spPr>
          <a:xfrm>
            <a:off x="502920" y="3511296"/>
            <a:ext cx="11183112" cy="1078992"/>
          </a:xfrm>
          <a:prstGeom prst="rect">
            <a:avLst/>
          </a:prstGeom>
          <a:solidFill>
            <a:srgbClr val="FFFFFF"/>
          </a:solidFill>
          <a:ln/>
        </p:spPr>
      </p:sp>
      <p:sp>
        <p:nvSpPr>
          <p:cNvPr id="20" name="Shape 18"/>
          <p:cNvSpPr/>
          <p:nvPr/>
        </p:nvSpPr>
        <p:spPr>
          <a:xfrm>
            <a:off x="502920" y="3511296"/>
            <a:ext cx="50292" cy="1078992"/>
          </a:xfrm>
          <a:prstGeom prst="rect">
            <a:avLst/>
          </a:prstGeom>
          <a:solidFill>
            <a:srgbClr val="3D6EA6"/>
          </a:solidFill>
          <a:ln/>
        </p:spPr>
      </p:sp>
      <p:sp>
        <p:nvSpPr>
          <p:cNvPr id="21" name="Text 19"/>
          <p:cNvSpPr txBox="1"/>
          <p:nvPr/>
        </p:nvSpPr>
        <p:spPr>
          <a:xfrm>
            <a:off x="722376" y="3511296"/>
            <a:ext cx="1719072" cy="10789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Software engineering</a:t>
            </a:r>
            <a:endParaRPr lang="en-US" sz="1200" dirty="0"/>
          </a:p>
        </p:txBody>
      </p:sp>
      <p:sp>
        <p:nvSpPr>
          <p:cNvPr id="22" name="Text 20"/>
          <p:cNvSpPr txBox="1"/>
          <p:nvPr/>
        </p:nvSpPr>
        <p:spPr>
          <a:xfrm>
            <a:off x="2770632" y="3511296"/>
            <a:ext cx="36941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question is answered on a defined population, with threats to validity stated, and with the protocol or data available for someone else to re-run.</a:t>
            </a:r>
            <a:endParaRPr lang="en-US" sz="1050" dirty="0"/>
          </a:p>
        </p:txBody>
      </p:sp>
      <p:sp>
        <p:nvSpPr>
          <p:cNvPr id="23" name="Text 21"/>
          <p:cNvSpPr txBox="1"/>
          <p:nvPr/>
        </p:nvSpPr>
        <p:spPr>
          <a:xfrm>
            <a:off x="6793992" y="3511296"/>
            <a:ext cx="195681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What population is this about, and would it replicate?</a:t>
            </a:r>
            <a:endParaRPr lang="en-US" sz="1050" dirty="0"/>
          </a:p>
        </p:txBody>
      </p:sp>
      <p:sp>
        <p:nvSpPr>
          <p:cNvPr id="24" name="Text 22"/>
          <p:cNvSpPr txBox="1"/>
          <p:nvPr/>
        </p:nvSpPr>
        <p:spPr>
          <a:xfrm>
            <a:off x="9079992" y="3511296"/>
            <a:ext cx="2441448"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tool paper whose entire evaluation is the authors demonstrating their own tool on examples they chose.</a:t>
            </a:r>
            <a:endParaRPr lang="en-US" sz="1050" dirty="0"/>
          </a:p>
        </p:txBody>
      </p:sp>
      <p:sp>
        <p:nvSpPr>
          <p:cNvPr id="25" name="Shape 23"/>
          <p:cNvSpPr/>
          <p:nvPr/>
        </p:nvSpPr>
        <p:spPr>
          <a:xfrm>
            <a:off x="502920" y="4645152"/>
            <a:ext cx="11183112" cy="1078992"/>
          </a:xfrm>
          <a:prstGeom prst="rect">
            <a:avLst/>
          </a:prstGeom>
          <a:solidFill>
            <a:srgbClr val="F3F1FC"/>
          </a:solidFill>
          <a:ln/>
        </p:spPr>
      </p:sp>
      <p:sp>
        <p:nvSpPr>
          <p:cNvPr id="26" name="Shape 24"/>
          <p:cNvSpPr/>
          <p:nvPr/>
        </p:nvSpPr>
        <p:spPr>
          <a:xfrm>
            <a:off x="502920" y="4645152"/>
            <a:ext cx="50292" cy="1078992"/>
          </a:xfrm>
          <a:prstGeom prst="rect">
            <a:avLst/>
          </a:prstGeom>
          <a:solidFill>
            <a:srgbClr val="B4522B"/>
          </a:solidFill>
          <a:ln/>
        </p:spPr>
      </p:sp>
      <p:sp>
        <p:nvSpPr>
          <p:cNvPr id="27" name="Text 25"/>
          <p:cNvSpPr txBox="1"/>
          <p:nvPr/>
        </p:nvSpPr>
        <p:spPr>
          <a:xfrm>
            <a:off x="722376" y="4645152"/>
            <a:ext cx="1719072" cy="10789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Spanning both</a:t>
            </a:r>
            <a:endParaRPr lang="en-US" sz="1200" dirty="0"/>
          </a:p>
        </p:txBody>
      </p:sp>
      <p:sp>
        <p:nvSpPr>
          <p:cNvPr id="28" name="Text 26"/>
          <p:cNvSpPr txBox="1"/>
          <p:nvPr/>
        </p:nvSpPr>
        <p:spPr>
          <a:xfrm>
            <a:off x="2770632" y="4645152"/>
            <a:ext cx="369417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An artifact exists and is available, and its claimed property is both argued and measured against the strongest available alternative.</a:t>
            </a:r>
            <a:endParaRPr lang="en-US" sz="1050" dirty="0"/>
          </a:p>
        </p:txBody>
      </p:sp>
      <p:sp>
        <p:nvSpPr>
          <p:cNvPr id="29" name="Text 27"/>
          <p:cNvSpPr txBox="1"/>
          <p:nvPr/>
        </p:nvSpPr>
        <p:spPr>
          <a:xfrm>
            <a:off x="6793992" y="4645152"/>
            <a:ext cx="1956816"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Can I run it, and was the baseline a fair one?</a:t>
            </a:r>
            <a:endParaRPr lang="en-US" sz="1050" dirty="0"/>
          </a:p>
        </p:txBody>
      </p:sp>
      <p:sp>
        <p:nvSpPr>
          <p:cNvPr id="30" name="Text 28"/>
          <p:cNvSpPr txBox="1"/>
          <p:nvPr/>
        </p:nvSpPr>
        <p:spPr>
          <a:xfrm>
            <a:off x="9079992" y="4645152"/>
            <a:ext cx="2441448" cy="10789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prototype, a demo, a related-work list — and no comparison against anything.</a:t>
            </a:r>
            <a:endParaRPr lang="en-US" sz="1050" dirty="0"/>
          </a:p>
        </p:txBody>
      </p:sp>
      <p:sp>
        <p:nvSpPr>
          <p:cNvPr id="31" name="Text 29"/>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Note what all three share: a stated premise, an honest comparison, and something a stranger could check. The rest is tradition-specific detail.</a:t>
            </a:r>
            <a:endParaRPr lang="en-US" sz="115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4 / 26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535"/>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1535"/>
          </a:solidFill>
          <a:ln/>
        </p:spPr>
      </p:sp>
      <p:sp>
        <p:nvSpPr>
          <p:cNvPr id="3" name="Text 1"/>
          <p:cNvSpPr txBox="1"/>
          <p:nvPr/>
        </p:nvSpPr>
        <p:spPr>
          <a:xfrm>
            <a:off x="804672" y="1920240"/>
            <a:ext cx="7315200" cy="256032"/>
          </a:xfrm>
          <a:prstGeom prst="rect">
            <a:avLst/>
          </a:prstGeom>
          <a:noFill/>
          <a:ln/>
        </p:spPr>
        <p:txBody>
          <a:bodyPr wrap="square" lIns="0" tIns="0" rIns="0" bIns="0" rtlCol="0" anchor="ctr"/>
          <a:lstStyle/>
          <a:p>
            <a:pPr indent="0" marL="0">
              <a:buNone/>
            </a:pPr>
            <a:r>
              <a:rPr lang="en-US" sz="1100" b="1" spc="200" kern="0" dirty="0">
                <a:solidFill>
                  <a:srgbClr val="D8A73E"/>
                </a:solidFill>
                <a:latin typeface="Calibri" pitchFamily="34" charset="0"/>
                <a:ea typeface="Calibri" pitchFamily="34" charset="-122"/>
                <a:cs typeface="Calibri" pitchFamily="34" charset="-120"/>
              </a:rPr>
              <a:t>PART 1  →  PART 2</a:t>
            </a:r>
            <a:endParaRPr lang="en-US" sz="1100" dirty="0"/>
          </a:p>
        </p:txBody>
      </p:sp>
      <p:sp>
        <p:nvSpPr>
          <p:cNvPr id="4" name="Text 2"/>
          <p:cNvSpPr txBox="1"/>
          <p:nvPr/>
        </p:nvSpPr>
        <p:spPr>
          <a:xfrm>
            <a:off x="768096" y="2395728"/>
            <a:ext cx="9509760" cy="1280160"/>
          </a:xfrm>
          <a:prstGeom prst="rect">
            <a:avLst/>
          </a:prstGeom>
          <a:noFill/>
          <a:ln/>
        </p:spPr>
        <p:txBody>
          <a:bodyPr wrap="square" lIns="0" tIns="0" rIns="0" bIns="0" rtlCol="0" anchor="ctr"/>
          <a:lstStyle/>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From two traditions</a:t>
            </a:r>
            <a:endParaRPr lang="en-US" sz="3200" dirty="0"/>
          </a:p>
          <a:p>
            <a:pPr indent="0" marL="0">
              <a:lnSpc>
                <a:spcPct val="110000"/>
              </a:lnSpc>
              <a:buNone/>
            </a:pPr>
            <a:r>
              <a:rPr lang="en-US" sz="3200" b="1" dirty="0">
                <a:solidFill>
                  <a:srgbClr val="FFFFFF"/>
                </a:solidFill>
                <a:latin typeface="Cambria" pitchFamily="34" charset="0"/>
                <a:ea typeface="Cambria" pitchFamily="34" charset="-122"/>
                <a:cs typeface="Cambria" pitchFamily="34" charset="-120"/>
              </a:rPr>
              <a:t>to the first one's working method</a:t>
            </a:r>
            <a:endParaRPr lang="en-US" sz="3200" dirty="0"/>
          </a:p>
        </p:txBody>
      </p:sp>
      <p:sp>
        <p:nvSpPr>
          <p:cNvPr id="5" name="Text 3"/>
          <p:cNvSpPr txBox="1"/>
          <p:nvPr/>
        </p:nvSpPr>
        <p:spPr>
          <a:xfrm>
            <a:off x="804672" y="3877056"/>
            <a:ext cx="8412480" cy="658368"/>
          </a:xfrm>
          <a:prstGeom prst="rect">
            <a:avLst/>
          </a:prstGeom>
          <a:noFill/>
          <a:ln/>
        </p:spPr>
        <p:txBody>
          <a:bodyPr wrap="square" lIns="0" tIns="0" rIns="0" bIns="0" rtlCol="0" anchor="t"/>
          <a:lstStyle/>
          <a:p>
            <a:pPr indent="0" marL="0">
              <a:lnSpc>
                <a:spcPct val="125000"/>
              </a:lnSpc>
              <a:buNone/>
            </a:pPr>
            <a:r>
              <a:rPr lang="en-US" sz="1400" i="1" dirty="0">
                <a:solidFill>
                  <a:srgbClr val="E4DFFA"/>
                </a:solidFill>
                <a:latin typeface="Cambria" pitchFamily="34" charset="0"/>
                <a:ea typeface="Cambria" pitchFamily="34" charset="-122"/>
                <a:cs typeface="Cambria" pitchFamily="34" charset="-120"/>
              </a:rPr>
              <a:t>If the object of study is a problem, what does a research programme around it actually consist of — from the first formalisation to the last measurement?</a:t>
            </a:r>
            <a:endParaRPr lang="en-US" sz="1400" dirty="0"/>
          </a:p>
        </p:txBody>
      </p:sp>
      <p:sp>
        <p:nvSpPr>
          <p:cNvPr id="6" name="Text 4"/>
          <p:cNvSpPr txBox="1"/>
          <p:nvPr/>
        </p:nvSpPr>
        <p:spPr>
          <a:xfrm>
            <a:off x="804672" y="4828032"/>
            <a:ext cx="8412480" cy="274320"/>
          </a:xfrm>
          <a:prstGeom prst="rect">
            <a:avLst/>
          </a:prstGeom>
          <a:noFill/>
          <a:ln/>
        </p:spPr>
        <p:txBody>
          <a:bodyPr wrap="square" lIns="0" tIns="0" rIns="0" bIns="0" rtlCol="0" anchor="ctr"/>
          <a:lstStyle/>
          <a:p>
            <a:pPr indent="0" marL="0">
              <a:buNone/>
            </a:pPr>
            <a:r>
              <a:rPr lang="en-US" sz="1100" dirty="0">
                <a:solidFill>
                  <a:srgbClr val="D8A73E"/>
                </a:solidFill>
                <a:latin typeface="Calibri" pitchFamily="34" charset="0"/>
                <a:ea typeface="Calibri" pitchFamily="34" charset="-122"/>
                <a:cs typeface="Calibri" pitchFamily="34" charset="-120"/>
              </a:rPr>
              <a:t>Next: the algorithmic approach — pipeline, paradigms, analysis, and the engineering loop.</a:t>
            </a:r>
            <a:endParaRPr lang="en-US" sz="1100" dirty="0"/>
          </a:p>
        </p:txBody>
      </p:sp>
      <p:sp>
        <p:nvSpPr>
          <p:cNvPr id="7" name="Text 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6E688F"/>
                </a:solidFill>
                <a:latin typeface="Calibri" pitchFamily="34" charset="0"/>
                <a:ea typeface="Calibri" pitchFamily="34" charset="-122"/>
                <a:cs typeface="Calibri" pitchFamily="34" charset="-120"/>
              </a:rPr>
              <a:t>ALGORITHMIC &amp; SE APPROACHES</a:t>
            </a:r>
            <a:endParaRPr lang="en-US" sz="800" dirty="0"/>
          </a:p>
        </p:txBody>
      </p:sp>
      <p:sp>
        <p:nvSpPr>
          <p:cNvPr id="8" name="Text 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6E688F"/>
                </a:solidFill>
                <a:latin typeface="Calibri" pitchFamily="34" charset="0"/>
                <a:ea typeface="Calibri" pitchFamily="34" charset="-122"/>
                <a:cs typeface="Calibri" pitchFamily="34" charset="-120"/>
              </a:rPr>
              <a:t>5 / 26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THE ALGORITHMIC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Algorithmic Research Pipeline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stages. The first is where most of the intellectual work lives, and the one most often skipped in student projects.</a:t>
            </a:r>
            <a:endParaRPr lang="en-US" sz="1250" dirty="0"/>
          </a:p>
        </p:txBody>
      </p:sp>
      <p:sp>
        <p:nvSpPr>
          <p:cNvPr id="5" name="Shape 3"/>
          <p:cNvSpPr/>
          <p:nvPr/>
        </p:nvSpPr>
        <p:spPr>
          <a:xfrm>
            <a:off x="502920" y="1938528"/>
            <a:ext cx="384048" cy="384048"/>
          </a:xfrm>
          <a:prstGeom prst="ellipse">
            <a:avLst/>
          </a:prstGeom>
          <a:solidFill>
            <a:srgbClr val="B08C3A"/>
          </a:solidFill>
          <a:ln/>
        </p:spPr>
      </p:sp>
      <p:sp>
        <p:nvSpPr>
          <p:cNvPr id="6" name="Text 4"/>
          <p:cNvSpPr txBox="1"/>
          <p:nvPr/>
        </p:nvSpPr>
        <p:spPr>
          <a:xfrm>
            <a:off x="502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502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Formalise</a:t>
            </a:r>
            <a:endParaRPr lang="en-US" sz="1450" dirty="0"/>
          </a:p>
        </p:txBody>
      </p:sp>
      <p:sp>
        <p:nvSpPr>
          <p:cNvPr id="8" name="Text 6"/>
          <p:cNvSpPr txBox="1"/>
          <p:nvPr/>
        </p:nvSpPr>
        <p:spPr>
          <a:xfrm>
            <a:off x="502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Turn an informal problem into a precise input–output specification, with an objective and a cost model. Everything later is relative to this.</a:t>
            </a:r>
            <a:endParaRPr lang="en-US" sz="1050" dirty="0"/>
          </a:p>
        </p:txBody>
      </p:sp>
      <p:sp>
        <p:nvSpPr>
          <p:cNvPr id="9" name="Text 7"/>
          <p:cNvSpPr txBox="1"/>
          <p:nvPr/>
        </p:nvSpPr>
        <p:spPr>
          <a:xfrm>
            <a:off x="2487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788920" y="1938528"/>
            <a:ext cx="384048" cy="384048"/>
          </a:xfrm>
          <a:prstGeom prst="ellipse">
            <a:avLst/>
          </a:prstGeom>
          <a:solidFill>
            <a:srgbClr val="3D6EA6"/>
          </a:solidFill>
          <a:ln/>
        </p:spPr>
      </p:sp>
      <p:sp>
        <p:nvSpPr>
          <p:cNvPr id="11" name="Text 9"/>
          <p:cNvSpPr txBox="1"/>
          <p:nvPr/>
        </p:nvSpPr>
        <p:spPr>
          <a:xfrm>
            <a:off x="2788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2788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Design</a:t>
            </a:r>
            <a:endParaRPr lang="en-US" sz="1450" dirty="0"/>
          </a:p>
        </p:txBody>
      </p:sp>
      <p:sp>
        <p:nvSpPr>
          <p:cNvPr id="13" name="Text 11"/>
          <p:cNvSpPr txBox="1"/>
          <p:nvPr/>
        </p:nvSpPr>
        <p:spPr>
          <a:xfrm>
            <a:off x="2788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Construct a procedure, usually by instantiating a known paradigm and adapting it to the structure of the problem.</a:t>
            </a:r>
            <a:endParaRPr lang="en-US" sz="1050" dirty="0"/>
          </a:p>
        </p:txBody>
      </p:sp>
      <p:sp>
        <p:nvSpPr>
          <p:cNvPr id="14" name="Text 12"/>
          <p:cNvSpPr txBox="1"/>
          <p:nvPr/>
        </p:nvSpPr>
        <p:spPr>
          <a:xfrm>
            <a:off x="4773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074920" y="1938528"/>
            <a:ext cx="384048" cy="384048"/>
          </a:xfrm>
          <a:prstGeom prst="ellipse">
            <a:avLst/>
          </a:prstGeom>
          <a:solidFill>
            <a:srgbClr val="3D6EA6"/>
          </a:solidFill>
          <a:ln/>
        </p:spPr>
      </p:sp>
      <p:sp>
        <p:nvSpPr>
          <p:cNvPr id="16" name="Text 14"/>
          <p:cNvSpPr txBox="1"/>
          <p:nvPr/>
        </p:nvSpPr>
        <p:spPr>
          <a:xfrm>
            <a:off x="5074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5074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Analyse</a:t>
            </a:r>
            <a:endParaRPr lang="en-US" sz="1450" dirty="0"/>
          </a:p>
        </p:txBody>
      </p:sp>
      <p:sp>
        <p:nvSpPr>
          <p:cNvPr id="18" name="Text 16"/>
          <p:cNvSpPr txBox="1"/>
          <p:nvPr/>
        </p:nvSpPr>
        <p:spPr>
          <a:xfrm>
            <a:off x="5074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Prove correctness, then derive a resource bound in the stated model. Both obligations, not one.</a:t>
            </a:r>
            <a:endParaRPr lang="en-US" sz="1050" dirty="0"/>
          </a:p>
        </p:txBody>
      </p:sp>
      <p:sp>
        <p:nvSpPr>
          <p:cNvPr id="19" name="Text 17"/>
          <p:cNvSpPr txBox="1"/>
          <p:nvPr/>
        </p:nvSpPr>
        <p:spPr>
          <a:xfrm>
            <a:off x="7059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7360920" y="1938528"/>
            <a:ext cx="384048" cy="384048"/>
          </a:xfrm>
          <a:prstGeom prst="ellipse">
            <a:avLst/>
          </a:prstGeom>
          <a:solidFill>
            <a:srgbClr val="B4522B"/>
          </a:solidFill>
          <a:ln/>
        </p:spPr>
      </p:sp>
      <p:sp>
        <p:nvSpPr>
          <p:cNvPr id="21" name="Text 19"/>
          <p:cNvSpPr txBox="1"/>
          <p:nvPr/>
        </p:nvSpPr>
        <p:spPr>
          <a:xfrm>
            <a:off x="7360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7360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Implement</a:t>
            </a:r>
            <a:endParaRPr lang="en-US" sz="1450" dirty="0"/>
          </a:p>
        </p:txBody>
      </p:sp>
      <p:sp>
        <p:nvSpPr>
          <p:cNvPr id="23" name="Text 21"/>
          <p:cNvSpPr txBox="1"/>
          <p:nvPr/>
        </p:nvSpPr>
        <p:spPr>
          <a:xfrm>
            <a:off x="7360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Realise it — at which point constants, memory layout, and engineering effort become visible for the first time.</a:t>
            </a:r>
            <a:endParaRPr lang="en-US" sz="1050" dirty="0"/>
          </a:p>
        </p:txBody>
      </p:sp>
      <p:sp>
        <p:nvSpPr>
          <p:cNvPr id="24" name="Text 22"/>
          <p:cNvSpPr txBox="1"/>
          <p:nvPr/>
        </p:nvSpPr>
        <p:spPr>
          <a:xfrm>
            <a:off x="9345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9646920" y="1938528"/>
            <a:ext cx="384048" cy="384048"/>
          </a:xfrm>
          <a:prstGeom prst="ellipse">
            <a:avLst/>
          </a:prstGeom>
          <a:solidFill>
            <a:srgbClr val="B4522B"/>
          </a:solidFill>
          <a:ln/>
        </p:spPr>
      </p:sp>
      <p:sp>
        <p:nvSpPr>
          <p:cNvPr id="26" name="Text 24"/>
          <p:cNvSpPr txBox="1"/>
          <p:nvPr/>
        </p:nvSpPr>
        <p:spPr>
          <a:xfrm>
            <a:off x="9646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txBox="1"/>
          <p:nvPr/>
        </p:nvSpPr>
        <p:spPr>
          <a:xfrm>
            <a:off x="9646920" y="2468880"/>
            <a:ext cx="2039112" cy="292608"/>
          </a:xfrm>
          <a:prstGeom prst="rect">
            <a:avLst/>
          </a:prstGeom>
          <a:noFill/>
          <a:ln/>
        </p:spPr>
        <p:txBody>
          <a:bodyPr wrap="square" lIns="0" tIns="0" rIns="0" bIns="0" rtlCol="0" anchor="ctr"/>
          <a:lstStyle/>
          <a:p>
            <a:pPr indent="0" marL="0">
              <a:buNone/>
            </a:pPr>
            <a:r>
              <a:rPr lang="en-US" sz="1450" b="1" dirty="0">
                <a:solidFill>
                  <a:srgbClr val="241A4C"/>
                </a:solidFill>
                <a:latin typeface="Cambria" pitchFamily="34" charset="0"/>
                <a:ea typeface="Cambria" pitchFamily="34" charset="-122"/>
                <a:cs typeface="Cambria" pitchFamily="34" charset="-120"/>
              </a:rPr>
              <a:t>Experiment</a:t>
            </a:r>
            <a:endParaRPr lang="en-US" sz="1450" dirty="0"/>
          </a:p>
        </p:txBody>
      </p:sp>
      <p:sp>
        <p:nvSpPr>
          <p:cNvPr id="28" name="Text 26"/>
          <p:cNvSpPr txBox="1"/>
          <p:nvPr/>
        </p:nvSpPr>
        <p:spPr>
          <a:xfrm>
            <a:off x="9646920" y="2834640"/>
            <a:ext cx="2039112" cy="164592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Measure on accepted instance families, against the strongest available alternatives, with Lecture 2's obligations.</a:t>
            </a:r>
            <a:endParaRPr lang="en-US" sz="1050" dirty="0"/>
          </a:p>
        </p:txBody>
      </p:sp>
      <p:sp>
        <p:nvSpPr>
          <p:cNvPr id="29" name="Shape 27"/>
          <p:cNvSpPr/>
          <p:nvPr/>
        </p:nvSpPr>
        <p:spPr>
          <a:xfrm>
            <a:off x="502920" y="4681728"/>
            <a:ext cx="11183112" cy="1133856"/>
          </a:xfrm>
          <a:prstGeom prst="roundRect">
            <a:avLst>
              <a:gd name="adj" fmla="val 4032"/>
            </a:avLst>
          </a:prstGeom>
          <a:solidFill>
            <a:srgbClr val="F3F1FC"/>
          </a:solidFill>
          <a:ln/>
        </p:spPr>
      </p:sp>
      <p:sp>
        <p:nvSpPr>
          <p:cNvPr id="30" name="Text 28"/>
          <p:cNvSpPr txBox="1"/>
          <p:nvPr/>
        </p:nvSpPr>
        <p:spPr>
          <a:xfrm>
            <a:off x="795528" y="4846320"/>
            <a:ext cx="548640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STAGES 4 AND 5 USED TO BE OPTIONAL</a:t>
            </a:r>
            <a:endParaRPr lang="en-US" sz="850" dirty="0"/>
          </a:p>
        </p:txBody>
      </p:sp>
      <p:sp>
        <p:nvSpPr>
          <p:cNvPr id="31" name="Text 29"/>
          <p:cNvSpPr txBox="1"/>
          <p:nvPr/>
        </p:nvSpPr>
        <p:spPr>
          <a:xfrm>
            <a:off x="795528" y="5084064"/>
            <a:ext cx="10597896" cy="603504"/>
          </a:xfrm>
          <a:prstGeom prst="rect">
            <a:avLst/>
          </a:prstGeom>
          <a:noFill/>
          <a:ln/>
        </p:spPr>
        <p:txBody>
          <a:bodyPr wrap="square" lIns="0" tIns="0" rIns="0" bIns="0" rtlCol="0" anchor="t"/>
          <a:lstStyle/>
          <a:p>
            <a:pPr indent="0" marL="0">
              <a:lnSpc>
                <a:spcPct val="118000"/>
              </a:lnSpc>
              <a:buNone/>
            </a:pPr>
            <a:r>
              <a:rPr lang="en-US" sz="1100" dirty="0">
                <a:solidFill>
                  <a:srgbClr val="5C5A66"/>
                </a:solidFill>
                <a:latin typeface="Calibri" pitchFamily="34" charset="0"/>
                <a:ea typeface="Calibri" pitchFamily="34" charset="-122"/>
                <a:cs typeface="Calibri" pitchFamily="34" charset="-120"/>
              </a:rPr>
              <a:t>For decades an algorithms paper could end at stage 3, and many still legitimately do — a lower bound needs no implementation. But the experimental algorithmics community, the ALENEX and SEA venues, the DIMACS Implementation Challenges, and conference artifact evaluation have together made the full pipeline the default expectation for any paper claiming practical benefit.</a:t>
            </a:r>
            <a:endParaRPr lang="en-US" sz="110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6 / 26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THE ALGORITHMIC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Design-Paradigm Toolkit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Eight recurring structures. As with Lecture 3's proof techniques, the skill is not executing them — it is recognising which the problem's structure admits.</a:t>
            </a:r>
            <a:endParaRPr lang="en-US" sz="1250" dirty="0"/>
          </a:p>
        </p:txBody>
      </p:sp>
      <p:sp>
        <p:nvSpPr>
          <p:cNvPr id="5" name="Shape 3"/>
          <p:cNvSpPr/>
          <p:nvPr/>
        </p:nvSpPr>
        <p:spPr>
          <a:xfrm>
            <a:off x="502920" y="1938528"/>
            <a:ext cx="2624328" cy="1572768"/>
          </a:xfrm>
          <a:prstGeom prst="roundRect">
            <a:avLst>
              <a:gd name="adj" fmla="val 2907"/>
            </a:avLst>
          </a:prstGeom>
          <a:solidFill>
            <a:srgbClr val="F3F1FC"/>
          </a:solidFill>
          <a:ln w="12700">
            <a:solidFill>
              <a:srgbClr val="E6E2F5"/>
            </a:solidFill>
            <a:prstDash val="solid"/>
          </a:ln>
        </p:spPr>
      </p:sp>
      <p:sp>
        <p:nvSpPr>
          <p:cNvPr id="6" name="Text 4"/>
          <p:cNvSpPr txBox="1"/>
          <p:nvPr/>
        </p:nvSpPr>
        <p:spPr>
          <a:xfrm>
            <a:off x="740664"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Divide and conquer</a:t>
            </a:r>
            <a:endParaRPr lang="en-US" sz="1300" dirty="0"/>
          </a:p>
        </p:txBody>
      </p:sp>
      <p:sp>
        <p:nvSpPr>
          <p:cNvPr id="7" name="Text 5"/>
          <p:cNvSpPr txBox="1"/>
          <p:nvPr/>
        </p:nvSpPr>
        <p:spPr>
          <a:xfrm>
            <a:off x="740664"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Split, recurse, combine.</a:t>
            </a:r>
            <a:endParaRPr lang="en-US" sz="1050" dirty="0"/>
          </a:p>
        </p:txBody>
      </p:sp>
      <p:sp>
        <p:nvSpPr>
          <p:cNvPr id="8" name="Text 6"/>
          <p:cNvSpPr txBox="1"/>
          <p:nvPr/>
        </p:nvSpPr>
        <p:spPr>
          <a:xfrm>
            <a:off x="740664"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Analysed by recurrence. Mergesort, FFT, Strassen.</a:t>
            </a:r>
            <a:endParaRPr lang="en-US" sz="950" dirty="0"/>
          </a:p>
        </p:txBody>
      </p:sp>
      <p:sp>
        <p:nvSpPr>
          <p:cNvPr id="9" name="Shape 7"/>
          <p:cNvSpPr/>
          <p:nvPr/>
        </p:nvSpPr>
        <p:spPr>
          <a:xfrm>
            <a:off x="3355848" y="1938528"/>
            <a:ext cx="2624328" cy="1572768"/>
          </a:xfrm>
          <a:prstGeom prst="roundRect">
            <a:avLst>
              <a:gd name="adj" fmla="val 2907"/>
            </a:avLst>
          </a:prstGeom>
          <a:solidFill>
            <a:srgbClr val="F3F1FC"/>
          </a:solidFill>
          <a:ln w="12700">
            <a:solidFill>
              <a:srgbClr val="E6E2F5"/>
            </a:solidFill>
            <a:prstDash val="solid"/>
          </a:ln>
        </p:spPr>
      </p:sp>
      <p:sp>
        <p:nvSpPr>
          <p:cNvPr id="10" name="Text 8"/>
          <p:cNvSpPr txBox="1"/>
          <p:nvPr/>
        </p:nvSpPr>
        <p:spPr>
          <a:xfrm>
            <a:off x="3593592"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Greedy</a:t>
            </a:r>
            <a:endParaRPr lang="en-US" sz="1300" dirty="0"/>
          </a:p>
        </p:txBody>
      </p:sp>
      <p:sp>
        <p:nvSpPr>
          <p:cNvPr id="11" name="Text 9"/>
          <p:cNvSpPr txBox="1"/>
          <p:nvPr/>
        </p:nvSpPr>
        <p:spPr>
          <a:xfrm>
            <a:off x="3593592"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Take the locally best choice and never revise it.</a:t>
            </a:r>
            <a:endParaRPr lang="en-US" sz="1050" dirty="0"/>
          </a:p>
        </p:txBody>
      </p:sp>
      <p:sp>
        <p:nvSpPr>
          <p:cNvPr id="12" name="Text 10"/>
          <p:cNvSpPr txBox="1"/>
          <p:nvPr/>
        </p:nvSpPr>
        <p:spPr>
          <a:xfrm>
            <a:off x="3593592"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Correctness by exchange argument or matroid structure. Kruskal, Huffman.</a:t>
            </a:r>
            <a:endParaRPr lang="en-US" sz="950" dirty="0"/>
          </a:p>
        </p:txBody>
      </p:sp>
      <p:sp>
        <p:nvSpPr>
          <p:cNvPr id="13" name="Shape 11"/>
          <p:cNvSpPr/>
          <p:nvPr/>
        </p:nvSpPr>
        <p:spPr>
          <a:xfrm>
            <a:off x="6208776" y="1938528"/>
            <a:ext cx="2624328" cy="1572768"/>
          </a:xfrm>
          <a:prstGeom prst="roundRect">
            <a:avLst>
              <a:gd name="adj" fmla="val 2907"/>
            </a:avLst>
          </a:prstGeom>
          <a:solidFill>
            <a:srgbClr val="F3F1FC"/>
          </a:solidFill>
          <a:ln w="12700">
            <a:solidFill>
              <a:srgbClr val="E6E2F5"/>
            </a:solidFill>
            <a:prstDash val="solid"/>
          </a:ln>
        </p:spPr>
      </p:sp>
      <p:sp>
        <p:nvSpPr>
          <p:cNvPr id="14" name="Text 12"/>
          <p:cNvSpPr txBox="1"/>
          <p:nvPr/>
        </p:nvSpPr>
        <p:spPr>
          <a:xfrm>
            <a:off x="6446520"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Dynamic programming</a:t>
            </a:r>
            <a:endParaRPr lang="en-US" sz="1300" dirty="0"/>
          </a:p>
        </p:txBody>
      </p:sp>
      <p:sp>
        <p:nvSpPr>
          <p:cNvPr id="15" name="Text 13"/>
          <p:cNvSpPr txBox="1"/>
          <p:nvPr/>
        </p:nvSpPr>
        <p:spPr>
          <a:xfrm>
            <a:off x="6446520"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Overlapping subproblems with optimal substructure.</a:t>
            </a:r>
            <a:endParaRPr lang="en-US" sz="1050" dirty="0"/>
          </a:p>
        </p:txBody>
      </p:sp>
      <p:sp>
        <p:nvSpPr>
          <p:cNvPr id="16" name="Text 14"/>
          <p:cNvSpPr txBox="1"/>
          <p:nvPr/>
        </p:nvSpPr>
        <p:spPr>
          <a:xfrm>
            <a:off x="6446520"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Correctness by induction over subproblem order. Bellman–Ford, alignment.</a:t>
            </a:r>
            <a:endParaRPr lang="en-US" sz="950" dirty="0"/>
          </a:p>
        </p:txBody>
      </p:sp>
      <p:sp>
        <p:nvSpPr>
          <p:cNvPr id="17" name="Shape 15"/>
          <p:cNvSpPr/>
          <p:nvPr/>
        </p:nvSpPr>
        <p:spPr>
          <a:xfrm>
            <a:off x="9061704" y="1938528"/>
            <a:ext cx="2624328" cy="1572768"/>
          </a:xfrm>
          <a:prstGeom prst="roundRect">
            <a:avLst>
              <a:gd name="adj" fmla="val 2907"/>
            </a:avLst>
          </a:prstGeom>
          <a:solidFill>
            <a:srgbClr val="F3F1FC"/>
          </a:solidFill>
          <a:ln w="12700">
            <a:solidFill>
              <a:srgbClr val="E6E2F5"/>
            </a:solidFill>
            <a:prstDash val="solid"/>
          </a:ln>
        </p:spPr>
      </p:sp>
      <p:sp>
        <p:nvSpPr>
          <p:cNvPr id="18" name="Text 16"/>
          <p:cNvSpPr txBox="1"/>
          <p:nvPr/>
        </p:nvSpPr>
        <p:spPr>
          <a:xfrm>
            <a:off x="9299448" y="2121408"/>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Randomisation</a:t>
            </a:r>
            <a:endParaRPr lang="en-US" sz="1300" dirty="0"/>
          </a:p>
        </p:txBody>
      </p:sp>
      <p:sp>
        <p:nvSpPr>
          <p:cNvPr id="19" name="Text 17"/>
          <p:cNvSpPr txBox="1"/>
          <p:nvPr/>
        </p:nvSpPr>
        <p:spPr>
          <a:xfrm>
            <a:off x="9299448" y="2450592"/>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Use random choices to buy simplicity or expected speed.</a:t>
            </a:r>
            <a:endParaRPr lang="en-US" sz="1050" dirty="0"/>
          </a:p>
        </p:txBody>
      </p:sp>
      <p:sp>
        <p:nvSpPr>
          <p:cNvPr id="20" name="Text 18"/>
          <p:cNvSpPr txBox="1"/>
          <p:nvPr/>
        </p:nvSpPr>
        <p:spPr>
          <a:xfrm>
            <a:off x="9299448" y="2980944"/>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Analysed in expectation or with high probability. Quicksort, Karger, hashing.</a:t>
            </a:r>
            <a:endParaRPr lang="en-US" sz="950" dirty="0"/>
          </a:p>
        </p:txBody>
      </p:sp>
      <p:sp>
        <p:nvSpPr>
          <p:cNvPr id="21" name="Shape 19"/>
          <p:cNvSpPr/>
          <p:nvPr/>
        </p:nvSpPr>
        <p:spPr>
          <a:xfrm>
            <a:off x="502920" y="3712464"/>
            <a:ext cx="2624328" cy="1572768"/>
          </a:xfrm>
          <a:prstGeom prst="roundRect">
            <a:avLst>
              <a:gd name="adj" fmla="val 2907"/>
            </a:avLst>
          </a:prstGeom>
          <a:solidFill>
            <a:srgbClr val="FAF9FE"/>
          </a:solidFill>
          <a:ln w="12700">
            <a:solidFill>
              <a:srgbClr val="E6E2F5"/>
            </a:solidFill>
            <a:prstDash val="solid"/>
          </a:ln>
        </p:spPr>
      </p:sp>
      <p:sp>
        <p:nvSpPr>
          <p:cNvPr id="22" name="Text 20"/>
          <p:cNvSpPr txBox="1"/>
          <p:nvPr/>
        </p:nvSpPr>
        <p:spPr>
          <a:xfrm>
            <a:off x="740664"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Approximation</a:t>
            </a:r>
            <a:endParaRPr lang="en-US" sz="1300" dirty="0"/>
          </a:p>
        </p:txBody>
      </p:sp>
      <p:sp>
        <p:nvSpPr>
          <p:cNvPr id="23" name="Text 21"/>
          <p:cNvSpPr txBox="1"/>
          <p:nvPr/>
        </p:nvSpPr>
        <p:spPr>
          <a:xfrm>
            <a:off x="740664"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Give up optimality, keep a provable ratio.</a:t>
            </a:r>
            <a:endParaRPr lang="en-US" sz="1050" dirty="0"/>
          </a:p>
        </p:txBody>
      </p:sp>
      <p:sp>
        <p:nvSpPr>
          <p:cNvPr id="24" name="Text 22"/>
          <p:cNvSpPr txBox="1"/>
          <p:nvPr/>
        </p:nvSpPr>
        <p:spPr>
          <a:xfrm>
            <a:off x="740664"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For NP-hard problems. Vertex cover 2-approximation; PTAS families.</a:t>
            </a:r>
            <a:endParaRPr lang="en-US" sz="950" dirty="0"/>
          </a:p>
        </p:txBody>
      </p:sp>
      <p:sp>
        <p:nvSpPr>
          <p:cNvPr id="25" name="Shape 23"/>
          <p:cNvSpPr/>
          <p:nvPr/>
        </p:nvSpPr>
        <p:spPr>
          <a:xfrm>
            <a:off x="3355848" y="3712464"/>
            <a:ext cx="2624328" cy="1572768"/>
          </a:xfrm>
          <a:prstGeom prst="roundRect">
            <a:avLst>
              <a:gd name="adj" fmla="val 2907"/>
            </a:avLst>
          </a:prstGeom>
          <a:solidFill>
            <a:srgbClr val="FAF9FE"/>
          </a:solidFill>
          <a:ln w="12700">
            <a:solidFill>
              <a:srgbClr val="E6E2F5"/>
            </a:solidFill>
            <a:prstDash val="solid"/>
          </a:ln>
        </p:spPr>
      </p:sp>
      <p:sp>
        <p:nvSpPr>
          <p:cNvPr id="26" name="Text 24"/>
          <p:cNvSpPr txBox="1"/>
          <p:nvPr/>
        </p:nvSpPr>
        <p:spPr>
          <a:xfrm>
            <a:off x="3593592"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Branch and bound</a:t>
            </a:r>
            <a:endParaRPr lang="en-US" sz="1300" dirty="0"/>
          </a:p>
        </p:txBody>
      </p:sp>
      <p:sp>
        <p:nvSpPr>
          <p:cNvPr id="27" name="Text 25"/>
          <p:cNvSpPr txBox="1"/>
          <p:nvPr/>
        </p:nvSpPr>
        <p:spPr>
          <a:xfrm>
            <a:off x="3593592"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Exhaustive search with sound pruning.</a:t>
            </a:r>
            <a:endParaRPr lang="en-US" sz="1050" dirty="0"/>
          </a:p>
        </p:txBody>
      </p:sp>
      <p:sp>
        <p:nvSpPr>
          <p:cNvPr id="28" name="Text 26"/>
          <p:cNvSpPr txBox="1"/>
          <p:nvPr/>
        </p:nvSpPr>
        <p:spPr>
          <a:xfrm>
            <a:off x="3593592"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No worst-case gain, large practical one. ILP, SAT and CP solvers.</a:t>
            </a:r>
            <a:endParaRPr lang="en-US" sz="950" dirty="0"/>
          </a:p>
        </p:txBody>
      </p:sp>
      <p:sp>
        <p:nvSpPr>
          <p:cNvPr id="29" name="Shape 27"/>
          <p:cNvSpPr/>
          <p:nvPr/>
        </p:nvSpPr>
        <p:spPr>
          <a:xfrm>
            <a:off x="6208776" y="3712464"/>
            <a:ext cx="2624328" cy="1572768"/>
          </a:xfrm>
          <a:prstGeom prst="roundRect">
            <a:avLst>
              <a:gd name="adj" fmla="val 2907"/>
            </a:avLst>
          </a:prstGeom>
          <a:solidFill>
            <a:srgbClr val="FAF9FE"/>
          </a:solidFill>
          <a:ln w="12700">
            <a:solidFill>
              <a:srgbClr val="E6E2F5"/>
            </a:solidFill>
            <a:prstDash val="solid"/>
          </a:ln>
        </p:spPr>
      </p:sp>
      <p:sp>
        <p:nvSpPr>
          <p:cNvPr id="30" name="Text 28"/>
          <p:cNvSpPr txBox="1"/>
          <p:nvPr/>
        </p:nvSpPr>
        <p:spPr>
          <a:xfrm>
            <a:off x="6446520"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Local search</a:t>
            </a:r>
            <a:endParaRPr lang="en-US" sz="1300" dirty="0"/>
          </a:p>
        </p:txBody>
      </p:sp>
      <p:sp>
        <p:nvSpPr>
          <p:cNvPr id="31" name="Text 29"/>
          <p:cNvSpPr txBox="1"/>
          <p:nvPr/>
        </p:nvSpPr>
        <p:spPr>
          <a:xfrm>
            <a:off x="6446520"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Iteratively improve; no guarantee at all.</a:t>
            </a:r>
            <a:endParaRPr lang="en-US" sz="1050" dirty="0"/>
          </a:p>
        </p:txBody>
      </p:sp>
      <p:sp>
        <p:nvSpPr>
          <p:cNvPr id="32" name="Text 30"/>
          <p:cNvSpPr txBox="1"/>
          <p:nvPr/>
        </p:nvSpPr>
        <p:spPr>
          <a:xfrm>
            <a:off x="6446520"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Judged purely empirically. Simulated annealing, LKH for TSP.</a:t>
            </a:r>
            <a:endParaRPr lang="en-US" sz="950" dirty="0"/>
          </a:p>
        </p:txBody>
      </p:sp>
      <p:sp>
        <p:nvSpPr>
          <p:cNvPr id="33" name="Shape 31"/>
          <p:cNvSpPr/>
          <p:nvPr/>
        </p:nvSpPr>
        <p:spPr>
          <a:xfrm>
            <a:off x="9061704" y="3712464"/>
            <a:ext cx="2624328" cy="1572768"/>
          </a:xfrm>
          <a:prstGeom prst="roundRect">
            <a:avLst>
              <a:gd name="adj" fmla="val 2907"/>
            </a:avLst>
          </a:prstGeom>
          <a:solidFill>
            <a:srgbClr val="FAF9FE"/>
          </a:solidFill>
          <a:ln w="12700">
            <a:solidFill>
              <a:srgbClr val="E6E2F5"/>
            </a:solidFill>
            <a:prstDash val="solid"/>
          </a:ln>
        </p:spPr>
      </p:sp>
      <p:sp>
        <p:nvSpPr>
          <p:cNvPr id="34" name="Text 32"/>
          <p:cNvSpPr txBox="1"/>
          <p:nvPr/>
        </p:nvSpPr>
        <p:spPr>
          <a:xfrm>
            <a:off x="9299448" y="3895344"/>
            <a:ext cx="2148840" cy="292608"/>
          </a:xfrm>
          <a:prstGeom prst="rect">
            <a:avLst/>
          </a:prstGeom>
          <a:noFill/>
          <a:ln/>
        </p:spPr>
        <p:txBody>
          <a:bodyPr wrap="square" lIns="0" tIns="0" rIns="0" bIns="0" rtlCol="0" anchor="ctr"/>
          <a:lstStyle/>
          <a:p>
            <a:pPr indent="0" marL="0">
              <a:buNone/>
            </a:pPr>
            <a:r>
              <a:rPr lang="en-US" sz="1300" b="1" dirty="0">
                <a:solidFill>
                  <a:srgbClr val="241A4C"/>
                </a:solidFill>
                <a:latin typeface="Cambria" pitchFamily="34" charset="0"/>
                <a:ea typeface="Cambria" pitchFamily="34" charset="-122"/>
                <a:cs typeface="Cambria" pitchFamily="34" charset="-120"/>
              </a:rPr>
              <a:t>Parameterised</a:t>
            </a:r>
            <a:endParaRPr lang="en-US" sz="1300" dirty="0"/>
          </a:p>
        </p:txBody>
      </p:sp>
      <p:sp>
        <p:nvSpPr>
          <p:cNvPr id="35" name="Text 33"/>
          <p:cNvSpPr txBox="1"/>
          <p:nvPr/>
        </p:nvSpPr>
        <p:spPr>
          <a:xfrm>
            <a:off x="9299448" y="4224528"/>
            <a:ext cx="2148840" cy="512064"/>
          </a:xfrm>
          <a:prstGeom prst="rect">
            <a:avLst/>
          </a:prstGeom>
          <a:noFill/>
          <a:ln/>
        </p:spPr>
        <p:txBody>
          <a:bodyPr wrap="square" lIns="0" tIns="0" rIns="0" bIns="0" rtlCol="0" anchor="t"/>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Confine the exponential to a parameter k.</a:t>
            </a:r>
            <a:endParaRPr lang="en-US" sz="1050" dirty="0"/>
          </a:p>
        </p:txBody>
      </p:sp>
      <p:sp>
        <p:nvSpPr>
          <p:cNvPr id="36" name="Text 34"/>
          <p:cNvSpPr txBox="1"/>
          <p:nvPr/>
        </p:nvSpPr>
        <p:spPr>
          <a:xfrm>
            <a:off x="9299448" y="4754880"/>
            <a:ext cx="2148840" cy="420624"/>
          </a:xfrm>
          <a:prstGeom prst="rect">
            <a:avLst/>
          </a:prstGeom>
          <a:noFill/>
          <a:ln/>
        </p:spPr>
        <p:txBody>
          <a:bodyPr wrap="square" lIns="0" tIns="0" rIns="0" bIns="0" rtlCol="0" anchor="t"/>
          <a:lstStyle/>
          <a:p>
            <a:pPr indent="0" marL="0">
              <a:lnSpc>
                <a:spcPct val="112000"/>
              </a:lnSpc>
              <a:buNone/>
            </a:pPr>
            <a:r>
              <a:rPr lang="en-US" sz="950" i="1" dirty="0">
                <a:solidFill>
                  <a:srgbClr val="B08C3A"/>
                </a:solidFill>
                <a:latin typeface="Calibri" pitchFamily="34" charset="0"/>
                <a:ea typeface="Calibri" pitchFamily="34" charset="-122"/>
                <a:cs typeface="Calibri" pitchFamily="34" charset="-120"/>
              </a:rPr>
              <a:t>f(k)·poly(n), plus kernelisation. Treewidth, vertex-cover size.</a:t>
            </a:r>
            <a:endParaRPr lang="en-US" sz="950" dirty="0"/>
          </a:p>
        </p:txBody>
      </p:sp>
      <p:sp>
        <p:nvSpPr>
          <p:cNvPr id="37" name="Text 35"/>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Also standard: streaming, online, sublinear and external-memory algorithms — paradigms defined by a resource constraint rather than a control structure, each with its own analysis style.</a:t>
            </a:r>
            <a:endParaRPr lang="en-US" sz="1150" dirty="0"/>
          </a:p>
        </p:txBody>
      </p:sp>
      <p:sp>
        <p:nvSpPr>
          <p:cNvPr id="38" name="Text 3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9" name="Text 3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7 / 26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THE ALGORITHMIC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Which Analysis Are You Reporting?</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Five distinct claims, routinely confused with one another in write-ups. Each answers a different question about cost.</a:t>
            </a:r>
            <a:endParaRPr lang="en-US" sz="1250" dirty="0"/>
          </a:p>
        </p:txBody>
      </p:sp>
      <p:sp>
        <p:nvSpPr>
          <p:cNvPr id="5" name="Shape 3"/>
          <p:cNvSpPr/>
          <p:nvPr/>
        </p:nvSpPr>
        <p:spPr>
          <a:xfrm>
            <a:off x="502920" y="1938528"/>
            <a:ext cx="173736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4447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ANALYSIS</a:t>
            </a:r>
            <a:endParaRPr lang="en-US" sz="850" dirty="0"/>
          </a:p>
        </p:txBody>
      </p:sp>
      <p:sp>
        <p:nvSpPr>
          <p:cNvPr id="7" name="Shape 5"/>
          <p:cNvSpPr/>
          <p:nvPr/>
        </p:nvSpPr>
        <p:spPr>
          <a:xfrm>
            <a:off x="2240280" y="1938528"/>
            <a:ext cx="3703320" cy="384048"/>
          </a:xfrm>
          <a:prstGeom prst="rect">
            <a:avLst/>
          </a:prstGeom>
          <a:solidFill>
            <a:srgbClr val="241A4C"/>
          </a:solidFill>
          <a:ln w="19050">
            <a:solidFill>
              <a:srgbClr val="FFFFFF"/>
            </a:solidFill>
            <a:prstDash val="solid"/>
          </a:ln>
        </p:spPr>
      </p:sp>
      <p:sp>
        <p:nvSpPr>
          <p:cNvPr id="8" name="Text 6"/>
          <p:cNvSpPr txBox="1"/>
          <p:nvPr/>
        </p:nvSpPr>
        <p:spPr>
          <a:xfrm>
            <a:off x="2386584" y="1938528"/>
            <a:ext cx="34107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WHAT IT REPORTS</a:t>
            </a:r>
            <a:endParaRPr lang="en-US" sz="850" dirty="0"/>
          </a:p>
        </p:txBody>
      </p:sp>
      <p:sp>
        <p:nvSpPr>
          <p:cNvPr id="9" name="Shape 7"/>
          <p:cNvSpPr/>
          <p:nvPr/>
        </p:nvSpPr>
        <p:spPr>
          <a:xfrm>
            <a:off x="5943600" y="1938528"/>
            <a:ext cx="2871216" cy="384048"/>
          </a:xfrm>
          <a:prstGeom prst="rect">
            <a:avLst/>
          </a:prstGeom>
          <a:solidFill>
            <a:srgbClr val="241A4C"/>
          </a:solidFill>
          <a:ln w="19050">
            <a:solidFill>
              <a:srgbClr val="FFFFFF"/>
            </a:solidFill>
            <a:prstDash val="solid"/>
          </a:ln>
        </p:spPr>
      </p:sp>
      <p:sp>
        <p:nvSpPr>
          <p:cNvPr id="10" name="Text 8"/>
          <p:cNvSpPr txBox="1"/>
          <p:nvPr/>
        </p:nvSpPr>
        <p:spPr>
          <a:xfrm>
            <a:off x="6089904" y="1938528"/>
            <a:ext cx="2578608"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APPROPRIATE WHEN</a:t>
            </a:r>
            <a:endParaRPr lang="en-US" sz="850" dirty="0"/>
          </a:p>
        </p:txBody>
      </p:sp>
      <p:sp>
        <p:nvSpPr>
          <p:cNvPr id="11" name="Shape 9"/>
          <p:cNvSpPr/>
          <p:nvPr/>
        </p:nvSpPr>
        <p:spPr>
          <a:xfrm>
            <a:off x="8814816" y="1938528"/>
            <a:ext cx="2871216" cy="384048"/>
          </a:xfrm>
          <a:prstGeom prst="rect">
            <a:avLst/>
          </a:prstGeom>
          <a:solidFill>
            <a:srgbClr val="241A4C"/>
          </a:solidFill>
          <a:ln w="19050">
            <a:solidFill>
              <a:srgbClr val="FFFFFF"/>
            </a:solidFill>
            <a:prstDash val="solid"/>
          </a:ln>
        </p:spPr>
      </p:sp>
      <p:sp>
        <p:nvSpPr>
          <p:cNvPr id="12" name="Text 10"/>
          <p:cNvSpPr txBox="1"/>
          <p:nvPr/>
        </p:nvSpPr>
        <p:spPr>
          <a:xfrm>
            <a:off x="8961120" y="1938528"/>
            <a:ext cx="2578608"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WATCH OUT FOR</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D8A73E"/>
          </a:solidFill>
          <a:ln/>
        </p:spPr>
      </p:sp>
      <p:sp>
        <p:nvSpPr>
          <p:cNvPr id="15" name="Text 13"/>
          <p:cNvSpPr txBox="1"/>
          <p:nvPr/>
        </p:nvSpPr>
        <p:spPr>
          <a:xfrm>
            <a:off x="722376" y="2377440"/>
            <a:ext cx="13533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Worst case</a:t>
            </a:r>
            <a:endParaRPr lang="en-US" sz="1200" dirty="0"/>
          </a:p>
        </p:txBody>
      </p:sp>
      <p:sp>
        <p:nvSpPr>
          <p:cNvPr id="16" name="Text 14"/>
          <p:cNvSpPr txBox="1"/>
          <p:nvPr/>
        </p:nvSpPr>
        <p:spPr>
          <a:xfrm>
            <a:off x="2404872" y="2377440"/>
            <a:ext cx="3374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bound that holds for every input of size n, with no exceptions.</a:t>
            </a:r>
            <a:endParaRPr lang="en-US" sz="1050" dirty="0"/>
          </a:p>
        </p:txBody>
      </p:sp>
      <p:sp>
        <p:nvSpPr>
          <p:cNvPr id="17" name="Text 15"/>
          <p:cNvSpPr txBox="1"/>
          <p:nvPr/>
        </p:nvSpPr>
        <p:spPr>
          <a:xfrm>
            <a:off x="6108192" y="2377440"/>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guarantee is required, or inputs may be adversarial.</a:t>
            </a:r>
            <a:endParaRPr lang="en-US" sz="1050" dirty="0"/>
          </a:p>
        </p:txBody>
      </p:sp>
      <p:sp>
        <p:nvSpPr>
          <p:cNvPr id="18" name="Text 16"/>
          <p:cNvSpPr txBox="1"/>
          <p:nvPr/>
        </p:nvSpPr>
        <p:spPr>
          <a:xfrm>
            <a:off x="8979408" y="2377440"/>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It can be dominated by inputs nobody will ever supply.</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3D6EA6"/>
          </a:solidFill>
          <a:ln/>
        </p:spPr>
      </p:sp>
      <p:sp>
        <p:nvSpPr>
          <p:cNvPr id="21" name="Text 19"/>
          <p:cNvSpPr txBox="1"/>
          <p:nvPr/>
        </p:nvSpPr>
        <p:spPr>
          <a:xfrm>
            <a:off x="722376" y="3054096"/>
            <a:ext cx="13533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Average case</a:t>
            </a:r>
            <a:endParaRPr lang="en-US" sz="1200" dirty="0"/>
          </a:p>
        </p:txBody>
      </p:sp>
      <p:sp>
        <p:nvSpPr>
          <p:cNvPr id="22" name="Text 20"/>
          <p:cNvSpPr txBox="1"/>
          <p:nvPr/>
        </p:nvSpPr>
        <p:spPr>
          <a:xfrm>
            <a:off x="2404872" y="3054096"/>
            <a:ext cx="3374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Expected cost under an assumed distribution over inputs.</a:t>
            </a:r>
            <a:endParaRPr lang="en-US" sz="1050" dirty="0"/>
          </a:p>
        </p:txBody>
      </p:sp>
      <p:sp>
        <p:nvSpPr>
          <p:cNvPr id="23" name="Text 21"/>
          <p:cNvSpPr txBox="1"/>
          <p:nvPr/>
        </p:nvSpPr>
        <p:spPr>
          <a:xfrm>
            <a:off x="6108192" y="3054096"/>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That distribution is genuinely known or defensible.</a:t>
            </a:r>
            <a:endParaRPr lang="en-US" sz="1050" dirty="0"/>
          </a:p>
        </p:txBody>
      </p:sp>
      <p:sp>
        <p:nvSpPr>
          <p:cNvPr id="24" name="Text 22"/>
          <p:cNvSpPr txBox="1"/>
          <p:nvPr/>
        </p:nvSpPr>
        <p:spPr>
          <a:xfrm>
            <a:off x="8979408" y="3054096"/>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distribution is a premise — usually the weakest one present.</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D8A73E"/>
          </a:solidFill>
          <a:ln/>
        </p:spPr>
      </p:sp>
      <p:sp>
        <p:nvSpPr>
          <p:cNvPr id="27" name="Text 25"/>
          <p:cNvSpPr txBox="1"/>
          <p:nvPr/>
        </p:nvSpPr>
        <p:spPr>
          <a:xfrm>
            <a:off x="722376" y="3730752"/>
            <a:ext cx="13533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Amortised</a:t>
            </a:r>
            <a:endParaRPr lang="en-US" sz="1200" dirty="0"/>
          </a:p>
        </p:txBody>
      </p:sp>
      <p:sp>
        <p:nvSpPr>
          <p:cNvPr id="28" name="Text 26"/>
          <p:cNvSpPr txBox="1"/>
          <p:nvPr/>
        </p:nvSpPr>
        <p:spPr>
          <a:xfrm>
            <a:off x="2404872" y="3730752"/>
            <a:ext cx="3374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Average cost per operation across a worst-case sequence.</a:t>
            </a:r>
            <a:endParaRPr lang="en-US" sz="1050" dirty="0"/>
          </a:p>
        </p:txBody>
      </p:sp>
      <p:sp>
        <p:nvSpPr>
          <p:cNvPr id="29" name="Text 27"/>
          <p:cNvSpPr txBox="1"/>
          <p:nvPr/>
        </p:nvSpPr>
        <p:spPr>
          <a:xfrm>
            <a:off x="6108192" y="3730752"/>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Individual operations vary but sequences are what run.</a:t>
            </a:r>
            <a:endParaRPr lang="en-US" sz="1050" dirty="0"/>
          </a:p>
        </p:txBody>
      </p:sp>
      <p:sp>
        <p:nvSpPr>
          <p:cNvPr id="30" name="Text 28"/>
          <p:cNvSpPr txBox="1"/>
          <p:nvPr/>
        </p:nvSpPr>
        <p:spPr>
          <a:xfrm>
            <a:off x="8979408" y="3730752"/>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Still a worst-case claim. Do not report it as “typical”.</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B4522B"/>
          </a:solidFill>
          <a:ln/>
        </p:spPr>
      </p:sp>
      <p:sp>
        <p:nvSpPr>
          <p:cNvPr id="33" name="Text 31"/>
          <p:cNvSpPr txBox="1"/>
          <p:nvPr/>
        </p:nvSpPr>
        <p:spPr>
          <a:xfrm>
            <a:off x="722376" y="4407408"/>
            <a:ext cx="13533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Smoothed</a:t>
            </a:r>
            <a:endParaRPr lang="en-US" sz="1200" dirty="0"/>
          </a:p>
        </p:txBody>
      </p:sp>
      <p:sp>
        <p:nvSpPr>
          <p:cNvPr id="34" name="Text 32"/>
          <p:cNvSpPr txBox="1"/>
          <p:nvPr/>
        </p:nvSpPr>
        <p:spPr>
          <a:xfrm>
            <a:off x="2404872" y="4407408"/>
            <a:ext cx="3374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Worst case over slightly perturbed inputs.</a:t>
            </a:r>
            <a:endParaRPr lang="en-US" sz="1050" dirty="0"/>
          </a:p>
        </p:txBody>
      </p:sp>
      <p:sp>
        <p:nvSpPr>
          <p:cNvPr id="35" name="Text 33"/>
          <p:cNvSpPr txBox="1"/>
          <p:nvPr/>
        </p:nvSpPr>
        <p:spPr>
          <a:xfrm>
            <a:off x="6108192" y="4407408"/>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Explaining why an exponential method is fast in practice.</a:t>
            </a:r>
            <a:endParaRPr lang="en-US" sz="1050" dirty="0"/>
          </a:p>
        </p:txBody>
      </p:sp>
      <p:sp>
        <p:nvSpPr>
          <p:cNvPr id="36" name="Text 34"/>
          <p:cNvSpPr txBox="1"/>
          <p:nvPr/>
        </p:nvSpPr>
        <p:spPr>
          <a:xfrm>
            <a:off x="8979408" y="4407408"/>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perturbation model is itself an unverified assumption.</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3D6EA6"/>
          </a:solidFill>
          <a:ln/>
        </p:spPr>
      </p:sp>
      <p:sp>
        <p:nvSpPr>
          <p:cNvPr id="39" name="Text 37"/>
          <p:cNvSpPr txBox="1"/>
          <p:nvPr/>
        </p:nvSpPr>
        <p:spPr>
          <a:xfrm>
            <a:off x="722376" y="5084064"/>
            <a:ext cx="13533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Competitive</a:t>
            </a:r>
            <a:endParaRPr lang="en-US" sz="1200" dirty="0"/>
          </a:p>
        </p:txBody>
      </p:sp>
      <p:sp>
        <p:nvSpPr>
          <p:cNvPr id="40" name="Text 38"/>
          <p:cNvSpPr txBox="1"/>
          <p:nvPr/>
        </p:nvSpPr>
        <p:spPr>
          <a:xfrm>
            <a:off x="2404872" y="5084064"/>
            <a:ext cx="33741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Ratio to an offline optimum that knows the whole future.</a:t>
            </a:r>
            <a:endParaRPr lang="en-US" sz="1050" dirty="0"/>
          </a:p>
        </p:txBody>
      </p:sp>
      <p:sp>
        <p:nvSpPr>
          <p:cNvPr id="41" name="Text 39"/>
          <p:cNvSpPr txBox="1"/>
          <p:nvPr/>
        </p:nvSpPr>
        <p:spPr>
          <a:xfrm>
            <a:off x="6108192" y="5084064"/>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Online problems where decisions cannot be revised.</a:t>
            </a:r>
            <a:endParaRPr lang="en-US" sz="1050" dirty="0"/>
          </a:p>
        </p:txBody>
      </p:sp>
      <p:sp>
        <p:nvSpPr>
          <p:cNvPr id="42" name="Text 40"/>
          <p:cNvSpPr txBox="1"/>
          <p:nvPr/>
        </p:nvSpPr>
        <p:spPr>
          <a:xfrm>
            <a:off x="8979408" y="5084064"/>
            <a:ext cx="2542032"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yardstick may be unreachably strong, making ratios look bad.</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State which one you are claiming, in the abstract. A reader who assumes “worst case” and finds “average case under a uniform distribution” has been misled, whether or not you intended it.</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8 / 26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THE ALGORITHMIC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When Exact and Efficient Is Out of Reach</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Lecture 3's reductions tell you a problem is hard. They do not end the research — they define which four bargains remain open.</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BARGAIN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Approximation</a:t>
            </a:r>
            <a:endParaRPr lang="en-US" sz="160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Give up optimality; keep a proved ratio to the optimum.</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COUNTS AS A RESULT</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Contribution: a better ratio, a faster algorithm at the same ratio, or an inapproximability bound showing no better ratio exists.</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BARGAIN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Heuristics</a:t>
            </a:r>
            <a:endParaRPr lang="en-US" sz="160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Give up the guarantee entirely; shift the whole burden onto experiment.</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COUNTS AS A RESULT</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Contribution: a method that wins on accepted instance libraries, against tuned competitors, with Lecture 2's empirical obligations in full.</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BARGAIN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Parameterisation</a:t>
            </a:r>
            <a:endParaRPr lang="en-US" sz="160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Keep exactness; confine the exponential to a parameter small in practice.</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COUNTS AS A RESULT</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Contribution: an f(k)·poly(n) algorithm, a polynomial kernel, or a proof that no such kernel exists.</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BARGAIN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Restricted inputs</a:t>
            </a:r>
            <a:endParaRPr lang="en-US" sz="160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Keep exactness and efficiency; narrow the problem instead.</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WHAT COUNTS AS A RESULT</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Contribution: tractability on planar graphs, bounded treewidth, or whatever structure real instances actually have.</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Each is a different bargain with the same hardness result. Naming which one you struck is the first sentence of your contribution — and the thing an unfocused paper never manages to say.</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9 / 26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THE ALGORITHMIC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Algorithm Engineering: Closing the Loop</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The pipeline becomes a cycle. Measurement is allowed to refute not just the code, but the model the analysis was carried out in.</a:t>
            </a:r>
            <a:endParaRPr lang="en-US" sz="1250" dirty="0"/>
          </a:p>
        </p:txBody>
      </p:sp>
      <p:sp>
        <p:nvSpPr>
          <p:cNvPr id="5" name="Shape 3"/>
          <p:cNvSpPr/>
          <p:nvPr/>
        </p:nvSpPr>
        <p:spPr>
          <a:xfrm>
            <a:off x="502920" y="1938528"/>
            <a:ext cx="2624328" cy="1371600"/>
          </a:xfrm>
          <a:prstGeom prst="roundRect">
            <a:avLst>
              <a:gd name="adj" fmla="val 4000"/>
            </a:avLst>
          </a:prstGeom>
          <a:solidFill>
            <a:srgbClr val="F3F1FC"/>
          </a:solidFill>
          <a:ln/>
        </p:spPr>
      </p:sp>
      <p:sp>
        <p:nvSpPr>
          <p:cNvPr id="6" name="Text 4"/>
          <p:cNvSpPr txBox="1"/>
          <p:nvPr/>
        </p:nvSpPr>
        <p:spPr>
          <a:xfrm>
            <a:off x="722376" y="2176272"/>
            <a:ext cx="2185416" cy="219456"/>
          </a:xfrm>
          <a:prstGeom prst="rect">
            <a:avLst/>
          </a:prstGeom>
          <a:noFill/>
          <a:ln/>
        </p:spPr>
        <p:txBody>
          <a:bodyPr wrap="square" lIns="0" tIns="0" rIns="0" bIns="0" rtlCol="0" anchor="ctr"/>
          <a:lstStyle/>
          <a:p>
            <a:pPr indent="0" marL="0">
              <a:buNone/>
            </a:pPr>
            <a:r>
              <a:rPr lang="en-US" sz="900" b="1" spc="130" kern="0" dirty="0">
                <a:solidFill>
                  <a:srgbClr val="3D6EA6"/>
                </a:solidFill>
                <a:latin typeface="Calibri" pitchFamily="34" charset="0"/>
                <a:ea typeface="Calibri" pitchFamily="34" charset="-122"/>
                <a:cs typeface="Calibri" pitchFamily="34" charset="-120"/>
              </a:rPr>
              <a:t>DESIGN</a:t>
            </a:r>
            <a:endParaRPr lang="en-US" sz="900" dirty="0"/>
          </a:p>
        </p:txBody>
      </p:sp>
      <p:sp>
        <p:nvSpPr>
          <p:cNvPr id="7" name="Text 5"/>
          <p:cNvSpPr txBox="1"/>
          <p:nvPr/>
        </p:nvSpPr>
        <p:spPr>
          <a:xfrm>
            <a:off x="722376" y="2487168"/>
            <a:ext cx="2185416" cy="67665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Realistic models, not just clean ones.</a:t>
            </a:r>
            <a:endParaRPr lang="en-US" sz="1050" dirty="0"/>
          </a:p>
        </p:txBody>
      </p:sp>
      <p:sp>
        <p:nvSpPr>
          <p:cNvPr id="8" name="Text 6"/>
          <p:cNvSpPr txBox="1"/>
          <p:nvPr/>
        </p:nvSpPr>
        <p:spPr>
          <a:xfrm>
            <a:off x="3127248" y="2432304"/>
            <a:ext cx="228600"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3355848" y="1938528"/>
            <a:ext cx="2624328" cy="1371600"/>
          </a:xfrm>
          <a:prstGeom prst="roundRect">
            <a:avLst>
              <a:gd name="adj" fmla="val 4000"/>
            </a:avLst>
          </a:prstGeom>
          <a:solidFill>
            <a:srgbClr val="F3F1FC"/>
          </a:solidFill>
          <a:ln/>
        </p:spPr>
      </p:sp>
      <p:sp>
        <p:nvSpPr>
          <p:cNvPr id="10" name="Text 8"/>
          <p:cNvSpPr txBox="1"/>
          <p:nvPr/>
        </p:nvSpPr>
        <p:spPr>
          <a:xfrm>
            <a:off x="3575304" y="2176272"/>
            <a:ext cx="2185416" cy="219456"/>
          </a:xfrm>
          <a:prstGeom prst="rect">
            <a:avLst/>
          </a:prstGeom>
          <a:noFill/>
          <a:ln/>
        </p:spPr>
        <p:txBody>
          <a:bodyPr wrap="square" lIns="0" tIns="0" rIns="0" bIns="0" rtlCol="0" anchor="ctr"/>
          <a:lstStyle/>
          <a:p>
            <a:pPr indent="0" marL="0">
              <a:buNone/>
            </a:pPr>
            <a:r>
              <a:rPr lang="en-US" sz="900" b="1" spc="130" kern="0" dirty="0">
                <a:solidFill>
                  <a:srgbClr val="B08C3A"/>
                </a:solidFill>
                <a:latin typeface="Calibri" pitchFamily="34" charset="0"/>
                <a:ea typeface="Calibri" pitchFamily="34" charset="-122"/>
                <a:cs typeface="Calibri" pitchFamily="34" charset="-120"/>
              </a:rPr>
              <a:t>ANALYSIS</a:t>
            </a:r>
            <a:endParaRPr lang="en-US" sz="900" dirty="0"/>
          </a:p>
        </p:txBody>
      </p:sp>
      <p:sp>
        <p:nvSpPr>
          <p:cNvPr id="11" name="Text 9"/>
          <p:cNvSpPr txBox="1"/>
          <p:nvPr/>
        </p:nvSpPr>
        <p:spPr>
          <a:xfrm>
            <a:off x="3575304" y="2487168"/>
            <a:ext cx="2185416" cy="67665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Bounds derived in the model actually chosen.</a:t>
            </a:r>
            <a:endParaRPr lang="en-US" sz="1050" dirty="0"/>
          </a:p>
        </p:txBody>
      </p:sp>
      <p:sp>
        <p:nvSpPr>
          <p:cNvPr id="12" name="Text 10"/>
          <p:cNvSpPr txBox="1"/>
          <p:nvPr/>
        </p:nvSpPr>
        <p:spPr>
          <a:xfrm>
            <a:off x="5980176" y="2432304"/>
            <a:ext cx="228600"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6208776" y="1938528"/>
            <a:ext cx="2624328" cy="1371600"/>
          </a:xfrm>
          <a:prstGeom prst="roundRect">
            <a:avLst>
              <a:gd name="adj" fmla="val 4000"/>
            </a:avLst>
          </a:prstGeom>
          <a:solidFill>
            <a:srgbClr val="F3F1FC"/>
          </a:solidFill>
          <a:ln/>
        </p:spPr>
      </p:sp>
      <p:sp>
        <p:nvSpPr>
          <p:cNvPr id="14" name="Text 12"/>
          <p:cNvSpPr txBox="1"/>
          <p:nvPr/>
        </p:nvSpPr>
        <p:spPr>
          <a:xfrm>
            <a:off x="6428232" y="2176272"/>
            <a:ext cx="2185416" cy="219456"/>
          </a:xfrm>
          <a:prstGeom prst="rect">
            <a:avLst/>
          </a:prstGeom>
          <a:noFill/>
          <a:ln/>
        </p:spPr>
        <p:txBody>
          <a:bodyPr wrap="square" lIns="0" tIns="0" rIns="0" bIns="0" rtlCol="0" anchor="ctr"/>
          <a:lstStyle/>
          <a:p>
            <a:pPr indent="0" marL="0">
              <a:buNone/>
            </a:pPr>
            <a:r>
              <a:rPr lang="en-US" sz="900" b="1" spc="130" kern="0" dirty="0">
                <a:solidFill>
                  <a:srgbClr val="B4522B"/>
                </a:solidFill>
                <a:latin typeface="Calibri" pitchFamily="34" charset="0"/>
                <a:ea typeface="Calibri" pitchFamily="34" charset="-122"/>
                <a:cs typeface="Calibri" pitchFamily="34" charset="-120"/>
              </a:rPr>
              <a:t>IMPLEMENTATION</a:t>
            </a:r>
            <a:endParaRPr lang="en-US" sz="900" dirty="0"/>
          </a:p>
        </p:txBody>
      </p:sp>
      <p:sp>
        <p:nvSpPr>
          <p:cNvPr id="15" name="Text 13"/>
          <p:cNvSpPr txBox="1"/>
          <p:nvPr/>
        </p:nvSpPr>
        <p:spPr>
          <a:xfrm>
            <a:off x="6428232" y="2487168"/>
            <a:ext cx="2185416" cy="67665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Constants, memory layout, and engineering effort.</a:t>
            </a:r>
            <a:endParaRPr lang="en-US" sz="1050" dirty="0"/>
          </a:p>
        </p:txBody>
      </p:sp>
      <p:sp>
        <p:nvSpPr>
          <p:cNvPr id="16" name="Text 14"/>
          <p:cNvSpPr txBox="1"/>
          <p:nvPr/>
        </p:nvSpPr>
        <p:spPr>
          <a:xfrm>
            <a:off x="8833104" y="2432304"/>
            <a:ext cx="228600"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9061704" y="1938528"/>
            <a:ext cx="2624328" cy="1371600"/>
          </a:xfrm>
          <a:prstGeom prst="roundRect">
            <a:avLst>
              <a:gd name="adj" fmla="val 4000"/>
            </a:avLst>
          </a:prstGeom>
          <a:solidFill>
            <a:srgbClr val="F3F1FC"/>
          </a:solidFill>
          <a:ln/>
        </p:spPr>
      </p:sp>
      <p:sp>
        <p:nvSpPr>
          <p:cNvPr id="18" name="Text 16"/>
          <p:cNvSpPr txBox="1"/>
          <p:nvPr/>
        </p:nvSpPr>
        <p:spPr>
          <a:xfrm>
            <a:off x="9281160" y="2176272"/>
            <a:ext cx="2185416" cy="219456"/>
          </a:xfrm>
          <a:prstGeom prst="rect">
            <a:avLst/>
          </a:prstGeom>
          <a:noFill/>
          <a:ln/>
        </p:spPr>
        <p:txBody>
          <a:bodyPr wrap="square" lIns="0" tIns="0" rIns="0" bIns="0" rtlCol="0" anchor="ctr"/>
          <a:lstStyle/>
          <a:p>
            <a:pPr indent="0" marL="0">
              <a:buNone/>
            </a:pPr>
            <a:r>
              <a:rPr lang="en-US" sz="900" b="1" spc="130" kern="0" dirty="0">
                <a:solidFill>
                  <a:srgbClr val="3D6EA6"/>
                </a:solidFill>
                <a:latin typeface="Calibri" pitchFamily="34" charset="0"/>
                <a:ea typeface="Calibri" pitchFamily="34" charset="-122"/>
                <a:cs typeface="Calibri" pitchFamily="34" charset="-120"/>
              </a:rPr>
              <a:t>EXPERIMENTATION</a:t>
            </a:r>
            <a:endParaRPr lang="en-US" sz="900" dirty="0"/>
          </a:p>
        </p:txBody>
      </p:sp>
      <p:sp>
        <p:nvSpPr>
          <p:cNvPr id="19" name="Text 17"/>
          <p:cNvSpPr txBox="1"/>
          <p:nvPr/>
        </p:nvSpPr>
        <p:spPr>
          <a:xfrm>
            <a:off x="9281160" y="2487168"/>
            <a:ext cx="2185416" cy="67665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Accepted instances, tuned baselines, reported hardware.</a:t>
            </a:r>
            <a:endParaRPr lang="en-US" sz="1050" dirty="0"/>
          </a:p>
        </p:txBody>
      </p:sp>
      <p:sp>
        <p:nvSpPr>
          <p:cNvPr id="20" name="Text 18"/>
          <p:cNvSpPr txBox="1"/>
          <p:nvPr/>
        </p:nvSpPr>
        <p:spPr>
          <a:xfrm>
            <a:off x="502920" y="3456432"/>
            <a:ext cx="11183112" cy="274320"/>
          </a:xfrm>
          <a:prstGeom prst="rect">
            <a:avLst/>
          </a:prstGeom>
          <a:noFill/>
          <a:ln/>
        </p:spPr>
        <p:txBody>
          <a:bodyPr wrap="square" lIns="0" tIns="0" rIns="0" bIns="0" rtlCol="0" anchor="ctr"/>
          <a:lstStyle/>
          <a:p>
            <a:pPr algn="ctr" indent="0" marL="0">
              <a:buNone/>
            </a:pPr>
            <a:r>
              <a:rPr lang="en-US" sz="1000" i="1" dirty="0">
                <a:solidFill>
                  <a:srgbClr val="B08C3A"/>
                </a:solidFill>
                <a:latin typeface="Calibri" pitchFamily="34" charset="0"/>
                <a:ea typeface="Calibri" pitchFamily="34" charset="-122"/>
                <a:cs typeface="Calibri" pitchFamily="34" charset="-120"/>
              </a:rPr>
              <a:t>←———————————  what the measurements reveal feeds back into the design and the model  ———————————</a:t>
            </a:r>
            <a:endParaRPr lang="en-US" sz="1000" dirty="0"/>
          </a:p>
        </p:txBody>
      </p:sp>
      <p:sp>
        <p:nvSpPr>
          <p:cNvPr id="21" name="Text 19"/>
          <p:cNvSpPr txBox="1"/>
          <p:nvPr/>
        </p:nvSpPr>
        <p:spPr>
          <a:xfrm>
            <a:off x="502920" y="4224528"/>
            <a:ext cx="3502152" cy="475488"/>
          </a:xfrm>
          <a:prstGeom prst="rect">
            <a:avLst/>
          </a:prstGeom>
          <a:noFill/>
          <a:ln/>
        </p:spPr>
        <p:txBody>
          <a:bodyPr wrap="square" lIns="0" tIns="0" rIns="0" bIns="0" rtlCol="0" anchor="t"/>
          <a:lstStyle/>
          <a:p>
            <a:pPr indent="0" marL="0">
              <a:lnSpc>
                <a:spcPct val="110000"/>
              </a:lnSpc>
              <a:buNone/>
            </a:pPr>
            <a:r>
              <a:rPr lang="en-US" sz="1350" b="1" dirty="0">
                <a:solidFill>
                  <a:srgbClr val="241A4C"/>
                </a:solidFill>
                <a:latin typeface="Cambria" pitchFamily="34" charset="0"/>
                <a:ea typeface="Cambria" pitchFamily="34" charset="-122"/>
                <a:cs typeface="Cambria" pitchFamily="34" charset="-120"/>
              </a:rPr>
              <a:t>Measurement can refute the model</a:t>
            </a:r>
            <a:endParaRPr lang="en-US" sz="1350" dirty="0"/>
          </a:p>
        </p:txBody>
      </p:sp>
      <p:sp>
        <p:nvSpPr>
          <p:cNvPr id="22" name="Text 20"/>
          <p:cNvSpPr txBox="1"/>
          <p:nvPr/>
        </p:nvSpPr>
        <p:spPr>
          <a:xfrm>
            <a:off x="502920" y="4809744"/>
            <a:ext cx="3502152" cy="137160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Finding that a “linear” routine is memory-bound is not an implementation detail. It says the RAM model priced the wrong resource, and the analysis has to be redone in a model that counts block transfers.</a:t>
            </a:r>
            <a:endParaRPr lang="en-US" sz="1100" dirty="0"/>
          </a:p>
        </p:txBody>
      </p:sp>
      <p:sp>
        <p:nvSpPr>
          <p:cNvPr id="23" name="Text 21"/>
          <p:cNvSpPr txBox="1"/>
          <p:nvPr/>
        </p:nvSpPr>
        <p:spPr>
          <a:xfrm>
            <a:off x="4343400" y="4224528"/>
            <a:ext cx="3502152" cy="475488"/>
          </a:xfrm>
          <a:prstGeom prst="rect">
            <a:avLst/>
          </a:prstGeom>
          <a:noFill/>
          <a:ln/>
        </p:spPr>
        <p:txBody>
          <a:bodyPr wrap="square" lIns="0" tIns="0" rIns="0" bIns="0" rtlCol="0" anchor="t"/>
          <a:lstStyle/>
          <a:p>
            <a:pPr indent="0" marL="0">
              <a:lnSpc>
                <a:spcPct val="110000"/>
              </a:lnSpc>
              <a:buNone/>
            </a:pPr>
            <a:r>
              <a:rPr lang="en-US" sz="1350" b="1" dirty="0">
                <a:solidFill>
                  <a:srgbClr val="241A4C"/>
                </a:solidFill>
                <a:latin typeface="Cambria" pitchFamily="34" charset="0"/>
                <a:ea typeface="Cambria" pitchFamily="34" charset="-122"/>
                <a:cs typeface="Cambria" pitchFamily="34" charset="-120"/>
              </a:rPr>
              <a:t>Shared instances make results comparable</a:t>
            </a:r>
            <a:endParaRPr lang="en-US" sz="1350" dirty="0"/>
          </a:p>
        </p:txBody>
      </p:sp>
      <p:sp>
        <p:nvSpPr>
          <p:cNvPr id="24" name="Text 22"/>
          <p:cNvSpPr txBox="1"/>
          <p:nvPr/>
        </p:nvSpPr>
        <p:spPr>
          <a:xfrm>
            <a:off x="4343400" y="4809744"/>
            <a:ext cx="3502152" cy="137160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TSPLIB, the DIMACS Implementation Challenges, SATLIB and SNAP let a claim made in 2008 still be checked against one made today. Self-generated instances cannot do this.</a:t>
            </a:r>
            <a:endParaRPr lang="en-US" sz="1100" dirty="0"/>
          </a:p>
        </p:txBody>
      </p:sp>
      <p:sp>
        <p:nvSpPr>
          <p:cNvPr id="25" name="Text 23"/>
          <p:cNvSpPr txBox="1"/>
          <p:nvPr/>
        </p:nvSpPr>
        <p:spPr>
          <a:xfrm>
            <a:off x="8183880" y="4224528"/>
            <a:ext cx="3502152" cy="475488"/>
          </a:xfrm>
          <a:prstGeom prst="rect">
            <a:avLst/>
          </a:prstGeom>
          <a:noFill/>
          <a:ln/>
        </p:spPr>
        <p:txBody>
          <a:bodyPr wrap="square" lIns="0" tIns="0" rIns="0" bIns="0" rtlCol="0" anchor="t"/>
          <a:lstStyle/>
          <a:p>
            <a:pPr indent="0" marL="0">
              <a:lnSpc>
                <a:spcPct val="110000"/>
              </a:lnSpc>
              <a:buNone/>
            </a:pPr>
            <a:r>
              <a:rPr lang="en-US" sz="1350" b="1" dirty="0">
                <a:solidFill>
                  <a:srgbClr val="241A4C"/>
                </a:solidFill>
                <a:latin typeface="Cambria" pitchFamily="34" charset="0"/>
                <a:ea typeface="Cambria" pitchFamily="34" charset="-122"/>
                <a:cs typeface="Cambria" pitchFamily="34" charset="-120"/>
              </a:rPr>
              <a:t>The empirical half inherits every obligation</a:t>
            </a:r>
            <a:endParaRPr lang="en-US" sz="1350" dirty="0"/>
          </a:p>
        </p:txBody>
      </p:sp>
      <p:sp>
        <p:nvSpPr>
          <p:cNvPr id="26" name="Text 24"/>
          <p:cNvSpPr txBox="1"/>
          <p:nvPr/>
        </p:nvSpPr>
        <p:spPr>
          <a:xfrm>
            <a:off x="8183880" y="4809744"/>
            <a:ext cx="3502152" cy="137160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The moment the claim is “faster in practice”, it is an inductive claim, and Lecture 2's rules apply in full: tuned baselines, repetitions, dispersion, and a stated instance population.</a:t>
            </a:r>
            <a:endParaRPr lang="en-US" sz="1100" dirty="0"/>
          </a:p>
        </p:txBody>
      </p:sp>
      <p:sp>
        <p:nvSpPr>
          <p:cNvPr id="27" name="Text 2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8" name="Text 2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10 / 26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2 · THE ALGORITHMIC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An Algorithmic Contribution, End to End</a:t>
            </a:r>
            <a:endParaRPr lang="en-US" sz="2800" dirty="0"/>
          </a:p>
        </p:txBody>
      </p:sp>
      <p:sp>
        <p:nvSpPr>
          <p:cNvPr id="4" name="Text 2"/>
          <p:cNvSpPr txBox="1"/>
          <p:nvPr/>
        </p:nvSpPr>
        <p:spPr>
          <a:xfrm>
            <a:off x="502920" y="1225296"/>
            <a:ext cx="11183112" cy="457200"/>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Claim under test:  </a:t>
            </a:r>
            <a:pPr indent="0" marL="0">
              <a:buNone/>
            </a:pPr>
            <a:r>
              <a:rPr lang="en-US" sz="1150" dirty="0">
                <a:solidFill>
                  <a:srgbClr val="5C5A66"/>
                </a:solidFill>
                <a:latin typeface="Calibri" pitchFamily="34" charset="0"/>
                <a:ea typeface="Calibri" pitchFamily="34" charset="-122"/>
                <a:cs typeface="Calibri" pitchFamily="34" charset="-120"/>
              </a:rPr>
              <a:t>“Point-to-point shortest-path queries on continental road networks can be answered in microseconds after preprocessing.”   </a:t>
            </a:r>
            <a:pPr indent="0" marL="0">
              <a:buNone/>
            </a:pPr>
            <a:r>
              <a:rPr lang="en-US" sz="1050" i="1" dirty="0">
                <a:solidFill>
                  <a:srgbClr val="8A8894"/>
                </a:solidFill>
                <a:latin typeface="Calibri" pitchFamily="34" charset="0"/>
                <a:ea typeface="Calibri" pitchFamily="34" charset="-122"/>
                <a:cs typeface="Calibri" pitchFamily="34" charset="-120"/>
              </a:rPr>
              <a:t>— contraction hierarchies, Geisberger et al., 2008</a:t>
            </a:r>
            <a:endParaRPr lang="en-US" sz="1150" dirty="0"/>
          </a:p>
        </p:txBody>
      </p:sp>
      <p:sp>
        <p:nvSpPr>
          <p:cNvPr id="5" name="Shape 3"/>
          <p:cNvSpPr/>
          <p:nvPr/>
        </p:nvSpPr>
        <p:spPr>
          <a:xfrm>
            <a:off x="502920" y="1627632"/>
            <a:ext cx="4206240" cy="2011680"/>
          </a:xfrm>
          <a:prstGeom prst="roundRect">
            <a:avLst>
              <a:gd name="adj" fmla="val 2273"/>
            </a:avLst>
          </a:prstGeom>
          <a:solidFill>
            <a:srgbClr val="F5F4FB"/>
          </a:solidFill>
          <a:ln/>
        </p:spPr>
      </p:sp>
      <p:sp>
        <p:nvSpPr>
          <p:cNvPr id="6" name="Text 4"/>
          <p:cNvSpPr txBox="1"/>
          <p:nvPr/>
        </p:nvSpPr>
        <p:spPr>
          <a:xfrm>
            <a:off x="777240" y="1810512"/>
            <a:ext cx="365760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FORMALISATION</a:t>
            </a:r>
            <a:endParaRPr lang="en-US" sz="850" dirty="0"/>
          </a:p>
        </p:txBody>
      </p:sp>
      <p:sp>
        <p:nvSpPr>
          <p:cNvPr id="7" name="Text 5"/>
          <p:cNvSpPr txBox="1"/>
          <p:nvPr/>
        </p:nvSpPr>
        <p:spPr>
          <a:xfrm>
            <a:off x="777240" y="2066544"/>
            <a:ext cx="3657600" cy="1463040"/>
          </a:xfrm>
          <a:prstGeom prst="rect">
            <a:avLst/>
          </a:prstGeom>
          <a:noFill/>
          <a:ln/>
        </p:spPr>
        <p:txBody>
          <a:bodyPr wrap="square" lIns="0" tIns="0" rIns="0" bIns="0" rtlCol="0" anchor="t"/>
          <a:lstStyle/>
          <a:p>
            <a:pPr indent="0" marL="0">
              <a:lnSpc>
                <a:spcPct val="120000"/>
              </a:lnSpc>
              <a:buNone/>
            </a:pPr>
            <a:r>
              <a:rPr lang="en-US" sz="1100" dirty="0">
                <a:solidFill>
                  <a:srgbClr val="241A4C"/>
                </a:solidFill>
                <a:latin typeface="Calibri" pitchFamily="34" charset="0"/>
                <a:ea typeface="Calibri" pitchFamily="34" charset="-122"/>
                <a:cs typeface="Calibri" pitchFamily="34" charset="-120"/>
              </a:rPr>
              <a:t>Given a directed graph with non-negative edge weights, fixed in advance, answer many s–t distance queries.</a:t>
            </a:r>
            <a:endParaRPr lang="en-US" sz="1100" dirty="0"/>
          </a:p>
          <a:p>
            <a:pPr indent="0" marL="0">
              <a:lnSpc>
                <a:spcPct val="120000"/>
              </a:lnSpc>
              <a:buNone/>
            </a:pPr>
            <a:endParaRPr lang="en-US" sz="1100" dirty="0"/>
          </a:p>
          <a:p>
            <a:pPr indent="0" marL="0">
              <a:lnSpc>
                <a:spcPct val="120000"/>
              </a:lnSpc>
              <a:buNone/>
            </a:pPr>
            <a:r>
              <a:rPr lang="en-US" sz="1100" dirty="0">
                <a:solidFill>
                  <a:srgbClr val="241A4C"/>
                </a:solidFill>
                <a:latin typeface="Calibri" pitchFamily="34" charset="0"/>
                <a:ea typeface="Calibri" pitchFamily="34" charset="-122"/>
                <a:cs typeface="Calibri" pitchFamily="34" charset="-120"/>
              </a:rPr>
              <a:t>Preprocessing time is amortised over the query stream, so it is a separate budget — a modelling choice that makes the whole approach possible.</a:t>
            </a:r>
            <a:endParaRPr lang="en-US" sz="1100" dirty="0"/>
          </a:p>
        </p:txBody>
      </p:sp>
      <p:sp>
        <p:nvSpPr>
          <p:cNvPr id="8" name="Shape 6"/>
          <p:cNvSpPr/>
          <p:nvPr/>
        </p:nvSpPr>
        <p:spPr>
          <a:xfrm>
            <a:off x="502920" y="3822192"/>
            <a:ext cx="4206240" cy="1316736"/>
          </a:xfrm>
          <a:prstGeom prst="roundRect">
            <a:avLst>
              <a:gd name="adj" fmla="val 3472"/>
            </a:avLst>
          </a:prstGeom>
          <a:solidFill>
            <a:srgbClr val="F6EFE4"/>
          </a:solidFill>
          <a:ln/>
        </p:spPr>
      </p:sp>
      <p:sp>
        <p:nvSpPr>
          <p:cNvPr id="9" name="Text 7"/>
          <p:cNvSpPr txBox="1"/>
          <p:nvPr/>
        </p:nvSpPr>
        <p:spPr>
          <a:xfrm>
            <a:off x="777240" y="4005072"/>
            <a:ext cx="365760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SPLIT THAT MATTERS</a:t>
            </a:r>
            <a:endParaRPr lang="en-US" sz="850" dirty="0"/>
          </a:p>
        </p:txBody>
      </p:sp>
      <p:sp>
        <p:nvSpPr>
          <p:cNvPr id="10" name="Text 8"/>
          <p:cNvSpPr txBox="1"/>
          <p:nvPr/>
        </p:nvSpPr>
        <p:spPr>
          <a:xfrm>
            <a:off x="777240" y="4261104"/>
            <a:ext cx="3657600" cy="768096"/>
          </a:xfrm>
          <a:prstGeom prst="rect">
            <a:avLst/>
          </a:prstGeom>
          <a:noFill/>
          <a:ln/>
        </p:spPr>
        <p:txBody>
          <a:bodyPr wrap="square" lIns="0" tIns="0" rIns="0" bIns="0" rtlCol="0" anchor="t"/>
          <a:lstStyle/>
          <a:p>
            <a:pPr indent="0" marL="0">
              <a:lnSpc>
                <a:spcPct val="120000"/>
              </a:lnSpc>
              <a:buNone/>
            </a:pPr>
            <a:r>
              <a:rPr lang="en-US" sz="1100" dirty="0">
                <a:solidFill>
                  <a:srgbClr val="241A4C"/>
                </a:solidFill>
                <a:latin typeface="Calibri" pitchFamily="34" charset="0"/>
                <a:ea typeface="Calibri" pitchFamily="34" charset="-122"/>
                <a:cs typeface="Calibri" pitchFamily="34" charset="-120"/>
              </a:rPr>
              <a:t>Correctness is deductive and unconditional. The speed-up is inductive and conditional on road networks having highway-like structure.</a:t>
            </a:r>
            <a:endParaRPr lang="en-US" sz="1100" dirty="0"/>
          </a:p>
        </p:txBody>
      </p:sp>
      <p:sp>
        <p:nvSpPr>
          <p:cNvPr id="11" name="Text 9"/>
          <p:cNvSpPr txBox="1"/>
          <p:nvPr/>
        </p:nvSpPr>
        <p:spPr>
          <a:xfrm>
            <a:off x="502920" y="5358384"/>
            <a:ext cx="4206240" cy="822960"/>
          </a:xfrm>
          <a:prstGeom prst="rect">
            <a:avLst/>
          </a:prstGeom>
          <a:noFill/>
          <a:ln/>
        </p:spPr>
        <p:txBody>
          <a:bodyPr wrap="square" lIns="0" tIns="0" rIns="0" bIns="0" rtlCol="0" anchor="t"/>
          <a:lstStyle/>
          <a:p>
            <a:pPr indent="0" marL="0">
              <a:lnSpc>
                <a:spcPct val="120000"/>
              </a:lnSpc>
              <a:buNone/>
            </a:pPr>
            <a:r>
              <a:rPr lang="en-US" sz="1050" i="1" dirty="0">
                <a:solidFill>
                  <a:srgbClr val="5C5A66"/>
                </a:solidFill>
                <a:latin typeface="Calibri" pitchFamily="34" charset="0"/>
                <a:ea typeface="Calibri" pitchFamily="34" charset="-122"/>
                <a:cs typeface="Calibri" pitchFamily="34" charset="-120"/>
              </a:rPr>
              <a:t>A paper that reported both as though they were one claim would invite exactly the objection Lecture 2's triangulation table predicts: a proof offered where a benchmark was needed, or the reverse.</a:t>
            </a:r>
            <a:endParaRPr lang="en-US" sz="1050" dirty="0"/>
          </a:p>
        </p:txBody>
      </p:sp>
      <p:sp>
        <p:nvSpPr>
          <p:cNvPr id="12" name="Shape 10"/>
          <p:cNvSpPr/>
          <p:nvPr/>
        </p:nvSpPr>
        <p:spPr>
          <a:xfrm>
            <a:off x="5029200" y="1682496"/>
            <a:ext cx="310896" cy="310896"/>
          </a:xfrm>
          <a:prstGeom prst="ellipse">
            <a:avLst/>
          </a:prstGeom>
          <a:solidFill>
            <a:srgbClr val="3D6EA6"/>
          </a:solidFill>
          <a:ln/>
        </p:spPr>
      </p:sp>
      <p:sp>
        <p:nvSpPr>
          <p:cNvPr id="13" name="Text 11"/>
          <p:cNvSpPr txBox="1"/>
          <p:nvPr/>
        </p:nvSpPr>
        <p:spPr>
          <a:xfrm>
            <a:off x="5029200" y="16824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4" name="Text 12"/>
          <p:cNvSpPr txBox="1"/>
          <p:nvPr/>
        </p:nvSpPr>
        <p:spPr>
          <a:xfrm>
            <a:off x="5541264" y="166420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Design</a:t>
            </a:r>
            <a:endParaRPr lang="en-US" sz="1350" dirty="0"/>
          </a:p>
        </p:txBody>
      </p:sp>
      <p:sp>
        <p:nvSpPr>
          <p:cNvPr id="15" name="Text 13"/>
          <p:cNvSpPr txBox="1"/>
          <p:nvPr/>
        </p:nvSpPr>
        <p:spPr>
          <a:xfrm>
            <a:off x="5541264" y="197510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Contract nodes one at a time in a heuristically chosen order, inserting shortcut edges wherever a removed node lay on the only shortest path between two neighbours.</a:t>
            </a:r>
            <a:endParaRPr lang="en-US" sz="1050" dirty="0"/>
          </a:p>
        </p:txBody>
      </p:sp>
      <p:sp>
        <p:nvSpPr>
          <p:cNvPr id="16" name="Shape 14"/>
          <p:cNvSpPr/>
          <p:nvPr/>
        </p:nvSpPr>
        <p:spPr>
          <a:xfrm>
            <a:off x="5029200" y="2779776"/>
            <a:ext cx="310896" cy="310896"/>
          </a:xfrm>
          <a:prstGeom prst="ellipse">
            <a:avLst/>
          </a:prstGeom>
          <a:solidFill>
            <a:srgbClr val="3D6EA6"/>
          </a:solidFill>
          <a:ln/>
        </p:spPr>
      </p:sp>
      <p:sp>
        <p:nvSpPr>
          <p:cNvPr id="17" name="Text 15"/>
          <p:cNvSpPr txBox="1"/>
          <p:nvPr/>
        </p:nvSpPr>
        <p:spPr>
          <a:xfrm>
            <a:off x="5029200" y="27797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8" name="Text 16"/>
          <p:cNvSpPr txBox="1"/>
          <p:nvPr/>
        </p:nvSpPr>
        <p:spPr>
          <a:xfrm>
            <a:off x="5541264" y="276148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Analyse</a:t>
            </a:r>
            <a:endParaRPr lang="en-US" sz="1350" dirty="0"/>
          </a:p>
        </p:txBody>
      </p:sp>
      <p:sp>
        <p:nvSpPr>
          <p:cNvPr id="19" name="Text 17"/>
          <p:cNvSpPr txBox="1"/>
          <p:nvPr/>
        </p:nvSpPr>
        <p:spPr>
          <a:xfrm>
            <a:off x="5541264" y="307238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Prove that contraction preserves all shortest-path distances, so a bidirectional search over upward edges only is still exact. Correctness holds for every input graph.</a:t>
            </a:r>
            <a:endParaRPr lang="en-US" sz="1050" dirty="0"/>
          </a:p>
        </p:txBody>
      </p:sp>
      <p:sp>
        <p:nvSpPr>
          <p:cNvPr id="20" name="Shape 18"/>
          <p:cNvSpPr/>
          <p:nvPr/>
        </p:nvSpPr>
        <p:spPr>
          <a:xfrm>
            <a:off x="5029200" y="3877056"/>
            <a:ext cx="310896" cy="310896"/>
          </a:xfrm>
          <a:prstGeom prst="ellipse">
            <a:avLst/>
          </a:prstGeom>
          <a:solidFill>
            <a:srgbClr val="B4522B"/>
          </a:solidFill>
          <a:ln/>
        </p:spPr>
      </p:sp>
      <p:sp>
        <p:nvSpPr>
          <p:cNvPr id="21" name="Text 19"/>
          <p:cNvSpPr txBox="1"/>
          <p:nvPr/>
        </p:nvSpPr>
        <p:spPr>
          <a:xfrm>
            <a:off x="5029200" y="38770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2" name="Text 20"/>
          <p:cNvSpPr txBox="1"/>
          <p:nvPr/>
        </p:nvSpPr>
        <p:spPr>
          <a:xfrm>
            <a:off x="5541264" y="385876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Implement</a:t>
            </a:r>
            <a:endParaRPr lang="en-US" sz="1350" dirty="0"/>
          </a:p>
        </p:txBody>
      </p:sp>
      <p:sp>
        <p:nvSpPr>
          <p:cNvPr id="23" name="Text 21"/>
          <p:cNvSpPr txBox="1"/>
          <p:nvPr/>
        </p:nvSpPr>
        <p:spPr>
          <a:xfrm>
            <a:off x="5541264" y="416966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The achieved speed-up is dominated by engineering: the contraction order, the priority queue, and the memory layout of the shortcut graph.</a:t>
            </a:r>
            <a:endParaRPr lang="en-US" sz="1050" dirty="0"/>
          </a:p>
        </p:txBody>
      </p:sp>
      <p:sp>
        <p:nvSpPr>
          <p:cNvPr id="24" name="Shape 22"/>
          <p:cNvSpPr/>
          <p:nvPr/>
        </p:nvSpPr>
        <p:spPr>
          <a:xfrm>
            <a:off x="5029200" y="4974336"/>
            <a:ext cx="310896" cy="310896"/>
          </a:xfrm>
          <a:prstGeom prst="ellipse">
            <a:avLst/>
          </a:prstGeom>
          <a:solidFill>
            <a:srgbClr val="B4522B"/>
          </a:solidFill>
          <a:ln/>
        </p:spPr>
      </p:sp>
      <p:sp>
        <p:nvSpPr>
          <p:cNvPr id="25" name="Text 23"/>
          <p:cNvSpPr txBox="1"/>
          <p:nvPr/>
        </p:nvSpPr>
        <p:spPr>
          <a:xfrm>
            <a:off x="5029200" y="49743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4"/>
          <p:cNvSpPr txBox="1"/>
          <p:nvPr/>
        </p:nvSpPr>
        <p:spPr>
          <a:xfrm>
            <a:off x="5541264" y="4956048"/>
            <a:ext cx="6144768" cy="274320"/>
          </a:xfrm>
          <a:prstGeom prst="rect">
            <a:avLst/>
          </a:prstGeom>
          <a:noFill/>
          <a:ln/>
        </p:spPr>
        <p:txBody>
          <a:bodyPr wrap="square" lIns="0" tIns="0" rIns="0" bIns="0" rtlCol="0" anchor="t"/>
          <a:lstStyle/>
          <a:p>
            <a:pPr indent="0" marL="0">
              <a:buNone/>
            </a:pPr>
            <a:r>
              <a:rPr lang="en-US" sz="1350" b="1" dirty="0">
                <a:solidFill>
                  <a:srgbClr val="241A4C"/>
                </a:solidFill>
                <a:latin typeface="Cambria" pitchFamily="34" charset="0"/>
                <a:ea typeface="Cambria" pitchFamily="34" charset="-122"/>
                <a:cs typeface="Cambria" pitchFamily="34" charset="-120"/>
              </a:rPr>
              <a:t>Experiment</a:t>
            </a:r>
            <a:endParaRPr lang="en-US" sz="1350" dirty="0"/>
          </a:p>
        </p:txBody>
      </p:sp>
      <p:sp>
        <p:nvSpPr>
          <p:cNvPr id="27" name="Text 25"/>
          <p:cNvSpPr txBox="1"/>
          <p:nvPr/>
        </p:nvSpPr>
        <p:spPr>
          <a:xfrm>
            <a:off x="5541264" y="5266944"/>
            <a:ext cx="6144768" cy="786384"/>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Measure on the standard continental road networks used by the DIMACS shortest-path challenge, against plain Dijkstra and against earlier speed-up techniques.</a:t>
            </a:r>
            <a:endParaRPr lang="en-US" sz="1050" dirty="0"/>
          </a:p>
        </p:txBody>
      </p:sp>
      <p:sp>
        <p:nvSpPr>
          <p:cNvPr id="28" name="Text 26"/>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9" name="Text 27"/>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11 / 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THE SOFTWARE ENGINEERING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Object of Study Contains People</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dirty="0">
                <a:solidFill>
                  <a:srgbClr val="5C5A66"/>
                </a:solidFill>
                <a:latin typeface="Calibri" pitchFamily="34" charset="0"/>
                <a:ea typeface="Calibri" pitchFamily="34" charset="-122"/>
                <a:cs typeface="Calibri" pitchFamily="34" charset="-120"/>
              </a:rPr>
              <a:t>Software-engineering research studies the construction and evolution of software by people, using tools and processes, under organisational constraints.</a:t>
            </a:r>
            <a:endParaRPr lang="en-US" sz="1250" dirty="0"/>
          </a:p>
        </p:txBody>
      </p:sp>
      <p:sp>
        <p:nvSpPr>
          <p:cNvPr id="5" name="Shape 3"/>
          <p:cNvSpPr/>
          <p:nvPr/>
        </p:nvSpPr>
        <p:spPr>
          <a:xfrm>
            <a:off x="502920" y="2029968"/>
            <a:ext cx="109728" cy="109728"/>
          </a:xfrm>
          <a:prstGeom prst="ellipse">
            <a:avLst/>
          </a:prstGeom>
          <a:solidFill>
            <a:srgbClr val="3D6EA6"/>
          </a:solidFill>
          <a:ln/>
        </p:spPr>
      </p:sp>
      <p:sp>
        <p:nvSpPr>
          <p:cNvPr id="6" name="Text 4"/>
          <p:cNvSpPr txBox="1"/>
          <p:nvPr/>
        </p:nvSpPr>
        <p:spPr>
          <a:xfrm>
            <a:off x="813816" y="1938528"/>
            <a:ext cx="6729984" cy="292608"/>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Human variance dwarfs most effects you are looking for.</a:t>
            </a:r>
            <a:endParaRPr lang="en-US" sz="1400" dirty="0"/>
          </a:p>
        </p:txBody>
      </p:sp>
      <p:sp>
        <p:nvSpPr>
          <p:cNvPr id="7" name="Text 5"/>
          <p:cNvSpPr txBox="1"/>
          <p:nvPr/>
        </p:nvSpPr>
        <p:spPr>
          <a:xfrm>
            <a:off x="813816" y="2286000"/>
            <a:ext cx="6729984" cy="841248"/>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Individual developer productivity varies by a large factor on the same task. A 20% difference is decisive for an algorithm and easily noise across developers — which is why sample size and dispersion matter more here, not less.</a:t>
            </a:r>
            <a:endParaRPr lang="en-US" sz="1150" dirty="0"/>
          </a:p>
        </p:txBody>
      </p:sp>
      <p:sp>
        <p:nvSpPr>
          <p:cNvPr id="8" name="Shape 6"/>
          <p:cNvSpPr/>
          <p:nvPr/>
        </p:nvSpPr>
        <p:spPr>
          <a:xfrm>
            <a:off x="502920" y="3218688"/>
            <a:ext cx="109728" cy="109728"/>
          </a:xfrm>
          <a:prstGeom prst="ellipse">
            <a:avLst/>
          </a:prstGeom>
          <a:solidFill>
            <a:srgbClr val="3D6EA6"/>
          </a:solidFill>
          <a:ln/>
        </p:spPr>
      </p:sp>
      <p:sp>
        <p:nvSpPr>
          <p:cNvPr id="9" name="Text 7"/>
          <p:cNvSpPr txBox="1"/>
          <p:nvPr/>
        </p:nvSpPr>
        <p:spPr>
          <a:xfrm>
            <a:off x="813816" y="3127248"/>
            <a:ext cx="6729984" cy="292608"/>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You cannot hold the world fixed and keep it realistic.</a:t>
            </a:r>
            <a:endParaRPr lang="en-US" sz="1400" dirty="0"/>
          </a:p>
        </p:txBody>
      </p:sp>
      <p:sp>
        <p:nvSpPr>
          <p:cNvPr id="10" name="Text 8"/>
          <p:cNvSpPr txBox="1"/>
          <p:nvPr/>
        </p:nvSpPr>
        <p:spPr>
          <a:xfrm>
            <a:off x="813816" y="3474720"/>
            <a:ext cx="6729984" cy="841248"/>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Laboratory experiments buy control and lose realism; field studies do the reverse. Neither is the better method — the choice is a design decision that must be stated and defended.</a:t>
            </a:r>
            <a:endParaRPr lang="en-US" sz="1150" dirty="0"/>
          </a:p>
        </p:txBody>
      </p:sp>
      <p:sp>
        <p:nvSpPr>
          <p:cNvPr id="11" name="Shape 9"/>
          <p:cNvSpPr/>
          <p:nvPr/>
        </p:nvSpPr>
        <p:spPr>
          <a:xfrm>
            <a:off x="502920" y="4407408"/>
            <a:ext cx="109728" cy="109728"/>
          </a:xfrm>
          <a:prstGeom prst="ellipse">
            <a:avLst/>
          </a:prstGeom>
          <a:solidFill>
            <a:srgbClr val="3D6EA6"/>
          </a:solidFill>
          <a:ln/>
        </p:spPr>
      </p:sp>
      <p:sp>
        <p:nvSpPr>
          <p:cNvPr id="12" name="Text 10"/>
          <p:cNvSpPr txBox="1"/>
          <p:nvPr/>
        </p:nvSpPr>
        <p:spPr>
          <a:xfrm>
            <a:off x="813816" y="4315968"/>
            <a:ext cx="6729984" cy="292608"/>
          </a:xfrm>
          <a:prstGeom prst="rect">
            <a:avLst/>
          </a:prstGeom>
          <a:noFill/>
          <a:ln/>
        </p:spPr>
        <p:txBody>
          <a:bodyPr wrap="square" lIns="0" tIns="0" rIns="0" bIns="0" rtlCol="0" anchor="t"/>
          <a:lstStyle/>
          <a:p>
            <a:pPr indent="0" marL="0">
              <a:buNone/>
            </a:pPr>
            <a:r>
              <a:rPr lang="en-US" sz="1400" b="1" dirty="0">
                <a:solidFill>
                  <a:srgbClr val="241A4C"/>
                </a:solidFill>
                <a:latin typeface="Cambria" pitchFamily="34" charset="0"/>
                <a:ea typeface="Cambria" pitchFamily="34" charset="-122"/>
                <a:cs typeface="Cambria" pitchFamily="34" charset="-120"/>
              </a:rPr>
              <a:t>Threats to validity are the centre of the paper.</a:t>
            </a:r>
            <a:endParaRPr lang="en-US" sz="1400" dirty="0"/>
          </a:p>
        </p:txBody>
      </p:sp>
      <p:sp>
        <p:nvSpPr>
          <p:cNvPr id="13" name="Text 11"/>
          <p:cNvSpPr txBox="1"/>
          <p:nvPr/>
        </p:nvSpPr>
        <p:spPr>
          <a:xfrm>
            <a:off x="813816" y="4663440"/>
            <a:ext cx="6729984" cy="841248"/>
          </a:xfrm>
          <a:prstGeom prst="rect">
            <a:avLst/>
          </a:prstGeom>
          <a:noFill/>
          <a:ln/>
        </p:spPr>
        <p:txBody>
          <a:bodyPr wrap="square" lIns="0" tIns="0" rIns="0" bIns="0" rtlCol="0" anchor="t"/>
          <a:lstStyle/>
          <a:p>
            <a:pPr indent="0" marL="0">
              <a:lnSpc>
                <a:spcPct val="122000"/>
              </a:lnSpc>
              <a:buNone/>
            </a:pPr>
            <a:r>
              <a:rPr lang="en-US" sz="1150" dirty="0">
                <a:solidFill>
                  <a:srgbClr val="5C5A66"/>
                </a:solidFill>
                <a:latin typeface="Calibri" pitchFamily="34" charset="0"/>
                <a:ea typeface="Calibri" pitchFamily="34" charset="-122"/>
                <a:cs typeface="Calibri" pitchFamily="34" charset="-120"/>
              </a:rPr>
              <a:t>Because the dominant mode is empirical and the dominant inference is induction, the argument lives or dies on the population and the constructs. That section is not an appendix here.</a:t>
            </a:r>
            <a:endParaRPr lang="en-US" sz="1150" dirty="0"/>
          </a:p>
        </p:txBody>
      </p:sp>
      <p:sp>
        <p:nvSpPr>
          <p:cNvPr id="14" name="Shape 12"/>
          <p:cNvSpPr/>
          <p:nvPr/>
        </p:nvSpPr>
        <p:spPr>
          <a:xfrm>
            <a:off x="502920" y="5486400"/>
            <a:ext cx="7040880" cy="749808"/>
          </a:xfrm>
          <a:prstGeom prst="roundRect">
            <a:avLst>
              <a:gd name="adj" fmla="val 6098"/>
            </a:avLst>
          </a:prstGeom>
          <a:solidFill>
            <a:srgbClr val="F3F1FC"/>
          </a:solidFill>
          <a:ln/>
        </p:spPr>
      </p:sp>
      <p:sp>
        <p:nvSpPr>
          <p:cNvPr id="15" name="Text 13"/>
          <p:cNvSpPr txBox="1"/>
          <p:nvPr/>
        </p:nvSpPr>
        <p:spPr>
          <a:xfrm>
            <a:off x="777240" y="5486400"/>
            <a:ext cx="6492240" cy="749808"/>
          </a:xfrm>
          <a:prstGeom prst="rect">
            <a:avLst/>
          </a:prstGeom>
          <a:noFill/>
          <a:ln/>
        </p:spPr>
        <p:txBody>
          <a:bodyPr wrap="square" lIns="0" tIns="0" rIns="0" bIns="0" rtlCol="0" anchor="ctr"/>
          <a:lstStyle/>
          <a:p>
            <a:pPr indent="0" marL="0">
              <a:lnSpc>
                <a:spcPct val="118000"/>
              </a:lnSpc>
              <a:buNone/>
            </a:pPr>
            <a:r>
              <a:rPr lang="en-US" sz="1150" i="1" dirty="0">
                <a:solidFill>
                  <a:srgbClr val="241A4C"/>
                </a:solidFill>
                <a:latin typeface="Calibri" pitchFamily="34" charset="0"/>
                <a:ea typeface="Calibri" pitchFamily="34" charset="-122"/>
                <a:cs typeface="Calibri" pitchFamily="34" charset="-120"/>
              </a:rPr>
              <a:t>The reason SE research feels harder than it looks: the interesting questions are causal, and the available data is almost always observational.</a:t>
            </a:r>
            <a:endParaRPr lang="en-US" sz="1150" dirty="0"/>
          </a:p>
        </p:txBody>
      </p:sp>
      <p:sp>
        <p:nvSpPr>
          <p:cNvPr id="16" name="Shape 14"/>
          <p:cNvSpPr/>
          <p:nvPr/>
        </p:nvSpPr>
        <p:spPr>
          <a:xfrm>
            <a:off x="7818120" y="1938528"/>
            <a:ext cx="3867912" cy="4114800"/>
          </a:xfrm>
          <a:prstGeom prst="roundRect">
            <a:avLst>
              <a:gd name="adj" fmla="val 1182"/>
            </a:avLst>
          </a:prstGeom>
          <a:solidFill>
            <a:srgbClr val="EEF3F9"/>
          </a:solidFill>
          <a:ln/>
        </p:spPr>
      </p:sp>
      <p:sp>
        <p:nvSpPr>
          <p:cNvPr id="17" name="Text 15"/>
          <p:cNvSpPr txBox="1"/>
          <p:nvPr/>
        </p:nvSpPr>
        <p:spPr>
          <a:xfrm>
            <a:off x="8092440" y="2212848"/>
            <a:ext cx="3319272" cy="219456"/>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THE SAME SLOT, DIFFERENT CONTENTS</a:t>
            </a:r>
            <a:endParaRPr lang="en-US" sz="850" dirty="0"/>
          </a:p>
        </p:txBody>
      </p:sp>
      <p:sp>
        <p:nvSpPr>
          <p:cNvPr id="18" name="Text 16"/>
          <p:cNvSpPr txBox="1"/>
          <p:nvPr/>
        </p:nvSpPr>
        <p:spPr>
          <a:xfrm>
            <a:off x="8092440" y="2615184"/>
            <a:ext cx="3319272" cy="1371600"/>
          </a:xfrm>
          <a:prstGeom prst="rect">
            <a:avLst/>
          </a:prstGeom>
          <a:noFill/>
          <a:ln/>
        </p:spPr>
        <p:txBody>
          <a:bodyPr wrap="square" lIns="0" tIns="0" rIns="0" bIns="0" rtlCol="0" anchor="t"/>
          <a:lstStyle/>
          <a:p>
            <a:pPr indent="0" marL="0">
              <a:lnSpc>
                <a:spcPct val="118000"/>
              </a:lnSpc>
              <a:buNone/>
            </a:pPr>
            <a:r>
              <a:rPr lang="en-US" sz="1550" dirty="0">
                <a:solidFill>
                  <a:srgbClr val="241A4C"/>
                </a:solidFill>
                <a:latin typeface="Cambria" pitchFamily="34" charset="0"/>
                <a:ea typeface="Cambria" pitchFamily="34" charset="-122"/>
                <a:cs typeface="Cambria" pitchFamily="34" charset="-120"/>
              </a:rPr>
              <a:t>In algorithmic work, the risky premise is the model.</a:t>
            </a:r>
            <a:endParaRPr lang="en-US" sz="1550" dirty="0"/>
          </a:p>
          <a:p>
            <a:pPr indent="0" marL="0">
              <a:lnSpc>
                <a:spcPct val="118000"/>
              </a:lnSpc>
              <a:buNone/>
            </a:pPr>
            <a:endParaRPr lang="en-US" sz="1550" dirty="0"/>
          </a:p>
          <a:p>
            <a:pPr indent="0" marL="0">
              <a:lnSpc>
                <a:spcPct val="118000"/>
              </a:lnSpc>
              <a:buNone/>
            </a:pPr>
            <a:r>
              <a:rPr lang="en-US" sz="1550" dirty="0">
                <a:solidFill>
                  <a:srgbClr val="241A4C"/>
                </a:solidFill>
                <a:latin typeface="Cambria" pitchFamily="34" charset="0"/>
                <a:ea typeface="Cambria" pitchFamily="34" charset="-122"/>
                <a:cs typeface="Cambria" pitchFamily="34" charset="-120"/>
              </a:rPr>
              <a:t>In SE work, it is the population.</a:t>
            </a:r>
            <a:endParaRPr lang="en-US" sz="1550" dirty="0"/>
          </a:p>
        </p:txBody>
      </p:sp>
      <p:sp>
        <p:nvSpPr>
          <p:cNvPr id="19" name="Shape 17"/>
          <p:cNvSpPr/>
          <p:nvPr/>
        </p:nvSpPr>
        <p:spPr>
          <a:xfrm>
            <a:off x="8092440" y="4133088"/>
            <a:ext cx="1371600" cy="0"/>
          </a:xfrm>
          <a:prstGeom prst="line">
            <a:avLst/>
          </a:prstGeom>
          <a:noFill/>
          <a:ln w="15875">
            <a:solidFill>
              <a:srgbClr val="3D6EA6"/>
            </a:solidFill>
            <a:prstDash val="solid"/>
          </a:ln>
        </p:spPr>
      </p:sp>
      <p:sp>
        <p:nvSpPr>
          <p:cNvPr id="20" name="Text 18"/>
          <p:cNvSpPr txBox="1"/>
          <p:nvPr/>
        </p:nvSpPr>
        <p:spPr>
          <a:xfrm>
            <a:off x="8092440" y="4315968"/>
            <a:ext cx="3319272" cy="1463040"/>
          </a:xfrm>
          <a:prstGeom prst="rect">
            <a:avLst/>
          </a:prstGeom>
          <a:noFill/>
          <a:ln/>
        </p:spPr>
        <p:txBody>
          <a:bodyPr wrap="square" lIns="0" tIns="0" rIns="0" bIns="0" rtlCol="0" anchor="t"/>
          <a:lstStyle/>
          <a:p>
            <a:pPr indent="0" marL="0">
              <a:lnSpc>
                <a:spcPct val="122000"/>
              </a:lnSpc>
              <a:buNone/>
            </a:pPr>
            <a:r>
              <a:rPr lang="en-US" sz="1100" dirty="0">
                <a:solidFill>
                  <a:srgbClr val="5C5A66"/>
                </a:solidFill>
                <a:latin typeface="Calibri" pitchFamily="34" charset="0"/>
                <a:ea typeface="Calibri" pitchFamily="34" charset="-122"/>
                <a:cs typeface="Calibri" pitchFamily="34" charset="-120"/>
              </a:rPr>
              <a:t>Both occupy the position Lecture 1 called the warrant: the unstated reason the evidence supports the claim. Making it explicit is the same discipline in both traditions — it just has a different name in each.</a:t>
            </a:r>
            <a:endParaRPr lang="en-US" sz="1100" dirty="0"/>
          </a:p>
        </p:txBody>
      </p:sp>
      <p:sp>
        <p:nvSpPr>
          <p:cNvPr id="21" name="Text 19"/>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2" name="Text 20"/>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12 / 26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THE SOFTWARE ENGINEERING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Empirical Methods Toolkit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Six standard designs. They differ mainly in what they sacrifice — control, realism, scale, or the ability to say anything causal.</a:t>
            </a:r>
            <a:endParaRPr lang="en-US" sz="1250" dirty="0"/>
          </a:p>
        </p:txBody>
      </p:sp>
      <p:sp>
        <p:nvSpPr>
          <p:cNvPr id="5" name="Shape 3"/>
          <p:cNvSpPr/>
          <p:nvPr/>
        </p:nvSpPr>
        <p:spPr>
          <a:xfrm>
            <a:off x="502920" y="1938528"/>
            <a:ext cx="3502152" cy="1883664"/>
          </a:xfrm>
          <a:prstGeom prst="roundRect">
            <a:avLst>
              <a:gd name="adj" fmla="val 2427"/>
            </a:avLst>
          </a:prstGeom>
          <a:solidFill>
            <a:srgbClr val="F3F1FC"/>
          </a:solidFill>
          <a:ln w="12700">
            <a:solidFill>
              <a:srgbClr val="E6E2F5"/>
            </a:solidFill>
            <a:prstDash val="solid"/>
          </a:ln>
        </p:spPr>
      </p:sp>
      <p:sp>
        <p:nvSpPr>
          <p:cNvPr id="6" name="Text 4"/>
          <p:cNvSpPr txBox="1"/>
          <p:nvPr/>
        </p:nvSpPr>
        <p:spPr>
          <a:xfrm>
            <a:off x="75895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Controlled experiment</a:t>
            </a:r>
            <a:endParaRPr lang="en-US" sz="1450" dirty="0"/>
          </a:p>
        </p:txBody>
      </p:sp>
      <p:sp>
        <p:nvSpPr>
          <p:cNvPr id="7" name="Text 5"/>
          <p:cNvSpPr txBox="1"/>
          <p:nvPr/>
        </p:nvSpPr>
        <p:spPr>
          <a:xfrm>
            <a:off x="75895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Assign participants to treatments and measure an outcome on a fixed task. Highest internal validity, lowest external: the tasks small enough to run are rarely the work you care about.</a:t>
            </a:r>
            <a:endParaRPr lang="en-US" sz="1050" dirty="0"/>
          </a:p>
        </p:txBody>
      </p:sp>
      <p:sp>
        <p:nvSpPr>
          <p:cNvPr id="8" name="Shape 6"/>
          <p:cNvSpPr/>
          <p:nvPr/>
        </p:nvSpPr>
        <p:spPr>
          <a:xfrm>
            <a:off x="4343400" y="1938528"/>
            <a:ext cx="3502152" cy="1883664"/>
          </a:xfrm>
          <a:prstGeom prst="roundRect">
            <a:avLst>
              <a:gd name="adj" fmla="val 2427"/>
            </a:avLst>
          </a:prstGeom>
          <a:solidFill>
            <a:srgbClr val="F3F1FC"/>
          </a:solidFill>
          <a:ln w="12700">
            <a:solidFill>
              <a:srgbClr val="E6E2F5"/>
            </a:solidFill>
            <a:prstDash val="solid"/>
          </a:ln>
        </p:spPr>
      </p:sp>
      <p:sp>
        <p:nvSpPr>
          <p:cNvPr id="9" name="Text 7"/>
          <p:cNvSpPr txBox="1"/>
          <p:nvPr/>
        </p:nvSpPr>
        <p:spPr>
          <a:xfrm>
            <a:off x="459943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Case study</a:t>
            </a:r>
            <a:endParaRPr lang="en-US" sz="1450" dirty="0"/>
          </a:p>
        </p:txBody>
      </p:sp>
      <p:sp>
        <p:nvSpPr>
          <p:cNvPr id="10" name="Text 8"/>
          <p:cNvSpPr txBox="1"/>
          <p:nvPr/>
        </p:nvSpPr>
        <p:spPr>
          <a:xfrm>
            <a:off x="459943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Deep investigation of one or a few real settings, with a stated unit of analysis and several data sources. High realism, limited and carefully argued generalisation.</a:t>
            </a:r>
            <a:endParaRPr lang="en-US" sz="1050" dirty="0"/>
          </a:p>
        </p:txBody>
      </p:sp>
      <p:sp>
        <p:nvSpPr>
          <p:cNvPr id="11" name="Shape 9"/>
          <p:cNvSpPr/>
          <p:nvPr/>
        </p:nvSpPr>
        <p:spPr>
          <a:xfrm>
            <a:off x="8183880" y="1938528"/>
            <a:ext cx="3502152" cy="1883664"/>
          </a:xfrm>
          <a:prstGeom prst="roundRect">
            <a:avLst>
              <a:gd name="adj" fmla="val 2427"/>
            </a:avLst>
          </a:prstGeom>
          <a:solidFill>
            <a:srgbClr val="F3F1FC"/>
          </a:solidFill>
          <a:ln w="12700">
            <a:solidFill>
              <a:srgbClr val="E6E2F5"/>
            </a:solidFill>
            <a:prstDash val="solid"/>
          </a:ln>
        </p:spPr>
      </p:sp>
      <p:sp>
        <p:nvSpPr>
          <p:cNvPr id="12" name="Text 10"/>
          <p:cNvSpPr txBox="1"/>
          <p:nvPr/>
        </p:nvSpPr>
        <p:spPr>
          <a:xfrm>
            <a:off x="8439912" y="2157984"/>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3D6EA6"/>
                </a:solidFill>
                <a:latin typeface="Cambria" pitchFamily="34" charset="0"/>
                <a:ea typeface="Cambria" pitchFamily="34" charset="-122"/>
                <a:cs typeface="Cambria" pitchFamily="34" charset="-120"/>
              </a:rPr>
              <a:t>Survey</a:t>
            </a:r>
            <a:endParaRPr lang="en-US" sz="1450" dirty="0"/>
          </a:p>
        </p:txBody>
      </p:sp>
      <p:sp>
        <p:nvSpPr>
          <p:cNvPr id="13" name="Text 11"/>
          <p:cNvSpPr txBox="1"/>
          <p:nvPr/>
        </p:nvSpPr>
        <p:spPr>
          <a:xfrm>
            <a:off x="8439912" y="2596896"/>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designed instrument administered to a sampled population of practitioners. Good for prevalence and attitude; weak for causal claims. Report the sampling frame and response rate.</a:t>
            </a:r>
            <a:endParaRPr lang="en-US" sz="1050" dirty="0"/>
          </a:p>
        </p:txBody>
      </p:sp>
      <p:sp>
        <p:nvSpPr>
          <p:cNvPr id="14" name="Shape 12"/>
          <p:cNvSpPr/>
          <p:nvPr/>
        </p:nvSpPr>
        <p:spPr>
          <a:xfrm>
            <a:off x="502920" y="4096512"/>
            <a:ext cx="3502152" cy="1883664"/>
          </a:xfrm>
          <a:prstGeom prst="roundRect">
            <a:avLst>
              <a:gd name="adj" fmla="val 2427"/>
            </a:avLst>
          </a:prstGeom>
          <a:solidFill>
            <a:srgbClr val="FAF9FE"/>
          </a:solidFill>
          <a:ln w="12700">
            <a:solidFill>
              <a:srgbClr val="E6E2F5"/>
            </a:solidFill>
            <a:prstDash val="solid"/>
          </a:ln>
        </p:spPr>
      </p:sp>
      <p:sp>
        <p:nvSpPr>
          <p:cNvPr id="15" name="Text 13"/>
          <p:cNvSpPr txBox="1"/>
          <p:nvPr/>
        </p:nvSpPr>
        <p:spPr>
          <a:xfrm>
            <a:off x="75895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08C3A"/>
                </a:solidFill>
                <a:latin typeface="Cambria" pitchFamily="34" charset="0"/>
                <a:ea typeface="Cambria" pitchFamily="34" charset="-122"/>
                <a:cs typeface="Cambria" pitchFamily="34" charset="-120"/>
              </a:rPr>
              <a:t>Repository mining</a:t>
            </a:r>
            <a:endParaRPr lang="en-US" sz="1450" dirty="0"/>
          </a:p>
        </p:txBody>
      </p:sp>
      <p:sp>
        <p:nvSpPr>
          <p:cNvPr id="16" name="Text 14"/>
          <p:cNvSpPr txBox="1"/>
          <p:nvPr/>
        </p:nvSpPr>
        <p:spPr>
          <a:xfrm>
            <a:off x="75895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Observational data at scale from version control, issue trackers and CI logs. Enormous samples, no control at all, and heavy selection bias toward public projects.</a:t>
            </a:r>
            <a:endParaRPr lang="en-US" sz="1050" dirty="0"/>
          </a:p>
        </p:txBody>
      </p:sp>
      <p:sp>
        <p:nvSpPr>
          <p:cNvPr id="17" name="Shape 15"/>
          <p:cNvSpPr/>
          <p:nvPr/>
        </p:nvSpPr>
        <p:spPr>
          <a:xfrm>
            <a:off x="4343400" y="4096512"/>
            <a:ext cx="3502152" cy="1883664"/>
          </a:xfrm>
          <a:prstGeom prst="roundRect">
            <a:avLst>
              <a:gd name="adj" fmla="val 2427"/>
            </a:avLst>
          </a:prstGeom>
          <a:solidFill>
            <a:srgbClr val="FAF9FE"/>
          </a:solidFill>
          <a:ln w="12700">
            <a:solidFill>
              <a:srgbClr val="E6E2F5"/>
            </a:solidFill>
            <a:prstDash val="solid"/>
          </a:ln>
        </p:spPr>
      </p:sp>
      <p:sp>
        <p:nvSpPr>
          <p:cNvPr id="18" name="Text 16"/>
          <p:cNvSpPr txBox="1"/>
          <p:nvPr/>
        </p:nvSpPr>
        <p:spPr>
          <a:xfrm>
            <a:off x="459943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08C3A"/>
                </a:solidFill>
                <a:latin typeface="Cambria" pitchFamily="34" charset="0"/>
                <a:ea typeface="Cambria" pitchFamily="34" charset="-122"/>
                <a:cs typeface="Cambria" pitchFamily="34" charset="-120"/>
              </a:rPr>
              <a:t>Observational study</a:t>
            </a:r>
            <a:endParaRPr lang="en-US" sz="1450" dirty="0"/>
          </a:p>
        </p:txBody>
      </p:sp>
      <p:sp>
        <p:nvSpPr>
          <p:cNvPr id="19" name="Text 17"/>
          <p:cNvSpPr txBox="1"/>
          <p:nvPr/>
        </p:nvSpPr>
        <p:spPr>
          <a:xfrm>
            <a:off x="459943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Watching practitioners in situ, including ethnographic work. Strongest for discovering constructs and generating hypotheses that other designs then test.</a:t>
            </a:r>
            <a:endParaRPr lang="en-US" sz="1050" dirty="0"/>
          </a:p>
        </p:txBody>
      </p:sp>
      <p:sp>
        <p:nvSpPr>
          <p:cNvPr id="20" name="Shape 18"/>
          <p:cNvSpPr/>
          <p:nvPr/>
        </p:nvSpPr>
        <p:spPr>
          <a:xfrm>
            <a:off x="8183880" y="4096512"/>
            <a:ext cx="3502152" cy="1883664"/>
          </a:xfrm>
          <a:prstGeom prst="roundRect">
            <a:avLst>
              <a:gd name="adj" fmla="val 2427"/>
            </a:avLst>
          </a:prstGeom>
          <a:solidFill>
            <a:srgbClr val="FAF9FE"/>
          </a:solidFill>
          <a:ln w="12700">
            <a:solidFill>
              <a:srgbClr val="E6E2F5"/>
            </a:solidFill>
            <a:prstDash val="solid"/>
          </a:ln>
        </p:spPr>
      </p:sp>
      <p:sp>
        <p:nvSpPr>
          <p:cNvPr id="21" name="Text 19"/>
          <p:cNvSpPr txBox="1"/>
          <p:nvPr/>
        </p:nvSpPr>
        <p:spPr>
          <a:xfrm>
            <a:off x="8439912" y="4315968"/>
            <a:ext cx="2990088" cy="365760"/>
          </a:xfrm>
          <a:prstGeom prst="rect">
            <a:avLst/>
          </a:prstGeom>
          <a:noFill/>
          <a:ln/>
        </p:spPr>
        <p:txBody>
          <a:bodyPr wrap="square" lIns="0" tIns="0" rIns="0" bIns="0" rtlCol="0" anchor="t"/>
          <a:lstStyle/>
          <a:p>
            <a:pPr indent="0" marL="0">
              <a:lnSpc>
                <a:spcPct val="105000"/>
              </a:lnSpc>
              <a:buNone/>
            </a:pPr>
            <a:r>
              <a:rPr lang="en-US" sz="1450" b="1" dirty="0">
                <a:solidFill>
                  <a:srgbClr val="B4522B"/>
                </a:solidFill>
                <a:latin typeface="Cambria" pitchFamily="34" charset="0"/>
                <a:ea typeface="Cambria" pitchFamily="34" charset="-122"/>
                <a:cs typeface="Cambria" pitchFamily="34" charset="-120"/>
              </a:rPr>
              <a:t>Design science</a:t>
            </a:r>
            <a:endParaRPr lang="en-US" sz="1450" dirty="0"/>
          </a:p>
        </p:txBody>
      </p:sp>
      <p:sp>
        <p:nvSpPr>
          <p:cNvPr id="22" name="Text 20"/>
          <p:cNvSpPr txBox="1"/>
          <p:nvPr/>
        </p:nvSpPr>
        <p:spPr>
          <a:xfrm>
            <a:off x="8439912" y="4754880"/>
            <a:ext cx="2990088" cy="1042416"/>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Build an artifact to solve a real problem in a real context, evaluate it there, and report the design knowledge that transfers beyond the one case.</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13 / 26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THE SOFTWARE ENGINEERING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Design Science: When the Contribution Is an Artifact</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Wieringa's engineering cycle, the standard framing for thesis work that builds something to solve a real problem.</a:t>
            </a:r>
            <a:endParaRPr lang="en-US" sz="1250" dirty="0"/>
          </a:p>
        </p:txBody>
      </p:sp>
      <p:sp>
        <p:nvSpPr>
          <p:cNvPr id="5" name="Shape 3"/>
          <p:cNvSpPr/>
          <p:nvPr/>
        </p:nvSpPr>
        <p:spPr>
          <a:xfrm>
            <a:off x="502920" y="1938528"/>
            <a:ext cx="384048" cy="384048"/>
          </a:xfrm>
          <a:prstGeom prst="ellipse">
            <a:avLst/>
          </a:prstGeom>
          <a:solidFill>
            <a:srgbClr val="3D6EA6"/>
          </a:solidFill>
          <a:ln/>
        </p:spPr>
      </p:sp>
      <p:sp>
        <p:nvSpPr>
          <p:cNvPr id="6" name="Text 4"/>
          <p:cNvSpPr txBox="1"/>
          <p:nvPr/>
        </p:nvSpPr>
        <p:spPr>
          <a:xfrm>
            <a:off x="502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502920" y="2468880"/>
            <a:ext cx="2039112" cy="475488"/>
          </a:xfrm>
          <a:prstGeom prst="rect">
            <a:avLst/>
          </a:prstGeom>
          <a:noFill/>
          <a:ln/>
        </p:spPr>
        <p:txBody>
          <a:bodyPr wrap="square" lIns="0" tIns="0" rIns="0" bIns="0" rtlCol="0" anchor="t"/>
          <a:lstStyle/>
          <a:p>
            <a:pPr indent="0" marL="0">
              <a:lnSpc>
                <a:spcPct val="105000"/>
              </a:lnSpc>
              <a:buNone/>
            </a:pPr>
            <a:r>
              <a:rPr lang="en-US" sz="1350" b="1" dirty="0">
                <a:solidFill>
                  <a:srgbClr val="241A4C"/>
                </a:solidFill>
                <a:latin typeface="Cambria" pitchFamily="34" charset="0"/>
                <a:ea typeface="Cambria" pitchFamily="34" charset="-122"/>
                <a:cs typeface="Cambria" pitchFamily="34" charset="-120"/>
              </a:rPr>
              <a:t>Problem investigation</a:t>
            </a:r>
            <a:endParaRPr lang="en-US" sz="1350" dirty="0"/>
          </a:p>
        </p:txBody>
      </p:sp>
      <p:sp>
        <p:nvSpPr>
          <p:cNvPr id="8" name="Text 6"/>
          <p:cNvSpPr txBox="1"/>
          <p:nvPr/>
        </p:nvSpPr>
        <p:spPr>
          <a:xfrm>
            <a:off x="502920" y="3017520"/>
            <a:ext cx="2039112" cy="146304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Whose problem is it, what causes it, and what would count as an improvement? Answered before anything is built.</a:t>
            </a:r>
            <a:endParaRPr lang="en-US" sz="1050" dirty="0"/>
          </a:p>
        </p:txBody>
      </p:sp>
      <p:sp>
        <p:nvSpPr>
          <p:cNvPr id="9" name="Text 7"/>
          <p:cNvSpPr txBox="1"/>
          <p:nvPr/>
        </p:nvSpPr>
        <p:spPr>
          <a:xfrm>
            <a:off x="2487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788920" y="1938528"/>
            <a:ext cx="384048" cy="384048"/>
          </a:xfrm>
          <a:prstGeom prst="ellipse">
            <a:avLst/>
          </a:prstGeom>
          <a:solidFill>
            <a:srgbClr val="3D6EA6"/>
          </a:solidFill>
          <a:ln/>
        </p:spPr>
      </p:sp>
      <p:sp>
        <p:nvSpPr>
          <p:cNvPr id="11" name="Text 9"/>
          <p:cNvSpPr txBox="1"/>
          <p:nvPr/>
        </p:nvSpPr>
        <p:spPr>
          <a:xfrm>
            <a:off x="2788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2788920" y="2468880"/>
            <a:ext cx="2039112" cy="475488"/>
          </a:xfrm>
          <a:prstGeom prst="rect">
            <a:avLst/>
          </a:prstGeom>
          <a:noFill/>
          <a:ln/>
        </p:spPr>
        <p:txBody>
          <a:bodyPr wrap="square" lIns="0" tIns="0" rIns="0" bIns="0" rtlCol="0" anchor="t"/>
          <a:lstStyle/>
          <a:p>
            <a:pPr indent="0" marL="0">
              <a:lnSpc>
                <a:spcPct val="105000"/>
              </a:lnSpc>
              <a:buNone/>
            </a:pPr>
            <a:r>
              <a:rPr lang="en-US" sz="1350" b="1" dirty="0">
                <a:solidFill>
                  <a:srgbClr val="241A4C"/>
                </a:solidFill>
                <a:latin typeface="Cambria" pitchFamily="34" charset="0"/>
                <a:ea typeface="Cambria" pitchFamily="34" charset="-122"/>
                <a:cs typeface="Cambria" pitchFamily="34" charset="-120"/>
              </a:rPr>
              <a:t>Treatment design</a:t>
            </a:r>
            <a:endParaRPr lang="en-US" sz="1350" dirty="0"/>
          </a:p>
        </p:txBody>
      </p:sp>
      <p:sp>
        <p:nvSpPr>
          <p:cNvPr id="13" name="Text 11"/>
          <p:cNvSpPr txBox="1"/>
          <p:nvPr/>
        </p:nvSpPr>
        <p:spPr>
          <a:xfrm>
            <a:off x="2788920" y="3017520"/>
            <a:ext cx="2039112" cy="146304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Specify requirements, then design an artifact — a tool, method, or process — intended to satisfy them.</a:t>
            </a:r>
            <a:endParaRPr lang="en-US" sz="1050" dirty="0"/>
          </a:p>
        </p:txBody>
      </p:sp>
      <p:sp>
        <p:nvSpPr>
          <p:cNvPr id="14" name="Text 12"/>
          <p:cNvSpPr txBox="1"/>
          <p:nvPr/>
        </p:nvSpPr>
        <p:spPr>
          <a:xfrm>
            <a:off x="4773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5074920" y="1938528"/>
            <a:ext cx="384048" cy="384048"/>
          </a:xfrm>
          <a:prstGeom prst="ellipse">
            <a:avLst/>
          </a:prstGeom>
          <a:solidFill>
            <a:srgbClr val="B08C3A"/>
          </a:solidFill>
          <a:ln/>
        </p:spPr>
      </p:sp>
      <p:sp>
        <p:nvSpPr>
          <p:cNvPr id="16" name="Text 14"/>
          <p:cNvSpPr txBox="1"/>
          <p:nvPr/>
        </p:nvSpPr>
        <p:spPr>
          <a:xfrm>
            <a:off x="5074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txBox="1"/>
          <p:nvPr/>
        </p:nvSpPr>
        <p:spPr>
          <a:xfrm>
            <a:off x="5074920" y="2468880"/>
            <a:ext cx="2039112" cy="475488"/>
          </a:xfrm>
          <a:prstGeom prst="rect">
            <a:avLst/>
          </a:prstGeom>
          <a:noFill/>
          <a:ln/>
        </p:spPr>
        <p:txBody>
          <a:bodyPr wrap="square" lIns="0" tIns="0" rIns="0" bIns="0" rtlCol="0" anchor="t"/>
          <a:lstStyle/>
          <a:p>
            <a:pPr indent="0" marL="0">
              <a:lnSpc>
                <a:spcPct val="105000"/>
              </a:lnSpc>
              <a:buNone/>
            </a:pPr>
            <a:r>
              <a:rPr lang="en-US" sz="1350" b="1" dirty="0">
                <a:solidFill>
                  <a:srgbClr val="241A4C"/>
                </a:solidFill>
                <a:latin typeface="Cambria" pitchFamily="34" charset="0"/>
                <a:ea typeface="Cambria" pitchFamily="34" charset="-122"/>
                <a:cs typeface="Cambria" pitchFamily="34" charset="-120"/>
              </a:rPr>
              <a:t>Treatment validation</a:t>
            </a:r>
            <a:endParaRPr lang="en-US" sz="1350" dirty="0"/>
          </a:p>
        </p:txBody>
      </p:sp>
      <p:sp>
        <p:nvSpPr>
          <p:cNvPr id="18" name="Text 16"/>
          <p:cNvSpPr txBox="1"/>
          <p:nvPr/>
        </p:nvSpPr>
        <p:spPr>
          <a:xfrm>
            <a:off x="5074920" y="3017520"/>
            <a:ext cx="2039112" cy="146304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Would this artifact produce the intended effect, in the intended context? Argued before deployment, not after.</a:t>
            </a:r>
            <a:endParaRPr lang="en-US" sz="1050" dirty="0"/>
          </a:p>
        </p:txBody>
      </p:sp>
      <p:sp>
        <p:nvSpPr>
          <p:cNvPr id="19" name="Text 17"/>
          <p:cNvSpPr txBox="1"/>
          <p:nvPr/>
        </p:nvSpPr>
        <p:spPr>
          <a:xfrm>
            <a:off x="7059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7360920" y="1938528"/>
            <a:ext cx="384048" cy="384048"/>
          </a:xfrm>
          <a:prstGeom prst="ellipse">
            <a:avLst/>
          </a:prstGeom>
          <a:solidFill>
            <a:srgbClr val="B4522B"/>
          </a:solidFill>
          <a:ln/>
        </p:spPr>
      </p:sp>
      <p:sp>
        <p:nvSpPr>
          <p:cNvPr id="21" name="Text 19"/>
          <p:cNvSpPr txBox="1"/>
          <p:nvPr/>
        </p:nvSpPr>
        <p:spPr>
          <a:xfrm>
            <a:off x="7360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txBox="1"/>
          <p:nvPr/>
        </p:nvSpPr>
        <p:spPr>
          <a:xfrm>
            <a:off x="7360920" y="2468880"/>
            <a:ext cx="2039112" cy="475488"/>
          </a:xfrm>
          <a:prstGeom prst="rect">
            <a:avLst/>
          </a:prstGeom>
          <a:noFill/>
          <a:ln/>
        </p:spPr>
        <p:txBody>
          <a:bodyPr wrap="square" lIns="0" tIns="0" rIns="0" bIns="0" rtlCol="0" anchor="t"/>
          <a:lstStyle/>
          <a:p>
            <a:pPr indent="0" marL="0">
              <a:lnSpc>
                <a:spcPct val="105000"/>
              </a:lnSpc>
              <a:buNone/>
            </a:pPr>
            <a:r>
              <a:rPr lang="en-US" sz="1350" b="1" dirty="0">
                <a:solidFill>
                  <a:srgbClr val="241A4C"/>
                </a:solidFill>
                <a:latin typeface="Cambria" pitchFamily="34" charset="0"/>
                <a:ea typeface="Cambria" pitchFamily="34" charset="-122"/>
                <a:cs typeface="Cambria" pitchFamily="34" charset="-120"/>
              </a:rPr>
              <a:t>Implementation</a:t>
            </a:r>
            <a:endParaRPr lang="en-US" sz="1350" dirty="0"/>
          </a:p>
        </p:txBody>
      </p:sp>
      <p:sp>
        <p:nvSpPr>
          <p:cNvPr id="23" name="Text 21"/>
          <p:cNvSpPr txBox="1"/>
          <p:nvPr/>
        </p:nvSpPr>
        <p:spPr>
          <a:xfrm>
            <a:off x="7360920" y="3017520"/>
            <a:ext cx="2039112" cy="146304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Deploy the artifact in the real context it was designed for, with real users and real constraints.</a:t>
            </a:r>
            <a:endParaRPr lang="en-US" sz="1050" dirty="0"/>
          </a:p>
        </p:txBody>
      </p:sp>
      <p:sp>
        <p:nvSpPr>
          <p:cNvPr id="24" name="Text 22"/>
          <p:cNvSpPr txBox="1"/>
          <p:nvPr/>
        </p:nvSpPr>
        <p:spPr>
          <a:xfrm>
            <a:off x="9345168" y="1975104"/>
            <a:ext cx="356616" cy="310896"/>
          </a:xfrm>
          <a:prstGeom prst="rect">
            <a:avLst/>
          </a:prstGeom>
          <a:noFill/>
          <a:ln/>
        </p:spPr>
        <p:txBody>
          <a:bodyPr wrap="square" lIns="0" tIns="0" rIns="0" bIns="0" rtlCol="0" anchor="ctr"/>
          <a:lstStyle/>
          <a:p>
            <a:pPr algn="ctr" indent="0" marL="0">
              <a:buNone/>
            </a:pPr>
            <a:r>
              <a:rPr lang="en-US" sz="1400" dirty="0">
                <a:solidFill>
                  <a:srgbClr val="8A8894"/>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9646920" y="1938528"/>
            <a:ext cx="384048" cy="384048"/>
          </a:xfrm>
          <a:prstGeom prst="ellipse">
            <a:avLst/>
          </a:prstGeom>
          <a:solidFill>
            <a:srgbClr val="B4522B"/>
          </a:solidFill>
          <a:ln/>
        </p:spPr>
      </p:sp>
      <p:sp>
        <p:nvSpPr>
          <p:cNvPr id="26" name="Text 24"/>
          <p:cNvSpPr txBox="1"/>
          <p:nvPr/>
        </p:nvSpPr>
        <p:spPr>
          <a:xfrm>
            <a:off x="964692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txBox="1"/>
          <p:nvPr/>
        </p:nvSpPr>
        <p:spPr>
          <a:xfrm>
            <a:off x="9646920" y="2468880"/>
            <a:ext cx="2039112" cy="475488"/>
          </a:xfrm>
          <a:prstGeom prst="rect">
            <a:avLst/>
          </a:prstGeom>
          <a:noFill/>
          <a:ln/>
        </p:spPr>
        <p:txBody>
          <a:bodyPr wrap="square" lIns="0" tIns="0" rIns="0" bIns="0" rtlCol="0" anchor="t"/>
          <a:lstStyle/>
          <a:p>
            <a:pPr indent="0" marL="0">
              <a:lnSpc>
                <a:spcPct val="105000"/>
              </a:lnSpc>
              <a:buNone/>
            </a:pPr>
            <a:r>
              <a:rPr lang="en-US" sz="1350" b="1" dirty="0">
                <a:solidFill>
                  <a:srgbClr val="241A4C"/>
                </a:solidFill>
                <a:latin typeface="Cambria" pitchFamily="34" charset="0"/>
                <a:ea typeface="Cambria" pitchFamily="34" charset="-122"/>
                <a:cs typeface="Cambria" pitchFamily="34" charset="-120"/>
              </a:rPr>
              <a:t>Evaluation</a:t>
            </a:r>
            <a:endParaRPr lang="en-US" sz="1350" dirty="0"/>
          </a:p>
        </p:txBody>
      </p:sp>
      <p:sp>
        <p:nvSpPr>
          <p:cNvPr id="28" name="Text 26"/>
          <p:cNvSpPr txBox="1"/>
          <p:nvPr/>
        </p:nvSpPr>
        <p:spPr>
          <a:xfrm>
            <a:off x="9646920" y="3017520"/>
            <a:ext cx="2039112" cy="1463040"/>
          </a:xfrm>
          <a:prstGeom prst="rect">
            <a:avLst/>
          </a:prstGeom>
          <a:noFill/>
          <a:ln/>
        </p:spPr>
        <p:txBody>
          <a:bodyPr wrap="square" lIns="0" tIns="0" rIns="0" bIns="0" rtlCol="0" anchor="t"/>
          <a:lstStyle/>
          <a:p>
            <a:pPr indent="0" marL="0">
              <a:lnSpc>
                <a:spcPct val="120000"/>
              </a:lnSpc>
              <a:buNone/>
            </a:pPr>
            <a:r>
              <a:rPr lang="en-US" sz="1050" dirty="0">
                <a:solidFill>
                  <a:srgbClr val="5C5A66"/>
                </a:solidFill>
                <a:latin typeface="Calibri" pitchFamily="34" charset="0"/>
                <a:ea typeface="Calibri" pitchFamily="34" charset="-122"/>
                <a:cs typeface="Calibri" pitchFamily="34" charset="-120"/>
              </a:rPr>
              <a:t>Did it work? The answer becomes the next problem investigation, and the cycle turns again.</a:t>
            </a:r>
            <a:endParaRPr lang="en-US" sz="1050" dirty="0"/>
          </a:p>
        </p:txBody>
      </p:sp>
      <p:sp>
        <p:nvSpPr>
          <p:cNvPr id="29" name="Shape 27"/>
          <p:cNvSpPr/>
          <p:nvPr/>
        </p:nvSpPr>
        <p:spPr>
          <a:xfrm>
            <a:off x="502920" y="4681728"/>
            <a:ext cx="11183112" cy="1133856"/>
          </a:xfrm>
          <a:prstGeom prst="roundRect">
            <a:avLst>
              <a:gd name="adj" fmla="val 4032"/>
            </a:avLst>
          </a:prstGeom>
          <a:solidFill>
            <a:srgbClr val="F6EFE4"/>
          </a:solidFill>
          <a:ln/>
        </p:spPr>
      </p:sp>
      <p:sp>
        <p:nvSpPr>
          <p:cNvPr id="30" name="Text 28"/>
          <p:cNvSpPr txBox="1"/>
          <p:nvPr/>
        </p:nvSpPr>
        <p:spPr>
          <a:xfrm>
            <a:off x="795528" y="4846320"/>
            <a:ext cx="5486400" cy="219456"/>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THE DISTINCTION THAT ORGANISES A THESIS</a:t>
            </a:r>
            <a:endParaRPr lang="en-US" sz="850" dirty="0"/>
          </a:p>
        </p:txBody>
      </p:sp>
      <p:sp>
        <p:nvSpPr>
          <p:cNvPr id="31" name="Text 29"/>
          <p:cNvSpPr txBox="1"/>
          <p:nvPr/>
        </p:nvSpPr>
        <p:spPr>
          <a:xfrm>
            <a:off x="795528" y="5084064"/>
            <a:ext cx="10597896" cy="603504"/>
          </a:xfrm>
          <a:prstGeom prst="rect">
            <a:avLst/>
          </a:prstGeom>
          <a:noFill/>
          <a:ln/>
        </p:spPr>
        <p:txBody>
          <a:bodyPr wrap="square" lIns="0" tIns="0" rIns="0" bIns="0" rtlCol="0" anchor="t"/>
          <a:lstStyle/>
          <a:p>
            <a:pPr indent="0" marL="0">
              <a:lnSpc>
                <a:spcPct val="118000"/>
              </a:lnSpc>
              <a:buNone/>
            </a:pPr>
            <a:r>
              <a:rPr lang="en-US" sz="1100" dirty="0">
                <a:solidFill>
                  <a:srgbClr val="5C5A66"/>
                </a:solidFill>
                <a:latin typeface="Calibri" pitchFamily="34" charset="0"/>
                <a:ea typeface="Calibri" pitchFamily="34" charset="-122"/>
                <a:cs typeface="Calibri" pitchFamily="34" charset="-120"/>
              </a:rPr>
              <a:t>Wieringa separates design problems — “how do we build something that achieves X?” — from knowledge questions — “is it true that Y?”. They call for different evidence and belong in different chapters: a design problem is answered by an artifact plus a validation argument, a knowledge question by a study. Most confused theses are confused because these two were attempted in the same chapter.</a:t>
            </a:r>
            <a:endParaRPr lang="en-US" sz="1100" dirty="0"/>
          </a:p>
        </p:txBody>
      </p:sp>
      <p:sp>
        <p:nvSpPr>
          <p:cNvPr id="32" name="Text 3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3" name="Text 3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14 / 26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THE SOFTWARE ENGINEERING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Every Software Metric Is a Proxy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Lecture 2 called this construct validity. In SE research it is the threat that sinks the most papers, because the metric is easy to compute and the construct is hard to define.</a:t>
            </a:r>
            <a:endParaRPr lang="en-US" sz="1250" dirty="0"/>
          </a:p>
        </p:txBody>
      </p:sp>
      <p:sp>
        <p:nvSpPr>
          <p:cNvPr id="5" name="Shape 3"/>
          <p:cNvSpPr/>
          <p:nvPr/>
        </p:nvSpPr>
        <p:spPr>
          <a:xfrm>
            <a:off x="502920" y="1938528"/>
            <a:ext cx="237744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20848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METRIC</a:t>
            </a:r>
            <a:endParaRPr lang="en-US" sz="850" dirty="0"/>
          </a:p>
        </p:txBody>
      </p:sp>
      <p:sp>
        <p:nvSpPr>
          <p:cNvPr id="7" name="Shape 5"/>
          <p:cNvSpPr/>
          <p:nvPr/>
        </p:nvSpPr>
        <p:spPr>
          <a:xfrm>
            <a:off x="2880360" y="1938528"/>
            <a:ext cx="3977640" cy="384048"/>
          </a:xfrm>
          <a:prstGeom prst="rect">
            <a:avLst/>
          </a:prstGeom>
          <a:solidFill>
            <a:srgbClr val="241A4C"/>
          </a:solidFill>
          <a:ln w="19050">
            <a:solidFill>
              <a:srgbClr val="FFFFFF"/>
            </a:solidFill>
            <a:prstDash val="solid"/>
          </a:ln>
        </p:spPr>
      </p:sp>
      <p:sp>
        <p:nvSpPr>
          <p:cNvPr id="8" name="Text 6"/>
          <p:cNvSpPr txBox="1"/>
          <p:nvPr/>
        </p:nvSpPr>
        <p:spPr>
          <a:xfrm>
            <a:off x="3026664" y="1938528"/>
            <a:ext cx="36850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CONSTRUCT IT IS MEANT TO CAPTURE</a:t>
            </a:r>
            <a:endParaRPr lang="en-US" sz="850" dirty="0"/>
          </a:p>
        </p:txBody>
      </p:sp>
      <p:sp>
        <p:nvSpPr>
          <p:cNvPr id="9" name="Shape 7"/>
          <p:cNvSpPr/>
          <p:nvPr/>
        </p:nvSpPr>
        <p:spPr>
          <a:xfrm>
            <a:off x="6858000" y="1938528"/>
            <a:ext cx="4828032" cy="384048"/>
          </a:xfrm>
          <a:prstGeom prst="rect">
            <a:avLst/>
          </a:prstGeom>
          <a:solidFill>
            <a:srgbClr val="241A4C"/>
          </a:solidFill>
          <a:ln w="19050">
            <a:solidFill>
              <a:srgbClr val="FFFFFF"/>
            </a:solidFill>
            <a:prstDash val="solid"/>
          </a:ln>
        </p:spPr>
      </p:sp>
      <p:sp>
        <p:nvSpPr>
          <p:cNvPr id="10" name="Text 8"/>
          <p:cNvSpPr txBox="1"/>
          <p:nvPr/>
        </p:nvSpPr>
        <p:spPr>
          <a:xfrm>
            <a:off x="7004304" y="1938528"/>
            <a:ext cx="453542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WHY THE CONSTRUCT IS CONTESTED</a:t>
            </a:r>
            <a:endParaRPr lang="en-US" sz="850" dirty="0"/>
          </a:p>
        </p:txBody>
      </p:sp>
      <p:sp>
        <p:nvSpPr>
          <p:cNvPr id="11" name="Shape 9"/>
          <p:cNvSpPr/>
          <p:nvPr/>
        </p:nvSpPr>
        <p:spPr>
          <a:xfrm>
            <a:off x="502920" y="2377440"/>
            <a:ext cx="11183112" cy="621792"/>
          </a:xfrm>
          <a:prstGeom prst="rect">
            <a:avLst/>
          </a:prstGeom>
          <a:solidFill>
            <a:srgbClr val="F3F1FC"/>
          </a:solidFill>
          <a:ln/>
        </p:spPr>
      </p:sp>
      <p:sp>
        <p:nvSpPr>
          <p:cNvPr id="12" name="Shape 10"/>
          <p:cNvSpPr/>
          <p:nvPr/>
        </p:nvSpPr>
        <p:spPr>
          <a:xfrm>
            <a:off x="502920" y="2377440"/>
            <a:ext cx="50292" cy="621792"/>
          </a:xfrm>
          <a:prstGeom prst="rect">
            <a:avLst/>
          </a:prstGeom>
          <a:solidFill>
            <a:srgbClr val="3D6EA6"/>
          </a:solidFill>
          <a:ln/>
        </p:spPr>
      </p:sp>
      <p:sp>
        <p:nvSpPr>
          <p:cNvPr id="13" name="Text 11"/>
          <p:cNvSpPr txBox="1"/>
          <p:nvPr/>
        </p:nvSpPr>
        <p:spPr>
          <a:xfrm>
            <a:off x="722376" y="2377440"/>
            <a:ext cx="19933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Cyclomatic complexity</a:t>
            </a:r>
            <a:endParaRPr lang="en-US" sz="1200" dirty="0"/>
          </a:p>
        </p:txBody>
      </p:sp>
      <p:sp>
        <p:nvSpPr>
          <p:cNvPr id="14" name="Text 12"/>
          <p:cNvSpPr txBox="1"/>
          <p:nvPr/>
        </p:nvSpPr>
        <p:spPr>
          <a:xfrm>
            <a:off x="3044952" y="2377440"/>
            <a:ext cx="36484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Comprehension difficulty and testing effort.</a:t>
            </a:r>
            <a:endParaRPr lang="en-US" sz="1050" dirty="0"/>
          </a:p>
        </p:txBody>
      </p:sp>
      <p:sp>
        <p:nvSpPr>
          <p:cNvPr id="15" name="Text 13"/>
          <p:cNvSpPr txBox="1"/>
          <p:nvPr/>
        </p:nvSpPr>
        <p:spPr>
          <a:xfrm>
            <a:off x="7022592" y="2377440"/>
            <a:ext cx="44988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Correlates so strongly with size that most studies find it adds little beyond counting lines.</a:t>
            </a:r>
            <a:endParaRPr lang="en-US" sz="1050" dirty="0"/>
          </a:p>
        </p:txBody>
      </p:sp>
      <p:sp>
        <p:nvSpPr>
          <p:cNvPr id="16" name="Shape 14"/>
          <p:cNvSpPr/>
          <p:nvPr/>
        </p:nvSpPr>
        <p:spPr>
          <a:xfrm>
            <a:off x="502920" y="3054096"/>
            <a:ext cx="11183112" cy="621792"/>
          </a:xfrm>
          <a:prstGeom prst="rect">
            <a:avLst/>
          </a:prstGeom>
          <a:solidFill>
            <a:srgbClr val="FFFFFF"/>
          </a:solidFill>
          <a:ln/>
        </p:spPr>
      </p:sp>
      <p:sp>
        <p:nvSpPr>
          <p:cNvPr id="17" name="Shape 15"/>
          <p:cNvSpPr/>
          <p:nvPr/>
        </p:nvSpPr>
        <p:spPr>
          <a:xfrm>
            <a:off x="502920" y="3054096"/>
            <a:ext cx="50292" cy="621792"/>
          </a:xfrm>
          <a:prstGeom prst="rect">
            <a:avLst/>
          </a:prstGeom>
          <a:solidFill>
            <a:srgbClr val="B4522B"/>
          </a:solidFill>
          <a:ln/>
        </p:spPr>
      </p:sp>
      <p:sp>
        <p:nvSpPr>
          <p:cNvPr id="18" name="Text 16"/>
          <p:cNvSpPr txBox="1"/>
          <p:nvPr/>
        </p:nvSpPr>
        <p:spPr>
          <a:xfrm>
            <a:off x="722376" y="3054096"/>
            <a:ext cx="19933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Defect density</a:t>
            </a:r>
            <a:endParaRPr lang="en-US" sz="1200" dirty="0"/>
          </a:p>
        </p:txBody>
      </p:sp>
      <p:sp>
        <p:nvSpPr>
          <p:cNvPr id="19" name="Text 17"/>
          <p:cNvSpPr txBox="1"/>
          <p:nvPr/>
        </p:nvSpPr>
        <p:spPr>
          <a:xfrm>
            <a:off x="3044952" y="3054096"/>
            <a:ext cx="36484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Product quality.</a:t>
            </a:r>
            <a:endParaRPr lang="en-US" sz="1050" dirty="0"/>
          </a:p>
        </p:txBody>
      </p:sp>
      <p:sp>
        <p:nvSpPr>
          <p:cNvPr id="20" name="Text 18"/>
          <p:cNvSpPr txBox="1"/>
          <p:nvPr/>
        </p:nvSpPr>
        <p:spPr>
          <a:xfrm>
            <a:off x="7022592" y="3054096"/>
            <a:ext cx="44988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Depends on how hard anyone looked. More testing produces more recorded defects, not worse software.</a:t>
            </a:r>
            <a:endParaRPr lang="en-US" sz="1050" dirty="0"/>
          </a:p>
        </p:txBody>
      </p:sp>
      <p:sp>
        <p:nvSpPr>
          <p:cNvPr id="21" name="Shape 19"/>
          <p:cNvSpPr/>
          <p:nvPr/>
        </p:nvSpPr>
        <p:spPr>
          <a:xfrm>
            <a:off x="502920" y="3730752"/>
            <a:ext cx="11183112" cy="621792"/>
          </a:xfrm>
          <a:prstGeom prst="rect">
            <a:avLst/>
          </a:prstGeom>
          <a:solidFill>
            <a:srgbClr val="F3F1FC"/>
          </a:solidFill>
          <a:ln/>
        </p:spPr>
      </p:sp>
      <p:sp>
        <p:nvSpPr>
          <p:cNvPr id="22" name="Shape 20"/>
          <p:cNvSpPr/>
          <p:nvPr/>
        </p:nvSpPr>
        <p:spPr>
          <a:xfrm>
            <a:off x="502920" y="3730752"/>
            <a:ext cx="50292" cy="621792"/>
          </a:xfrm>
          <a:prstGeom prst="rect">
            <a:avLst/>
          </a:prstGeom>
          <a:solidFill>
            <a:srgbClr val="D8A73E"/>
          </a:solidFill>
          <a:ln/>
        </p:spPr>
      </p:sp>
      <p:sp>
        <p:nvSpPr>
          <p:cNvPr id="23" name="Text 21"/>
          <p:cNvSpPr txBox="1"/>
          <p:nvPr/>
        </p:nvSpPr>
        <p:spPr>
          <a:xfrm>
            <a:off x="722376" y="3730752"/>
            <a:ext cx="19933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Code churn</a:t>
            </a:r>
            <a:endParaRPr lang="en-US" sz="1200" dirty="0"/>
          </a:p>
        </p:txBody>
      </p:sp>
      <p:sp>
        <p:nvSpPr>
          <p:cNvPr id="24" name="Text 22"/>
          <p:cNvSpPr txBox="1"/>
          <p:nvPr/>
        </p:nvSpPr>
        <p:spPr>
          <a:xfrm>
            <a:off x="3044952" y="3730752"/>
            <a:ext cx="36484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Instability and change risk.</a:t>
            </a:r>
            <a:endParaRPr lang="en-US" sz="1050" dirty="0"/>
          </a:p>
        </p:txBody>
      </p:sp>
      <p:sp>
        <p:nvSpPr>
          <p:cNvPr id="25" name="Text 23"/>
          <p:cNvSpPr txBox="1"/>
          <p:nvPr/>
        </p:nvSpPr>
        <p:spPr>
          <a:xfrm>
            <a:off x="7022592" y="3730752"/>
            <a:ext cx="44988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Cannot distinguish thrashing from healthy, active development on a component under deliberate revision.</a:t>
            </a:r>
            <a:endParaRPr lang="en-US" sz="1050" dirty="0"/>
          </a:p>
        </p:txBody>
      </p:sp>
      <p:sp>
        <p:nvSpPr>
          <p:cNvPr id="26" name="Shape 24"/>
          <p:cNvSpPr/>
          <p:nvPr/>
        </p:nvSpPr>
        <p:spPr>
          <a:xfrm>
            <a:off x="502920" y="4407408"/>
            <a:ext cx="11183112" cy="621792"/>
          </a:xfrm>
          <a:prstGeom prst="rect">
            <a:avLst/>
          </a:prstGeom>
          <a:solidFill>
            <a:srgbClr val="FFFFFF"/>
          </a:solidFill>
          <a:ln/>
        </p:spPr>
      </p:sp>
      <p:sp>
        <p:nvSpPr>
          <p:cNvPr id="27" name="Shape 25"/>
          <p:cNvSpPr/>
          <p:nvPr/>
        </p:nvSpPr>
        <p:spPr>
          <a:xfrm>
            <a:off x="502920" y="4407408"/>
            <a:ext cx="50292" cy="621792"/>
          </a:xfrm>
          <a:prstGeom prst="rect">
            <a:avLst/>
          </a:prstGeom>
          <a:solidFill>
            <a:srgbClr val="3D6EA6"/>
          </a:solidFill>
          <a:ln/>
        </p:spPr>
      </p:sp>
      <p:sp>
        <p:nvSpPr>
          <p:cNvPr id="28" name="Text 26"/>
          <p:cNvSpPr txBox="1"/>
          <p:nvPr/>
        </p:nvSpPr>
        <p:spPr>
          <a:xfrm>
            <a:off x="722376" y="4407408"/>
            <a:ext cx="19933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Coupling and cohesion</a:t>
            </a:r>
            <a:endParaRPr lang="en-US" sz="1200" dirty="0"/>
          </a:p>
        </p:txBody>
      </p:sp>
      <p:sp>
        <p:nvSpPr>
          <p:cNvPr id="29" name="Text 27"/>
          <p:cNvSpPr txBox="1"/>
          <p:nvPr/>
        </p:nvSpPr>
        <p:spPr>
          <a:xfrm>
            <a:off x="3044952" y="4407408"/>
            <a:ext cx="36484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Maintainability and modularity.</a:t>
            </a:r>
            <a:endParaRPr lang="en-US" sz="1050" dirty="0"/>
          </a:p>
        </p:txBody>
      </p:sp>
      <p:sp>
        <p:nvSpPr>
          <p:cNvPr id="30" name="Text 28"/>
          <p:cNvSpPr txBox="1"/>
          <p:nvPr/>
        </p:nvSpPr>
        <p:spPr>
          <a:xfrm>
            <a:off x="7022592" y="4407408"/>
            <a:ext cx="44988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Definitions differ between tools, so absolute values are not comparable across studies or languages.</a:t>
            </a:r>
            <a:endParaRPr lang="en-US" sz="1050" dirty="0"/>
          </a:p>
        </p:txBody>
      </p:sp>
      <p:sp>
        <p:nvSpPr>
          <p:cNvPr id="31" name="Shape 29"/>
          <p:cNvSpPr/>
          <p:nvPr/>
        </p:nvSpPr>
        <p:spPr>
          <a:xfrm>
            <a:off x="502920" y="5084064"/>
            <a:ext cx="11183112" cy="621792"/>
          </a:xfrm>
          <a:prstGeom prst="rect">
            <a:avLst/>
          </a:prstGeom>
          <a:solidFill>
            <a:srgbClr val="F3F1FC"/>
          </a:solidFill>
          <a:ln/>
        </p:spPr>
      </p:sp>
      <p:sp>
        <p:nvSpPr>
          <p:cNvPr id="32" name="Shape 30"/>
          <p:cNvSpPr/>
          <p:nvPr/>
        </p:nvSpPr>
        <p:spPr>
          <a:xfrm>
            <a:off x="502920" y="5084064"/>
            <a:ext cx="50292" cy="621792"/>
          </a:xfrm>
          <a:prstGeom prst="rect">
            <a:avLst/>
          </a:prstGeom>
          <a:solidFill>
            <a:srgbClr val="B4522B"/>
          </a:solidFill>
          <a:ln/>
        </p:spPr>
      </p:sp>
      <p:sp>
        <p:nvSpPr>
          <p:cNvPr id="33" name="Text 31"/>
          <p:cNvSpPr txBox="1"/>
          <p:nvPr/>
        </p:nvSpPr>
        <p:spPr>
          <a:xfrm>
            <a:off x="722376" y="5084064"/>
            <a:ext cx="199339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Lines of code</a:t>
            </a:r>
            <a:endParaRPr lang="en-US" sz="1200" dirty="0"/>
          </a:p>
        </p:txBody>
      </p:sp>
      <p:sp>
        <p:nvSpPr>
          <p:cNvPr id="34" name="Text 32"/>
          <p:cNvSpPr txBox="1"/>
          <p:nvPr/>
        </p:nvSpPr>
        <p:spPr>
          <a:xfrm>
            <a:off x="3044952" y="5084064"/>
            <a:ext cx="364845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Size, effort, and productivity.</a:t>
            </a:r>
            <a:endParaRPr lang="en-US" sz="1050" dirty="0"/>
          </a:p>
        </p:txBody>
      </p:sp>
      <p:sp>
        <p:nvSpPr>
          <p:cNvPr id="35" name="Text 33"/>
          <p:cNvSpPr txBox="1"/>
          <p:nvPr/>
        </p:nvSpPr>
        <p:spPr>
          <a:xfrm>
            <a:off x="7022592" y="5084064"/>
            <a:ext cx="449884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Language- and style-dependent; as a productivity measure it actively rewards writing more code.</a:t>
            </a:r>
            <a:endParaRPr lang="en-US" sz="1050" dirty="0"/>
          </a:p>
        </p:txBody>
      </p:sp>
      <p:sp>
        <p:nvSpPr>
          <p:cNvPr id="36" name="Text 34"/>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None of this makes the metrics useless. It makes them proxies that must be named as proxies — and defended, whenever the claim is about the construct rather than the number.</a:t>
            </a:r>
            <a:endParaRPr lang="en-US" sz="1150" dirty="0"/>
          </a:p>
        </p:txBody>
      </p:sp>
      <p:sp>
        <p:nvSpPr>
          <p:cNvPr id="37" name="Text 3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8" name="Text 3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15 / 26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THE SOFTWARE ENGINEERING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Working With Human Participants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Four obligations that apply the moment your data comes from people rather than machines.</a:t>
            </a:r>
            <a:endParaRPr lang="en-US" sz="1250" dirty="0"/>
          </a:p>
        </p:txBody>
      </p:sp>
      <p:sp>
        <p:nvSpPr>
          <p:cNvPr id="5" name="Shape 3"/>
          <p:cNvSpPr/>
          <p:nvPr/>
        </p:nvSpPr>
        <p:spPr>
          <a:xfrm>
            <a:off x="502920" y="1938528"/>
            <a:ext cx="2624328" cy="3310128"/>
          </a:xfrm>
          <a:prstGeom prst="roundRect">
            <a:avLst>
              <a:gd name="adj" fmla="val 1742"/>
            </a:avLst>
          </a:prstGeom>
          <a:solidFill>
            <a:srgbClr val="F3F1FC"/>
          </a:solidFill>
          <a:ln/>
        </p:spPr>
      </p:sp>
      <p:sp>
        <p:nvSpPr>
          <p:cNvPr id="6" name="Text 4"/>
          <p:cNvSpPr txBox="1"/>
          <p:nvPr/>
        </p:nvSpPr>
        <p:spPr>
          <a:xfrm>
            <a:off x="740664" y="2157984"/>
            <a:ext cx="2148840" cy="201168"/>
          </a:xfrm>
          <a:prstGeom prst="rect">
            <a:avLst/>
          </a:prstGeom>
          <a:noFill/>
          <a:ln/>
        </p:spPr>
        <p:txBody>
          <a:bodyPr wrap="square" lIns="0" tIns="0" rIns="0" bIns="0" rtlCol="0" anchor="ctr"/>
          <a:lstStyle/>
          <a:p>
            <a:pPr indent="0" marL="0">
              <a:buNone/>
            </a:pPr>
            <a:r>
              <a:rPr lang="en-US" sz="800" b="1" spc="120" kern="0" dirty="0">
                <a:solidFill>
                  <a:srgbClr val="3D6EA6"/>
                </a:solidFill>
                <a:latin typeface="Calibri" pitchFamily="34" charset="0"/>
                <a:ea typeface="Calibri" pitchFamily="34" charset="-122"/>
                <a:cs typeface="Calibri" pitchFamily="34" charset="-120"/>
              </a:rPr>
              <a:t>OBLIGATION 1</a:t>
            </a:r>
            <a:endParaRPr lang="en-US" sz="800" dirty="0"/>
          </a:p>
        </p:txBody>
      </p:sp>
      <p:sp>
        <p:nvSpPr>
          <p:cNvPr id="7" name="Text 5"/>
          <p:cNvSpPr txBox="1"/>
          <p:nvPr/>
        </p:nvSpPr>
        <p:spPr>
          <a:xfrm>
            <a:off x="740664"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Sampling</a:t>
            </a:r>
            <a:endParaRPr lang="en-US" sz="1600" dirty="0"/>
          </a:p>
        </p:txBody>
      </p:sp>
      <p:sp>
        <p:nvSpPr>
          <p:cNvPr id="8" name="Text 6"/>
          <p:cNvSpPr txBox="1"/>
          <p:nvPr/>
        </p:nvSpPr>
        <p:spPr>
          <a:xfrm>
            <a:off x="740664"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Who are the participants, and who exactly do they stand for?</a:t>
            </a:r>
            <a:endParaRPr lang="en-US" sz="1100" dirty="0"/>
          </a:p>
        </p:txBody>
      </p:sp>
      <p:sp>
        <p:nvSpPr>
          <p:cNvPr id="9" name="Text 7"/>
          <p:cNvSpPr txBox="1"/>
          <p:nvPr/>
        </p:nvSpPr>
        <p:spPr>
          <a:xfrm>
            <a:off x="740664"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10" name="Text 8"/>
          <p:cNvSpPr txBox="1"/>
          <p:nvPr/>
        </p:nvSpPr>
        <p:spPr>
          <a:xfrm>
            <a:off x="740664"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3D6EA6"/>
                </a:solidFill>
                <a:latin typeface="Calibri" pitchFamily="34" charset="0"/>
                <a:ea typeface="Calibri" pitchFamily="34" charset="-122"/>
                <a:cs typeface="Calibri" pitchFamily="34" charset="-120"/>
              </a:rPr>
              <a:t>Students are a defensible proxy for junior developers on small, well-specified tasks — and a poor one for architectural judgement or long-horizon maintenance.</a:t>
            </a:r>
            <a:endParaRPr lang="en-US" sz="1000" dirty="0"/>
          </a:p>
        </p:txBody>
      </p:sp>
      <p:sp>
        <p:nvSpPr>
          <p:cNvPr id="11" name="Shape 9"/>
          <p:cNvSpPr/>
          <p:nvPr/>
        </p:nvSpPr>
        <p:spPr>
          <a:xfrm>
            <a:off x="3355848" y="1938528"/>
            <a:ext cx="2624328" cy="3310128"/>
          </a:xfrm>
          <a:prstGeom prst="roundRect">
            <a:avLst>
              <a:gd name="adj" fmla="val 1742"/>
            </a:avLst>
          </a:prstGeom>
          <a:solidFill>
            <a:srgbClr val="F3F1FC"/>
          </a:solidFill>
          <a:ln/>
        </p:spPr>
      </p:sp>
      <p:sp>
        <p:nvSpPr>
          <p:cNvPr id="12" name="Text 10"/>
          <p:cNvSpPr txBox="1"/>
          <p:nvPr/>
        </p:nvSpPr>
        <p:spPr>
          <a:xfrm>
            <a:off x="3593592" y="2157984"/>
            <a:ext cx="2148840" cy="201168"/>
          </a:xfrm>
          <a:prstGeom prst="rect">
            <a:avLst/>
          </a:prstGeom>
          <a:noFill/>
          <a:ln/>
        </p:spPr>
        <p:txBody>
          <a:bodyPr wrap="square" lIns="0" tIns="0" rIns="0" bIns="0" rtlCol="0" anchor="ctr"/>
          <a:lstStyle/>
          <a:p>
            <a:pPr indent="0" marL="0">
              <a:buNone/>
            </a:pPr>
            <a:r>
              <a:rPr lang="en-US" sz="800" b="1" spc="120" kern="0" dirty="0">
                <a:solidFill>
                  <a:srgbClr val="B4522B"/>
                </a:solidFill>
                <a:latin typeface="Calibri" pitchFamily="34" charset="0"/>
                <a:ea typeface="Calibri" pitchFamily="34" charset="-122"/>
                <a:cs typeface="Calibri" pitchFamily="34" charset="-120"/>
              </a:rPr>
              <a:t>OBLIGATION 2</a:t>
            </a:r>
            <a:endParaRPr lang="en-US" sz="800" dirty="0"/>
          </a:p>
        </p:txBody>
      </p:sp>
      <p:sp>
        <p:nvSpPr>
          <p:cNvPr id="13" name="Text 11"/>
          <p:cNvSpPr txBox="1"/>
          <p:nvPr/>
        </p:nvSpPr>
        <p:spPr>
          <a:xfrm>
            <a:off x="3593592"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Tasks</a:t>
            </a:r>
            <a:endParaRPr lang="en-US" sz="1600" dirty="0"/>
          </a:p>
        </p:txBody>
      </p:sp>
      <p:sp>
        <p:nvSpPr>
          <p:cNvPr id="14" name="Text 12"/>
          <p:cNvSpPr txBox="1"/>
          <p:nvPr/>
        </p:nvSpPr>
        <p:spPr>
          <a:xfrm>
            <a:off x="3593592"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Is the task short enough to run also representative of the work you claim about?</a:t>
            </a:r>
            <a:endParaRPr lang="en-US" sz="1100" dirty="0"/>
          </a:p>
        </p:txBody>
      </p:sp>
      <p:sp>
        <p:nvSpPr>
          <p:cNvPr id="15" name="Text 13"/>
          <p:cNvSpPr txBox="1"/>
          <p:nvPr/>
        </p:nvSpPr>
        <p:spPr>
          <a:xfrm>
            <a:off x="3593592"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16" name="Text 14"/>
          <p:cNvSpPr txBox="1"/>
          <p:nvPr/>
        </p:nvSpPr>
        <p:spPr>
          <a:xfrm>
            <a:off x="3593592"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4522B"/>
                </a:solidFill>
                <a:latin typeface="Calibri" pitchFamily="34" charset="0"/>
                <a:ea typeface="Calibri" pitchFamily="34" charset="-122"/>
                <a:cs typeface="Calibri" pitchFamily="34" charset="-120"/>
              </a:rPr>
              <a:t>Usually not. State the trade explicitly rather than letting the abstract quietly generalise from a two-hour exercise to professional practice.</a:t>
            </a:r>
            <a:endParaRPr lang="en-US" sz="1000" dirty="0"/>
          </a:p>
        </p:txBody>
      </p:sp>
      <p:sp>
        <p:nvSpPr>
          <p:cNvPr id="17" name="Shape 15"/>
          <p:cNvSpPr/>
          <p:nvPr/>
        </p:nvSpPr>
        <p:spPr>
          <a:xfrm>
            <a:off x="6208776" y="1938528"/>
            <a:ext cx="2624328" cy="3310128"/>
          </a:xfrm>
          <a:prstGeom prst="roundRect">
            <a:avLst>
              <a:gd name="adj" fmla="val 1742"/>
            </a:avLst>
          </a:prstGeom>
          <a:solidFill>
            <a:srgbClr val="F3F1FC"/>
          </a:solidFill>
          <a:ln/>
        </p:spPr>
      </p:sp>
      <p:sp>
        <p:nvSpPr>
          <p:cNvPr id="18" name="Text 16"/>
          <p:cNvSpPr txBox="1"/>
          <p:nvPr/>
        </p:nvSpPr>
        <p:spPr>
          <a:xfrm>
            <a:off x="6446520" y="2157984"/>
            <a:ext cx="2148840" cy="201168"/>
          </a:xfrm>
          <a:prstGeom prst="rect">
            <a:avLst/>
          </a:prstGeom>
          <a:noFill/>
          <a:ln/>
        </p:spPr>
        <p:txBody>
          <a:bodyPr wrap="square" lIns="0" tIns="0" rIns="0" bIns="0" rtlCol="0" anchor="ctr"/>
          <a:lstStyle/>
          <a:p>
            <a:pPr indent="0" marL="0">
              <a:buNone/>
            </a:pPr>
            <a:r>
              <a:rPr lang="en-US" sz="800" b="1" spc="120" kern="0" dirty="0">
                <a:solidFill>
                  <a:srgbClr val="B08C3A"/>
                </a:solidFill>
                <a:latin typeface="Calibri" pitchFamily="34" charset="0"/>
                <a:ea typeface="Calibri" pitchFamily="34" charset="-122"/>
                <a:cs typeface="Calibri" pitchFamily="34" charset="-120"/>
              </a:rPr>
              <a:t>OBLIGATION 3</a:t>
            </a:r>
            <a:endParaRPr lang="en-US" sz="800" dirty="0"/>
          </a:p>
        </p:txBody>
      </p:sp>
      <p:sp>
        <p:nvSpPr>
          <p:cNvPr id="19" name="Text 17"/>
          <p:cNvSpPr txBox="1"/>
          <p:nvPr/>
        </p:nvSpPr>
        <p:spPr>
          <a:xfrm>
            <a:off x="6446520"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Statistical power</a:t>
            </a:r>
            <a:endParaRPr lang="en-US" sz="1600" dirty="0"/>
          </a:p>
        </p:txBody>
      </p:sp>
      <p:sp>
        <p:nvSpPr>
          <p:cNvPr id="20" name="Text 18"/>
          <p:cNvSpPr txBox="1"/>
          <p:nvPr/>
        </p:nvSpPr>
        <p:spPr>
          <a:xfrm>
            <a:off x="6446520"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Can this design detect the effect you care about, if it exists?</a:t>
            </a:r>
            <a:endParaRPr lang="en-US" sz="1100" dirty="0"/>
          </a:p>
        </p:txBody>
      </p:sp>
      <p:sp>
        <p:nvSpPr>
          <p:cNvPr id="21" name="Text 19"/>
          <p:cNvSpPr txBox="1"/>
          <p:nvPr/>
        </p:nvSpPr>
        <p:spPr>
          <a:xfrm>
            <a:off x="6446520"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22" name="Text 20"/>
          <p:cNvSpPr txBox="1"/>
          <p:nvPr/>
        </p:nvSpPr>
        <p:spPr>
          <a:xfrm>
            <a:off x="6446520"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B08C3A"/>
                </a:solidFill>
                <a:latin typeface="Calibri" pitchFamily="34" charset="0"/>
                <a:ea typeface="Calibri" pitchFamily="34" charset="-122"/>
                <a:cs typeface="Calibri" pitchFamily="34" charset="-120"/>
              </a:rPr>
              <a:t>Developer performance varies enormously between individuals. Small n plus large variance makes most negative results uninformative — compute power before running, not after.</a:t>
            </a:r>
            <a:endParaRPr lang="en-US" sz="1000" dirty="0"/>
          </a:p>
        </p:txBody>
      </p:sp>
      <p:sp>
        <p:nvSpPr>
          <p:cNvPr id="23" name="Shape 21"/>
          <p:cNvSpPr/>
          <p:nvPr/>
        </p:nvSpPr>
        <p:spPr>
          <a:xfrm>
            <a:off x="9061704" y="1938528"/>
            <a:ext cx="2624328" cy="3310128"/>
          </a:xfrm>
          <a:prstGeom prst="roundRect">
            <a:avLst>
              <a:gd name="adj" fmla="val 1742"/>
            </a:avLst>
          </a:prstGeom>
          <a:solidFill>
            <a:srgbClr val="F3F1FC"/>
          </a:solidFill>
          <a:ln/>
        </p:spPr>
      </p:sp>
      <p:sp>
        <p:nvSpPr>
          <p:cNvPr id="24" name="Text 22"/>
          <p:cNvSpPr txBox="1"/>
          <p:nvPr/>
        </p:nvSpPr>
        <p:spPr>
          <a:xfrm>
            <a:off x="9299448" y="2157984"/>
            <a:ext cx="2148840" cy="201168"/>
          </a:xfrm>
          <a:prstGeom prst="rect">
            <a:avLst/>
          </a:prstGeom>
          <a:noFill/>
          <a:ln/>
        </p:spPr>
        <p:txBody>
          <a:bodyPr wrap="square" lIns="0" tIns="0" rIns="0" bIns="0" rtlCol="0" anchor="ctr"/>
          <a:lstStyle/>
          <a:p>
            <a:pPr indent="0" marL="0">
              <a:buNone/>
            </a:pPr>
            <a:r>
              <a:rPr lang="en-US" sz="800" b="1" spc="120" kern="0" dirty="0">
                <a:solidFill>
                  <a:srgbClr val="241A4C"/>
                </a:solidFill>
                <a:latin typeface="Calibri" pitchFamily="34" charset="0"/>
                <a:ea typeface="Calibri" pitchFamily="34" charset="-122"/>
                <a:cs typeface="Calibri" pitchFamily="34" charset="-120"/>
              </a:rPr>
              <a:t>OBLIGATION 4</a:t>
            </a:r>
            <a:endParaRPr lang="en-US" sz="800" dirty="0"/>
          </a:p>
        </p:txBody>
      </p:sp>
      <p:sp>
        <p:nvSpPr>
          <p:cNvPr id="25" name="Text 23"/>
          <p:cNvSpPr txBox="1"/>
          <p:nvPr/>
        </p:nvSpPr>
        <p:spPr>
          <a:xfrm>
            <a:off x="9299448" y="2395728"/>
            <a:ext cx="2148840" cy="548640"/>
          </a:xfrm>
          <a:prstGeom prst="rect">
            <a:avLst/>
          </a:prstGeom>
          <a:noFill/>
          <a:ln/>
        </p:spPr>
        <p:txBody>
          <a:bodyPr wrap="square" lIns="0" tIns="0" rIns="0" bIns="0" rtlCol="0" anchor="t"/>
          <a:lstStyle/>
          <a:p>
            <a:pPr indent="0" marL="0">
              <a:lnSpc>
                <a:spcPct val="105000"/>
              </a:lnSpc>
              <a:buNone/>
            </a:pPr>
            <a:r>
              <a:rPr lang="en-US" sz="1600" b="1" dirty="0">
                <a:solidFill>
                  <a:srgbClr val="241A4C"/>
                </a:solidFill>
                <a:latin typeface="Cambria" pitchFamily="34" charset="0"/>
                <a:ea typeface="Cambria" pitchFamily="34" charset="-122"/>
                <a:cs typeface="Cambria" pitchFamily="34" charset="-120"/>
              </a:rPr>
              <a:t>Ethics</a:t>
            </a:r>
            <a:endParaRPr lang="en-US" sz="1600" dirty="0"/>
          </a:p>
        </p:txBody>
      </p:sp>
      <p:sp>
        <p:nvSpPr>
          <p:cNvPr id="26" name="Text 24"/>
          <p:cNvSpPr txBox="1"/>
          <p:nvPr/>
        </p:nvSpPr>
        <p:spPr>
          <a:xfrm>
            <a:off x="9299448" y="2999232"/>
            <a:ext cx="2148840" cy="91440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Consent, anonymisation, the right to withdraw, and institutional approval.</a:t>
            </a:r>
            <a:endParaRPr lang="en-US" sz="1100" dirty="0"/>
          </a:p>
        </p:txBody>
      </p:sp>
      <p:sp>
        <p:nvSpPr>
          <p:cNvPr id="27" name="Text 25"/>
          <p:cNvSpPr txBox="1"/>
          <p:nvPr/>
        </p:nvSpPr>
        <p:spPr>
          <a:xfrm>
            <a:off x="9299448" y="3950208"/>
            <a:ext cx="2148840" cy="182880"/>
          </a:xfrm>
          <a:prstGeom prst="rect">
            <a:avLst/>
          </a:prstGeom>
          <a:noFill/>
          <a:ln/>
        </p:spPr>
        <p:txBody>
          <a:bodyPr wrap="square" lIns="0" tIns="0" rIns="0" bIns="0" rtlCol="0" anchor="ctr"/>
          <a:lstStyle/>
          <a:p>
            <a:pPr indent="0" marL="0">
              <a:buNone/>
            </a:pPr>
            <a:r>
              <a:rPr lang="en-US" sz="750" b="1" spc="110" kern="0" dirty="0">
                <a:solidFill>
                  <a:srgbClr val="8A8894"/>
                </a:solidFill>
                <a:latin typeface="Calibri" pitchFamily="34" charset="0"/>
                <a:ea typeface="Calibri" pitchFamily="34" charset="-122"/>
                <a:cs typeface="Calibri" pitchFamily="34" charset="-120"/>
              </a:rPr>
              <a:t>IN PRACTICE</a:t>
            </a:r>
            <a:endParaRPr lang="en-US" sz="750" dirty="0"/>
          </a:p>
        </p:txBody>
      </p:sp>
      <p:sp>
        <p:nvSpPr>
          <p:cNvPr id="28" name="Text 26"/>
          <p:cNvSpPr txBox="1"/>
          <p:nvPr/>
        </p:nvSpPr>
        <p:spPr>
          <a:xfrm>
            <a:off x="9299448" y="4169664"/>
            <a:ext cx="2148840" cy="877824"/>
          </a:xfrm>
          <a:prstGeom prst="rect">
            <a:avLst/>
          </a:prstGeom>
          <a:noFill/>
          <a:ln/>
        </p:spPr>
        <p:txBody>
          <a:bodyPr wrap="square" lIns="0" tIns="0" rIns="0" bIns="0" rtlCol="0" anchor="t"/>
          <a:lstStyle/>
          <a:p>
            <a:pPr indent="0" marL="0">
              <a:lnSpc>
                <a:spcPct val="118000"/>
              </a:lnSpc>
              <a:buNone/>
            </a:pPr>
            <a:r>
              <a:rPr lang="en-US" sz="1000" dirty="0">
                <a:solidFill>
                  <a:srgbClr val="241A4C"/>
                </a:solidFill>
                <a:latin typeface="Calibri" pitchFamily="34" charset="0"/>
                <a:ea typeface="Calibri" pitchFamily="34" charset="-122"/>
                <a:cs typeface="Calibri" pitchFamily="34" charset="-120"/>
              </a:rPr>
              <a:t>Mining public repositories still involves identifiable people and their work. Unit III returns to this in detail; treat it as binding, not procedural.</a:t>
            </a:r>
            <a:endParaRPr lang="en-US" sz="1000" dirty="0"/>
          </a:p>
        </p:txBody>
      </p:sp>
      <p:sp>
        <p:nvSpPr>
          <p:cNvPr id="29" name="Text 27"/>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The participants are not instruments. Every one of these obligations is simultaneously a methodological requirement and an ethical one.</a:t>
            </a:r>
            <a:endParaRPr lang="en-US" sz="1150" dirty="0"/>
          </a:p>
        </p:txBody>
      </p:sp>
      <p:sp>
        <p:nvSpPr>
          <p:cNvPr id="30" name="Text 28"/>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1" name="Text 29"/>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16 / 26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3 · THE SOFTWARE ENGINEERING APPROACH</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Worked Example: An SE Study, Read as an Argument</a:t>
            </a:r>
            <a:endParaRPr lang="en-US" sz="2800" dirty="0"/>
          </a:p>
        </p:txBody>
      </p:sp>
      <p:sp>
        <p:nvSpPr>
          <p:cNvPr id="4" name="Text 2"/>
          <p:cNvSpPr txBox="1"/>
          <p:nvPr/>
        </p:nvSpPr>
        <p:spPr>
          <a:xfrm>
            <a:off x="502920" y="1225296"/>
            <a:ext cx="11183112" cy="457200"/>
          </a:xfrm>
          <a:prstGeom prst="rect">
            <a:avLst/>
          </a:prstGeom>
          <a:noFill/>
          <a:ln/>
        </p:spPr>
        <p:txBody>
          <a:bodyPr wrap="square" lIns="0" tIns="0" rIns="0" bIns="0" rtlCol="0" anchor="ctr"/>
          <a:lstStyle/>
          <a:p>
            <a:pPr indent="0" marL="0">
              <a:buNone/>
            </a:pPr>
            <a:r>
              <a:rPr lang="en-US" sz="1150" b="1" dirty="0">
                <a:solidFill>
                  <a:srgbClr val="241A4C"/>
                </a:solidFill>
                <a:latin typeface="Calibri" pitchFamily="34" charset="0"/>
                <a:ea typeface="Calibri" pitchFamily="34" charset="-122"/>
                <a:cs typeface="Calibri" pitchFamily="34" charset="-120"/>
              </a:rPr>
              <a:t>Claim under test:  </a:t>
            </a:r>
            <a:pPr indent="0" marL="0">
              <a:buNone/>
            </a:pPr>
            <a:r>
              <a:rPr lang="en-US" sz="1150" dirty="0">
                <a:solidFill>
                  <a:srgbClr val="5C5A66"/>
                </a:solidFill>
                <a:latin typeface="Calibri" pitchFamily="34" charset="0"/>
                <a:ea typeface="Calibri" pitchFamily="34" charset="-122"/>
                <a:cs typeface="Calibri" pitchFamily="34" charset="-120"/>
              </a:rPr>
              <a:t>“Test-driven development improves external code quality without reducing productivity.”   </a:t>
            </a:r>
            <a:pPr indent="0" marL="0">
              <a:buNone/>
            </a:pPr>
            <a:r>
              <a:rPr lang="en-US" sz="1050" i="1" dirty="0">
                <a:solidFill>
                  <a:srgbClr val="8A8894"/>
                </a:solidFill>
                <a:latin typeface="Calibri" pitchFamily="34" charset="0"/>
                <a:ea typeface="Calibri" pitchFamily="34" charset="-122"/>
                <a:cs typeface="Calibri" pitchFamily="34" charset="-120"/>
              </a:rPr>
              <a:t>— one of the most replicated claims in empirical SE</a:t>
            </a:r>
            <a:endParaRPr lang="en-US" sz="1150" dirty="0"/>
          </a:p>
        </p:txBody>
      </p:sp>
      <p:sp>
        <p:nvSpPr>
          <p:cNvPr id="5" name="Shape 3"/>
          <p:cNvSpPr/>
          <p:nvPr/>
        </p:nvSpPr>
        <p:spPr>
          <a:xfrm>
            <a:off x="502920" y="1792224"/>
            <a:ext cx="2377440" cy="384048"/>
          </a:xfrm>
          <a:prstGeom prst="rect">
            <a:avLst/>
          </a:prstGeom>
          <a:solidFill>
            <a:srgbClr val="241A4C"/>
          </a:solidFill>
          <a:ln w="19050">
            <a:solidFill>
              <a:srgbClr val="FFFFFF"/>
            </a:solidFill>
            <a:prstDash val="solid"/>
          </a:ln>
        </p:spPr>
      </p:sp>
      <p:sp>
        <p:nvSpPr>
          <p:cNvPr id="6" name="Text 4"/>
          <p:cNvSpPr txBox="1"/>
          <p:nvPr/>
        </p:nvSpPr>
        <p:spPr>
          <a:xfrm>
            <a:off x="649224" y="1792224"/>
            <a:ext cx="208483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COMPONENT</a:t>
            </a:r>
            <a:endParaRPr lang="en-US" sz="850" dirty="0"/>
          </a:p>
        </p:txBody>
      </p:sp>
      <p:sp>
        <p:nvSpPr>
          <p:cNvPr id="7" name="Shape 5"/>
          <p:cNvSpPr/>
          <p:nvPr/>
        </p:nvSpPr>
        <p:spPr>
          <a:xfrm>
            <a:off x="2880360" y="1792224"/>
            <a:ext cx="8805672" cy="384048"/>
          </a:xfrm>
          <a:prstGeom prst="rect">
            <a:avLst/>
          </a:prstGeom>
          <a:solidFill>
            <a:srgbClr val="241A4C"/>
          </a:solidFill>
          <a:ln w="19050">
            <a:solidFill>
              <a:srgbClr val="FFFFFF"/>
            </a:solidFill>
            <a:prstDash val="solid"/>
          </a:ln>
        </p:spPr>
      </p:sp>
      <p:sp>
        <p:nvSpPr>
          <p:cNvPr id="8" name="Text 6"/>
          <p:cNvSpPr txBox="1"/>
          <p:nvPr/>
        </p:nvSpPr>
        <p:spPr>
          <a:xfrm>
            <a:off x="3026664" y="1792224"/>
            <a:ext cx="851306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HOW THE STUDY SUPPLIES IT</a:t>
            </a:r>
            <a:endParaRPr lang="en-US" sz="850" dirty="0"/>
          </a:p>
        </p:txBody>
      </p:sp>
      <p:sp>
        <p:nvSpPr>
          <p:cNvPr id="9" name="Shape 7"/>
          <p:cNvSpPr/>
          <p:nvPr/>
        </p:nvSpPr>
        <p:spPr>
          <a:xfrm>
            <a:off x="502920" y="2231136"/>
            <a:ext cx="11183112" cy="502920"/>
          </a:xfrm>
          <a:prstGeom prst="rect">
            <a:avLst/>
          </a:prstGeom>
          <a:solidFill>
            <a:srgbClr val="F3F1FC"/>
          </a:solidFill>
          <a:ln/>
        </p:spPr>
      </p:sp>
      <p:sp>
        <p:nvSpPr>
          <p:cNvPr id="10" name="Shape 8"/>
          <p:cNvSpPr/>
          <p:nvPr/>
        </p:nvSpPr>
        <p:spPr>
          <a:xfrm>
            <a:off x="502920" y="2231136"/>
            <a:ext cx="50292" cy="502920"/>
          </a:xfrm>
          <a:prstGeom prst="rect">
            <a:avLst/>
          </a:prstGeom>
          <a:solidFill>
            <a:srgbClr val="3D6EA6"/>
          </a:solidFill>
          <a:ln/>
        </p:spPr>
      </p:sp>
      <p:sp>
        <p:nvSpPr>
          <p:cNvPr id="11" name="Text 9"/>
          <p:cNvSpPr txBox="1"/>
          <p:nvPr/>
        </p:nvSpPr>
        <p:spPr>
          <a:xfrm>
            <a:off x="722376" y="2231136"/>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Question type</a:t>
            </a:r>
            <a:endParaRPr lang="en-US" sz="1200" dirty="0"/>
          </a:p>
        </p:txBody>
      </p:sp>
      <p:sp>
        <p:nvSpPr>
          <p:cNvPr id="12" name="Text 10"/>
          <p:cNvSpPr txBox="1"/>
          <p:nvPr/>
        </p:nvSpPr>
        <p:spPr>
          <a:xfrm>
            <a:off x="3044952" y="2231136"/>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knowledge question, comparative and causal — which forces a controlled design rather than repository mining.</a:t>
            </a:r>
            <a:endParaRPr lang="en-US" sz="1050" dirty="0"/>
          </a:p>
        </p:txBody>
      </p:sp>
      <p:sp>
        <p:nvSpPr>
          <p:cNvPr id="13" name="Shape 11"/>
          <p:cNvSpPr/>
          <p:nvPr/>
        </p:nvSpPr>
        <p:spPr>
          <a:xfrm>
            <a:off x="502920" y="2788920"/>
            <a:ext cx="11183112" cy="502920"/>
          </a:xfrm>
          <a:prstGeom prst="rect">
            <a:avLst/>
          </a:prstGeom>
          <a:solidFill>
            <a:srgbClr val="FFFFFF"/>
          </a:solidFill>
          <a:ln/>
        </p:spPr>
      </p:sp>
      <p:sp>
        <p:nvSpPr>
          <p:cNvPr id="14" name="Shape 12"/>
          <p:cNvSpPr/>
          <p:nvPr/>
        </p:nvSpPr>
        <p:spPr>
          <a:xfrm>
            <a:off x="502920" y="2788920"/>
            <a:ext cx="50292" cy="502920"/>
          </a:xfrm>
          <a:prstGeom prst="rect">
            <a:avLst/>
          </a:prstGeom>
          <a:solidFill>
            <a:srgbClr val="3D6EA6"/>
          </a:solidFill>
          <a:ln/>
        </p:spPr>
      </p:sp>
      <p:sp>
        <p:nvSpPr>
          <p:cNvPr id="15" name="Text 13"/>
          <p:cNvSpPr txBox="1"/>
          <p:nvPr/>
        </p:nvSpPr>
        <p:spPr>
          <a:xfrm>
            <a:off x="722376" y="2788920"/>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Design</a:t>
            </a:r>
            <a:endParaRPr lang="en-US" sz="1200" dirty="0"/>
          </a:p>
        </p:txBody>
      </p:sp>
      <p:sp>
        <p:nvSpPr>
          <p:cNvPr id="16" name="Text 14"/>
          <p:cNvSpPr txBox="1"/>
          <p:nvPr/>
        </p:nvSpPr>
        <p:spPr>
          <a:xfrm>
            <a:off x="3044952" y="2788920"/>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Participants assigned to test-first or test-last on the same task; defect count and completion time measured.</a:t>
            </a:r>
            <a:endParaRPr lang="en-US" sz="1050" dirty="0"/>
          </a:p>
        </p:txBody>
      </p:sp>
      <p:sp>
        <p:nvSpPr>
          <p:cNvPr id="17" name="Shape 15"/>
          <p:cNvSpPr/>
          <p:nvPr/>
        </p:nvSpPr>
        <p:spPr>
          <a:xfrm>
            <a:off x="502920" y="3346704"/>
            <a:ext cx="11183112" cy="502920"/>
          </a:xfrm>
          <a:prstGeom prst="rect">
            <a:avLst/>
          </a:prstGeom>
          <a:solidFill>
            <a:srgbClr val="F3F1FC"/>
          </a:solidFill>
          <a:ln/>
        </p:spPr>
      </p:sp>
      <p:sp>
        <p:nvSpPr>
          <p:cNvPr id="18" name="Shape 16"/>
          <p:cNvSpPr/>
          <p:nvPr/>
        </p:nvSpPr>
        <p:spPr>
          <a:xfrm>
            <a:off x="502920" y="3346704"/>
            <a:ext cx="50292" cy="502920"/>
          </a:xfrm>
          <a:prstGeom prst="rect">
            <a:avLst/>
          </a:prstGeom>
          <a:solidFill>
            <a:srgbClr val="D8A73E"/>
          </a:solidFill>
          <a:ln/>
        </p:spPr>
      </p:sp>
      <p:sp>
        <p:nvSpPr>
          <p:cNvPr id="19" name="Text 17"/>
          <p:cNvSpPr txBox="1"/>
          <p:nvPr/>
        </p:nvSpPr>
        <p:spPr>
          <a:xfrm>
            <a:off x="722376" y="3346704"/>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Population</a:t>
            </a:r>
            <a:endParaRPr lang="en-US" sz="1200" dirty="0"/>
          </a:p>
        </p:txBody>
      </p:sp>
      <p:sp>
        <p:nvSpPr>
          <p:cNvPr id="20" name="Text 18"/>
          <p:cNvSpPr txBox="1"/>
          <p:nvPr/>
        </p:nvSpPr>
        <p:spPr>
          <a:xfrm>
            <a:off x="3044952" y="3346704"/>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Whoever the participants stand for: usually students, or the developers of one company. This is where the qualifier must live.</a:t>
            </a:r>
            <a:endParaRPr lang="en-US" sz="1050" dirty="0"/>
          </a:p>
        </p:txBody>
      </p:sp>
      <p:sp>
        <p:nvSpPr>
          <p:cNvPr id="21" name="Shape 19"/>
          <p:cNvSpPr/>
          <p:nvPr/>
        </p:nvSpPr>
        <p:spPr>
          <a:xfrm>
            <a:off x="502920" y="3904488"/>
            <a:ext cx="11183112" cy="502920"/>
          </a:xfrm>
          <a:prstGeom prst="rect">
            <a:avLst/>
          </a:prstGeom>
          <a:solidFill>
            <a:srgbClr val="FFFFFF"/>
          </a:solidFill>
          <a:ln/>
        </p:spPr>
      </p:sp>
      <p:sp>
        <p:nvSpPr>
          <p:cNvPr id="22" name="Shape 20"/>
          <p:cNvSpPr/>
          <p:nvPr/>
        </p:nvSpPr>
        <p:spPr>
          <a:xfrm>
            <a:off x="502920" y="3904488"/>
            <a:ext cx="50292" cy="502920"/>
          </a:xfrm>
          <a:prstGeom prst="rect">
            <a:avLst/>
          </a:prstGeom>
          <a:solidFill>
            <a:srgbClr val="D8A73E"/>
          </a:solidFill>
          <a:ln/>
        </p:spPr>
      </p:sp>
      <p:sp>
        <p:nvSpPr>
          <p:cNvPr id="23" name="Text 21"/>
          <p:cNvSpPr txBox="1"/>
          <p:nvPr/>
        </p:nvSpPr>
        <p:spPr>
          <a:xfrm>
            <a:off x="722376" y="3904488"/>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Constructs</a:t>
            </a:r>
            <a:endParaRPr lang="en-US" sz="1200" dirty="0"/>
          </a:p>
        </p:txBody>
      </p:sp>
      <p:sp>
        <p:nvSpPr>
          <p:cNvPr id="24" name="Text 22"/>
          <p:cNvSpPr txBox="1"/>
          <p:nvPr/>
        </p:nvSpPr>
        <p:spPr>
          <a:xfrm>
            <a:off x="3044952" y="3904488"/>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“External quality” operationalised as failures against a hidden acceptance suite; “productivity” as time to completion.</a:t>
            </a:r>
            <a:endParaRPr lang="en-US" sz="1050" dirty="0"/>
          </a:p>
        </p:txBody>
      </p:sp>
      <p:sp>
        <p:nvSpPr>
          <p:cNvPr id="25" name="Shape 23"/>
          <p:cNvSpPr/>
          <p:nvPr/>
        </p:nvSpPr>
        <p:spPr>
          <a:xfrm>
            <a:off x="502920" y="4462272"/>
            <a:ext cx="11183112" cy="502920"/>
          </a:xfrm>
          <a:prstGeom prst="rect">
            <a:avLst/>
          </a:prstGeom>
          <a:solidFill>
            <a:srgbClr val="F3F1FC"/>
          </a:solidFill>
          <a:ln/>
        </p:spPr>
      </p:sp>
      <p:sp>
        <p:nvSpPr>
          <p:cNvPr id="26" name="Shape 24"/>
          <p:cNvSpPr/>
          <p:nvPr/>
        </p:nvSpPr>
        <p:spPr>
          <a:xfrm>
            <a:off x="502920" y="4462272"/>
            <a:ext cx="50292" cy="502920"/>
          </a:xfrm>
          <a:prstGeom prst="rect">
            <a:avLst/>
          </a:prstGeom>
          <a:solidFill>
            <a:srgbClr val="B4522B"/>
          </a:solidFill>
          <a:ln/>
        </p:spPr>
      </p:sp>
      <p:sp>
        <p:nvSpPr>
          <p:cNvPr id="27" name="Text 25"/>
          <p:cNvSpPr txBox="1"/>
          <p:nvPr/>
        </p:nvSpPr>
        <p:spPr>
          <a:xfrm>
            <a:off x="722376" y="4462272"/>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Threats</a:t>
            </a:r>
            <a:endParaRPr lang="en-US" sz="1200" dirty="0"/>
          </a:p>
        </p:txBody>
      </p:sp>
      <p:sp>
        <p:nvSpPr>
          <p:cNvPr id="28" name="Text 26"/>
          <p:cNvSpPr txBox="1"/>
          <p:nvPr/>
        </p:nvSpPr>
        <p:spPr>
          <a:xfrm>
            <a:off x="3044952" y="4462272"/>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Internal: did the test-first group actually write tests first? External: task size and duration. Construct: a hidden suite measures conformance, not quality.</a:t>
            </a:r>
            <a:endParaRPr lang="en-US" sz="1050" dirty="0"/>
          </a:p>
        </p:txBody>
      </p:sp>
      <p:sp>
        <p:nvSpPr>
          <p:cNvPr id="29" name="Shape 27"/>
          <p:cNvSpPr/>
          <p:nvPr/>
        </p:nvSpPr>
        <p:spPr>
          <a:xfrm>
            <a:off x="502920" y="5020056"/>
            <a:ext cx="11183112" cy="502920"/>
          </a:xfrm>
          <a:prstGeom prst="rect">
            <a:avLst/>
          </a:prstGeom>
          <a:solidFill>
            <a:srgbClr val="FFFFFF"/>
          </a:solidFill>
          <a:ln/>
        </p:spPr>
      </p:sp>
      <p:sp>
        <p:nvSpPr>
          <p:cNvPr id="30" name="Shape 28"/>
          <p:cNvSpPr/>
          <p:nvPr/>
        </p:nvSpPr>
        <p:spPr>
          <a:xfrm>
            <a:off x="502920" y="5020056"/>
            <a:ext cx="50292" cy="502920"/>
          </a:xfrm>
          <a:prstGeom prst="rect">
            <a:avLst/>
          </a:prstGeom>
          <a:solidFill>
            <a:srgbClr val="8E3F20"/>
          </a:solidFill>
          <a:ln/>
        </p:spPr>
      </p:sp>
      <p:sp>
        <p:nvSpPr>
          <p:cNvPr id="31" name="Text 29"/>
          <p:cNvSpPr txBox="1"/>
          <p:nvPr/>
        </p:nvSpPr>
        <p:spPr>
          <a:xfrm>
            <a:off x="722376" y="5020056"/>
            <a:ext cx="1993392" cy="502920"/>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Outcome</a:t>
            </a:r>
            <a:endParaRPr lang="en-US" sz="1200" dirty="0"/>
          </a:p>
        </p:txBody>
      </p:sp>
      <p:sp>
        <p:nvSpPr>
          <p:cNvPr id="32" name="Text 30"/>
          <p:cNvSpPr txBox="1"/>
          <p:nvPr/>
        </p:nvSpPr>
        <p:spPr>
          <a:xfrm>
            <a:off x="3044952" y="5020056"/>
            <a:ext cx="8476488" cy="502920"/>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Across many replications and systematic reviews the effect is small and inconsistent, with process conformance a stronger moderator than TDD itself.</a:t>
            </a:r>
            <a:endParaRPr lang="en-US" sz="1050" dirty="0"/>
          </a:p>
        </p:txBody>
      </p:sp>
      <p:sp>
        <p:nvSpPr>
          <p:cNvPr id="33" name="Text 3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That is a real result, and a publishable one. A field that reports only confirmations is not, by Lecture 1's Popperian standard, testing anything at all.</a:t>
            </a:r>
            <a:endParaRPr lang="en-US" sz="1150" dirty="0"/>
          </a:p>
        </p:txBody>
      </p:sp>
      <p:sp>
        <p:nvSpPr>
          <p:cNvPr id="34" name="Text 3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5" name="Text 3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17 / 26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WHERE THE TWO TRADITIONS MEET</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Shared Instances and Datasets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Both traditions depend on data nobody in the paper chose. These are the collections that make results comparable across groups and across years.</a:t>
            </a:r>
            <a:endParaRPr lang="en-US" sz="1250" dirty="0"/>
          </a:p>
        </p:txBody>
      </p:sp>
      <p:sp>
        <p:nvSpPr>
          <p:cNvPr id="5" name="Shape 3"/>
          <p:cNvSpPr/>
          <p:nvPr/>
        </p:nvSpPr>
        <p:spPr>
          <a:xfrm>
            <a:off x="502920" y="1938528"/>
            <a:ext cx="3502152" cy="1883664"/>
          </a:xfrm>
          <a:prstGeom prst="roundRect">
            <a:avLst>
              <a:gd name="adj" fmla="val 2427"/>
            </a:avLst>
          </a:prstGeom>
          <a:solidFill>
            <a:srgbClr val="F3F1FC"/>
          </a:solidFill>
          <a:ln w="12700">
            <a:solidFill>
              <a:srgbClr val="E6E2F5"/>
            </a:solidFill>
            <a:prstDash val="solid"/>
          </a:ln>
        </p:spPr>
      </p:sp>
      <p:sp>
        <p:nvSpPr>
          <p:cNvPr id="6" name="Text 4"/>
          <p:cNvSpPr txBox="1"/>
          <p:nvPr/>
        </p:nvSpPr>
        <p:spPr>
          <a:xfrm>
            <a:off x="758952" y="2157984"/>
            <a:ext cx="2990088" cy="365760"/>
          </a:xfrm>
          <a:prstGeom prst="rect">
            <a:avLst/>
          </a:prstGeom>
          <a:noFill/>
          <a:ln/>
        </p:spPr>
        <p:txBody>
          <a:bodyPr wrap="square" lIns="0" tIns="0" rIns="0" bIns="0" rtlCol="0" anchor="t"/>
          <a:lstStyle/>
          <a:p>
            <a:pPr indent="0" marL="0">
              <a:lnSpc>
                <a:spcPct val="105000"/>
              </a:lnSpc>
              <a:buNone/>
            </a:pPr>
            <a:r>
              <a:rPr lang="en-US" sz="1350" b="1" dirty="0">
                <a:solidFill>
                  <a:srgbClr val="B08C3A"/>
                </a:solidFill>
                <a:latin typeface="Cambria" pitchFamily="34" charset="0"/>
                <a:ea typeface="Cambria" pitchFamily="34" charset="-122"/>
                <a:cs typeface="Cambria" pitchFamily="34" charset="-120"/>
              </a:rPr>
              <a:t>TSPLIB · DIMACS Challenges</a:t>
            </a:r>
            <a:endParaRPr lang="en-US" sz="1350" dirty="0"/>
          </a:p>
        </p:txBody>
      </p:sp>
      <p:sp>
        <p:nvSpPr>
          <p:cNvPr id="7" name="Text 5"/>
          <p:cNvSpPr txBox="1"/>
          <p:nvPr/>
        </p:nvSpPr>
        <p:spPr>
          <a:xfrm>
            <a:off x="758952" y="2615184"/>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Curated instances for routing, shortest paths, graph partitioning and matching, with published reference results from the implementation challenges.</a:t>
            </a:r>
            <a:endParaRPr lang="en-US" sz="1050" dirty="0"/>
          </a:p>
        </p:txBody>
      </p:sp>
      <p:sp>
        <p:nvSpPr>
          <p:cNvPr id="8" name="Shape 6"/>
          <p:cNvSpPr/>
          <p:nvPr/>
        </p:nvSpPr>
        <p:spPr>
          <a:xfrm>
            <a:off x="4343400" y="1938528"/>
            <a:ext cx="3502152" cy="1883664"/>
          </a:xfrm>
          <a:prstGeom prst="roundRect">
            <a:avLst>
              <a:gd name="adj" fmla="val 2427"/>
            </a:avLst>
          </a:prstGeom>
          <a:solidFill>
            <a:srgbClr val="F3F1FC"/>
          </a:solidFill>
          <a:ln w="12700">
            <a:solidFill>
              <a:srgbClr val="E6E2F5"/>
            </a:solidFill>
            <a:prstDash val="solid"/>
          </a:ln>
        </p:spPr>
      </p:sp>
      <p:sp>
        <p:nvSpPr>
          <p:cNvPr id="9" name="Text 7"/>
          <p:cNvSpPr txBox="1"/>
          <p:nvPr/>
        </p:nvSpPr>
        <p:spPr>
          <a:xfrm>
            <a:off x="4599432" y="2157984"/>
            <a:ext cx="2990088" cy="365760"/>
          </a:xfrm>
          <a:prstGeom prst="rect">
            <a:avLst/>
          </a:prstGeom>
          <a:noFill/>
          <a:ln/>
        </p:spPr>
        <p:txBody>
          <a:bodyPr wrap="square" lIns="0" tIns="0" rIns="0" bIns="0" rtlCol="0" anchor="t"/>
          <a:lstStyle/>
          <a:p>
            <a:pPr indent="0" marL="0">
              <a:lnSpc>
                <a:spcPct val="105000"/>
              </a:lnSpc>
              <a:buNone/>
            </a:pPr>
            <a:r>
              <a:rPr lang="en-US" sz="1350" b="1" dirty="0">
                <a:solidFill>
                  <a:srgbClr val="B08C3A"/>
                </a:solidFill>
                <a:latin typeface="Cambria" pitchFamily="34" charset="0"/>
                <a:ea typeface="Cambria" pitchFamily="34" charset="-122"/>
                <a:cs typeface="Cambria" pitchFamily="34" charset="-120"/>
              </a:rPr>
              <a:t>SATLIB · SAT Competition</a:t>
            </a:r>
            <a:endParaRPr lang="en-US" sz="1350" dirty="0"/>
          </a:p>
        </p:txBody>
      </p:sp>
      <p:sp>
        <p:nvSpPr>
          <p:cNvPr id="10" name="Text 8"/>
          <p:cNvSpPr txBox="1"/>
          <p:nvPr/>
        </p:nvSpPr>
        <p:spPr>
          <a:xfrm>
            <a:off x="4599432" y="2615184"/>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An annual competition where anyone may submit adversarial instances — an unusually honest arrangement, and a major driver of solver progress.</a:t>
            </a:r>
            <a:endParaRPr lang="en-US" sz="1050" dirty="0"/>
          </a:p>
        </p:txBody>
      </p:sp>
      <p:sp>
        <p:nvSpPr>
          <p:cNvPr id="11" name="Shape 9"/>
          <p:cNvSpPr/>
          <p:nvPr/>
        </p:nvSpPr>
        <p:spPr>
          <a:xfrm>
            <a:off x="8183880" y="1938528"/>
            <a:ext cx="3502152" cy="1883664"/>
          </a:xfrm>
          <a:prstGeom prst="roundRect">
            <a:avLst>
              <a:gd name="adj" fmla="val 2427"/>
            </a:avLst>
          </a:prstGeom>
          <a:solidFill>
            <a:srgbClr val="F3F1FC"/>
          </a:solidFill>
          <a:ln w="12700">
            <a:solidFill>
              <a:srgbClr val="E6E2F5"/>
            </a:solidFill>
            <a:prstDash val="solid"/>
          </a:ln>
        </p:spPr>
      </p:sp>
      <p:sp>
        <p:nvSpPr>
          <p:cNvPr id="12" name="Text 10"/>
          <p:cNvSpPr txBox="1"/>
          <p:nvPr/>
        </p:nvSpPr>
        <p:spPr>
          <a:xfrm>
            <a:off x="8439912" y="2157984"/>
            <a:ext cx="2990088" cy="365760"/>
          </a:xfrm>
          <a:prstGeom prst="rect">
            <a:avLst/>
          </a:prstGeom>
          <a:noFill/>
          <a:ln/>
        </p:spPr>
        <p:txBody>
          <a:bodyPr wrap="square" lIns="0" tIns="0" rIns="0" bIns="0" rtlCol="0" anchor="t"/>
          <a:lstStyle/>
          <a:p>
            <a:pPr indent="0" marL="0">
              <a:lnSpc>
                <a:spcPct val="105000"/>
              </a:lnSpc>
              <a:buNone/>
            </a:pPr>
            <a:r>
              <a:rPr lang="en-US" sz="1350" b="1" dirty="0">
                <a:solidFill>
                  <a:srgbClr val="B08C3A"/>
                </a:solidFill>
                <a:latin typeface="Cambria" pitchFamily="34" charset="0"/>
                <a:ea typeface="Cambria" pitchFamily="34" charset="-122"/>
                <a:cs typeface="Cambria" pitchFamily="34" charset="-120"/>
              </a:rPr>
              <a:t>SNAP · Network Repository</a:t>
            </a:r>
            <a:endParaRPr lang="en-US" sz="1350" dirty="0"/>
          </a:p>
        </p:txBody>
      </p:sp>
      <p:sp>
        <p:nvSpPr>
          <p:cNvPr id="13" name="Text 11"/>
          <p:cNvSpPr txBox="1"/>
          <p:nvPr/>
        </p:nvSpPr>
        <p:spPr>
          <a:xfrm>
            <a:off x="8439912" y="2615184"/>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Large real-world graphs — social, web, citation, road — so that graph-algorithm claims are tested on structures that actually occur.</a:t>
            </a:r>
            <a:endParaRPr lang="en-US" sz="1050" dirty="0"/>
          </a:p>
        </p:txBody>
      </p:sp>
      <p:sp>
        <p:nvSpPr>
          <p:cNvPr id="14" name="Shape 12"/>
          <p:cNvSpPr/>
          <p:nvPr/>
        </p:nvSpPr>
        <p:spPr>
          <a:xfrm>
            <a:off x="502920" y="4096512"/>
            <a:ext cx="3502152" cy="1883664"/>
          </a:xfrm>
          <a:prstGeom prst="roundRect">
            <a:avLst>
              <a:gd name="adj" fmla="val 2427"/>
            </a:avLst>
          </a:prstGeom>
          <a:solidFill>
            <a:srgbClr val="FAF9FE"/>
          </a:solidFill>
          <a:ln w="12700">
            <a:solidFill>
              <a:srgbClr val="E6E2F5"/>
            </a:solidFill>
            <a:prstDash val="solid"/>
          </a:ln>
        </p:spPr>
      </p:sp>
      <p:sp>
        <p:nvSpPr>
          <p:cNvPr id="15" name="Text 13"/>
          <p:cNvSpPr txBox="1"/>
          <p:nvPr/>
        </p:nvSpPr>
        <p:spPr>
          <a:xfrm>
            <a:off x="758952" y="4315968"/>
            <a:ext cx="2990088" cy="365760"/>
          </a:xfrm>
          <a:prstGeom prst="rect">
            <a:avLst/>
          </a:prstGeom>
          <a:noFill/>
          <a:ln/>
        </p:spPr>
        <p:txBody>
          <a:bodyPr wrap="square" lIns="0" tIns="0" rIns="0" bIns="0" rtlCol="0" anchor="t"/>
          <a:lstStyle/>
          <a:p>
            <a:pPr indent="0" marL="0">
              <a:lnSpc>
                <a:spcPct val="105000"/>
              </a:lnSpc>
              <a:buNone/>
            </a:pPr>
            <a:r>
              <a:rPr lang="en-US" sz="1350" b="1" dirty="0">
                <a:solidFill>
                  <a:srgbClr val="3D6EA6"/>
                </a:solidFill>
                <a:latin typeface="Cambria" pitchFamily="34" charset="0"/>
                <a:ea typeface="Cambria" pitchFamily="34" charset="-122"/>
                <a:cs typeface="Cambria" pitchFamily="34" charset="-120"/>
              </a:rPr>
              <a:t>Defects4J · BugsInPy</a:t>
            </a:r>
            <a:endParaRPr lang="en-US" sz="1350" dirty="0"/>
          </a:p>
        </p:txBody>
      </p:sp>
      <p:sp>
        <p:nvSpPr>
          <p:cNvPr id="16" name="Text 14"/>
          <p:cNvSpPr txBox="1"/>
          <p:nvPr/>
        </p:nvSpPr>
        <p:spPr>
          <a:xfrm>
            <a:off x="758952" y="4773168"/>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Reproducible real bugs with tests, for fault-localisation and automated program-repair research. Reproducibility is the entire point of the dataset.</a:t>
            </a:r>
            <a:endParaRPr lang="en-US" sz="1050" dirty="0"/>
          </a:p>
        </p:txBody>
      </p:sp>
      <p:sp>
        <p:nvSpPr>
          <p:cNvPr id="17" name="Shape 15"/>
          <p:cNvSpPr/>
          <p:nvPr/>
        </p:nvSpPr>
        <p:spPr>
          <a:xfrm>
            <a:off x="4343400" y="4096512"/>
            <a:ext cx="3502152" cy="1883664"/>
          </a:xfrm>
          <a:prstGeom prst="roundRect">
            <a:avLst>
              <a:gd name="adj" fmla="val 2427"/>
            </a:avLst>
          </a:prstGeom>
          <a:solidFill>
            <a:srgbClr val="FAF9FE"/>
          </a:solidFill>
          <a:ln w="12700">
            <a:solidFill>
              <a:srgbClr val="E6E2F5"/>
            </a:solidFill>
            <a:prstDash val="solid"/>
          </a:ln>
        </p:spPr>
      </p:sp>
      <p:sp>
        <p:nvSpPr>
          <p:cNvPr id="18" name="Text 16"/>
          <p:cNvSpPr txBox="1"/>
          <p:nvPr/>
        </p:nvSpPr>
        <p:spPr>
          <a:xfrm>
            <a:off x="4599432" y="4315968"/>
            <a:ext cx="2990088" cy="365760"/>
          </a:xfrm>
          <a:prstGeom prst="rect">
            <a:avLst/>
          </a:prstGeom>
          <a:noFill/>
          <a:ln/>
        </p:spPr>
        <p:txBody>
          <a:bodyPr wrap="square" lIns="0" tIns="0" rIns="0" bIns="0" rtlCol="0" anchor="t"/>
          <a:lstStyle/>
          <a:p>
            <a:pPr indent="0" marL="0">
              <a:lnSpc>
                <a:spcPct val="105000"/>
              </a:lnSpc>
              <a:buNone/>
            </a:pPr>
            <a:r>
              <a:rPr lang="en-US" sz="1350" b="1" dirty="0">
                <a:solidFill>
                  <a:srgbClr val="3D6EA6"/>
                </a:solidFill>
                <a:latin typeface="Cambria" pitchFamily="34" charset="0"/>
                <a:ea typeface="Cambria" pitchFamily="34" charset="-122"/>
                <a:cs typeface="Cambria" pitchFamily="34" charset="-120"/>
              </a:rPr>
              <a:t>SPEC CPU · DaCapo</a:t>
            </a:r>
            <a:endParaRPr lang="en-US" sz="1350" dirty="0"/>
          </a:p>
        </p:txBody>
      </p:sp>
      <p:sp>
        <p:nvSpPr>
          <p:cNvPr id="19" name="Text 17"/>
          <p:cNvSpPr txBox="1"/>
          <p:nvPr/>
        </p:nvSpPr>
        <p:spPr>
          <a:xfrm>
            <a:off x="4599432" y="4773168"/>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Standard workloads for systems, compiler and runtime measurement, with strict published rules on how results may be reported.</a:t>
            </a:r>
            <a:endParaRPr lang="en-US" sz="1050" dirty="0"/>
          </a:p>
        </p:txBody>
      </p:sp>
      <p:sp>
        <p:nvSpPr>
          <p:cNvPr id="20" name="Shape 18"/>
          <p:cNvSpPr/>
          <p:nvPr/>
        </p:nvSpPr>
        <p:spPr>
          <a:xfrm>
            <a:off x="8183880" y="4096512"/>
            <a:ext cx="3502152" cy="1883664"/>
          </a:xfrm>
          <a:prstGeom prst="roundRect">
            <a:avLst>
              <a:gd name="adj" fmla="val 2427"/>
            </a:avLst>
          </a:prstGeom>
          <a:solidFill>
            <a:srgbClr val="FAF9FE"/>
          </a:solidFill>
          <a:ln w="12700">
            <a:solidFill>
              <a:srgbClr val="E6E2F5"/>
            </a:solidFill>
            <a:prstDash val="solid"/>
          </a:ln>
        </p:spPr>
      </p:sp>
      <p:sp>
        <p:nvSpPr>
          <p:cNvPr id="21" name="Text 19"/>
          <p:cNvSpPr txBox="1"/>
          <p:nvPr/>
        </p:nvSpPr>
        <p:spPr>
          <a:xfrm>
            <a:off x="8439912" y="4315968"/>
            <a:ext cx="2990088" cy="365760"/>
          </a:xfrm>
          <a:prstGeom prst="rect">
            <a:avLst/>
          </a:prstGeom>
          <a:noFill/>
          <a:ln/>
        </p:spPr>
        <p:txBody>
          <a:bodyPr wrap="square" lIns="0" tIns="0" rIns="0" bIns="0" rtlCol="0" anchor="t"/>
          <a:lstStyle/>
          <a:p>
            <a:pPr indent="0" marL="0">
              <a:lnSpc>
                <a:spcPct val="105000"/>
              </a:lnSpc>
              <a:buNone/>
            </a:pPr>
            <a:r>
              <a:rPr lang="en-US" sz="1350" b="1" dirty="0">
                <a:solidFill>
                  <a:srgbClr val="3D6EA6"/>
                </a:solidFill>
                <a:latin typeface="Cambria" pitchFamily="34" charset="0"/>
                <a:ea typeface="Cambria" pitchFamily="34" charset="-122"/>
                <a:cs typeface="Cambria" pitchFamily="34" charset="-120"/>
              </a:rPr>
              <a:t>PROMISE · SEACRAFT</a:t>
            </a:r>
            <a:endParaRPr lang="en-US" sz="1350" dirty="0"/>
          </a:p>
        </p:txBody>
      </p:sp>
      <p:sp>
        <p:nvSpPr>
          <p:cNvPr id="22" name="Text 20"/>
          <p:cNvSpPr txBox="1"/>
          <p:nvPr/>
        </p:nvSpPr>
        <p:spPr>
          <a:xfrm>
            <a:off x="8439912" y="4773168"/>
            <a:ext cx="2990088" cy="1024128"/>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Curated software-engineering datasets for defect prediction and effort estimation, assembled precisely so studies can be re-run and compared.</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18 / 26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WHERE THE TWO TRADITIONS MEET</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Artifact Evaluation and Reproducibility</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The ACM badges, in the order of increasing demand. Knowing what each one actually certifies tells you what to claim — and what not to.</a:t>
            </a:r>
            <a:endParaRPr lang="en-US" sz="1250" dirty="0"/>
          </a:p>
        </p:txBody>
      </p:sp>
      <p:sp>
        <p:nvSpPr>
          <p:cNvPr id="5" name="Shape 3"/>
          <p:cNvSpPr/>
          <p:nvPr/>
        </p:nvSpPr>
        <p:spPr>
          <a:xfrm>
            <a:off x="502920" y="1938528"/>
            <a:ext cx="2039112" cy="2286000"/>
          </a:xfrm>
          <a:prstGeom prst="roundRect">
            <a:avLst>
              <a:gd name="adj" fmla="val 2691"/>
            </a:avLst>
          </a:prstGeom>
          <a:solidFill>
            <a:srgbClr val="F3F1FC"/>
          </a:solidFill>
          <a:ln/>
        </p:spPr>
      </p:sp>
      <p:sp>
        <p:nvSpPr>
          <p:cNvPr id="6" name="Shape 4"/>
          <p:cNvSpPr/>
          <p:nvPr/>
        </p:nvSpPr>
        <p:spPr>
          <a:xfrm>
            <a:off x="685800" y="2139696"/>
            <a:ext cx="292608" cy="292608"/>
          </a:xfrm>
          <a:prstGeom prst="ellipse">
            <a:avLst/>
          </a:prstGeom>
          <a:solidFill>
            <a:srgbClr val="3D6EA6"/>
          </a:solidFill>
          <a:ln/>
        </p:spPr>
      </p:sp>
      <p:sp>
        <p:nvSpPr>
          <p:cNvPr id="7" name="Text 5"/>
          <p:cNvSpPr txBox="1"/>
          <p:nvPr/>
        </p:nvSpPr>
        <p:spPr>
          <a:xfrm>
            <a:off x="685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685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Artifacts Available</a:t>
            </a:r>
            <a:endParaRPr lang="en-US" sz="1250" dirty="0"/>
          </a:p>
        </p:txBody>
      </p:sp>
      <p:sp>
        <p:nvSpPr>
          <p:cNvPr id="9" name="Text 7"/>
          <p:cNvSpPr txBox="1"/>
          <p:nvPr/>
        </p:nvSpPr>
        <p:spPr>
          <a:xfrm>
            <a:off x="685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The artifact is placed in a permanent public archive with a DOI. Says nothing about whether it works.</a:t>
            </a:r>
            <a:endParaRPr lang="en-US" sz="1000" dirty="0"/>
          </a:p>
        </p:txBody>
      </p:sp>
      <p:sp>
        <p:nvSpPr>
          <p:cNvPr id="10" name="Shape 8"/>
          <p:cNvSpPr/>
          <p:nvPr/>
        </p:nvSpPr>
        <p:spPr>
          <a:xfrm>
            <a:off x="2788920" y="1938528"/>
            <a:ext cx="2039112" cy="2286000"/>
          </a:xfrm>
          <a:prstGeom prst="roundRect">
            <a:avLst>
              <a:gd name="adj" fmla="val 2691"/>
            </a:avLst>
          </a:prstGeom>
          <a:solidFill>
            <a:srgbClr val="F3F1FC"/>
          </a:solidFill>
          <a:ln/>
        </p:spPr>
      </p:sp>
      <p:sp>
        <p:nvSpPr>
          <p:cNvPr id="11" name="Shape 9"/>
          <p:cNvSpPr/>
          <p:nvPr/>
        </p:nvSpPr>
        <p:spPr>
          <a:xfrm>
            <a:off x="2971800" y="2139696"/>
            <a:ext cx="292608" cy="292608"/>
          </a:xfrm>
          <a:prstGeom prst="ellipse">
            <a:avLst/>
          </a:prstGeom>
          <a:solidFill>
            <a:srgbClr val="3D6EA6"/>
          </a:solidFill>
          <a:ln/>
        </p:spPr>
      </p:sp>
      <p:sp>
        <p:nvSpPr>
          <p:cNvPr id="12" name="Text 10"/>
          <p:cNvSpPr txBox="1"/>
          <p:nvPr/>
        </p:nvSpPr>
        <p:spPr>
          <a:xfrm>
            <a:off x="2971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3" name="Text 11"/>
          <p:cNvSpPr txBox="1"/>
          <p:nvPr/>
        </p:nvSpPr>
        <p:spPr>
          <a:xfrm>
            <a:off x="2971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Evaluated — Functional</a:t>
            </a:r>
            <a:endParaRPr lang="en-US" sz="1250" dirty="0"/>
          </a:p>
        </p:txBody>
      </p:sp>
      <p:sp>
        <p:nvSpPr>
          <p:cNvPr id="14" name="Text 12"/>
          <p:cNvSpPr txBox="1"/>
          <p:nvPr/>
        </p:nvSpPr>
        <p:spPr>
          <a:xfrm>
            <a:off x="2971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Documented, consistent, complete, and exercisable: a reviewer got it to run and produce something.</a:t>
            </a:r>
            <a:endParaRPr lang="en-US" sz="1000" dirty="0"/>
          </a:p>
        </p:txBody>
      </p:sp>
      <p:sp>
        <p:nvSpPr>
          <p:cNvPr id="15" name="Shape 13"/>
          <p:cNvSpPr/>
          <p:nvPr/>
        </p:nvSpPr>
        <p:spPr>
          <a:xfrm>
            <a:off x="5074920" y="1938528"/>
            <a:ext cx="2039112" cy="2286000"/>
          </a:xfrm>
          <a:prstGeom prst="roundRect">
            <a:avLst>
              <a:gd name="adj" fmla="val 2691"/>
            </a:avLst>
          </a:prstGeom>
          <a:solidFill>
            <a:srgbClr val="F3F1FC"/>
          </a:solidFill>
          <a:ln/>
        </p:spPr>
      </p:sp>
      <p:sp>
        <p:nvSpPr>
          <p:cNvPr id="16" name="Shape 14"/>
          <p:cNvSpPr/>
          <p:nvPr/>
        </p:nvSpPr>
        <p:spPr>
          <a:xfrm>
            <a:off x="5257800" y="2139696"/>
            <a:ext cx="292608" cy="292608"/>
          </a:xfrm>
          <a:prstGeom prst="ellipse">
            <a:avLst/>
          </a:prstGeom>
          <a:solidFill>
            <a:srgbClr val="B08C3A"/>
          </a:solidFill>
          <a:ln/>
        </p:spPr>
      </p:sp>
      <p:sp>
        <p:nvSpPr>
          <p:cNvPr id="17" name="Text 15"/>
          <p:cNvSpPr txBox="1"/>
          <p:nvPr/>
        </p:nvSpPr>
        <p:spPr>
          <a:xfrm>
            <a:off x="5257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txBox="1"/>
          <p:nvPr/>
        </p:nvSpPr>
        <p:spPr>
          <a:xfrm>
            <a:off x="5257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Evaluated — Reusable</a:t>
            </a:r>
            <a:endParaRPr lang="en-US" sz="1250" dirty="0"/>
          </a:p>
        </p:txBody>
      </p:sp>
      <p:sp>
        <p:nvSpPr>
          <p:cNvPr id="19" name="Text 17"/>
          <p:cNvSpPr txBox="1"/>
          <p:nvPr/>
        </p:nvSpPr>
        <p:spPr>
          <a:xfrm>
            <a:off x="5257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All of the above, plus structured well enough for someone else to build on beyond this paper.</a:t>
            </a:r>
            <a:endParaRPr lang="en-US" sz="1000" dirty="0"/>
          </a:p>
        </p:txBody>
      </p:sp>
      <p:sp>
        <p:nvSpPr>
          <p:cNvPr id="20" name="Shape 18"/>
          <p:cNvSpPr/>
          <p:nvPr/>
        </p:nvSpPr>
        <p:spPr>
          <a:xfrm>
            <a:off x="7360920" y="1938528"/>
            <a:ext cx="2039112" cy="2286000"/>
          </a:xfrm>
          <a:prstGeom prst="roundRect">
            <a:avLst>
              <a:gd name="adj" fmla="val 2691"/>
            </a:avLst>
          </a:prstGeom>
          <a:solidFill>
            <a:srgbClr val="F6EFE4"/>
          </a:solidFill>
          <a:ln/>
        </p:spPr>
      </p:sp>
      <p:sp>
        <p:nvSpPr>
          <p:cNvPr id="21" name="Shape 19"/>
          <p:cNvSpPr/>
          <p:nvPr/>
        </p:nvSpPr>
        <p:spPr>
          <a:xfrm>
            <a:off x="7543800" y="2139696"/>
            <a:ext cx="292608" cy="292608"/>
          </a:xfrm>
          <a:prstGeom prst="ellipse">
            <a:avLst/>
          </a:prstGeom>
          <a:solidFill>
            <a:srgbClr val="B4522B"/>
          </a:solidFill>
          <a:ln/>
        </p:spPr>
      </p:sp>
      <p:sp>
        <p:nvSpPr>
          <p:cNvPr id="22" name="Text 20"/>
          <p:cNvSpPr txBox="1"/>
          <p:nvPr/>
        </p:nvSpPr>
        <p:spPr>
          <a:xfrm>
            <a:off x="7543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3" name="Text 21"/>
          <p:cNvSpPr txBox="1"/>
          <p:nvPr/>
        </p:nvSpPr>
        <p:spPr>
          <a:xfrm>
            <a:off x="7543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Results Reproduced</a:t>
            </a:r>
            <a:endParaRPr lang="en-US" sz="1250" dirty="0"/>
          </a:p>
        </p:txBody>
      </p:sp>
      <p:sp>
        <p:nvSpPr>
          <p:cNvPr id="24" name="Text 22"/>
          <p:cNvSpPr txBox="1"/>
          <p:nvPr/>
        </p:nvSpPr>
        <p:spPr>
          <a:xfrm>
            <a:off x="7543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A different team obtained the same results using the authors' own artifacts.</a:t>
            </a:r>
            <a:endParaRPr lang="en-US" sz="1000" dirty="0"/>
          </a:p>
        </p:txBody>
      </p:sp>
      <p:sp>
        <p:nvSpPr>
          <p:cNvPr id="25" name="Shape 23"/>
          <p:cNvSpPr/>
          <p:nvPr/>
        </p:nvSpPr>
        <p:spPr>
          <a:xfrm>
            <a:off x="9646920" y="1938528"/>
            <a:ext cx="2039112" cy="2286000"/>
          </a:xfrm>
          <a:prstGeom prst="roundRect">
            <a:avLst>
              <a:gd name="adj" fmla="val 2691"/>
            </a:avLst>
          </a:prstGeom>
          <a:solidFill>
            <a:srgbClr val="F6EFE4"/>
          </a:solidFill>
          <a:ln/>
        </p:spPr>
      </p:sp>
      <p:sp>
        <p:nvSpPr>
          <p:cNvPr id="26" name="Shape 24"/>
          <p:cNvSpPr/>
          <p:nvPr/>
        </p:nvSpPr>
        <p:spPr>
          <a:xfrm>
            <a:off x="9829800" y="2139696"/>
            <a:ext cx="292608" cy="292608"/>
          </a:xfrm>
          <a:prstGeom prst="ellipse">
            <a:avLst/>
          </a:prstGeom>
          <a:solidFill>
            <a:srgbClr val="B4522B"/>
          </a:solidFill>
          <a:ln/>
        </p:spPr>
      </p:sp>
      <p:sp>
        <p:nvSpPr>
          <p:cNvPr id="27" name="Text 25"/>
          <p:cNvSpPr txBox="1"/>
          <p:nvPr/>
        </p:nvSpPr>
        <p:spPr>
          <a:xfrm>
            <a:off x="9829800" y="213969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8" name="Text 26"/>
          <p:cNvSpPr txBox="1"/>
          <p:nvPr/>
        </p:nvSpPr>
        <p:spPr>
          <a:xfrm>
            <a:off x="9829800" y="2542032"/>
            <a:ext cx="1673352" cy="475488"/>
          </a:xfrm>
          <a:prstGeom prst="rect">
            <a:avLst/>
          </a:prstGeom>
          <a:noFill/>
          <a:ln/>
        </p:spPr>
        <p:txBody>
          <a:bodyPr wrap="square" lIns="0" tIns="0" rIns="0" bIns="0" rtlCol="0" anchor="t"/>
          <a:lstStyle/>
          <a:p>
            <a:pPr indent="0" marL="0">
              <a:lnSpc>
                <a:spcPct val="102000"/>
              </a:lnSpc>
              <a:buNone/>
            </a:pPr>
            <a:r>
              <a:rPr lang="en-US" sz="1250" b="1" dirty="0">
                <a:solidFill>
                  <a:srgbClr val="241A4C"/>
                </a:solidFill>
                <a:latin typeface="Cambria" pitchFamily="34" charset="0"/>
                <a:ea typeface="Cambria" pitchFamily="34" charset="-122"/>
                <a:cs typeface="Cambria" pitchFamily="34" charset="-120"/>
              </a:rPr>
              <a:t>Results Replicated</a:t>
            </a:r>
            <a:endParaRPr lang="en-US" sz="1250" dirty="0"/>
          </a:p>
        </p:txBody>
      </p:sp>
      <p:sp>
        <p:nvSpPr>
          <p:cNvPr id="29" name="Text 27"/>
          <p:cNvSpPr txBox="1"/>
          <p:nvPr/>
        </p:nvSpPr>
        <p:spPr>
          <a:xfrm>
            <a:off x="9829800" y="3072384"/>
            <a:ext cx="1673352" cy="1005840"/>
          </a:xfrm>
          <a:prstGeom prst="rect">
            <a:avLst/>
          </a:prstGeom>
          <a:noFill/>
          <a:ln/>
        </p:spPr>
        <p:txBody>
          <a:bodyPr wrap="square" lIns="0" tIns="0" rIns="0" bIns="0" rtlCol="0" anchor="t"/>
          <a:lstStyle/>
          <a:p>
            <a:pPr indent="0" marL="0">
              <a:lnSpc>
                <a:spcPct val="116000"/>
              </a:lnSpc>
              <a:buNone/>
            </a:pPr>
            <a:r>
              <a:rPr lang="en-US" sz="1000" dirty="0">
                <a:solidFill>
                  <a:srgbClr val="5C5A66"/>
                </a:solidFill>
                <a:latin typeface="Calibri" pitchFamily="34" charset="0"/>
                <a:ea typeface="Calibri" pitchFamily="34" charset="-122"/>
                <a:cs typeface="Calibri" pitchFamily="34" charset="-120"/>
              </a:rPr>
              <a:t>A different team obtained the same results without the authors' artifacts, from the description alone.</a:t>
            </a:r>
            <a:endParaRPr lang="en-US" sz="1000" dirty="0"/>
          </a:p>
        </p:txBody>
      </p:sp>
      <p:sp>
        <p:nvSpPr>
          <p:cNvPr id="30" name="Shape 28"/>
          <p:cNvSpPr/>
          <p:nvPr/>
        </p:nvSpPr>
        <p:spPr>
          <a:xfrm>
            <a:off x="502920" y="4590288"/>
            <a:ext cx="5477256" cy="1371600"/>
          </a:xfrm>
          <a:prstGeom prst="roundRect">
            <a:avLst>
              <a:gd name="adj" fmla="val 3333"/>
            </a:avLst>
          </a:prstGeom>
          <a:solidFill>
            <a:srgbClr val="F3F1FC"/>
          </a:solidFill>
          <a:ln/>
        </p:spPr>
      </p:sp>
      <p:sp>
        <p:nvSpPr>
          <p:cNvPr id="31" name="Text 29"/>
          <p:cNvSpPr txBox="1"/>
          <p:nvPr/>
        </p:nvSpPr>
        <p:spPr>
          <a:xfrm>
            <a:off x="795528" y="4773168"/>
            <a:ext cx="4892040" cy="201168"/>
          </a:xfrm>
          <a:prstGeom prst="rect">
            <a:avLst/>
          </a:prstGeom>
          <a:noFill/>
          <a:ln/>
        </p:spPr>
        <p:txBody>
          <a:bodyPr wrap="square" lIns="0" tIns="0" rIns="0" bIns="0" rtlCol="0" anchor="ctr"/>
          <a:lstStyle/>
          <a:p>
            <a:pPr indent="0" marL="0">
              <a:buNone/>
            </a:pPr>
            <a:r>
              <a:rPr lang="en-US" sz="850" b="1" spc="130" kern="0" dirty="0">
                <a:solidFill>
                  <a:srgbClr val="B08C3A"/>
                </a:solidFill>
                <a:latin typeface="Calibri" pitchFamily="34" charset="0"/>
                <a:ea typeface="Calibri" pitchFamily="34" charset="-122"/>
                <a:cs typeface="Calibri" pitchFamily="34" charset="-120"/>
              </a:rPr>
              <a:t>A TERMINOLOGY TRAP WORTH KNOWING</a:t>
            </a:r>
            <a:endParaRPr lang="en-US" sz="850" dirty="0"/>
          </a:p>
        </p:txBody>
      </p:sp>
      <p:sp>
        <p:nvSpPr>
          <p:cNvPr id="32" name="Text 30"/>
          <p:cNvSpPr txBox="1"/>
          <p:nvPr/>
        </p:nvSpPr>
        <p:spPr>
          <a:xfrm>
            <a:off x="795528" y="5029200"/>
            <a:ext cx="4892040"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ACM swapped the meanings of “reproduced” and “replicated” in 2020 to align with the NISO terminology. Papers published before then use the two words the other way round. When you use either term in your own writing, say which definition you mean.</a:t>
            </a:r>
            <a:endParaRPr lang="en-US" sz="1100" dirty="0"/>
          </a:p>
        </p:txBody>
      </p:sp>
      <p:sp>
        <p:nvSpPr>
          <p:cNvPr id="33" name="Shape 31"/>
          <p:cNvSpPr/>
          <p:nvPr/>
        </p:nvSpPr>
        <p:spPr>
          <a:xfrm>
            <a:off x="6208776" y="4590288"/>
            <a:ext cx="5477256" cy="1371600"/>
          </a:xfrm>
          <a:prstGeom prst="roundRect">
            <a:avLst>
              <a:gd name="adj" fmla="val 3333"/>
            </a:avLst>
          </a:prstGeom>
          <a:solidFill>
            <a:srgbClr val="EEF3F9"/>
          </a:solidFill>
          <a:ln/>
        </p:spPr>
      </p:sp>
      <p:sp>
        <p:nvSpPr>
          <p:cNvPr id="34" name="Text 32"/>
          <p:cNvSpPr txBox="1"/>
          <p:nvPr/>
        </p:nvSpPr>
        <p:spPr>
          <a:xfrm>
            <a:off x="6501384" y="4773168"/>
            <a:ext cx="4892040" cy="201168"/>
          </a:xfrm>
          <a:prstGeom prst="rect">
            <a:avLst/>
          </a:prstGeom>
          <a:noFill/>
          <a:ln/>
        </p:spPr>
        <p:txBody>
          <a:bodyPr wrap="square" lIns="0" tIns="0" rIns="0" bIns="0" rtlCol="0" anchor="ctr"/>
          <a:lstStyle/>
          <a:p>
            <a:pPr indent="0" marL="0">
              <a:buNone/>
            </a:pPr>
            <a:r>
              <a:rPr lang="en-US" sz="850" b="1" spc="130" kern="0" dirty="0">
                <a:solidFill>
                  <a:srgbClr val="3D6EA6"/>
                </a:solidFill>
                <a:latin typeface="Calibri" pitchFamily="34" charset="0"/>
                <a:ea typeface="Calibri" pitchFamily="34" charset="-122"/>
                <a:cs typeface="Calibri" pitchFamily="34" charset="-120"/>
              </a:rPr>
              <a:t>WHY THIS IS METHODOLOGY, NOT ADMIN</a:t>
            </a:r>
            <a:endParaRPr lang="en-US" sz="850" dirty="0"/>
          </a:p>
        </p:txBody>
      </p:sp>
      <p:sp>
        <p:nvSpPr>
          <p:cNvPr id="35" name="Text 33"/>
          <p:cNvSpPr txBox="1"/>
          <p:nvPr/>
        </p:nvSpPr>
        <p:spPr>
          <a:xfrm>
            <a:off x="6501384" y="5029200"/>
            <a:ext cx="4892040" cy="822960"/>
          </a:xfrm>
          <a:prstGeom prst="rect">
            <a:avLst/>
          </a:prstGeom>
          <a:noFill/>
          <a:ln/>
        </p:spPr>
        <p:txBody>
          <a:bodyPr wrap="square" lIns="0" tIns="0" rIns="0" bIns="0" rtlCol="0" anchor="t"/>
          <a:lstStyle/>
          <a:p>
            <a:pPr indent="0" marL="0">
              <a:lnSpc>
                <a:spcPct val="120000"/>
              </a:lnSpc>
              <a:buNone/>
            </a:pPr>
            <a:r>
              <a:rPr lang="en-US" sz="1100" dirty="0">
                <a:solidFill>
                  <a:srgbClr val="5C5A66"/>
                </a:solidFill>
                <a:latin typeface="Calibri" pitchFamily="34" charset="0"/>
                <a:ea typeface="Calibri" pitchFamily="34" charset="-122"/>
                <a:cs typeface="Calibri" pitchFamily="34" charset="-120"/>
              </a:rPr>
              <a:t>Lecture 2 argued that a demonstration is only admissible evidence when it is re-runnable. Badging is that argument made institutional: it converts “trust us” into something a stranger can check, in both traditions at once.</a:t>
            </a:r>
            <a:endParaRPr lang="en-US" sz="1100" dirty="0"/>
          </a:p>
        </p:txBody>
      </p:sp>
      <p:sp>
        <p:nvSpPr>
          <p:cNvPr id="36" name="Text 34"/>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7" name="Text 35"/>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19 / 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4 · WHERE THE TWO TRADITIONS MEET</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The Same Five Threats, in Two Dialects</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Read across each row: the traditions use different vocabulary for what is structurally the same methodological failure.</a:t>
            </a:r>
            <a:endParaRPr lang="en-US" sz="1250" dirty="0"/>
          </a:p>
        </p:txBody>
      </p:sp>
      <p:sp>
        <p:nvSpPr>
          <p:cNvPr id="5" name="Shape 3"/>
          <p:cNvSpPr/>
          <p:nvPr/>
        </p:nvSpPr>
        <p:spPr>
          <a:xfrm>
            <a:off x="502920" y="1938528"/>
            <a:ext cx="219456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19019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THREAT</a:t>
            </a:r>
            <a:endParaRPr lang="en-US" sz="850" dirty="0"/>
          </a:p>
        </p:txBody>
      </p:sp>
      <p:sp>
        <p:nvSpPr>
          <p:cNvPr id="7" name="Shape 5"/>
          <p:cNvSpPr/>
          <p:nvPr/>
        </p:nvSpPr>
        <p:spPr>
          <a:xfrm>
            <a:off x="2697480" y="1938528"/>
            <a:ext cx="4480560" cy="384048"/>
          </a:xfrm>
          <a:prstGeom prst="rect">
            <a:avLst/>
          </a:prstGeom>
          <a:solidFill>
            <a:srgbClr val="241A4C"/>
          </a:solidFill>
          <a:ln w="19050">
            <a:solidFill>
              <a:srgbClr val="FFFFFF"/>
            </a:solidFill>
            <a:prstDash val="solid"/>
          </a:ln>
        </p:spPr>
      </p:sp>
      <p:sp>
        <p:nvSpPr>
          <p:cNvPr id="8" name="Text 6"/>
          <p:cNvSpPr txBox="1"/>
          <p:nvPr/>
        </p:nvSpPr>
        <p:spPr>
          <a:xfrm>
            <a:off x="2843784" y="1938528"/>
            <a:ext cx="418795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IN ALGORITHMIC WORK</a:t>
            </a:r>
            <a:endParaRPr lang="en-US" sz="850" dirty="0"/>
          </a:p>
        </p:txBody>
      </p:sp>
      <p:sp>
        <p:nvSpPr>
          <p:cNvPr id="9" name="Shape 7"/>
          <p:cNvSpPr/>
          <p:nvPr/>
        </p:nvSpPr>
        <p:spPr>
          <a:xfrm>
            <a:off x="7178040" y="1938528"/>
            <a:ext cx="4507992" cy="384048"/>
          </a:xfrm>
          <a:prstGeom prst="rect">
            <a:avLst/>
          </a:prstGeom>
          <a:solidFill>
            <a:srgbClr val="241A4C"/>
          </a:solidFill>
          <a:ln w="19050">
            <a:solidFill>
              <a:srgbClr val="FFFFFF"/>
            </a:solidFill>
            <a:prstDash val="solid"/>
          </a:ln>
        </p:spPr>
      </p:sp>
      <p:sp>
        <p:nvSpPr>
          <p:cNvPr id="10" name="Text 8"/>
          <p:cNvSpPr txBox="1"/>
          <p:nvPr/>
        </p:nvSpPr>
        <p:spPr>
          <a:xfrm>
            <a:off x="7324344" y="1938528"/>
            <a:ext cx="421538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IN SOFTWARE ENGINEERING WORK</a:t>
            </a:r>
            <a:endParaRPr lang="en-US" sz="850" dirty="0"/>
          </a:p>
        </p:txBody>
      </p:sp>
      <p:sp>
        <p:nvSpPr>
          <p:cNvPr id="11" name="Shape 9"/>
          <p:cNvSpPr/>
          <p:nvPr/>
        </p:nvSpPr>
        <p:spPr>
          <a:xfrm>
            <a:off x="502920" y="2377440"/>
            <a:ext cx="11183112" cy="621792"/>
          </a:xfrm>
          <a:prstGeom prst="rect">
            <a:avLst/>
          </a:prstGeom>
          <a:solidFill>
            <a:srgbClr val="F3F1FC"/>
          </a:solidFill>
          <a:ln/>
        </p:spPr>
      </p:sp>
      <p:sp>
        <p:nvSpPr>
          <p:cNvPr id="12" name="Shape 10"/>
          <p:cNvSpPr/>
          <p:nvPr/>
        </p:nvSpPr>
        <p:spPr>
          <a:xfrm>
            <a:off x="502920" y="2377440"/>
            <a:ext cx="50292" cy="621792"/>
          </a:xfrm>
          <a:prstGeom prst="rect">
            <a:avLst/>
          </a:prstGeom>
          <a:solidFill>
            <a:srgbClr val="D8A73E"/>
          </a:solidFill>
          <a:ln/>
        </p:spPr>
      </p:sp>
      <p:sp>
        <p:nvSpPr>
          <p:cNvPr id="13" name="Text 11"/>
          <p:cNvSpPr txBox="1"/>
          <p:nvPr/>
        </p:nvSpPr>
        <p:spPr>
          <a:xfrm>
            <a:off x="722376" y="2377440"/>
            <a:ext cx="18105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The risky premise</a:t>
            </a:r>
            <a:endParaRPr lang="en-US" sz="1200" dirty="0"/>
          </a:p>
        </p:txBody>
      </p:sp>
      <p:sp>
        <p:nvSpPr>
          <p:cNvPr id="14" name="Text 12"/>
          <p:cNvSpPr txBox="1"/>
          <p:nvPr/>
        </p:nvSpPr>
        <p:spPr>
          <a:xfrm>
            <a:off x="2862072" y="2377440"/>
            <a:ext cx="41513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cost model: unit-cost memory, an assumed input distribution, a machine that does not exist.</a:t>
            </a:r>
            <a:endParaRPr lang="en-US" sz="1050" dirty="0"/>
          </a:p>
        </p:txBody>
      </p:sp>
      <p:sp>
        <p:nvSpPr>
          <p:cNvPr id="15" name="Text 13"/>
          <p:cNvSpPr txBox="1"/>
          <p:nvPr/>
        </p:nvSpPr>
        <p:spPr>
          <a:xfrm>
            <a:off x="7342632" y="2377440"/>
            <a:ext cx="417880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population: which projects, which developers, which tasks the sample is taken to stand for.</a:t>
            </a:r>
            <a:endParaRPr lang="en-US" sz="1050" dirty="0"/>
          </a:p>
        </p:txBody>
      </p:sp>
      <p:sp>
        <p:nvSpPr>
          <p:cNvPr id="16" name="Shape 14"/>
          <p:cNvSpPr/>
          <p:nvPr/>
        </p:nvSpPr>
        <p:spPr>
          <a:xfrm>
            <a:off x="502920" y="3054096"/>
            <a:ext cx="11183112" cy="621792"/>
          </a:xfrm>
          <a:prstGeom prst="rect">
            <a:avLst/>
          </a:prstGeom>
          <a:solidFill>
            <a:srgbClr val="FFFFFF"/>
          </a:solidFill>
          <a:ln/>
        </p:spPr>
      </p:sp>
      <p:sp>
        <p:nvSpPr>
          <p:cNvPr id="17" name="Shape 15"/>
          <p:cNvSpPr/>
          <p:nvPr/>
        </p:nvSpPr>
        <p:spPr>
          <a:xfrm>
            <a:off x="502920" y="3054096"/>
            <a:ext cx="50292" cy="621792"/>
          </a:xfrm>
          <a:prstGeom prst="rect">
            <a:avLst/>
          </a:prstGeom>
          <a:solidFill>
            <a:srgbClr val="3D6EA6"/>
          </a:solidFill>
          <a:ln/>
        </p:spPr>
      </p:sp>
      <p:sp>
        <p:nvSpPr>
          <p:cNvPr id="18" name="Text 16"/>
          <p:cNvSpPr txBox="1"/>
          <p:nvPr/>
        </p:nvSpPr>
        <p:spPr>
          <a:xfrm>
            <a:off x="722376" y="3054096"/>
            <a:ext cx="18105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Tuning to the test set</a:t>
            </a:r>
            <a:endParaRPr lang="en-US" sz="1200" dirty="0"/>
          </a:p>
        </p:txBody>
      </p:sp>
      <p:sp>
        <p:nvSpPr>
          <p:cNvPr id="19" name="Text 17"/>
          <p:cNvSpPr txBox="1"/>
          <p:nvPr/>
        </p:nvSpPr>
        <p:spPr>
          <a:xfrm>
            <a:off x="2862072" y="3054096"/>
            <a:ext cx="41513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Parameters and heuristics tuned on the very instances used to report the results.</a:t>
            </a:r>
            <a:endParaRPr lang="en-US" sz="1050" dirty="0"/>
          </a:p>
        </p:txBody>
      </p:sp>
      <p:sp>
        <p:nvSpPr>
          <p:cNvPr id="20" name="Text 18"/>
          <p:cNvSpPr txBox="1"/>
          <p:nvPr/>
        </p:nvSpPr>
        <p:spPr>
          <a:xfrm>
            <a:off x="7342632" y="3054096"/>
            <a:ext cx="417880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The model, metric or subgroup selected after seeing which one separated the groups.</a:t>
            </a:r>
            <a:endParaRPr lang="en-US" sz="1050" dirty="0"/>
          </a:p>
        </p:txBody>
      </p:sp>
      <p:sp>
        <p:nvSpPr>
          <p:cNvPr id="21" name="Shape 19"/>
          <p:cNvSpPr/>
          <p:nvPr/>
        </p:nvSpPr>
        <p:spPr>
          <a:xfrm>
            <a:off x="502920" y="3730752"/>
            <a:ext cx="11183112" cy="621792"/>
          </a:xfrm>
          <a:prstGeom prst="rect">
            <a:avLst/>
          </a:prstGeom>
          <a:solidFill>
            <a:srgbClr val="F3F1FC"/>
          </a:solidFill>
          <a:ln/>
        </p:spPr>
      </p:sp>
      <p:sp>
        <p:nvSpPr>
          <p:cNvPr id="22" name="Shape 20"/>
          <p:cNvSpPr/>
          <p:nvPr/>
        </p:nvSpPr>
        <p:spPr>
          <a:xfrm>
            <a:off x="502920" y="3730752"/>
            <a:ext cx="50292" cy="621792"/>
          </a:xfrm>
          <a:prstGeom prst="rect">
            <a:avLst/>
          </a:prstGeom>
          <a:solidFill>
            <a:srgbClr val="B4522B"/>
          </a:solidFill>
          <a:ln/>
        </p:spPr>
      </p:sp>
      <p:sp>
        <p:nvSpPr>
          <p:cNvPr id="23" name="Text 21"/>
          <p:cNvSpPr txBox="1"/>
          <p:nvPr/>
        </p:nvSpPr>
        <p:spPr>
          <a:xfrm>
            <a:off x="722376" y="3730752"/>
            <a:ext cx="18105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The weak baseline</a:t>
            </a:r>
            <a:endParaRPr lang="en-US" sz="1200" dirty="0"/>
          </a:p>
        </p:txBody>
      </p:sp>
      <p:sp>
        <p:nvSpPr>
          <p:cNvPr id="24" name="Text 22"/>
          <p:cNvSpPr txBox="1"/>
          <p:nvPr/>
        </p:nvSpPr>
        <p:spPr>
          <a:xfrm>
            <a:off x="2862072" y="3730752"/>
            <a:ext cx="41513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Comparing an engineered implementation against a textbook one, and reporting the engineering as the idea.</a:t>
            </a:r>
            <a:endParaRPr lang="en-US" sz="1050" dirty="0"/>
          </a:p>
        </p:txBody>
      </p:sp>
      <p:sp>
        <p:nvSpPr>
          <p:cNvPr id="25" name="Text 23"/>
          <p:cNvSpPr txBox="1"/>
          <p:nvPr/>
        </p:nvSpPr>
        <p:spPr>
          <a:xfrm>
            <a:off x="7342632" y="3730752"/>
            <a:ext cx="417880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Comparing a new tool against no tool at all, or against a deliberately naive process.</a:t>
            </a:r>
            <a:endParaRPr lang="en-US" sz="1050" dirty="0"/>
          </a:p>
        </p:txBody>
      </p:sp>
      <p:sp>
        <p:nvSpPr>
          <p:cNvPr id="26" name="Shape 24"/>
          <p:cNvSpPr/>
          <p:nvPr/>
        </p:nvSpPr>
        <p:spPr>
          <a:xfrm>
            <a:off x="502920" y="4407408"/>
            <a:ext cx="11183112" cy="621792"/>
          </a:xfrm>
          <a:prstGeom prst="rect">
            <a:avLst/>
          </a:prstGeom>
          <a:solidFill>
            <a:srgbClr val="FFFFFF"/>
          </a:solidFill>
          <a:ln/>
        </p:spPr>
      </p:sp>
      <p:sp>
        <p:nvSpPr>
          <p:cNvPr id="27" name="Shape 25"/>
          <p:cNvSpPr/>
          <p:nvPr/>
        </p:nvSpPr>
        <p:spPr>
          <a:xfrm>
            <a:off x="502920" y="4407408"/>
            <a:ext cx="50292" cy="621792"/>
          </a:xfrm>
          <a:prstGeom prst="rect">
            <a:avLst/>
          </a:prstGeom>
          <a:solidFill>
            <a:srgbClr val="D8A73E"/>
          </a:solidFill>
          <a:ln/>
        </p:spPr>
      </p:sp>
      <p:sp>
        <p:nvSpPr>
          <p:cNvPr id="28" name="Text 26"/>
          <p:cNvSpPr txBox="1"/>
          <p:nvPr/>
        </p:nvSpPr>
        <p:spPr>
          <a:xfrm>
            <a:off x="722376" y="4407408"/>
            <a:ext cx="18105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Generalisation</a:t>
            </a:r>
            <a:endParaRPr lang="en-US" sz="1200" dirty="0"/>
          </a:p>
        </p:txBody>
      </p:sp>
      <p:sp>
        <p:nvSpPr>
          <p:cNvPr id="29" name="Text 27"/>
          <p:cNvSpPr txBox="1"/>
          <p:nvPr/>
        </p:nvSpPr>
        <p:spPr>
          <a:xfrm>
            <a:off x="2862072" y="4407408"/>
            <a:ext cx="41513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Instance families chosen — or generated — because the method happens to suit them.</a:t>
            </a:r>
            <a:endParaRPr lang="en-US" sz="1050" dirty="0"/>
          </a:p>
        </p:txBody>
      </p:sp>
      <p:sp>
        <p:nvSpPr>
          <p:cNvPr id="30" name="Text 28"/>
          <p:cNvSpPr txBox="1"/>
          <p:nvPr/>
        </p:nvSpPr>
        <p:spPr>
          <a:xfrm>
            <a:off x="7342632" y="4407408"/>
            <a:ext cx="417880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Public repositories and student participants standing in, unqualified, for professional practice.</a:t>
            </a:r>
            <a:endParaRPr lang="en-US" sz="1050" dirty="0"/>
          </a:p>
        </p:txBody>
      </p:sp>
      <p:sp>
        <p:nvSpPr>
          <p:cNvPr id="31" name="Shape 29"/>
          <p:cNvSpPr/>
          <p:nvPr/>
        </p:nvSpPr>
        <p:spPr>
          <a:xfrm>
            <a:off x="502920" y="5084064"/>
            <a:ext cx="11183112" cy="621792"/>
          </a:xfrm>
          <a:prstGeom prst="rect">
            <a:avLst/>
          </a:prstGeom>
          <a:solidFill>
            <a:srgbClr val="F3F1FC"/>
          </a:solidFill>
          <a:ln/>
        </p:spPr>
      </p:sp>
      <p:sp>
        <p:nvSpPr>
          <p:cNvPr id="32" name="Shape 30"/>
          <p:cNvSpPr/>
          <p:nvPr/>
        </p:nvSpPr>
        <p:spPr>
          <a:xfrm>
            <a:off x="502920" y="5084064"/>
            <a:ext cx="50292" cy="621792"/>
          </a:xfrm>
          <a:prstGeom prst="rect">
            <a:avLst/>
          </a:prstGeom>
          <a:solidFill>
            <a:srgbClr val="241A4C"/>
          </a:solidFill>
          <a:ln/>
        </p:spPr>
      </p:sp>
      <p:sp>
        <p:nvSpPr>
          <p:cNvPr id="33" name="Text 31"/>
          <p:cNvSpPr txBox="1"/>
          <p:nvPr/>
        </p:nvSpPr>
        <p:spPr>
          <a:xfrm>
            <a:off x="722376" y="5084064"/>
            <a:ext cx="181051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The standard defence</a:t>
            </a:r>
            <a:endParaRPr lang="en-US" sz="1200" dirty="0"/>
          </a:p>
        </p:txBody>
      </p:sp>
      <p:sp>
        <p:nvSpPr>
          <p:cNvPr id="34" name="Text 32"/>
          <p:cNvSpPr txBox="1"/>
          <p:nvPr/>
        </p:nvSpPr>
        <p:spPr>
          <a:xfrm>
            <a:off x="2862072" y="5084064"/>
            <a:ext cx="415137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Accepted instance libraries, released code, and the machine, compiler and flags reported.</a:t>
            </a:r>
            <a:endParaRPr lang="en-US" sz="1050" dirty="0"/>
          </a:p>
        </p:txBody>
      </p:sp>
      <p:sp>
        <p:nvSpPr>
          <p:cNvPr id="35" name="Text 33"/>
          <p:cNvSpPr txBox="1"/>
          <p:nvPr/>
        </p:nvSpPr>
        <p:spPr>
          <a:xfrm>
            <a:off x="7342632" y="5084064"/>
            <a:ext cx="417880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defended sampling frame, a published protocol, held-out replication, and available data.</a:t>
            </a:r>
            <a:endParaRPr lang="en-US" sz="1050" dirty="0"/>
          </a:p>
        </p:txBody>
      </p:sp>
      <p:sp>
        <p:nvSpPr>
          <p:cNvPr id="36" name="Text 34"/>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The symmetry is the point: if you can diagnose one tradition's methodology, you already have most of what you need to read the other's.</a:t>
            </a:r>
            <a:endParaRPr lang="en-US" sz="1150" dirty="0"/>
          </a:p>
        </p:txBody>
      </p:sp>
      <p:sp>
        <p:nvSpPr>
          <p:cNvPr id="37" name="Text 3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38" name="Text 3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20 / 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Choosing an Approach for Your Own Question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Find the question you are actually asking, then read across. The last column is what taking that route commits you to.</a:t>
            </a:r>
            <a:endParaRPr lang="en-US" sz="1250" dirty="0"/>
          </a:p>
        </p:txBody>
      </p:sp>
      <p:sp>
        <p:nvSpPr>
          <p:cNvPr id="5" name="Shape 3"/>
          <p:cNvSpPr/>
          <p:nvPr/>
        </p:nvSpPr>
        <p:spPr>
          <a:xfrm>
            <a:off x="502920" y="1938528"/>
            <a:ext cx="3429000" cy="384048"/>
          </a:xfrm>
          <a:prstGeom prst="rect">
            <a:avLst/>
          </a:prstGeom>
          <a:solidFill>
            <a:srgbClr val="241A4C"/>
          </a:solidFill>
          <a:ln w="19050">
            <a:solidFill>
              <a:srgbClr val="FFFFFF"/>
            </a:solidFill>
            <a:prstDash val="solid"/>
          </a:ln>
        </p:spPr>
      </p:sp>
      <p:sp>
        <p:nvSpPr>
          <p:cNvPr id="6" name="Text 4"/>
          <p:cNvSpPr txBox="1"/>
          <p:nvPr/>
        </p:nvSpPr>
        <p:spPr>
          <a:xfrm>
            <a:off x="649224" y="1938528"/>
            <a:ext cx="313639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IF YOUR QUESTION IS…</a:t>
            </a:r>
            <a:endParaRPr lang="en-US" sz="850" dirty="0"/>
          </a:p>
        </p:txBody>
      </p:sp>
      <p:sp>
        <p:nvSpPr>
          <p:cNvPr id="7" name="Shape 5"/>
          <p:cNvSpPr/>
          <p:nvPr/>
        </p:nvSpPr>
        <p:spPr>
          <a:xfrm>
            <a:off x="3931920" y="1938528"/>
            <a:ext cx="2103120" cy="384048"/>
          </a:xfrm>
          <a:prstGeom prst="rect">
            <a:avLst/>
          </a:prstGeom>
          <a:solidFill>
            <a:srgbClr val="241A4C"/>
          </a:solidFill>
          <a:ln w="19050">
            <a:solidFill>
              <a:srgbClr val="FFFFFF"/>
            </a:solidFill>
            <a:prstDash val="solid"/>
          </a:ln>
        </p:spPr>
      </p:sp>
      <p:sp>
        <p:nvSpPr>
          <p:cNvPr id="8" name="Text 6"/>
          <p:cNvSpPr txBox="1"/>
          <p:nvPr/>
        </p:nvSpPr>
        <p:spPr>
          <a:xfrm>
            <a:off x="4078224" y="1938528"/>
            <a:ext cx="181051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APPROACH</a:t>
            </a:r>
            <a:endParaRPr lang="en-US" sz="850" dirty="0"/>
          </a:p>
        </p:txBody>
      </p:sp>
      <p:sp>
        <p:nvSpPr>
          <p:cNvPr id="9" name="Shape 7"/>
          <p:cNvSpPr/>
          <p:nvPr/>
        </p:nvSpPr>
        <p:spPr>
          <a:xfrm>
            <a:off x="6035040" y="1938528"/>
            <a:ext cx="2697480" cy="384048"/>
          </a:xfrm>
          <a:prstGeom prst="rect">
            <a:avLst/>
          </a:prstGeom>
          <a:solidFill>
            <a:srgbClr val="241A4C"/>
          </a:solidFill>
          <a:ln w="19050">
            <a:solidFill>
              <a:srgbClr val="FFFFFF"/>
            </a:solidFill>
            <a:prstDash val="solid"/>
          </a:ln>
        </p:spPr>
      </p:sp>
      <p:sp>
        <p:nvSpPr>
          <p:cNvPr id="10" name="Text 8"/>
          <p:cNvSpPr txBox="1"/>
          <p:nvPr/>
        </p:nvSpPr>
        <p:spPr>
          <a:xfrm>
            <a:off x="6181344" y="1938528"/>
            <a:ext cx="2404872"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PRIMARY EVIDENCE</a:t>
            </a:r>
            <a:endParaRPr lang="en-US" sz="850" dirty="0"/>
          </a:p>
        </p:txBody>
      </p:sp>
      <p:sp>
        <p:nvSpPr>
          <p:cNvPr id="11" name="Shape 9"/>
          <p:cNvSpPr/>
          <p:nvPr/>
        </p:nvSpPr>
        <p:spPr>
          <a:xfrm>
            <a:off x="8732520" y="1938528"/>
            <a:ext cx="2953512" cy="384048"/>
          </a:xfrm>
          <a:prstGeom prst="rect">
            <a:avLst/>
          </a:prstGeom>
          <a:solidFill>
            <a:srgbClr val="241A4C"/>
          </a:solidFill>
          <a:ln w="19050">
            <a:solidFill>
              <a:srgbClr val="FFFFFF"/>
            </a:solidFill>
            <a:prstDash val="solid"/>
          </a:ln>
        </p:spPr>
      </p:sp>
      <p:sp>
        <p:nvSpPr>
          <p:cNvPr id="12" name="Text 10"/>
          <p:cNvSpPr txBox="1"/>
          <p:nvPr/>
        </p:nvSpPr>
        <p:spPr>
          <a:xfrm>
            <a:off x="8878824" y="1938528"/>
            <a:ext cx="2660904" cy="384048"/>
          </a:xfrm>
          <a:prstGeom prst="rect">
            <a:avLst/>
          </a:prstGeom>
          <a:noFill/>
          <a:ln/>
        </p:spPr>
        <p:txBody>
          <a:bodyPr wrap="square" lIns="0" tIns="0" rIns="0" bIns="0" rtlCol="0" anchor="ctr"/>
          <a:lstStyle/>
          <a:p>
            <a:pPr algn="l" indent="0" marL="0">
              <a:buNone/>
            </a:pPr>
            <a:r>
              <a:rPr lang="en-US" sz="850" b="1" spc="120" kern="0" dirty="0">
                <a:solidFill>
                  <a:srgbClr val="FFFFFF"/>
                </a:solidFill>
                <a:latin typeface="Calibri" pitchFamily="34" charset="0"/>
                <a:ea typeface="Calibri" pitchFamily="34" charset="-122"/>
                <a:cs typeface="Calibri" pitchFamily="34" charset="-120"/>
              </a:rPr>
              <a:t>THE OBLIGATION IT BRINGS</a:t>
            </a:r>
            <a:endParaRPr lang="en-US" sz="850" dirty="0"/>
          </a:p>
        </p:txBody>
      </p:sp>
      <p:sp>
        <p:nvSpPr>
          <p:cNvPr id="13" name="Shape 11"/>
          <p:cNvSpPr/>
          <p:nvPr/>
        </p:nvSpPr>
        <p:spPr>
          <a:xfrm>
            <a:off x="502920" y="2377440"/>
            <a:ext cx="11183112" cy="621792"/>
          </a:xfrm>
          <a:prstGeom prst="rect">
            <a:avLst/>
          </a:prstGeom>
          <a:solidFill>
            <a:srgbClr val="F3F1FC"/>
          </a:solidFill>
          <a:ln/>
        </p:spPr>
      </p:sp>
      <p:sp>
        <p:nvSpPr>
          <p:cNvPr id="14" name="Shape 12"/>
          <p:cNvSpPr/>
          <p:nvPr/>
        </p:nvSpPr>
        <p:spPr>
          <a:xfrm>
            <a:off x="502920" y="2377440"/>
            <a:ext cx="50292" cy="621792"/>
          </a:xfrm>
          <a:prstGeom prst="rect">
            <a:avLst/>
          </a:prstGeom>
          <a:solidFill>
            <a:srgbClr val="D8A73E"/>
          </a:solidFill>
          <a:ln/>
        </p:spPr>
      </p:sp>
      <p:sp>
        <p:nvSpPr>
          <p:cNvPr id="15" name="Text 13"/>
          <p:cNvSpPr txBox="1"/>
          <p:nvPr/>
        </p:nvSpPr>
        <p:spPr>
          <a:xfrm>
            <a:off x="722376" y="2377440"/>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“Can this be solved faster, provably?”</a:t>
            </a:r>
            <a:endParaRPr lang="en-US" sz="1200" dirty="0"/>
          </a:p>
        </p:txBody>
      </p:sp>
      <p:sp>
        <p:nvSpPr>
          <p:cNvPr id="16" name="Text 14"/>
          <p:cNvSpPr txBox="1"/>
          <p:nvPr/>
        </p:nvSpPr>
        <p:spPr>
          <a:xfrm>
            <a:off x="4096512" y="2377440"/>
            <a:ext cx="17739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Design and analysis</a:t>
            </a:r>
            <a:endParaRPr lang="en-US" sz="1050" dirty="0"/>
          </a:p>
        </p:txBody>
      </p:sp>
      <p:sp>
        <p:nvSpPr>
          <p:cNvPr id="17" name="Text 15"/>
          <p:cNvSpPr txBox="1"/>
          <p:nvPr/>
        </p:nvSpPr>
        <p:spPr>
          <a:xfrm>
            <a:off x="6199632" y="2377440"/>
            <a:ext cx="23682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proof inside a stated model</a:t>
            </a:r>
            <a:endParaRPr lang="en-US" sz="1050" dirty="0"/>
          </a:p>
        </p:txBody>
      </p:sp>
      <p:sp>
        <p:nvSpPr>
          <p:cNvPr id="18" name="Text 16"/>
          <p:cNvSpPr txBox="1"/>
          <p:nvPr/>
        </p:nvSpPr>
        <p:spPr>
          <a:xfrm>
            <a:off x="8897112" y="2377440"/>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Show the bound is tight, or say plainly that it is not</a:t>
            </a:r>
            <a:endParaRPr lang="en-US" sz="1050" dirty="0"/>
          </a:p>
        </p:txBody>
      </p:sp>
      <p:sp>
        <p:nvSpPr>
          <p:cNvPr id="19" name="Shape 17"/>
          <p:cNvSpPr/>
          <p:nvPr/>
        </p:nvSpPr>
        <p:spPr>
          <a:xfrm>
            <a:off x="502920" y="3054096"/>
            <a:ext cx="11183112" cy="621792"/>
          </a:xfrm>
          <a:prstGeom prst="rect">
            <a:avLst/>
          </a:prstGeom>
          <a:solidFill>
            <a:srgbClr val="FFFFFF"/>
          </a:solidFill>
          <a:ln/>
        </p:spPr>
      </p:sp>
      <p:sp>
        <p:nvSpPr>
          <p:cNvPr id="20" name="Shape 18"/>
          <p:cNvSpPr/>
          <p:nvPr/>
        </p:nvSpPr>
        <p:spPr>
          <a:xfrm>
            <a:off x="502920" y="3054096"/>
            <a:ext cx="50292" cy="621792"/>
          </a:xfrm>
          <a:prstGeom prst="rect">
            <a:avLst/>
          </a:prstGeom>
          <a:solidFill>
            <a:srgbClr val="D8A73E"/>
          </a:solidFill>
          <a:ln/>
        </p:spPr>
      </p:sp>
      <p:sp>
        <p:nvSpPr>
          <p:cNvPr id="21" name="Text 19"/>
          <p:cNvSpPr txBox="1"/>
          <p:nvPr/>
        </p:nvSpPr>
        <p:spPr>
          <a:xfrm>
            <a:off x="722376" y="3054096"/>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“Is my algorithm faster on real inputs?”</a:t>
            </a:r>
            <a:endParaRPr lang="en-US" sz="1200" dirty="0"/>
          </a:p>
        </p:txBody>
      </p:sp>
      <p:sp>
        <p:nvSpPr>
          <p:cNvPr id="22" name="Text 20"/>
          <p:cNvSpPr txBox="1"/>
          <p:nvPr/>
        </p:nvSpPr>
        <p:spPr>
          <a:xfrm>
            <a:off x="4096512" y="3054096"/>
            <a:ext cx="17739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Algorithm engineering</a:t>
            </a:r>
            <a:endParaRPr lang="en-US" sz="1050" dirty="0"/>
          </a:p>
        </p:txBody>
      </p:sp>
      <p:sp>
        <p:nvSpPr>
          <p:cNvPr id="23" name="Text 21"/>
          <p:cNvSpPr txBox="1"/>
          <p:nvPr/>
        </p:nvSpPr>
        <p:spPr>
          <a:xfrm>
            <a:off x="6199632" y="3054096"/>
            <a:ext cx="23682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Measurement on accepted instances</a:t>
            </a:r>
            <a:endParaRPr lang="en-US" sz="1050" dirty="0"/>
          </a:p>
        </p:txBody>
      </p:sp>
      <p:sp>
        <p:nvSpPr>
          <p:cNvPr id="24" name="Text 22"/>
          <p:cNvSpPr txBox="1"/>
          <p:nvPr/>
        </p:nvSpPr>
        <p:spPr>
          <a:xfrm>
            <a:off x="8897112" y="3054096"/>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Tuned baselines, released code, reported hardware</a:t>
            </a:r>
            <a:endParaRPr lang="en-US" sz="1050" dirty="0"/>
          </a:p>
        </p:txBody>
      </p:sp>
      <p:sp>
        <p:nvSpPr>
          <p:cNvPr id="25" name="Shape 23"/>
          <p:cNvSpPr/>
          <p:nvPr/>
        </p:nvSpPr>
        <p:spPr>
          <a:xfrm>
            <a:off x="502920" y="3730752"/>
            <a:ext cx="11183112" cy="621792"/>
          </a:xfrm>
          <a:prstGeom prst="rect">
            <a:avLst/>
          </a:prstGeom>
          <a:solidFill>
            <a:srgbClr val="F3F1FC"/>
          </a:solidFill>
          <a:ln/>
        </p:spPr>
      </p:sp>
      <p:sp>
        <p:nvSpPr>
          <p:cNvPr id="26" name="Shape 24"/>
          <p:cNvSpPr/>
          <p:nvPr/>
        </p:nvSpPr>
        <p:spPr>
          <a:xfrm>
            <a:off x="502920" y="3730752"/>
            <a:ext cx="50292" cy="621792"/>
          </a:xfrm>
          <a:prstGeom prst="rect">
            <a:avLst/>
          </a:prstGeom>
          <a:solidFill>
            <a:srgbClr val="3D6EA6"/>
          </a:solidFill>
          <a:ln/>
        </p:spPr>
      </p:sp>
      <p:sp>
        <p:nvSpPr>
          <p:cNvPr id="27" name="Text 25"/>
          <p:cNvSpPr txBox="1"/>
          <p:nvPr/>
        </p:nvSpPr>
        <p:spPr>
          <a:xfrm>
            <a:off x="722376" y="3730752"/>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“Does this technique help developers?”</a:t>
            </a:r>
            <a:endParaRPr lang="en-US" sz="1200" dirty="0"/>
          </a:p>
        </p:txBody>
      </p:sp>
      <p:sp>
        <p:nvSpPr>
          <p:cNvPr id="28" name="Text 26"/>
          <p:cNvSpPr txBox="1"/>
          <p:nvPr/>
        </p:nvSpPr>
        <p:spPr>
          <a:xfrm>
            <a:off x="4096512" y="3730752"/>
            <a:ext cx="17739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Experiment or case study</a:t>
            </a:r>
            <a:endParaRPr lang="en-US" sz="1050" dirty="0"/>
          </a:p>
        </p:txBody>
      </p:sp>
      <p:sp>
        <p:nvSpPr>
          <p:cNvPr id="29" name="Text 27"/>
          <p:cNvSpPr txBox="1"/>
          <p:nvPr/>
        </p:nvSpPr>
        <p:spPr>
          <a:xfrm>
            <a:off x="6199632" y="3730752"/>
            <a:ext cx="23682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Human-subject data, threats stated</a:t>
            </a:r>
            <a:endParaRPr lang="en-US" sz="1050" dirty="0"/>
          </a:p>
        </p:txBody>
      </p:sp>
      <p:sp>
        <p:nvSpPr>
          <p:cNvPr id="30" name="Text 28"/>
          <p:cNvSpPr txBox="1"/>
          <p:nvPr/>
        </p:nvSpPr>
        <p:spPr>
          <a:xfrm>
            <a:off x="8897112" y="3730752"/>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Ethics approval, power analysis, a defined population</a:t>
            </a:r>
            <a:endParaRPr lang="en-US" sz="1050" dirty="0"/>
          </a:p>
        </p:txBody>
      </p:sp>
      <p:sp>
        <p:nvSpPr>
          <p:cNvPr id="31" name="Shape 29"/>
          <p:cNvSpPr/>
          <p:nvPr/>
        </p:nvSpPr>
        <p:spPr>
          <a:xfrm>
            <a:off x="502920" y="4407408"/>
            <a:ext cx="11183112" cy="621792"/>
          </a:xfrm>
          <a:prstGeom prst="rect">
            <a:avLst/>
          </a:prstGeom>
          <a:solidFill>
            <a:srgbClr val="FFFFFF"/>
          </a:solidFill>
          <a:ln/>
        </p:spPr>
      </p:sp>
      <p:sp>
        <p:nvSpPr>
          <p:cNvPr id="32" name="Shape 30"/>
          <p:cNvSpPr/>
          <p:nvPr/>
        </p:nvSpPr>
        <p:spPr>
          <a:xfrm>
            <a:off x="502920" y="4407408"/>
            <a:ext cx="50292" cy="621792"/>
          </a:xfrm>
          <a:prstGeom prst="rect">
            <a:avLst/>
          </a:prstGeom>
          <a:solidFill>
            <a:srgbClr val="3D6EA6"/>
          </a:solidFill>
          <a:ln/>
        </p:spPr>
      </p:sp>
      <p:sp>
        <p:nvSpPr>
          <p:cNvPr id="33" name="Text 31"/>
          <p:cNvSpPr txBox="1"/>
          <p:nvPr/>
        </p:nvSpPr>
        <p:spPr>
          <a:xfrm>
            <a:off x="722376" y="4407408"/>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“What do developers actually do?”</a:t>
            </a:r>
            <a:endParaRPr lang="en-US" sz="1200" dirty="0"/>
          </a:p>
        </p:txBody>
      </p:sp>
      <p:sp>
        <p:nvSpPr>
          <p:cNvPr id="34" name="Text 32"/>
          <p:cNvSpPr txBox="1"/>
          <p:nvPr/>
        </p:nvSpPr>
        <p:spPr>
          <a:xfrm>
            <a:off x="4096512" y="4407408"/>
            <a:ext cx="17739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Repository mining</a:t>
            </a:r>
            <a:endParaRPr lang="en-US" sz="1050" dirty="0"/>
          </a:p>
        </p:txBody>
      </p:sp>
      <p:sp>
        <p:nvSpPr>
          <p:cNvPr id="35" name="Text 33"/>
          <p:cNvSpPr txBox="1"/>
          <p:nvPr/>
        </p:nvSpPr>
        <p:spPr>
          <a:xfrm>
            <a:off x="6199632" y="4407408"/>
            <a:ext cx="23682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Observational data at scale</a:t>
            </a:r>
            <a:endParaRPr lang="en-US" sz="1050" dirty="0"/>
          </a:p>
        </p:txBody>
      </p:sp>
      <p:sp>
        <p:nvSpPr>
          <p:cNvPr id="36" name="Text 34"/>
          <p:cNvSpPr txBox="1"/>
          <p:nvPr/>
        </p:nvSpPr>
        <p:spPr>
          <a:xfrm>
            <a:off x="8897112" y="4407408"/>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 defended sampling frame — and no causal language</a:t>
            </a:r>
            <a:endParaRPr lang="en-US" sz="1050" dirty="0"/>
          </a:p>
        </p:txBody>
      </p:sp>
      <p:sp>
        <p:nvSpPr>
          <p:cNvPr id="37" name="Shape 35"/>
          <p:cNvSpPr/>
          <p:nvPr/>
        </p:nvSpPr>
        <p:spPr>
          <a:xfrm>
            <a:off x="502920" y="5084064"/>
            <a:ext cx="11183112" cy="621792"/>
          </a:xfrm>
          <a:prstGeom prst="rect">
            <a:avLst/>
          </a:prstGeom>
          <a:solidFill>
            <a:srgbClr val="F3F1FC"/>
          </a:solidFill>
          <a:ln/>
        </p:spPr>
      </p:sp>
      <p:sp>
        <p:nvSpPr>
          <p:cNvPr id="38" name="Shape 36"/>
          <p:cNvSpPr/>
          <p:nvPr/>
        </p:nvSpPr>
        <p:spPr>
          <a:xfrm>
            <a:off x="502920" y="5084064"/>
            <a:ext cx="50292" cy="621792"/>
          </a:xfrm>
          <a:prstGeom prst="rect">
            <a:avLst/>
          </a:prstGeom>
          <a:solidFill>
            <a:srgbClr val="B4522B"/>
          </a:solidFill>
          <a:ln/>
        </p:spPr>
      </p:sp>
      <p:sp>
        <p:nvSpPr>
          <p:cNvPr id="39" name="Text 37"/>
          <p:cNvSpPr txBox="1"/>
          <p:nvPr/>
        </p:nvSpPr>
        <p:spPr>
          <a:xfrm>
            <a:off x="722376" y="5084064"/>
            <a:ext cx="3044952" cy="621792"/>
          </a:xfrm>
          <a:prstGeom prst="rect">
            <a:avLst/>
          </a:prstGeom>
          <a:noFill/>
          <a:ln/>
        </p:spPr>
        <p:txBody>
          <a:bodyPr wrap="square" lIns="0" tIns="0" rIns="0" bIns="0" rtlCol="0" anchor="ctr"/>
          <a:lstStyle/>
          <a:p>
            <a:pPr indent="0" marL="0">
              <a:lnSpc>
                <a:spcPct val="115000"/>
              </a:lnSpc>
              <a:buNone/>
            </a:pPr>
            <a:r>
              <a:rPr lang="en-US" sz="1200" b="1" dirty="0">
                <a:solidFill>
                  <a:srgbClr val="241A4C"/>
                </a:solidFill>
                <a:latin typeface="Cambria" pitchFamily="34" charset="0"/>
                <a:ea typeface="Cambria" pitchFamily="34" charset="-122"/>
                <a:cs typeface="Cambria" pitchFamily="34" charset="-120"/>
              </a:rPr>
              <a:t>“Does this tool solve a real problem?”</a:t>
            </a:r>
            <a:endParaRPr lang="en-US" sz="1200" dirty="0"/>
          </a:p>
        </p:txBody>
      </p:sp>
      <p:sp>
        <p:nvSpPr>
          <p:cNvPr id="40" name="Text 38"/>
          <p:cNvSpPr txBox="1"/>
          <p:nvPr/>
        </p:nvSpPr>
        <p:spPr>
          <a:xfrm>
            <a:off x="4096512" y="5084064"/>
            <a:ext cx="177393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Design science</a:t>
            </a:r>
            <a:endParaRPr lang="en-US" sz="1050" dirty="0"/>
          </a:p>
        </p:txBody>
      </p:sp>
      <p:sp>
        <p:nvSpPr>
          <p:cNvPr id="41" name="Text 39"/>
          <p:cNvSpPr txBox="1"/>
          <p:nvPr/>
        </p:nvSpPr>
        <p:spPr>
          <a:xfrm>
            <a:off x="6199632" y="5084064"/>
            <a:ext cx="2368296"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An artifact plus evaluation in context</a:t>
            </a:r>
            <a:endParaRPr lang="en-US" sz="1050" dirty="0"/>
          </a:p>
        </p:txBody>
      </p:sp>
      <p:sp>
        <p:nvSpPr>
          <p:cNvPr id="42" name="Text 40"/>
          <p:cNvSpPr txBox="1"/>
          <p:nvPr/>
        </p:nvSpPr>
        <p:spPr>
          <a:xfrm>
            <a:off x="8897112" y="5084064"/>
            <a:ext cx="2624328" cy="621792"/>
          </a:xfrm>
          <a:prstGeom prst="rect">
            <a:avLst/>
          </a:prstGeom>
          <a:noFill/>
          <a:ln/>
        </p:spPr>
        <p:txBody>
          <a:bodyPr wrap="square" lIns="0" tIns="0" rIns="0" bIns="0" rtlCol="0" anchor="ctr"/>
          <a:lstStyle/>
          <a:p>
            <a:pPr indent="0" marL="0">
              <a:lnSpc>
                <a:spcPct val="115000"/>
              </a:lnSpc>
              <a:buNone/>
            </a:pPr>
            <a:r>
              <a:rPr lang="en-US" sz="1050" dirty="0">
                <a:solidFill>
                  <a:srgbClr val="5C5A66"/>
                </a:solidFill>
                <a:latin typeface="Calibri" pitchFamily="34" charset="0"/>
                <a:ea typeface="Calibri" pitchFamily="34" charset="-122"/>
                <a:cs typeface="Calibri" pitchFamily="34" charset="-120"/>
              </a:rPr>
              <a:t>Separate the design problem from the knowledge question</a:t>
            </a:r>
            <a:endParaRPr lang="en-US" sz="1050" dirty="0"/>
          </a:p>
        </p:txBody>
      </p:sp>
      <p:sp>
        <p:nvSpPr>
          <p:cNvPr id="43" name="Text 41"/>
          <p:cNvSpPr txBox="1"/>
          <p:nvPr/>
        </p:nvSpPr>
        <p:spPr>
          <a:xfrm>
            <a:off x="502920" y="5870448"/>
            <a:ext cx="11183112" cy="384048"/>
          </a:xfrm>
          <a:prstGeom prst="rect">
            <a:avLst/>
          </a:prstGeom>
          <a:noFill/>
          <a:ln/>
        </p:spPr>
        <p:txBody>
          <a:bodyPr wrap="square" lIns="0" tIns="0" rIns="0" bIns="0" rtlCol="0" anchor="ctr"/>
          <a:lstStyle/>
          <a:p>
            <a:pPr indent="0" marL="0">
              <a:lnSpc>
                <a:spcPct val="115000"/>
              </a:lnSpc>
              <a:buNone/>
            </a:pPr>
            <a:r>
              <a:rPr lang="en-US" sz="1150" i="1" dirty="0">
                <a:solidFill>
                  <a:srgbClr val="5C5A66"/>
                </a:solidFill>
                <a:latin typeface="Calibri" pitchFamily="34" charset="0"/>
                <a:ea typeface="Calibri" pitchFamily="34" charset="-122"/>
                <a:cs typeface="Calibri" pitchFamily="34" charset="-120"/>
              </a:rPr>
              <a:t>Nothing here forbids combining routes — most strong theses do. What it forbids is answering a question from one row with the evidence from another.</a:t>
            </a:r>
            <a:endParaRPr lang="en-US" sz="1150" dirty="0"/>
          </a:p>
        </p:txBody>
      </p:sp>
      <p:sp>
        <p:nvSpPr>
          <p:cNvPr id="44" name="Text 42"/>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45" name="Text 43"/>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21 / 26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Failure Modes of Each Tradition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Three from each side. Every one is common enough that reviewers have a stock phrase ready for it.</a:t>
            </a:r>
            <a:endParaRPr lang="en-US" sz="1250" dirty="0"/>
          </a:p>
        </p:txBody>
      </p:sp>
      <p:sp>
        <p:nvSpPr>
          <p:cNvPr id="5" name="Shape 3"/>
          <p:cNvSpPr/>
          <p:nvPr/>
        </p:nvSpPr>
        <p:spPr>
          <a:xfrm>
            <a:off x="502920" y="1938528"/>
            <a:ext cx="3502152" cy="1737360"/>
          </a:xfrm>
          <a:prstGeom prst="roundRect">
            <a:avLst>
              <a:gd name="adj" fmla="val 2632"/>
            </a:avLst>
          </a:prstGeom>
          <a:solidFill>
            <a:srgbClr val="F3F1FC"/>
          </a:solidFill>
          <a:ln w="12700">
            <a:solidFill>
              <a:srgbClr val="E6E2F5"/>
            </a:solidFill>
            <a:prstDash val="solid"/>
          </a:ln>
        </p:spPr>
      </p:sp>
      <p:sp>
        <p:nvSpPr>
          <p:cNvPr id="6" name="Text 4"/>
          <p:cNvSpPr txBox="1"/>
          <p:nvPr/>
        </p:nvSpPr>
        <p:spPr>
          <a:xfrm>
            <a:off x="75895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The unanalysed algorithm</a:t>
            </a:r>
            <a:endParaRPr lang="en-US" sz="1400" dirty="0"/>
          </a:p>
        </p:txBody>
      </p:sp>
      <p:sp>
        <p:nvSpPr>
          <p:cNvPr id="7" name="Text 5"/>
          <p:cNvSpPr txBox="1"/>
          <p:nvPr/>
        </p:nvSpPr>
        <p:spPr>
          <a:xfrm>
            <a:off x="75895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new procedure with no correctness argument and no derived bound, evaluated only on instances the authors generated themselves.</a:t>
            </a:r>
            <a:endParaRPr lang="en-US" sz="1050" dirty="0"/>
          </a:p>
        </p:txBody>
      </p:sp>
      <p:sp>
        <p:nvSpPr>
          <p:cNvPr id="8" name="Shape 6"/>
          <p:cNvSpPr/>
          <p:nvPr/>
        </p:nvSpPr>
        <p:spPr>
          <a:xfrm>
            <a:off x="4343400" y="1938528"/>
            <a:ext cx="3502152" cy="1737360"/>
          </a:xfrm>
          <a:prstGeom prst="roundRect">
            <a:avLst>
              <a:gd name="adj" fmla="val 2632"/>
            </a:avLst>
          </a:prstGeom>
          <a:solidFill>
            <a:srgbClr val="F3F1FC"/>
          </a:solidFill>
          <a:ln w="12700">
            <a:solidFill>
              <a:srgbClr val="E6E2F5"/>
            </a:solidFill>
            <a:prstDash val="solid"/>
          </a:ln>
        </p:spPr>
      </p:sp>
      <p:sp>
        <p:nvSpPr>
          <p:cNvPr id="9" name="Text 7"/>
          <p:cNvSpPr txBox="1"/>
          <p:nvPr/>
        </p:nvSpPr>
        <p:spPr>
          <a:xfrm>
            <a:off x="459943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The self-selected instance family</a:t>
            </a:r>
            <a:endParaRPr lang="en-US" sz="1400" dirty="0"/>
          </a:p>
        </p:txBody>
      </p:sp>
      <p:sp>
        <p:nvSpPr>
          <p:cNvPr id="10" name="Text 8"/>
          <p:cNvSpPr txBox="1"/>
          <p:nvPr/>
        </p:nvSpPr>
        <p:spPr>
          <a:xfrm>
            <a:off x="459943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Benchmark instances chosen, or synthesised, because the proposed method happens to exploit their structure.</a:t>
            </a:r>
            <a:endParaRPr lang="en-US" sz="1050" dirty="0"/>
          </a:p>
        </p:txBody>
      </p:sp>
      <p:sp>
        <p:nvSpPr>
          <p:cNvPr id="11" name="Shape 9"/>
          <p:cNvSpPr/>
          <p:nvPr/>
        </p:nvSpPr>
        <p:spPr>
          <a:xfrm>
            <a:off x="8183880" y="1938528"/>
            <a:ext cx="3502152" cy="1737360"/>
          </a:xfrm>
          <a:prstGeom prst="roundRect">
            <a:avLst>
              <a:gd name="adj" fmla="val 2632"/>
            </a:avLst>
          </a:prstGeom>
          <a:solidFill>
            <a:srgbClr val="F3F1FC"/>
          </a:solidFill>
          <a:ln w="12700">
            <a:solidFill>
              <a:srgbClr val="E6E2F5"/>
            </a:solidFill>
            <a:prstDash val="solid"/>
          </a:ln>
        </p:spPr>
      </p:sp>
      <p:sp>
        <p:nvSpPr>
          <p:cNvPr id="12" name="Text 10"/>
          <p:cNvSpPr txBox="1"/>
          <p:nvPr/>
        </p:nvSpPr>
        <p:spPr>
          <a:xfrm>
            <a:off x="8439912" y="2157984"/>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B08C3A"/>
                </a:solidFill>
                <a:latin typeface="Cambria" pitchFamily="34" charset="0"/>
                <a:ea typeface="Cambria" pitchFamily="34" charset="-122"/>
                <a:cs typeface="Cambria" pitchFamily="34" charset="-120"/>
              </a:rPr>
              <a:t>The textbook baseline</a:t>
            </a:r>
            <a:endParaRPr lang="en-US" sz="1400" dirty="0"/>
          </a:p>
        </p:txBody>
      </p:sp>
      <p:sp>
        <p:nvSpPr>
          <p:cNvPr id="13" name="Text 11"/>
          <p:cNvSpPr txBox="1"/>
          <p:nvPr/>
        </p:nvSpPr>
        <p:spPr>
          <a:xfrm>
            <a:off x="8439912" y="2706624"/>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An engineered implementation compared against a naive one, so that ordinary engineering effort is reported as the scientific contribution.</a:t>
            </a:r>
            <a:endParaRPr lang="en-US" sz="1050" dirty="0"/>
          </a:p>
        </p:txBody>
      </p:sp>
      <p:sp>
        <p:nvSpPr>
          <p:cNvPr id="14" name="Shape 12"/>
          <p:cNvSpPr/>
          <p:nvPr/>
        </p:nvSpPr>
        <p:spPr>
          <a:xfrm>
            <a:off x="502920" y="3895344"/>
            <a:ext cx="3502152" cy="1737360"/>
          </a:xfrm>
          <a:prstGeom prst="roundRect">
            <a:avLst>
              <a:gd name="adj" fmla="val 2632"/>
            </a:avLst>
          </a:prstGeom>
          <a:solidFill>
            <a:srgbClr val="FAF9FE"/>
          </a:solidFill>
          <a:ln w="12700">
            <a:solidFill>
              <a:srgbClr val="E6E2F5"/>
            </a:solidFill>
            <a:prstDash val="solid"/>
          </a:ln>
        </p:spPr>
      </p:sp>
      <p:sp>
        <p:nvSpPr>
          <p:cNvPr id="15" name="Text 13"/>
          <p:cNvSpPr txBox="1"/>
          <p:nvPr/>
        </p:nvSpPr>
        <p:spPr>
          <a:xfrm>
            <a:off x="75895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The demo as evaluation</a:t>
            </a:r>
            <a:endParaRPr lang="en-US" sz="1400" dirty="0"/>
          </a:p>
        </p:txBody>
      </p:sp>
      <p:sp>
        <p:nvSpPr>
          <p:cNvPr id="16" name="Text 14"/>
          <p:cNvSpPr txBox="1"/>
          <p:nvPr/>
        </p:nvSpPr>
        <p:spPr>
          <a:xfrm>
            <a:off x="75895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The authors running their own tool on examples they picked, presented as evidence that it helps anyone other than the authors.</a:t>
            </a:r>
            <a:endParaRPr lang="en-US" sz="1050" dirty="0"/>
          </a:p>
        </p:txBody>
      </p:sp>
      <p:sp>
        <p:nvSpPr>
          <p:cNvPr id="17" name="Shape 15"/>
          <p:cNvSpPr/>
          <p:nvPr/>
        </p:nvSpPr>
        <p:spPr>
          <a:xfrm>
            <a:off x="4343400" y="3895344"/>
            <a:ext cx="3502152" cy="1737360"/>
          </a:xfrm>
          <a:prstGeom prst="roundRect">
            <a:avLst>
              <a:gd name="adj" fmla="val 2632"/>
            </a:avLst>
          </a:prstGeom>
          <a:solidFill>
            <a:srgbClr val="FAF9FE"/>
          </a:solidFill>
          <a:ln w="12700">
            <a:solidFill>
              <a:srgbClr val="E6E2F5"/>
            </a:solidFill>
            <a:prstDash val="solid"/>
          </a:ln>
        </p:spPr>
      </p:sp>
      <p:sp>
        <p:nvSpPr>
          <p:cNvPr id="18" name="Text 16"/>
          <p:cNvSpPr txBox="1"/>
          <p:nvPr/>
        </p:nvSpPr>
        <p:spPr>
          <a:xfrm>
            <a:off x="459943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Students as industry</a:t>
            </a:r>
            <a:endParaRPr lang="en-US" sz="1400" dirty="0"/>
          </a:p>
        </p:txBody>
      </p:sp>
      <p:sp>
        <p:nvSpPr>
          <p:cNvPr id="19" name="Text 17"/>
          <p:cNvSpPr txBox="1"/>
          <p:nvPr/>
        </p:nvSpPr>
        <p:spPr>
          <a:xfrm>
            <a:off x="459943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 short laboratory study on undergraduates whose abstract states its conclusion about professional software developers.</a:t>
            </a:r>
            <a:endParaRPr lang="en-US" sz="1050" dirty="0"/>
          </a:p>
        </p:txBody>
      </p:sp>
      <p:sp>
        <p:nvSpPr>
          <p:cNvPr id="20" name="Shape 18"/>
          <p:cNvSpPr/>
          <p:nvPr/>
        </p:nvSpPr>
        <p:spPr>
          <a:xfrm>
            <a:off x="8183880" y="3895344"/>
            <a:ext cx="3502152" cy="1737360"/>
          </a:xfrm>
          <a:prstGeom prst="roundRect">
            <a:avLst>
              <a:gd name="adj" fmla="val 2632"/>
            </a:avLst>
          </a:prstGeom>
          <a:solidFill>
            <a:srgbClr val="FAF9FE"/>
          </a:solidFill>
          <a:ln w="12700">
            <a:solidFill>
              <a:srgbClr val="E6E2F5"/>
            </a:solidFill>
            <a:prstDash val="solid"/>
          </a:ln>
        </p:spPr>
      </p:sp>
      <p:sp>
        <p:nvSpPr>
          <p:cNvPr id="21" name="Text 19"/>
          <p:cNvSpPr txBox="1"/>
          <p:nvPr/>
        </p:nvSpPr>
        <p:spPr>
          <a:xfrm>
            <a:off x="8439912" y="4114800"/>
            <a:ext cx="2990088" cy="512064"/>
          </a:xfrm>
          <a:prstGeom prst="rect">
            <a:avLst/>
          </a:prstGeom>
          <a:noFill/>
          <a:ln/>
        </p:spPr>
        <p:txBody>
          <a:bodyPr wrap="square" lIns="0" tIns="0" rIns="0" bIns="0" rtlCol="0" anchor="t"/>
          <a:lstStyle/>
          <a:p>
            <a:pPr indent="0" marL="0">
              <a:lnSpc>
                <a:spcPct val="106000"/>
              </a:lnSpc>
              <a:buNone/>
            </a:pPr>
            <a:r>
              <a:rPr lang="en-US" sz="1400" b="1" dirty="0">
                <a:solidFill>
                  <a:srgbClr val="3D6EA6"/>
                </a:solidFill>
                <a:latin typeface="Cambria" pitchFamily="34" charset="0"/>
                <a:ea typeface="Cambria" pitchFamily="34" charset="-122"/>
                <a:cs typeface="Cambria" pitchFamily="34" charset="-120"/>
              </a:rPr>
              <a:t>Causal language on observational data</a:t>
            </a:r>
            <a:endParaRPr lang="en-US" sz="1400" dirty="0"/>
          </a:p>
        </p:txBody>
      </p:sp>
      <p:sp>
        <p:nvSpPr>
          <p:cNvPr id="22" name="Text 20"/>
          <p:cNvSpPr txBox="1"/>
          <p:nvPr/>
        </p:nvSpPr>
        <p:spPr>
          <a:xfrm>
            <a:off x="8439912" y="4663440"/>
            <a:ext cx="2990088" cy="822960"/>
          </a:xfrm>
          <a:prstGeom prst="rect">
            <a:avLst/>
          </a:prstGeom>
          <a:noFill/>
          <a:ln/>
        </p:spPr>
        <p:txBody>
          <a:bodyPr wrap="square" lIns="0" tIns="0" rIns="0" bIns="0" rtlCol="0" anchor="t"/>
          <a:lstStyle/>
          <a:p>
            <a:pPr indent="0" marL="0">
              <a:lnSpc>
                <a:spcPct val="118000"/>
              </a:lnSpc>
              <a:buNone/>
            </a:pPr>
            <a:r>
              <a:rPr lang="en-US" sz="1050" dirty="0">
                <a:solidFill>
                  <a:srgbClr val="5C5A66"/>
                </a:solidFill>
                <a:latin typeface="Calibri" pitchFamily="34" charset="0"/>
                <a:ea typeface="Calibri" pitchFamily="34" charset="-122"/>
                <a:cs typeface="Calibri" pitchFamily="34" charset="-120"/>
              </a:rPr>
              <a:t>“Adopting X reduces defects”, drawn from repository mining that could only ever have shown a correlation.</a:t>
            </a:r>
            <a:endParaRPr lang="en-US" sz="1050" dirty="0"/>
          </a:p>
        </p:txBody>
      </p:sp>
      <p:sp>
        <p:nvSpPr>
          <p:cNvPr id="23" name="Text 21"/>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4" name="Text 22"/>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22 / 26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A Checklist for Your Own Study</a:t>
            </a:r>
            <a:endParaRPr lang="en-US" sz="2800" dirty="0"/>
          </a:p>
        </p:txBody>
      </p:sp>
      <p:sp>
        <p:nvSpPr>
          <p:cNvPr id="4" name="Shape 2"/>
          <p:cNvSpPr/>
          <p:nvPr/>
        </p:nvSpPr>
        <p:spPr>
          <a:xfrm>
            <a:off x="502920" y="1426464"/>
            <a:ext cx="11183112" cy="694944"/>
          </a:xfrm>
          <a:prstGeom prst="roundRect">
            <a:avLst>
              <a:gd name="adj" fmla="val 5263"/>
            </a:avLst>
          </a:prstGeom>
          <a:solidFill>
            <a:srgbClr val="F3F1FC"/>
          </a:solidFill>
          <a:ln/>
        </p:spPr>
      </p:sp>
      <p:sp>
        <p:nvSpPr>
          <p:cNvPr id="5" name="Text 3"/>
          <p:cNvSpPr txBox="1"/>
          <p:nvPr/>
        </p:nvSpPr>
        <p:spPr>
          <a:xfrm>
            <a:off x="722376" y="142646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6" name="Text 4"/>
          <p:cNvSpPr txBox="1"/>
          <p:nvPr/>
        </p:nvSpPr>
        <p:spPr>
          <a:xfrm>
            <a:off x="1216152" y="142646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Name the tradition.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Is the object of study a problem, an artifact, or a practice? Every later methodological decision follows from that answer, so make it explicitly.</a:t>
            </a:r>
            <a:endParaRPr lang="en-US" sz="1250" dirty="0"/>
          </a:p>
        </p:txBody>
      </p:sp>
      <p:sp>
        <p:nvSpPr>
          <p:cNvPr id="7" name="Shape 5"/>
          <p:cNvSpPr/>
          <p:nvPr/>
        </p:nvSpPr>
        <p:spPr>
          <a:xfrm>
            <a:off x="502920" y="2194560"/>
            <a:ext cx="11183112" cy="694944"/>
          </a:xfrm>
          <a:prstGeom prst="roundRect">
            <a:avLst>
              <a:gd name="adj" fmla="val 5263"/>
            </a:avLst>
          </a:prstGeom>
          <a:solidFill>
            <a:srgbClr val="FFFFFF"/>
          </a:solidFill>
          <a:ln/>
        </p:spPr>
      </p:sp>
      <p:sp>
        <p:nvSpPr>
          <p:cNvPr id="8" name="Text 6"/>
          <p:cNvSpPr txBox="1"/>
          <p:nvPr/>
        </p:nvSpPr>
        <p:spPr>
          <a:xfrm>
            <a:off x="722376" y="2194560"/>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1216152" y="2194560"/>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State the model or the population.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An algorithmic paper's cost model and an SE paper's sampling frame occupy the same slot in the argument. Whichever you have, put it where a reader will find it.</a:t>
            </a:r>
            <a:endParaRPr lang="en-US" sz="1250" dirty="0"/>
          </a:p>
        </p:txBody>
      </p:sp>
      <p:sp>
        <p:nvSpPr>
          <p:cNvPr id="10" name="Shape 8"/>
          <p:cNvSpPr/>
          <p:nvPr/>
        </p:nvSpPr>
        <p:spPr>
          <a:xfrm>
            <a:off x="502920" y="2962656"/>
            <a:ext cx="11183112" cy="694944"/>
          </a:xfrm>
          <a:prstGeom prst="roundRect">
            <a:avLst>
              <a:gd name="adj" fmla="val 5263"/>
            </a:avLst>
          </a:prstGeom>
          <a:solidFill>
            <a:srgbClr val="F3F1FC"/>
          </a:solidFill>
          <a:ln/>
        </p:spPr>
      </p:sp>
      <p:sp>
        <p:nvSpPr>
          <p:cNvPr id="11" name="Text 9"/>
          <p:cNvSpPr txBox="1"/>
          <p:nvPr/>
        </p:nvSpPr>
        <p:spPr>
          <a:xfrm>
            <a:off x="722376" y="2962656"/>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1216152" y="2962656"/>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Analyse before you measure, and measure after you analyse.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 bound with no implementation and an implementation with no bound are each half a contribution. Say which half you are offering if you only have one.</a:t>
            </a:r>
            <a:endParaRPr lang="en-US" sz="1250" dirty="0"/>
          </a:p>
        </p:txBody>
      </p:sp>
      <p:sp>
        <p:nvSpPr>
          <p:cNvPr id="13" name="Shape 11"/>
          <p:cNvSpPr/>
          <p:nvPr/>
        </p:nvSpPr>
        <p:spPr>
          <a:xfrm>
            <a:off x="502920" y="3730752"/>
            <a:ext cx="11183112" cy="694944"/>
          </a:xfrm>
          <a:prstGeom prst="roundRect">
            <a:avLst>
              <a:gd name="adj" fmla="val 5263"/>
            </a:avLst>
          </a:prstGeom>
          <a:solidFill>
            <a:srgbClr val="FFFFFF"/>
          </a:solidFill>
          <a:ln/>
        </p:spPr>
      </p:sp>
      <p:sp>
        <p:nvSpPr>
          <p:cNvPr id="14" name="Text 12"/>
          <p:cNvSpPr txBox="1"/>
          <p:nvPr/>
        </p:nvSpPr>
        <p:spPr>
          <a:xfrm>
            <a:off x="722376" y="3730752"/>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5" name="Text 13"/>
          <p:cNvSpPr txBox="1"/>
          <p:nvPr/>
        </p:nvSpPr>
        <p:spPr>
          <a:xfrm>
            <a:off x="1216152" y="3730752"/>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Use instances and baselines you did not choose.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Accepted libraries, the tuned state of the art, and somebody else's data wherever it exists. Self-chosen everything is the fastest route to rejection.</a:t>
            </a:r>
            <a:endParaRPr lang="en-US" sz="1250" dirty="0"/>
          </a:p>
        </p:txBody>
      </p:sp>
      <p:sp>
        <p:nvSpPr>
          <p:cNvPr id="16" name="Shape 14"/>
          <p:cNvSpPr/>
          <p:nvPr/>
        </p:nvSpPr>
        <p:spPr>
          <a:xfrm>
            <a:off x="502920" y="4498848"/>
            <a:ext cx="11183112" cy="694944"/>
          </a:xfrm>
          <a:prstGeom prst="roundRect">
            <a:avLst>
              <a:gd name="adj" fmla="val 5263"/>
            </a:avLst>
          </a:prstGeom>
          <a:solidFill>
            <a:srgbClr val="F3F1FC"/>
          </a:solidFill>
          <a:ln/>
        </p:spPr>
      </p:sp>
      <p:sp>
        <p:nvSpPr>
          <p:cNvPr id="17" name="Text 15"/>
          <p:cNvSpPr txBox="1"/>
          <p:nvPr/>
        </p:nvSpPr>
        <p:spPr>
          <a:xfrm>
            <a:off x="722376" y="4498848"/>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18" name="Text 16"/>
          <p:cNvSpPr txBox="1"/>
          <p:nvPr/>
        </p:nvSpPr>
        <p:spPr>
          <a:xfrm>
            <a:off x="1216152" y="4498848"/>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Separate design problems from knowledge questions.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“How do we build X” and “is it true that Y” need different evidence and different chapters. Mixing them is the commonest structural fault in a thesis.</a:t>
            </a:r>
            <a:endParaRPr lang="en-US" sz="1250" dirty="0"/>
          </a:p>
        </p:txBody>
      </p:sp>
      <p:sp>
        <p:nvSpPr>
          <p:cNvPr id="19" name="Shape 17"/>
          <p:cNvSpPr/>
          <p:nvPr/>
        </p:nvSpPr>
        <p:spPr>
          <a:xfrm>
            <a:off x="502920" y="5266944"/>
            <a:ext cx="11183112" cy="694944"/>
          </a:xfrm>
          <a:prstGeom prst="roundRect">
            <a:avLst>
              <a:gd name="adj" fmla="val 5263"/>
            </a:avLst>
          </a:prstGeom>
          <a:solidFill>
            <a:srgbClr val="FFFFFF"/>
          </a:solidFill>
          <a:ln/>
        </p:spPr>
      </p:sp>
      <p:sp>
        <p:nvSpPr>
          <p:cNvPr id="20" name="Text 18"/>
          <p:cNvSpPr txBox="1"/>
          <p:nvPr/>
        </p:nvSpPr>
        <p:spPr>
          <a:xfrm>
            <a:off x="722376" y="5266944"/>
            <a:ext cx="365760" cy="694944"/>
          </a:xfrm>
          <a:prstGeom prst="rect">
            <a:avLst/>
          </a:prstGeom>
          <a:noFill/>
          <a:ln/>
        </p:spPr>
        <p:txBody>
          <a:bodyPr wrap="square" lIns="0" tIns="0" rIns="0" bIns="0" rtlCol="0" anchor="ctr"/>
          <a:lstStyle/>
          <a:p>
            <a:pPr algn="ctr" indent="0" marL="0">
              <a:buNone/>
            </a:pPr>
            <a:r>
              <a:rPr lang="en-US" sz="1500" b="1" dirty="0">
                <a:solidFill>
                  <a:srgbClr val="B08C3A"/>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1216152" y="5266944"/>
            <a:ext cx="10177272" cy="694944"/>
          </a:xfrm>
          <a:prstGeom prst="rect">
            <a:avLst/>
          </a:prstGeom>
          <a:noFill/>
          <a:ln/>
        </p:spPr>
        <p:txBody>
          <a:bodyPr wrap="square" lIns="0" tIns="0" rIns="0" bIns="0" rtlCol="0" anchor="ctr"/>
          <a:lstStyle/>
          <a:p>
            <a:pPr indent="0" marL="0">
              <a:lnSpc>
                <a:spcPct val="116000"/>
              </a:lnSpc>
              <a:buNone/>
            </a:pPr>
            <a:r>
              <a:rPr lang="en-US" sz="1250" b="1" dirty="0">
                <a:solidFill>
                  <a:srgbClr val="241A4C"/>
                </a:solidFill>
                <a:latin typeface="Cambria" pitchFamily="34" charset="0"/>
                <a:ea typeface="Cambria" pitchFamily="34" charset="-122"/>
                <a:cs typeface="Cambria" pitchFamily="34" charset="-120"/>
              </a:rPr>
              <a:t>Release the artifact, and claim only the badge it would earn.  </a:t>
            </a:r>
            <a:pPr indent="0" marL="0">
              <a:lnSpc>
                <a:spcPct val="116000"/>
              </a:lnSpc>
              <a:buNone/>
            </a:pPr>
            <a:r>
              <a:rPr lang="en-US" sz="1100" dirty="0">
                <a:solidFill>
                  <a:srgbClr val="5C5A66"/>
                </a:solidFill>
                <a:latin typeface="Calibri" pitchFamily="34" charset="0"/>
                <a:ea typeface="Calibri" pitchFamily="34" charset="-122"/>
                <a:cs typeface="Calibri" pitchFamily="34" charset="-120"/>
              </a:rPr>
              <a:t>Available, functional, reusable — or none. Claim only what a stranger with your repository could actually verify.</a:t>
            </a:r>
            <a:endParaRPr lang="en-US" sz="1250" dirty="0"/>
          </a:p>
        </p:txBody>
      </p:sp>
      <p:sp>
        <p:nvSpPr>
          <p:cNvPr id="22" name="Text 20"/>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3" name="Text 21"/>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23 / 26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PART 5 · PRACTICE</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Discussion</a:t>
            </a:r>
            <a:endParaRPr lang="en-US" sz="2800" dirty="0"/>
          </a:p>
        </p:txBody>
      </p:sp>
      <p:sp>
        <p:nvSpPr>
          <p:cNvPr id="4" name="Text 2"/>
          <p:cNvSpPr txBox="1"/>
          <p:nvPr/>
        </p:nvSpPr>
        <p:spPr>
          <a:xfrm>
            <a:off x="502920" y="1243584"/>
            <a:ext cx="11183112" cy="566928"/>
          </a:xfrm>
          <a:prstGeom prst="rect">
            <a:avLst/>
          </a:prstGeom>
          <a:noFill/>
          <a:ln/>
        </p:spPr>
        <p:txBody>
          <a:bodyPr wrap="square" lIns="0" tIns="0" rIns="0" bIns="0" rtlCol="0" anchor="t"/>
          <a:lstStyle/>
          <a:p>
            <a:pPr indent="0" marL="0">
              <a:lnSpc>
                <a:spcPct val="120000"/>
              </a:lnSpc>
              <a:buNone/>
            </a:pPr>
            <a:r>
              <a:rPr lang="en-US" sz="1250" i="1" dirty="0">
                <a:solidFill>
                  <a:srgbClr val="5C5A66"/>
                </a:solidFill>
                <a:latin typeface="Calibri" pitchFamily="34" charset="0"/>
                <a:ea typeface="Calibri" pitchFamily="34" charset="-122"/>
                <a:cs typeface="Calibri" pitchFamily="34" charset="-120"/>
              </a:rPr>
              <a:t>In pairs, ten minutes. Bring one answer back for class critique.</a:t>
            </a:r>
            <a:endParaRPr lang="en-US" sz="1250" dirty="0"/>
          </a:p>
        </p:txBody>
      </p:sp>
      <p:sp>
        <p:nvSpPr>
          <p:cNvPr id="5" name="Shape 3"/>
          <p:cNvSpPr/>
          <p:nvPr/>
        </p:nvSpPr>
        <p:spPr>
          <a:xfrm>
            <a:off x="594360" y="2029968"/>
            <a:ext cx="384048" cy="384048"/>
          </a:xfrm>
          <a:prstGeom prst="ellipse">
            <a:avLst/>
          </a:prstGeom>
          <a:solidFill>
            <a:srgbClr val="241A4C"/>
          </a:solidFill>
          <a:ln/>
        </p:spPr>
      </p:sp>
      <p:sp>
        <p:nvSpPr>
          <p:cNvPr id="6" name="Text 4"/>
          <p:cNvSpPr txBox="1"/>
          <p:nvPr/>
        </p:nvSpPr>
        <p:spPr>
          <a:xfrm>
            <a:off x="594360" y="2029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1252728" y="1975104"/>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Take your own project or thesis topic. Is its object of study a problem, an artifact, or a practice — and does the evaluation you have planned match that answer?</a:t>
            </a:r>
            <a:endParaRPr lang="en-US" sz="1300" dirty="0"/>
          </a:p>
        </p:txBody>
      </p:sp>
      <p:sp>
        <p:nvSpPr>
          <p:cNvPr id="8" name="Shape 6"/>
          <p:cNvSpPr/>
          <p:nvPr/>
        </p:nvSpPr>
        <p:spPr>
          <a:xfrm>
            <a:off x="594360" y="3072384"/>
            <a:ext cx="384048" cy="384048"/>
          </a:xfrm>
          <a:prstGeom prst="ellipse">
            <a:avLst/>
          </a:prstGeom>
          <a:solidFill>
            <a:srgbClr val="B08C3A"/>
          </a:solidFill>
          <a:ln/>
        </p:spPr>
      </p:sp>
      <p:sp>
        <p:nvSpPr>
          <p:cNvPr id="9" name="Text 7"/>
          <p:cNvSpPr txBox="1"/>
          <p:nvPr/>
        </p:nvSpPr>
        <p:spPr>
          <a:xfrm>
            <a:off x="594360" y="3072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0" name="Text 8"/>
          <p:cNvSpPr txBox="1"/>
          <p:nvPr/>
        </p:nvSpPr>
        <p:spPr>
          <a:xfrm>
            <a:off x="1252728" y="3017520"/>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Find an algorithms paper with an experimental section. Where did its instances come from, who tuned the baseline, and could you re-run any of it from what is written?</a:t>
            </a:r>
            <a:endParaRPr lang="en-US" sz="1300" dirty="0"/>
          </a:p>
        </p:txBody>
      </p:sp>
      <p:sp>
        <p:nvSpPr>
          <p:cNvPr id="11" name="Shape 9"/>
          <p:cNvSpPr/>
          <p:nvPr/>
        </p:nvSpPr>
        <p:spPr>
          <a:xfrm>
            <a:off x="594360" y="4114800"/>
            <a:ext cx="384048" cy="384048"/>
          </a:xfrm>
          <a:prstGeom prst="ellipse">
            <a:avLst/>
          </a:prstGeom>
          <a:solidFill>
            <a:srgbClr val="241A4C"/>
          </a:solidFill>
          <a:ln/>
        </p:spPr>
      </p:sp>
      <p:sp>
        <p:nvSpPr>
          <p:cNvPr id="12" name="Text 10"/>
          <p:cNvSpPr txBox="1"/>
          <p:nvPr/>
        </p:nvSpPr>
        <p:spPr>
          <a:xfrm>
            <a:off x="594360" y="4114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3" name="Text 11"/>
          <p:cNvSpPr txBox="1"/>
          <p:nvPr/>
        </p:nvSpPr>
        <p:spPr>
          <a:xfrm>
            <a:off x="1252728" y="4059936"/>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Find an SE paper with a human-subject study. What population do the participants stand for, and does the abstract respect that boundary or quietly cross it?</a:t>
            </a:r>
            <a:endParaRPr lang="en-US" sz="1300" dirty="0"/>
          </a:p>
        </p:txBody>
      </p:sp>
      <p:sp>
        <p:nvSpPr>
          <p:cNvPr id="14" name="Shape 12"/>
          <p:cNvSpPr/>
          <p:nvPr/>
        </p:nvSpPr>
        <p:spPr>
          <a:xfrm>
            <a:off x="594360" y="5157216"/>
            <a:ext cx="384048" cy="384048"/>
          </a:xfrm>
          <a:prstGeom prst="ellipse">
            <a:avLst/>
          </a:prstGeom>
          <a:solidFill>
            <a:srgbClr val="B08C3A"/>
          </a:solidFill>
          <a:ln/>
        </p:spPr>
      </p:sp>
      <p:sp>
        <p:nvSpPr>
          <p:cNvPr id="15" name="Text 13"/>
          <p:cNvSpPr txBox="1"/>
          <p:nvPr/>
        </p:nvSpPr>
        <p:spPr>
          <a:xfrm>
            <a:off x="594360" y="51572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6" name="Text 14"/>
          <p:cNvSpPr txBox="1"/>
          <p:nvPr/>
        </p:nvSpPr>
        <p:spPr>
          <a:xfrm>
            <a:off x="1252728" y="5102352"/>
            <a:ext cx="10241280" cy="822960"/>
          </a:xfrm>
          <a:prstGeom prst="rect">
            <a:avLst/>
          </a:prstGeom>
          <a:noFill/>
          <a:ln/>
        </p:spPr>
        <p:txBody>
          <a:bodyPr wrap="square" lIns="0" tIns="0" rIns="0" bIns="0" rtlCol="0" anchor="t"/>
          <a:lstStyle/>
          <a:p>
            <a:pPr indent="0" marL="0">
              <a:lnSpc>
                <a:spcPct val="124000"/>
              </a:lnSpc>
              <a:buNone/>
            </a:pPr>
            <a:r>
              <a:rPr lang="en-US" sz="1300" dirty="0">
                <a:solidFill>
                  <a:srgbClr val="5C5A66"/>
                </a:solidFill>
                <a:latin typeface="Calibri" pitchFamily="34" charset="0"/>
                <a:ea typeface="Calibri" pitchFamily="34" charset="-122"/>
                <a:cs typeface="Calibri" pitchFamily="34" charset="-120"/>
              </a:rPr>
              <a:t>Pick a widely repeated claim in your area that you have never seen replicated. Design the cheapest study that could overturn it — and say what result would.</a:t>
            </a:r>
            <a:endParaRPr lang="en-US" sz="130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24 / 26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02920" y="310896"/>
            <a:ext cx="11183112" cy="237744"/>
          </a:xfrm>
          <a:prstGeom prst="rect">
            <a:avLst/>
          </a:prstGeom>
          <a:noFill/>
          <a:ln/>
        </p:spPr>
        <p:txBody>
          <a:bodyPr wrap="square" lIns="0" tIns="0" rIns="0" bIns="0" rtlCol="0" anchor="ctr"/>
          <a:lstStyle/>
          <a:p>
            <a:pPr indent="0" marL="0">
              <a:buNone/>
            </a:pPr>
            <a:r>
              <a:rPr lang="en-US" sz="900" b="1" spc="170" kern="0" dirty="0">
                <a:solidFill>
                  <a:srgbClr val="B08C3A"/>
                </a:solidFill>
                <a:latin typeface="Calibri" pitchFamily="34" charset="0"/>
                <a:ea typeface="Calibri" pitchFamily="34" charset="-122"/>
                <a:cs typeface="Calibri" pitchFamily="34" charset="-120"/>
              </a:rPr>
              <a:t>RECAP</a:t>
            </a:r>
            <a:endParaRPr lang="en-US" sz="900" dirty="0"/>
          </a:p>
        </p:txBody>
      </p:sp>
      <p:sp>
        <p:nvSpPr>
          <p:cNvPr id="3" name="Text 1"/>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Key Takeaways</a:t>
            </a:r>
            <a:endParaRPr lang="en-US" sz="2800" dirty="0"/>
          </a:p>
        </p:txBody>
      </p:sp>
      <p:sp>
        <p:nvSpPr>
          <p:cNvPr id="4" name="Shape 2"/>
          <p:cNvSpPr/>
          <p:nvPr/>
        </p:nvSpPr>
        <p:spPr>
          <a:xfrm>
            <a:off x="594360" y="1517904"/>
            <a:ext cx="384048" cy="384048"/>
          </a:xfrm>
          <a:prstGeom prst="ellipse">
            <a:avLst/>
          </a:prstGeom>
          <a:solidFill>
            <a:srgbClr val="B08C3A"/>
          </a:solidFill>
          <a:ln/>
        </p:spPr>
      </p:sp>
      <p:sp>
        <p:nvSpPr>
          <p:cNvPr id="5" name="Text 3"/>
          <p:cNvSpPr txBox="1"/>
          <p:nvPr/>
        </p:nvSpPr>
        <p:spPr>
          <a:xfrm>
            <a:off x="594360" y="15179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252728" y="1463040"/>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Computing science research runs in two dominant traditions. The algorithmic studies a problem, and its risky premise is the cost model; the software-engineering studies a socio-technical practice, and its risky premise is the population.</a:t>
            </a:r>
            <a:endParaRPr lang="en-US" sz="1250" dirty="0"/>
          </a:p>
        </p:txBody>
      </p:sp>
      <p:sp>
        <p:nvSpPr>
          <p:cNvPr id="7" name="Shape 5"/>
          <p:cNvSpPr/>
          <p:nvPr/>
        </p:nvSpPr>
        <p:spPr>
          <a:xfrm>
            <a:off x="594360" y="2487168"/>
            <a:ext cx="384048" cy="384048"/>
          </a:xfrm>
          <a:prstGeom prst="ellipse">
            <a:avLst/>
          </a:prstGeom>
          <a:solidFill>
            <a:srgbClr val="241A4C"/>
          </a:solidFill>
          <a:ln/>
        </p:spPr>
      </p:sp>
      <p:sp>
        <p:nvSpPr>
          <p:cNvPr id="8" name="Text 6"/>
          <p:cNvSpPr txBox="1"/>
          <p:nvPr/>
        </p:nvSpPr>
        <p:spPr>
          <a:xfrm>
            <a:off x="594360"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9" name="Text 7"/>
          <p:cNvSpPr txBox="1"/>
          <p:nvPr/>
        </p:nvSpPr>
        <p:spPr>
          <a:xfrm>
            <a:off x="1252728" y="2432304"/>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The algorithmic pipeline runs formalise, design, analyse, implement, experiment — and algorithm engineering closes it into a loop, where measurement can refute the model itself and not merely the code.</a:t>
            </a:r>
            <a:endParaRPr lang="en-US" sz="1250" dirty="0"/>
          </a:p>
        </p:txBody>
      </p:sp>
      <p:sp>
        <p:nvSpPr>
          <p:cNvPr id="10" name="Shape 8"/>
          <p:cNvSpPr/>
          <p:nvPr/>
        </p:nvSpPr>
        <p:spPr>
          <a:xfrm>
            <a:off x="594360" y="3456432"/>
            <a:ext cx="384048" cy="384048"/>
          </a:xfrm>
          <a:prstGeom prst="ellipse">
            <a:avLst/>
          </a:prstGeom>
          <a:solidFill>
            <a:srgbClr val="B08C3A"/>
          </a:solidFill>
          <a:ln/>
        </p:spPr>
      </p:sp>
      <p:sp>
        <p:nvSpPr>
          <p:cNvPr id="11" name="Text 9"/>
          <p:cNvSpPr txBox="1"/>
          <p:nvPr/>
        </p:nvSpPr>
        <p:spPr>
          <a:xfrm>
            <a:off x="594360"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2" name="Text 10"/>
          <p:cNvSpPr txBox="1"/>
          <p:nvPr/>
        </p:nvSpPr>
        <p:spPr>
          <a:xfrm>
            <a:off x="1252728" y="3401568"/>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Once a problem is proved hard, four honest bargains remain: approximation, heuristics, parameterisation, and restricted inputs. Naming the one you struck is the first sentence of your contribution.</a:t>
            </a:r>
            <a:endParaRPr lang="en-US" sz="1250" dirty="0"/>
          </a:p>
        </p:txBody>
      </p:sp>
      <p:sp>
        <p:nvSpPr>
          <p:cNvPr id="13" name="Shape 11"/>
          <p:cNvSpPr/>
          <p:nvPr/>
        </p:nvSpPr>
        <p:spPr>
          <a:xfrm>
            <a:off x="594360" y="4425696"/>
            <a:ext cx="384048" cy="384048"/>
          </a:xfrm>
          <a:prstGeom prst="ellipse">
            <a:avLst/>
          </a:prstGeom>
          <a:solidFill>
            <a:srgbClr val="241A4C"/>
          </a:solidFill>
          <a:ln/>
        </p:spPr>
      </p:sp>
      <p:sp>
        <p:nvSpPr>
          <p:cNvPr id="14" name="Text 12"/>
          <p:cNvSpPr txBox="1"/>
          <p:nvPr/>
        </p:nvSpPr>
        <p:spPr>
          <a:xfrm>
            <a:off x="594360" y="44256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5" name="Text 13"/>
          <p:cNvSpPr txBox="1"/>
          <p:nvPr/>
        </p:nvSpPr>
        <p:spPr>
          <a:xfrm>
            <a:off x="1252728" y="4370832"/>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Empirical SE must trade control against realism and cannot have both; its methods differ mainly in which they sacrifice. Every software metric is a proxy, so construct validity is the standing threat.</a:t>
            </a:r>
            <a:endParaRPr lang="en-US" sz="1250" dirty="0"/>
          </a:p>
        </p:txBody>
      </p:sp>
      <p:sp>
        <p:nvSpPr>
          <p:cNvPr id="16" name="Shape 14"/>
          <p:cNvSpPr/>
          <p:nvPr/>
        </p:nvSpPr>
        <p:spPr>
          <a:xfrm>
            <a:off x="594360" y="5394960"/>
            <a:ext cx="384048" cy="384048"/>
          </a:xfrm>
          <a:prstGeom prst="ellipse">
            <a:avLst/>
          </a:prstGeom>
          <a:solidFill>
            <a:srgbClr val="B08C3A"/>
          </a:solidFill>
          <a:ln/>
        </p:spPr>
      </p:sp>
      <p:sp>
        <p:nvSpPr>
          <p:cNvPr id="17" name="Text 15"/>
          <p:cNvSpPr txBox="1"/>
          <p:nvPr/>
        </p:nvSpPr>
        <p:spPr>
          <a:xfrm>
            <a:off x="594360" y="5394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18" name="Text 16"/>
          <p:cNvSpPr txBox="1"/>
          <p:nvPr/>
        </p:nvSpPr>
        <p:spPr>
          <a:xfrm>
            <a:off x="1252728" y="5340096"/>
            <a:ext cx="10241280" cy="822960"/>
          </a:xfrm>
          <a:prstGeom prst="rect">
            <a:avLst/>
          </a:prstGeom>
          <a:noFill/>
          <a:ln/>
        </p:spPr>
        <p:txBody>
          <a:bodyPr wrap="square" lIns="0" tIns="0" rIns="0" bIns="0" rtlCol="0" anchor="t"/>
          <a:lstStyle/>
          <a:p>
            <a:pPr indent="0" marL="0">
              <a:lnSpc>
                <a:spcPct val="124000"/>
              </a:lnSpc>
              <a:buNone/>
            </a:pPr>
            <a:r>
              <a:rPr lang="en-US" sz="1250" dirty="0">
                <a:solidFill>
                  <a:srgbClr val="5C5A66"/>
                </a:solidFill>
                <a:latin typeface="Calibri" pitchFamily="34" charset="0"/>
                <a:ea typeface="Calibri" pitchFamily="34" charset="-122"/>
                <a:cs typeface="Calibri" pitchFamily="34" charset="-120"/>
              </a:rPr>
              <a:t>Shared instance libraries, tuned baselines, and artifact badging are what make either tradition's claims comparable across groups and years — and they are the cheapest thing you can do to make your own work checkable.</a:t>
            </a:r>
            <a:endParaRPr lang="en-US" sz="1250" dirty="0"/>
          </a:p>
        </p:txBody>
      </p:sp>
      <p:sp>
        <p:nvSpPr>
          <p:cNvPr id="19" name="Text 17"/>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20" name="Text 18"/>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25 / 26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621792"/>
            <a:ext cx="11183112" cy="566928"/>
          </a:xfrm>
          <a:prstGeom prst="rect">
            <a:avLst/>
          </a:prstGeom>
          <a:noFill/>
          <a:ln/>
        </p:spPr>
        <p:txBody>
          <a:bodyPr wrap="square" lIns="0" tIns="0" rIns="0" bIns="0" rtlCol="0" anchor="ctr"/>
          <a:lstStyle/>
          <a:p>
            <a:pPr indent="0" marL="0">
              <a:buNone/>
            </a:pPr>
            <a:r>
              <a:rPr lang="en-US" sz="2800" b="1" dirty="0">
                <a:solidFill>
                  <a:srgbClr val="241A4C"/>
                </a:solidFill>
                <a:latin typeface="Cambria" pitchFamily="34" charset="0"/>
                <a:ea typeface="Cambria" pitchFamily="34" charset="-122"/>
                <a:cs typeface="Cambria" pitchFamily="34" charset="-120"/>
              </a:rPr>
              <a:t>Further Reading</a:t>
            </a:r>
            <a:endParaRPr lang="en-US" sz="2800" dirty="0"/>
          </a:p>
        </p:txBody>
      </p:sp>
      <p:sp>
        <p:nvSpPr>
          <p:cNvPr id="3" name="Shape 1"/>
          <p:cNvSpPr/>
          <p:nvPr/>
        </p:nvSpPr>
        <p:spPr>
          <a:xfrm>
            <a:off x="502920" y="1426464"/>
            <a:ext cx="11183112" cy="502920"/>
          </a:xfrm>
          <a:prstGeom prst="rect">
            <a:avLst/>
          </a:prstGeom>
          <a:solidFill>
            <a:srgbClr val="F3F1FC"/>
          </a:solidFill>
          <a:ln/>
        </p:spPr>
      </p:sp>
      <p:sp>
        <p:nvSpPr>
          <p:cNvPr id="4" name="Text 2"/>
          <p:cNvSpPr txBox="1"/>
          <p:nvPr/>
        </p:nvSpPr>
        <p:spPr>
          <a:xfrm>
            <a:off x="758952" y="142646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Skiena, S. S.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Algorithm Design Manual. 3rd ed., Springer, 2020. — the course's listed reference for algorithmic method.</a:t>
            </a:r>
            <a:endParaRPr lang="en-US" sz="1150" dirty="0"/>
          </a:p>
        </p:txBody>
      </p:sp>
      <p:sp>
        <p:nvSpPr>
          <p:cNvPr id="5" name="Text 3"/>
          <p:cNvSpPr txBox="1"/>
          <p:nvPr/>
        </p:nvSpPr>
        <p:spPr>
          <a:xfrm>
            <a:off x="758952" y="194767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Sanders, P.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“Algorithm Engineering — An Attempt at a Definition.” Efficient Algorithms, LNCS 5760, Springer, 2009.</a:t>
            </a:r>
            <a:endParaRPr lang="en-US" sz="1150" dirty="0"/>
          </a:p>
        </p:txBody>
      </p:sp>
      <p:sp>
        <p:nvSpPr>
          <p:cNvPr id="6" name="Shape 4"/>
          <p:cNvSpPr/>
          <p:nvPr/>
        </p:nvSpPr>
        <p:spPr>
          <a:xfrm>
            <a:off x="502920" y="2468880"/>
            <a:ext cx="11183112" cy="502920"/>
          </a:xfrm>
          <a:prstGeom prst="rect">
            <a:avLst/>
          </a:prstGeom>
          <a:solidFill>
            <a:srgbClr val="F3F1FC"/>
          </a:solidFill>
          <a:ln/>
        </p:spPr>
      </p:sp>
      <p:sp>
        <p:nvSpPr>
          <p:cNvPr id="7" name="Text 5"/>
          <p:cNvSpPr txBox="1"/>
          <p:nvPr/>
        </p:nvSpPr>
        <p:spPr>
          <a:xfrm>
            <a:off x="758952" y="246888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McGeoch, C. C.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A Guide to Experimental Algorithmics. Cambridge University Press, 2012.</a:t>
            </a:r>
            <a:endParaRPr lang="en-US" sz="1150" dirty="0"/>
          </a:p>
        </p:txBody>
      </p:sp>
      <p:sp>
        <p:nvSpPr>
          <p:cNvPr id="8" name="Text 6"/>
          <p:cNvSpPr txBox="1"/>
          <p:nvPr/>
        </p:nvSpPr>
        <p:spPr>
          <a:xfrm>
            <a:off x="758952" y="299008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Williamson, D. P. &amp; Shmoys, D. B.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The Design of Approximation Algorithms. Cambridge University Press, 2011.</a:t>
            </a:r>
            <a:endParaRPr lang="en-US" sz="1150" dirty="0"/>
          </a:p>
        </p:txBody>
      </p:sp>
      <p:sp>
        <p:nvSpPr>
          <p:cNvPr id="9" name="Shape 7"/>
          <p:cNvSpPr/>
          <p:nvPr/>
        </p:nvSpPr>
        <p:spPr>
          <a:xfrm>
            <a:off x="502920" y="3511296"/>
            <a:ext cx="11183112" cy="502920"/>
          </a:xfrm>
          <a:prstGeom prst="rect">
            <a:avLst/>
          </a:prstGeom>
          <a:solidFill>
            <a:srgbClr val="F3F1FC"/>
          </a:solidFill>
          <a:ln/>
        </p:spPr>
      </p:sp>
      <p:sp>
        <p:nvSpPr>
          <p:cNvPr id="10" name="Text 8"/>
          <p:cNvSpPr txBox="1"/>
          <p:nvPr/>
        </p:nvSpPr>
        <p:spPr>
          <a:xfrm>
            <a:off x="758952" y="3511296"/>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Cygan, M. et al.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Parameterized Algorithms. Springer, 2015.</a:t>
            </a:r>
            <a:endParaRPr lang="en-US" sz="1150" dirty="0"/>
          </a:p>
        </p:txBody>
      </p:sp>
      <p:sp>
        <p:nvSpPr>
          <p:cNvPr id="11" name="Text 9"/>
          <p:cNvSpPr txBox="1"/>
          <p:nvPr/>
        </p:nvSpPr>
        <p:spPr>
          <a:xfrm>
            <a:off x="758952" y="4032504"/>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Wohlin, C. et al.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Experimentation in Software Engineering. Springer, 2012. — the standard reference for SE experiments.</a:t>
            </a:r>
            <a:endParaRPr lang="en-US" sz="1150" dirty="0"/>
          </a:p>
        </p:txBody>
      </p:sp>
      <p:sp>
        <p:nvSpPr>
          <p:cNvPr id="12" name="Shape 10"/>
          <p:cNvSpPr/>
          <p:nvPr/>
        </p:nvSpPr>
        <p:spPr>
          <a:xfrm>
            <a:off x="502920" y="4553712"/>
            <a:ext cx="11183112" cy="502920"/>
          </a:xfrm>
          <a:prstGeom prst="rect">
            <a:avLst/>
          </a:prstGeom>
          <a:solidFill>
            <a:srgbClr val="F3F1FC"/>
          </a:solidFill>
          <a:ln/>
        </p:spPr>
      </p:sp>
      <p:sp>
        <p:nvSpPr>
          <p:cNvPr id="13" name="Text 11"/>
          <p:cNvSpPr txBox="1"/>
          <p:nvPr/>
        </p:nvSpPr>
        <p:spPr>
          <a:xfrm>
            <a:off x="758952" y="4553712"/>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Runeson, P. &amp; Höst, M.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“Guidelines for Conducting and Reporting Case Study Research in Software Engineering.” Empirical Software Engineering, 2009.</a:t>
            </a:r>
            <a:endParaRPr lang="en-US" sz="1150" dirty="0"/>
          </a:p>
        </p:txBody>
      </p:sp>
      <p:sp>
        <p:nvSpPr>
          <p:cNvPr id="14" name="Text 12"/>
          <p:cNvSpPr txBox="1"/>
          <p:nvPr/>
        </p:nvSpPr>
        <p:spPr>
          <a:xfrm>
            <a:off x="758952" y="5074920"/>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Wieringa, R. J.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Design Science Methodology for Information Systems and Software Engineering. Springer, 2014.</a:t>
            </a:r>
            <a:endParaRPr lang="en-US" sz="1150" dirty="0"/>
          </a:p>
        </p:txBody>
      </p:sp>
      <p:sp>
        <p:nvSpPr>
          <p:cNvPr id="15" name="Shape 13"/>
          <p:cNvSpPr/>
          <p:nvPr/>
        </p:nvSpPr>
        <p:spPr>
          <a:xfrm>
            <a:off x="502920" y="5596128"/>
            <a:ext cx="11183112" cy="502920"/>
          </a:xfrm>
          <a:prstGeom prst="rect">
            <a:avLst/>
          </a:prstGeom>
          <a:solidFill>
            <a:srgbClr val="F3F1FC"/>
          </a:solidFill>
          <a:ln/>
        </p:spPr>
      </p:sp>
      <p:sp>
        <p:nvSpPr>
          <p:cNvPr id="16" name="Text 14"/>
          <p:cNvSpPr txBox="1"/>
          <p:nvPr/>
        </p:nvSpPr>
        <p:spPr>
          <a:xfrm>
            <a:off x="758952" y="5596128"/>
            <a:ext cx="10671048" cy="502920"/>
          </a:xfrm>
          <a:prstGeom prst="rect">
            <a:avLst/>
          </a:prstGeom>
          <a:noFill/>
          <a:ln/>
        </p:spPr>
        <p:txBody>
          <a:bodyPr wrap="square" lIns="0" tIns="0" rIns="0" bIns="0" rtlCol="0" anchor="ctr"/>
          <a:lstStyle/>
          <a:p>
            <a:pPr indent="0" marL="0">
              <a:lnSpc>
                <a:spcPct val="114000"/>
              </a:lnSpc>
              <a:buNone/>
            </a:pPr>
            <a:r>
              <a:rPr lang="en-US" sz="1150" b="1" dirty="0">
                <a:solidFill>
                  <a:srgbClr val="241A4C"/>
                </a:solidFill>
                <a:latin typeface="Cambria" pitchFamily="34" charset="0"/>
                <a:ea typeface="Cambria" pitchFamily="34" charset="-122"/>
                <a:cs typeface="Cambria" pitchFamily="34" charset="-120"/>
              </a:rPr>
              <a:t>Geisberger, R., Sanders, P., Schultes, D. &amp; Delling, D.  </a:t>
            </a:r>
            <a:pPr indent="0" marL="0">
              <a:lnSpc>
                <a:spcPct val="114000"/>
              </a:lnSpc>
              <a:buNone/>
            </a:pPr>
            <a:r>
              <a:rPr lang="en-US" sz="1100" dirty="0">
                <a:solidFill>
                  <a:srgbClr val="5C5A66"/>
                </a:solidFill>
                <a:latin typeface="Calibri" pitchFamily="34" charset="0"/>
                <a:ea typeface="Calibri" pitchFamily="34" charset="-122"/>
                <a:cs typeface="Calibri" pitchFamily="34" charset="-120"/>
              </a:rPr>
              <a:t>“Contraction Hierarchies: Faster and Simpler Hierarchical Routing in Road Networks.” WEA, LNCS 5038, 2008.</a:t>
            </a:r>
            <a:endParaRPr lang="en-US" sz="1150" dirty="0"/>
          </a:p>
        </p:txBody>
      </p:sp>
      <p:sp>
        <p:nvSpPr>
          <p:cNvPr id="17" name="Text 15"/>
          <p:cNvSpPr txBox="1"/>
          <p:nvPr/>
        </p:nvSpPr>
        <p:spPr>
          <a:xfrm>
            <a:off x="502920" y="6364224"/>
            <a:ext cx="5486400" cy="237744"/>
          </a:xfrm>
          <a:prstGeom prst="rect">
            <a:avLst/>
          </a:prstGeom>
          <a:noFill/>
          <a:ln/>
        </p:spPr>
        <p:txBody>
          <a:bodyPr wrap="square" lIns="0" tIns="0" rIns="0" bIns="0" rtlCol="0" anchor="ctr"/>
          <a:lstStyle/>
          <a:p>
            <a:pPr indent="0" marL="0">
              <a:buNone/>
            </a:pPr>
            <a:r>
              <a:rPr lang="en-US" sz="800" spc="140" kern="0" dirty="0">
                <a:solidFill>
                  <a:srgbClr val="8A8894"/>
                </a:solidFill>
                <a:latin typeface="Calibri" pitchFamily="34" charset="0"/>
                <a:ea typeface="Calibri" pitchFamily="34" charset="-122"/>
                <a:cs typeface="Calibri" pitchFamily="34" charset="-120"/>
              </a:rPr>
              <a:t>ALGORITHMIC &amp; SE APPROACHES</a:t>
            </a:r>
            <a:endParaRPr lang="en-US" sz="800" dirty="0"/>
          </a:p>
        </p:txBody>
      </p:sp>
      <p:sp>
        <p:nvSpPr>
          <p:cNvPr id="18" name="Text 16"/>
          <p:cNvSpPr txBox="1"/>
          <p:nvPr/>
        </p:nvSpPr>
        <p:spPr>
          <a:xfrm>
            <a:off x="9402775" y="6364224"/>
            <a:ext cx="2286000" cy="237744"/>
          </a:xfrm>
          <a:prstGeom prst="rect">
            <a:avLst/>
          </a:prstGeom>
          <a:noFill/>
          <a:ln/>
        </p:spPr>
        <p:txBody>
          <a:bodyPr wrap="square" lIns="0" tIns="0" rIns="0" bIns="0" rtlCol="0" anchor="ctr"/>
          <a:lstStyle/>
          <a:p>
            <a:pPr algn="r" indent="0" marL="0">
              <a:buNone/>
            </a:pPr>
            <a:r>
              <a:rPr lang="en-US" sz="800" dirty="0">
                <a:solidFill>
                  <a:srgbClr val="8A8894"/>
                </a:solidFill>
                <a:latin typeface="Calibri" pitchFamily="34" charset="0"/>
                <a:ea typeface="Calibri" pitchFamily="34" charset="-122"/>
                <a:cs typeface="Calibri" pitchFamily="34" charset="-120"/>
              </a:rPr>
              <a:t>26 / 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Algorithmic and Software Engineering Approaches</dc:title>
  <dc:subject>Unit II, Lecture 4 - Algorithmic and Software Engineering Approaches</dc:subject>
  <dc:creator>Research Methodology in CS</dc:creator>
  <cp:lastModifiedBy>Research Methodology in CS</cp:lastModifiedBy>
  <cp:revision>1</cp:revision>
  <dcterms:created xsi:type="dcterms:W3CDTF">2026-09-06T11:21:50Z</dcterms:created>
  <dcterms:modified xsi:type="dcterms:W3CDTF">2026-09-06T11:21:50Z</dcterms:modified>
</cp:coreProperties>
</file>