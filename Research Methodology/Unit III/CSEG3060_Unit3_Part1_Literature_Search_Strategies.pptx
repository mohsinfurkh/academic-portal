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354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III has four parts. Today is Part 1: how to find literature systematically. We will use one running example throughout: segmenting brain tumours in MRI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Priya is our running student. Her idea is vague, and her first instinct is to Google it. Everything today is about replacing that instinct with a method. The illustration is schematic, not a real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who has typed their topic into Google and scrolled through pages of results? That is what we are replacing. Five tools, in this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Primary: the original paper where a method or dataset was first proposed and tested. Secondary: surveys and reviews that summarise and compare many primary papers. A dataset paper like BraTS is also primary.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Priya, the Litjens survey tells her that U-Net-style encoder–decoders dominate, that BraTS is the standard benchmark, and that Dice score and Hausdorff distance are the usual metrics. Only then does she open U-Net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idea: run the query on IEEE Xplore adding one line at a time and write the result counts on the board. Point out that forgetting the UK spelling "tumour" silently drops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[tiab] in PubMed means title or abstract. MeSH is a big advantage for medical topics: "Brain Neoplasms" covers glioma, glioblastoma, meningioma and more without listing them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Medical image segmentation sits between computer science and medicine. IEEE Xplore alone misses clinical validation studies; PubMed alone misses most method papers. Priya needs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Backward chaining shows how the idea was born; forward chaining shows where it went next. From one seed, Priya found the 3D, attention-based, self-configuring and transformer branches of the family, ending at Swin UNETR, which was evaluated on brain tumour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chaining from a hugely cited paper is useless without filtering. The "Search within citing articles" checkbox is the single most useful trick in Google Scholar. Demonstrate it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counts are left blank on purpose: have students fill them in during the activity. PRISMA is the reporting guideline for systematic reviews; its flow diagram is built directly from a search log 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in pairs. Collect one search log per pair at the end; it becomes the input for the Part 2 activity on analysis and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ylised MRI slice of a brain with a tumour outlined in three layered region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3200" y="1206500"/>
            <a:ext cx="3556000" cy="444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RESEARCH METHODOLOGY IN COMPUTER SCIENCE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042319"/>
            <a:ext cx="68021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III · PART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2468959"/>
            <a:ext cx="6802120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Literature Search Strategies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12800" y="4140200"/>
            <a:ext cx="68021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find the right papers, fast, worked through one real example: problem: brain tumour segmentation in MRI.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Mohsin Furkh Dar · School of Computer Science, UPES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the end of this session, you can…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85851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2019201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38300" y="2074466"/>
            <a:ext cx="706169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sources, and know which to read first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2543671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2800" y="2677021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38300" y="2732286"/>
            <a:ext cx="723021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 query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finds relevant papers and filters out noise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800" y="3201491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2800" y="3334841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38300" y="3390106"/>
            <a:ext cx="5888698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right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databases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your topic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" y="3859312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2800" y="3992662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38300" y="4047927"/>
            <a:ext cx="7197718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backward and forward citation chaining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one strong paper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2800" y="4517132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2800" y="5174952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2800" y="4650482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38300" y="4705747"/>
            <a:ext cx="5805409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a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log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makes your review reproducible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 ‘X’ wants to “use AI to find brain tumours in MRI”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01"/>
            <a:ext cx="68021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Classification vs. segmentation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362101"/>
            <a:ext cx="68021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answers one question: </a:t>
            </a:r>
            <a:r>
              <a:rPr lang="en-US" sz="1500" i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there a tumour?</a:t>
            </a: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Segmentation goes further. It labels </a:t>
            </a:r>
            <a:r>
              <a:rPr lang="en-US" sz="15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pixel</a:t>
            </a: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tumour or healthy tissue, drawing the tumour’s exact boundary.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340001"/>
            <a:ext cx="68021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boundary matters clinically: measuring tumour volume, planning surgery and tracking response to treatment.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051201"/>
            <a:ext cx="68021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benchmark: the BraTS challenge (Menze et al., IEEE TMI 2015) provides MRI scans with expert-labelled tumour sub-regions.</a:t>
            </a:r>
            <a:endParaRPr lang="en-US" sz="1300" dirty="0"/>
          </a:p>
        </p:txBody>
      </p:sp>
      <p:pic>
        <p:nvPicPr>
          <p:cNvPr id="8" name="Image 0" descr="Axial MRI slice with a segmented tumour: whole tumour in yellow, tumour core in coral, enhancing rim outlin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3200" y="1879501"/>
            <a:ext cx="3556000" cy="2667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23200" y="4673501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4A0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Whole tumour (including oedema)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23200" y="5031581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960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Tumour core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23200" y="5389662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0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□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Enhancing tumour rim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PLAN FOR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search engine returns a flood of results. A search strategy returns the papers you need.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394398"/>
            <a:ext cx="1991320" cy="1650802"/>
          </a:xfrm>
          <a:prstGeom prst="roundRect">
            <a:avLst>
              <a:gd name="adj" fmla="val 6155"/>
            </a:avLst>
          </a:prstGeom>
          <a:solidFill>
            <a:srgbClr val="1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0600" y="4597598"/>
            <a:ext cx="16865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90600" y="5064919"/>
            <a:ext cx="16865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5384899"/>
            <a:ext cx="1686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vs. secondary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6520" y="4394398"/>
            <a:ext cx="1991420" cy="1650802"/>
          </a:xfrm>
          <a:prstGeom prst="roundRect">
            <a:avLst>
              <a:gd name="adj" fmla="val 6155"/>
            </a:avLst>
          </a:prstGeom>
          <a:solidFill>
            <a:srgbClr val="1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134320" y="4597598"/>
            <a:ext cx="16866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34320" y="5064919"/>
            <a:ext cx="16866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Boolean queries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34320" y="5384899"/>
            <a:ext cx="1686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 searches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0340" y="4394398"/>
            <a:ext cx="1991320" cy="1650802"/>
          </a:xfrm>
          <a:prstGeom prst="roundRect">
            <a:avLst>
              <a:gd name="adj" fmla="val 6155"/>
            </a:avLst>
          </a:prstGeom>
          <a:solidFill>
            <a:srgbClr val="1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78140" y="4597598"/>
            <a:ext cx="16865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78140" y="5064919"/>
            <a:ext cx="16865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78140" y="5384899"/>
            <a:ext cx="1686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to 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44060" y="4394398"/>
            <a:ext cx="1991420" cy="1650802"/>
          </a:xfrm>
          <a:prstGeom prst="roundRect">
            <a:avLst>
              <a:gd name="adj" fmla="val 6155"/>
            </a:avLst>
          </a:prstGeom>
          <a:solidFill>
            <a:srgbClr val="1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1860" y="4597598"/>
            <a:ext cx="16866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1860" y="5064919"/>
            <a:ext cx="168662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Citation chaining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21860" y="5628680"/>
            <a:ext cx="1686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find papers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87880" y="4394398"/>
            <a:ext cx="1991320" cy="1650802"/>
          </a:xfrm>
          <a:prstGeom prst="roundRect">
            <a:avLst>
              <a:gd name="adj" fmla="val 6155"/>
            </a:avLst>
          </a:prstGeom>
          <a:solidFill>
            <a:srgbClr val="1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565680" y="4597598"/>
            <a:ext cx="16865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65680" y="5064919"/>
            <a:ext cx="16865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Search log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65680" y="5384899"/>
            <a:ext cx="1686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it reproducible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 sources report. Secondary sources review.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692112"/>
              </p:ext>
            </p:extLst>
          </p:nvPr>
        </p:nvGraphicFramePr>
        <p:xfrm>
          <a:off x="812800" y="1879501"/>
          <a:ext cx="10566400" cy="2928143"/>
        </p:xfrm>
        <a:graphic>
          <a:graphicData uri="http://schemas.openxmlformats.org/drawingml/2006/table">
            <a:tbl>
              <a:tblPr/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9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Brain-segmentation example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gives 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06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Ronneberger et al., “U-Net”, MICCAI 2015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exact architecture, training setup and results, first-hand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9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 (dataset)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Menze et al., “The BraTS benchmark”, IEEE TMI 2015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the MRI scans were collected and labelled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06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Secondary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Litjens et al., survey of deep learning in medical image analysis, Medical Image Analysis 2017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map of methods, tasks, datasets and open problems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06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Secondary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Siddique et al., review of U-Net and its variants, IEEE Access 2021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U-Net evolved and which variant suits which task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map before the territory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4813300" cy="2379861"/>
          </a:xfrm>
          <a:prstGeom prst="roundRect">
            <a:avLst>
              <a:gd name="adj" fmla="val 400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9500" y="2146201"/>
            <a:ext cx="442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· SECONDARY FIRST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500" y="2461121"/>
            <a:ext cx="44213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one good survey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2867521"/>
            <a:ext cx="4421378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method families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datasets and metrics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problems named by experts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papers to read next</a:t>
            </a:r>
            <a:endParaRPr lang="en-US" sz="14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2000" y="2948781"/>
            <a:ext cx="508000" cy="25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59550" y="1885851"/>
            <a:ext cx="4813300" cy="2379861"/>
          </a:xfrm>
          <a:prstGeom prst="roundRect">
            <a:avLst>
              <a:gd name="adj" fmla="val 400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819900" y="2146201"/>
            <a:ext cx="442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· PRIMARY NEXT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19900" y="2461121"/>
            <a:ext cx="44213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deep on key papers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19900" y="2867521"/>
            <a:ext cx="4421378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architecture and loss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pre-processing, splits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and their conditions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surveys skip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2800" y="4576862"/>
            <a:ext cx="10566400" cy="604441"/>
          </a:xfrm>
          <a:prstGeom prst="roundRect">
            <a:avLst>
              <a:gd name="adj" fmla="val 8404"/>
            </a:avLst>
          </a:prstGeom>
          <a:solidFill>
            <a:srgbClr val="F7E1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38200" y="4576862"/>
            <a:ext cx="0" cy="604441"/>
          </a:xfrm>
          <a:prstGeom prst="line">
            <a:avLst/>
          </a:prstGeom>
          <a:noFill/>
          <a:ln w="50800">
            <a:solidFill>
              <a:srgbClr val="B545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092200" y="4754662"/>
            <a:ext cx="103601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mistake: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quoting U-Net’s results from a survey without reading U-Net itself. Cite what you have actually read.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BOOLEAN QUERIES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operators do most of the work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3075387"/>
        </p:xfrm>
        <a:graphic>
          <a:graphicData uri="http://schemas.openxmlformats.org/drawingml/2006/table">
            <a:tbl>
              <a:tblPr/>
              <a:tblGrid>
                <a:gridCol w="1479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Operator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does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Example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Both terms must appear: narrows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segmentation AND MRI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Either term (synonyms): broadens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glioma OR "brain tumor"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Removes a term: use sparingly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"computed tomography"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 "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Exact phrase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"deep learning"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Truncation: any word ending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segment* → segmentation, segmented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 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Groups terms, like brackets in maths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(U-Net OR transformer) AND MRI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272385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of thumb:</a:t>
            </a:r>
            <a:r>
              <a:rPr lang="en-US" sz="16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r>
              <a:rPr lang="en-US" sz="16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inside a concept, </a:t>
            </a:r>
            <a:r>
              <a:rPr lang="en-US" sz="160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6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concepts.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BOOLEAN QUERIES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 contains one concept per 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64221"/>
            <a:ext cx="5969000" cy="459680"/>
          </a:xfrm>
          <a:prstGeom prst="roundRect">
            <a:avLst>
              <a:gd name="adj" fmla="val 13814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5200" y="1978521"/>
            <a:ext cx="58341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("brain tumor" OR "brain tumour" OR glioma)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5000" y="1854101"/>
            <a:ext cx="452602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problem.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 and UK spellings, plus the clinical term.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445841"/>
            <a:ext cx="5969000" cy="459680"/>
          </a:xfrm>
          <a:prstGeom prst="roundRect">
            <a:avLst>
              <a:gd name="adj" fmla="val 13814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5200" y="2560141"/>
            <a:ext cx="58341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segment*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5000" y="2435721"/>
            <a:ext cx="452602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task.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Matches segmentation, segmenting, segmented.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017341"/>
            <a:ext cx="5969000" cy="459680"/>
          </a:xfrm>
          <a:prstGeom prst="roundRect">
            <a:avLst>
              <a:gd name="adj" fmla="val 13814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5200" y="3131641"/>
            <a:ext cx="58341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(MRI OR "magnetic resonance")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5000" y="3127177"/>
            <a:ext cx="45260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modality.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Abbreviation and full form.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578622"/>
            <a:ext cx="5969000" cy="459680"/>
          </a:xfrm>
          <a:prstGeom prst="roundRect">
            <a:avLst>
              <a:gd name="adj" fmla="val 13814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5200" y="3692922"/>
            <a:ext cx="58341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("deep learning" OR CNN OR U-Net OR transformer)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85000" y="3688457"/>
            <a:ext cx="45260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method family.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139902"/>
            <a:ext cx="5969000" cy="459680"/>
          </a:xfrm>
          <a:prstGeom prst="roundRect">
            <a:avLst>
              <a:gd name="adj" fmla="val 13814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5200" y="4254202"/>
            <a:ext cx="58341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("computed tomography" OR CT)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85000" y="4249738"/>
            <a:ext cx="45260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scope.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 that no good papers were lost.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87898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Tip:</a:t>
            </a:r>
            <a:r>
              <a:rPr lang="en-US" sz="14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one line at a time and watch the result count. Each AND should shrink it; each OR should grow 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BOOLEAN QUERIES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idea, different syntax in each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373934" cy="2559447"/>
          </a:xfrm>
          <a:prstGeom prst="roundRect">
            <a:avLst>
              <a:gd name="adj" fmla="val 372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4100" y="2120801"/>
            <a:ext cx="29911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IEEE Xplore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4100" y="2552601"/>
            <a:ext cx="2991155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Search accepts AND, OR, NOT, quotes and *. You can restrict each term to the title or abstract.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4100" y="3524548"/>
            <a:ext cx="2904034" cy="685800"/>
          </a:xfrm>
          <a:prstGeom prst="roundRect">
            <a:avLst>
              <a:gd name="adj" fmla="val 9259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93800" y="3638848"/>
            <a:ext cx="270337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("Abstract":glioma) AND ("Abstract":segment*)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8984" y="1885851"/>
            <a:ext cx="3374033" cy="2559447"/>
          </a:xfrm>
          <a:prstGeom prst="roundRect">
            <a:avLst>
              <a:gd name="adj" fmla="val 372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43934" y="2120801"/>
            <a:ext cx="29912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PubMed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43934" y="2552601"/>
            <a:ext cx="2991257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MeSH, PubMed’s controlled vocabulary, so every synonym for a disease is caught automatically.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3934" y="3524548"/>
            <a:ext cx="2904133" cy="685800"/>
          </a:xfrm>
          <a:prstGeom prst="roundRect">
            <a:avLst>
              <a:gd name="adj" fmla="val 9259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83634" y="3638848"/>
            <a:ext cx="270347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"Brain Neoplasms"[MeSH] AND segmentation[tiab]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8916" y="1885851"/>
            <a:ext cx="3373934" cy="2559447"/>
          </a:xfrm>
          <a:prstGeom prst="roundRect">
            <a:avLst>
              <a:gd name="adj" fmla="val 372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33866" y="2120801"/>
            <a:ext cx="29911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Scholar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33866" y="2552601"/>
            <a:ext cx="2991155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Brackets and NOT are unreliable. Exclude terms with a minus sign; use allintitle: to search titles only.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33866" y="3524548"/>
            <a:ext cx="2904034" cy="685800"/>
          </a:xfrm>
          <a:prstGeom prst="roundRect">
            <a:avLst>
              <a:gd name="adj" fmla="val 9259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73566" y="3638848"/>
            <a:ext cx="270337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AE4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glioma segmentation MRI -"computed tomography"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DATABASES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to search for computing research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3013570"/>
        </p:xfrm>
        <a:graphic>
          <a:graphicData uri="http://schemas.openxmlformats.org/drawingml/2006/table">
            <a:tbl>
              <a:tblPr/>
              <a:tblGrid>
                <a:gridCol w="2747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Database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for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out for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Xplore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TMI, ISBI, engineering venues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Paywalled: use UPES library access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ACM Digital Library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Computing venues, systems papers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Fewer medical-imaging papers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PubMed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Clinical and biomedical literature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 on CS conferences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Scholar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Widest coverage, “Cited by” links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Mixes in low-quality venues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arXiv (cs.CV, eess.IV)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Newest work, before publication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peer-reviewed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Scopus / Web of Science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Curated indexing, citation metrics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Subscription needed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21057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an interdisciplinary topic,</a:t>
            </a: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search at least one computing database </a:t>
            </a:r>
            <a:r>
              <a:rPr lang="en-US" sz="1500" i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biomedical database.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DATABASES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 where the field publishes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373934" cy="2478683"/>
          </a:xfrm>
          <a:prstGeom prst="roundRect">
            <a:avLst>
              <a:gd name="adj" fmla="val 3843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054100" y="2120801"/>
            <a:ext cx="29911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4100" y="2448421"/>
            <a:ext cx="29911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MICCAI · ISBI · MIDL · CVPR · </a:t>
            </a:r>
            <a:r>
              <a:rPr lang="en-US" sz="2000" b="1" dirty="0" err="1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NeurIPS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4100" y="2867521"/>
            <a:ext cx="2991155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most new methods first appear. MICCAI is the flagship; U-Net was published there.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8984" y="1885851"/>
            <a:ext cx="3374033" cy="2478683"/>
          </a:xfrm>
          <a:prstGeom prst="roundRect">
            <a:avLst>
              <a:gd name="adj" fmla="val 3843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43934" y="2120801"/>
            <a:ext cx="2991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3934" y="2448421"/>
            <a:ext cx="299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IEEE TMI · Medical Image Analysis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43934" y="3172321"/>
            <a:ext cx="2991257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Extended, carefully reviewed versions of methods and benchmarks.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8916" y="1885851"/>
            <a:ext cx="3373934" cy="2478683"/>
          </a:xfrm>
          <a:prstGeom prst="roundRect">
            <a:avLst>
              <a:gd name="adj" fmla="val 3843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33866" y="2120801"/>
            <a:ext cx="29911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HIGH-IMPACT SCIENCE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33866" y="2448421"/>
            <a:ext cx="29911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Nature Methods · Nature Comms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33866" y="3172321"/>
            <a:ext cx="2991155" cy="98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Field-changing tools: nnU-Net (Nature Methods, 2021) and MedSAM (Nature Communications, 2024).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675684"/>
            <a:ext cx="10566400" cy="673100"/>
          </a:xfrm>
          <a:prstGeom prst="roundRect">
            <a:avLst>
              <a:gd name="adj" fmla="val 15094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66800" y="4878884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</a:t>
            </a:r>
            <a:r>
              <a:rPr lang="en-US" sz="15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peer-reviewed paper outranks a preprint. Found it on arXiv? Check for a published version and cite that.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· CITATION CHAINING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strong paper leads you to many more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59521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◀ BACKWARD · ITS REFERENCES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9150" y="2680791"/>
            <a:ext cx="2971800" cy="965002"/>
          </a:xfrm>
          <a:prstGeom prst="roundRect">
            <a:avLst>
              <a:gd name="adj" fmla="val 7238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77900" y="2814141"/>
            <a:ext cx="27339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Cireşan et al., NIPS 2012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7900" y="3101082"/>
            <a:ext cx="273392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networks label microscopy images pixel by pixel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9150" y="3760093"/>
            <a:ext cx="2971800" cy="965002"/>
          </a:xfrm>
          <a:prstGeom prst="roundRect">
            <a:avLst>
              <a:gd name="adj" fmla="val 7238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77900" y="3893443"/>
            <a:ext cx="27339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et al., CVPR 2015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7900" y="4180384"/>
            <a:ext cx="273392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convolutional networks: whole image in, label map out</a:t>
            </a:r>
            <a:endParaRPr lang="en-US" sz="1200" dirty="0"/>
          </a:p>
        </p:txBody>
      </p:sp>
      <p:pic>
        <p:nvPicPr>
          <p:cNvPr id="11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49700" y="3431183"/>
            <a:ext cx="457200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59300" y="2331541"/>
            <a:ext cx="2667000" cy="2427883"/>
          </a:xfrm>
          <a:prstGeom prst="roundRect">
            <a:avLst>
              <a:gd name="adj" fmla="val 4185"/>
            </a:avLst>
          </a:prstGeom>
          <a:solidFill>
            <a:srgbClr val="B545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87900" y="256014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BE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PAPER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87900" y="2849662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U-Net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787900" y="3352502"/>
            <a:ext cx="227609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FF8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Ronneberger et al., MICCAI 2015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87900" y="3890863"/>
            <a:ext cx="227609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BE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Encoder–decoder with skip connections; trains well on few images</a:t>
            </a:r>
            <a:endParaRPr lang="en-US" sz="1200" dirty="0"/>
          </a:p>
        </p:txBody>
      </p:sp>
      <p:pic>
        <p:nvPicPr>
          <p:cNvPr id="17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78700" y="3431183"/>
            <a:ext cx="4572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88300" y="1854101"/>
            <a:ext cx="34926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· “CITED BY” ▶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994650" y="2149971"/>
            <a:ext cx="3378200" cy="703461"/>
          </a:xfrm>
          <a:prstGeom prst="roundRect">
            <a:avLst>
              <a:gd name="adj" fmla="val 9929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140700" y="2257921"/>
            <a:ext cx="31786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U-Net (2016)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140700" y="2532162"/>
            <a:ext cx="3178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Çiçek et al. · full 3D volumes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994650" y="2942332"/>
            <a:ext cx="3378200" cy="703461"/>
          </a:xfrm>
          <a:prstGeom prst="roundRect">
            <a:avLst>
              <a:gd name="adj" fmla="val 9929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140700" y="3050282"/>
            <a:ext cx="31786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U-Net (2018)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140700" y="3324523"/>
            <a:ext cx="3178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Oktay et al. · focuses on key regions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994650" y="3734693"/>
            <a:ext cx="3378200" cy="703461"/>
          </a:xfrm>
          <a:prstGeom prst="roundRect">
            <a:avLst>
              <a:gd name="adj" fmla="val 9929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8140700" y="3842643"/>
            <a:ext cx="31786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nnU-Net (2021)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140700" y="4116884"/>
            <a:ext cx="3178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Isensee et al. · self-configuring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7994650" y="4527054"/>
            <a:ext cx="3378200" cy="703461"/>
          </a:xfrm>
          <a:prstGeom prst="roundRect">
            <a:avLst>
              <a:gd name="adj" fmla="val 9929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8140700" y="4635004"/>
            <a:ext cx="31786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Swin UNETR (2022)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8140700" y="4909245"/>
            <a:ext cx="3178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Hatamizadeh et al. · brain tumours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· CITATION CHAINING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Taming a paper with thousands of citations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3407767" cy="1975148"/>
          </a:xfrm>
          <a:prstGeom prst="roundRect">
            <a:avLst>
              <a:gd name="adj" fmla="val 482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700" y="2070001"/>
            <a:ext cx="30783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28700" y="2572841"/>
            <a:ext cx="30783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the seed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8700" y="2908102"/>
            <a:ext cx="3078327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Google Scholar, find U-Net and click </a:t>
            </a: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by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2017" y="1860451"/>
            <a:ext cx="3407866" cy="1975148"/>
          </a:xfrm>
          <a:prstGeom prst="roundRect">
            <a:avLst>
              <a:gd name="adj" fmla="val 482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01567" y="2070001"/>
            <a:ext cx="307842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01567" y="2572841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Search within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1567" y="2908102"/>
            <a:ext cx="3078429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 </a:t>
            </a: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“Search within citing articles”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 the search box.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64984" y="1860451"/>
            <a:ext cx="3407866" cy="1975148"/>
          </a:xfrm>
          <a:prstGeom prst="roundRect">
            <a:avLst>
              <a:gd name="adj" fmla="val 4822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74534" y="2070001"/>
            <a:ext cx="307842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74534" y="2572841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Narrow 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74534" y="2908102"/>
            <a:ext cx="3078429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</a:t>
            </a: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glioma OR BraTS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You now see only papers that build on U-Net </a:t>
            </a:r>
            <a:r>
              <a:rPr lang="en-US" sz="1300" i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study brain tumours.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121348"/>
            <a:ext cx="5207000" cy="1141512"/>
          </a:xfrm>
          <a:prstGeom prst="roundRect">
            <a:avLst>
              <a:gd name="adj" fmla="val 8900"/>
            </a:avLst>
          </a:prstGeom>
          <a:solidFill>
            <a:srgbClr val="E2EE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16000" y="4299148"/>
            <a:ext cx="49446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 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4606429"/>
            <a:ext cx="4944618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Scholar and Connected Papers draw citation networks, so clusters of related work stand out.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121348"/>
            <a:ext cx="5207000" cy="1141512"/>
          </a:xfrm>
          <a:prstGeom prst="roundRect">
            <a:avLst>
              <a:gd name="adj" fmla="val 8900"/>
            </a:avLst>
          </a:prstGeom>
          <a:solidFill>
            <a:srgbClr val="E2EE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75400" y="4299148"/>
            <a:ext cx="49446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to stop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5400" y="4606429"/>
            <a:ext cx="4944618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saturation: when new searches keep returning papers you already have.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· SEARCH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 every search so others can repeat it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2063750"/>
        </p:xfrm>
        <a:graphic>
          <a:graphicData uri="http://schemas.openxmlformats.org/drawingml/2006/table">
            <a:tbl>
              <a:tblPr/>
              <a:tblGrid>
                <a:gridCol w="105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4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Database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Query or method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Kept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[date]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Xplore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Query v2, title + abstract, 2019–2026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Journals and conferences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[date]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PubMed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MeSH query, English only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Clinical validation studies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[date]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Scholar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Cited by U-Net + “glioma OR BraTS”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 Swin UNETR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[date]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arXiv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cs.CV and eess.IV, last 12 months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published versions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9150" y="4267101"/>
            <a:ext cx="3407767" cy="779661"/>
          </a:xfrm>
          <a:prstGeom prst="roundRect">
            <a:avLst>
              <a:gd name="adj" fmla="val 8959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03300" y="4425851"/>
            <a:ext cx="313065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Transparent: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your supervisor can check your coverage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92017" y="4267101"/>
            <a:ext cx="3407866" cy="779661"/>
          </a:xfrm>
          <a:prstGeom prst="roundRect">
            <a:avLst>
              <a:gd name="adj" fmla="val 8959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6167" y="4425851"/>
            <a:ext cx="31307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Repeatable: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rerun the same search months later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64984" y="4267101"/>
            <a:ext cx="3407866" cy="779661"/>
          </a:xfrm>
          <a:prstGeom prst="roundRect">
            <a:avLst>
              <a:gd name="adj" fmla="val 8959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149134" y="4425851"/>
            <a:ext cx="31307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Required: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systematic reviews report it (PRISMA)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E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Search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722959"/>
            <a:ext cx="1747441" cy="1650802"/>
          </a:xfrm>
          <a:prstGeom prst="roundRect">
            <a:avLst>
              <a:gd name="adj" fmla="val 615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5200" y="2900759"/>
            <a:ext cx="149344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5200" y="3462040"/>
            <a:ext cx="149344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Survey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3769320"/>
            <a:ext cx="14934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 gives the map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1841" y="3472160"/>
            <a:ext cx="2540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7441" y="2722959"/>
            <a:ext cx="1747540" cy="1650802"/>
          </a:xfrm>
          <a:prstGeom prst="roundRect">
            <a:avLst>
              <a:gd name="adj" fmla="val 615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169841" y="2900759"/>
            <a:ext cx="149354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169841" y="3462040"/>
            <a:ext cx="14935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Boolean query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69841" y="3769320"/>
            <a:ext cx="1493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concept per line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66580" y="3472160"/>
            <a:ext cx="2540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22180" y="2722959"/>
            <a:ext cx="1747540" cy="1650802"/>
          </a:xfrm>
          <a:prstGeom prst="roundRect">
            <a:avLst>
              <a:gd name="adj" fmla="val 615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374580" y="2900759"/>
            <a:ext cx="149354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5374580" y="3462040"/>
            <a:ext cx="14935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worlds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74580" y="3769320"/>
            <a:ext cx="1493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Xplore + PubMed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1320" y="3472160"/>
            <a:ext cx="2540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26920" y="2722959"/>
            <a:ext cx="1747540" cy="1650802"/>
          </a:xfrm>
          <a:prstGeom prst="roundRect">
            <a:avLst>
              <a:gd name="adj" fmla="val 615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7579320" y="2900759"/>
            <a:ext cx="149354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7579320" y="3462040"/>
            <a:ext cx="14935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Chain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579320" y="3769320"/>
            <a:ext cx="1493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and forward from U-Net</a:t>
            </a:r>
            <a:endParaRPr lang="en-US" sz="120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6060" y="3472160"/>
            <a:ext cx="254000" cy="152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31660" y="2722959"/>
            <a:ext cx="1747540" cy="1650802"/>
          </a:xfrm>
          <a:prstGeom prst="roundRect">
            <a:avLst>
              <a:gd name="adj" fmla="val 615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9784060" y="2900759"/>
            <a:ext cx="149354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9784060" y="3462040"/>
            <a:ext cx="14935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784060" y="3769320"/>
            <a:ext cx="1493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search, every count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12800" y="55220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 a focused, defensible reading list, ready for </a:t>
            </a:r>
            <a:r>
              <a:rPr lang="en-US" sz="18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2: analysis and synthesis</a:t>
            </a:r>
            <a:r>
              <a:rPr lang="en-US" sz="18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1 — Literature Search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4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BE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· 20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turn: Based on your selected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01"/>
            <a:ext cx="3937000" cy="2331541"/>
          </a:xfrm>
          <a:prstGeom prst="roundRect">
            <a:avLst>
              <a:gd name="adj" fmla="val 4358"/>
            </a:avLst>
          </a:prstGeom>
          <a:solidFill>
            <a:srgbClr val="FF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2133501"/>
            <a:ext cx="353187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one topic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534741"/>
            <a:ext cx="3531870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Polyp segmentation in colonoscopy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Retinal vessel segmentation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 lesion segmentation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Lung segmentation in chest X-rays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53000" y="1879501"/>
            <a:ext cx="6426200" cy="2331541"/>
          </a:xfrm>
          <a:prstGeom prst="roundRect">
            <a:avLst>
              <a:gd name="adj" fmla="val 4358"/>
            </a:avLst>
          </a:prstGeom>
          <a:solidFill>
            <a:srgbClr val="FF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07000" y="2133501"/>
            <a:ext cx="60957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Then do this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07000" y="2534741"/>
            <a:ext cx="6095746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one survey paper on your topic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Boolean query with an OR group and a NOT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it on IEEE Xplore and PubMed; compare the top 10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 one seed paper: 2 backward, 2 forward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every search in a log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habits of a good literature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901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25362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0500" y="2568277"/>
            <a:ext cx="5838418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 survey first, then the primary papers it points to.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30378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2800" y="31839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0500" y="3215977"/>
            <a:ext cx="6692975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joins synonyms, AND joins concepts, NOT is used sparingly.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800" y="36855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2800" y="38316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0500" y="3863677"/>
            <a:ext cx="7811299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medical imaging, search one computing and one biomedical database.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" y="43332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12800" y="49809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2800" y="44793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0500" y="4511377"/>
            <a:ext cx="7201704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 backward and forward from a strong seed paper, and log it all.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· Part 2: Literature analysis and synthesis, turning these papers into a research gap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2175</Words>
  <Application>Microsoft Office PowerPoint</Application>
  <PresentationFormat>Widescreen</PresentationFormat>
  <Paragraphs>313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Inter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III · Part 1: Literature Search Strategies</dc:title>
  <dc:subject>PptxGenJS Presentation</dc:subject>
  <dc:creator>PptxGenJS</dc:creator>
  <cp:lastModifiedBy>Mohsin Faurkh</cp:lastModifiedBy>
  <cp:revision>2</cp:revision>
  <dcterms:created xsi:type="dcterms:W3CDTF">2026-09-22T18:06:53Z</dcterms:created>
  <dcterms:modified xsi:type="dcterms:W3CDTF">2026-09-22T18:26:15Z</dcterms:modified>
</cp:coreProperties>
</file>