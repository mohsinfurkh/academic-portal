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442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Part 1, Priya built a reading list on brain tumour segmentation. Today she turns that list into understanding, and understanding into a research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weak literature reviews are all analysis and no synthesis: a list of paper summaries. Examiners want the wall, not a pile of bricks.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Priya: U-Net, nnU-Net and Swin UNETR deserve a third pass because her work will build on them. Most papers from her search log only need pass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simple arithmetic, not a real dataset figure. Ask students to compute Dice for the all-background prediction: A is empty, so the numerator is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this in a spreadsheet, not in your head. Add columns you need: metrics reported, code available, MRI sequences used. The "Limit for Priya" column is judged against her goal, not a criticism of the paper in general.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critical reading produces: not "the paper is wrong", but "the paper's conditions differ from mine". Every row here is a potential research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both paragraphs aloud. Ask students to underline the linking words in the synthesis: since, and, however. Those words carry the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good thesis chapter often mixes them: a short chronological background, a thematic core, and a methodological comparison just before the proposed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"many / few" tags describe Priya's reading list in this worked example, not a measured count of the whole field. Students should derive these tags from their own search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Columns are concepts, rows are papers. Where a column is nearly empty, or where no row ticks a particular combination, you have a candidate gap. A real review would contain many more rows; this is a teaching subset.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Priya's versions are hypotheses from her reading list. Before claiming any gap in writing, she must search specifically for papers that might already fill it; a gap is only real if a targeted search confirms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the gap statement came out of the literature, not out of nowhere. Every clause can be traced back to a slide today: the benchmark-vs-clinic table, the concept matrix and the gap types. This is also the bridge to writing SMART objectives from Unit 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Pairs keep the same topic as in the Part 1 activity (polyp, retinal vessel, skin lesion or lung segmentation). Collect the gap statements; they feed the ethics discussion in Part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uzzle of paper cards assembling into a wall, with one missing piece highlighted as the research gap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23200" y="1206500"/>
            <a:ext cx="3556000" cy="4445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86D3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CSEG3060 · RESEARCH METHODOLOGY IN COMPUTER SCIENCE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2042319"/>
            <a:ext cx="680212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F2A3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III · PART 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12800" y="2468959"/>
            <a:ext cx="6802120" cy="151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5600" b="1" dirty="0">
                <a:solidFill>
                  <a:srgbClr val="F3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Literature Analysis &amp; Synthesis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812800" y="4140200"/>
            <a:ext cx="680212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C9D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a pile of papers to a research gap, continuing with brain tumour segmentation in MRI.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12800" y="579635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Mohsin Furkh Dar · School of Computer Science, UPES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45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By the end of this session, you can…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85851"/>
            <a:ext cx="10566400" cy="0"/>
          </a:xfrm>
          <a:prstGeom prst="line">
            <a:avLst/>
          </a:prstGeom>
          <a:noFill/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2800" y="2019201"/>
            <a:ext cx="6223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545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38300" y="2074466"/>
            <a:ext cx="5795803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 the difference between </a:t>
            </a:r>
            <a:r>
              <a:rPr lang="en-US" sz="17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</a:t>
            </a:r>
            <a:r>
              <a:rPr lang="en-US" sz="17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7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synthesis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12800" y="2543671"/>
            <a:ext cx="10566400" cy="0"/>
          </a:xfrm>
          <a:prstGeom prst="line">
            <a:avLst/>
          </a:prstGeom>
          <a:noFill/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12800" y="2677021"/>
            <a:ext cx="6223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545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38300" y="2732286"/>
            <a:ext cx="5380992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a paper critically with the </a:t>
            </a:r>
            <a:r>
              <a:rPr lang="en-US" sz="17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three-pass method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12800" y="3201491"/>
            <a:ext cx="10566400" cy="0"/>
          </a:xfrm>
          <a:prstGeom prst="line">
            <a:avLst/>
          </a:prstGeom>
          <a:noFill/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12800" y="3334841"/>
            <a:ext cx="6223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545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38300" y="3390106"/>
            <a:ext cx="4875534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 key elements into an </a:t>
            </a:r>
            <a:r>
              <a:rPr lang="en-US" sz="17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extraction matrix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2800" y="3859312"/>
            <a:ext cx="10566400" cy="0"/>
          </a:xfrm>
          <a:prstGeom prst="line">
            <a:avLst/>
          </a:prstGeom>
          <a:noFill/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12800" y="3992662"/>
            <a:ext cx="6223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545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38300" y="4047927"/>
            <a:ext cx="7743748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Synthesise literature </a:t>
            </a:r>
            <a:r>
              <a:rPr lang="en-US" sz="17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thematically, methodologically and chronologically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12800" y="4517132"/>
            <a:ext cx="10566400" cy="0"/>
          </a:xfrm>
          <a:prstGeom prst="line">
            <a:avLst/>
          </a:prstGeom>
          <a:noFill/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12800" y="5174952"/>
            <a:ext cx="10566400" cy="0"/>
          </a:xfrm>
          <a:prstGeom prst="line">
            <a:avLst/>
          </a:prstGeom>
          <a:noFill/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12800" y="4650482"/>
            <a:ext cx="6223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545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38300" y="4705747"/>
            <a:ext cx="5257949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a </a:t>
            </a:r>
            <a:r>
              <a:rPr lang="en-US" sz="17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gap</a:t>
            </a:r>
            <a:r>
              <a:rPr lang="en-US" sz="17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write a gap statement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CSEG3060 · Unit III · Part 2 — Literature Analysis &amp; Synthesis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45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919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Analysis examines the bricks. Synthesis builds the wall.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2332831"/>
            <a:ext cx="5168900" cy="2355652"/>
          </a:xfrm>
          <a:prstGeom prst="roundRect">
            <a:avLst>
              <a:gd name="adj" fmla="val 4043"/>
            </a:avLst>
          </a:prstGeom>
          <a:solidFill>
            <a:srgbClr val="FFFDF8"/>
          </a:solidFill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79500" y="2593181"/>
            <a:ext cx="47876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F6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· ONE PAPER AT A TIME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9500" y="2908102"/>
            <a:ext cx="478764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Take each paper apart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9500" y="3314502"/>
            <a:ext cx="478764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did it do, how, on which data, with what result, and what are its weaknesses?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9500" y="3949502"/>
            <a:ext cx="4787646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i="1" dirty="0">
                <a:solidFill>
                  <a:srgbClr val="3E4E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“U-Net uses skip connections and was tested on 2D microscopy images.”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03950" y="2332831"/>
            <a:ext cx="5168900" cy="2355652"/>
          </a:xfrm>
          <a:prstGeom prst="roundRect">
            <a:avLst>
              <a:gd name="adj" fmla="val 4043"/>
            </a:avLst>
          </a:prstGeom>
          <a:solidFill>
            <a:srgbClr val="FFFDF8"/>
          </a:solidFill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64300" y="2593181"/>
            <a:ext cx="47876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545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SYNTHESIS · ACROSS PAPERS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64300" y="2908102"/>
            <a:ext cx="478764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Weave the papers together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64300" y="3314502"/>
            <a:ext cx="478764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do they agree, disagree or build on each other, and what does none of them address?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64300" y="3949502"/>
            <a:ext cx="4787646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i="1" dirty="0">
                <a:solidFill>
                  <a:srgbClr val="3E4E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“U-Net variants dominate BraTS, but all assume four clean MRI sequences.”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2800" y="4999633"/>
            <a:ext cx="10566400" cy="690860"/>
          </a:xfrm>
          <a:prstGeom prst="roundRect">
            <a:avLst>
              <a:gd name="adj" fmla="val 14706"/>
            </a:avLst>
          </a:prstGeom>
          <a:solidFill>
            <a:srgbClr val="1230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66800" y="5202833"/>
            <a:ext cx="1036015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3EF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1600" b="1" dirty="0">
                <a:solidFill>
                  <a:srgbClr val="F2A3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gap</a:t>
            </a:r>
            <a:r>
              <a:rPr lang="en-US" sz="1600" dirty="0">
                <a:solidFill>
                  <a:srgbClr val="F3EF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the hole left in the wall.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CSEG3060 · Unit III · Part 2 — Literature Analysis &amp; Synthesis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45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· CRITICAL READING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 every paper in up to three passes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85851"/>
            <a:ext cx="3407767" cy="2921099"/>
          </a:xfrm>
          <a:prstGeom prst="roundRect">
            <a:avLst>
              <a:gd name="adj" fmla="val 3261"/>
            </a:avLst>
          </a:prstGeom>
          <a:solidFill>
            <a:srgbClr val="FFFDF8"/>
          </a:solidFill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54100" y="2120801"/>
            <a:ext cx="302600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B545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Pass 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4100" y="2636341"/>
            <a:ext cx="30260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F6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5–10 MINUTES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4100" y="2938562"/>
            <a:ext cx="3026003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bird’s-eye view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54100" y="3286522"/>
            <a:ext cx="3026003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Title, abstract, introduction, headings, conclusion; glance at figures.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4100" y="4093369"/>
            <a:ext cx="3026003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1F6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Decide:</a:t>
            </a:r>
            <a:r>
              <a:rPr lang="en-US" sz="1300" dirty="0">
                <a:solidFill>
                  <a:srgbClr val="1F6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it relevant? Most papers stop here.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92017" y="1885851"/>
            <a:ext cx="3407866" cy="2921099"/>
          </a:xfrm>
          <a:prstGeom prst="roundRect">
            <a:avLst>
              <a:gd name="adj" fmla="val 3261"/>
            </a:avLst>
          </a:prstGeom>
          <a:solidFill>
            <a:srgbClr val="FFFDF8"/>
          </a:solidFill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26967" y="2120801"/>
            <a:ext cx="302610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B545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Pass 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26967" y="2636341"/>
            <a:ext cx="302610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F6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ABOUT AN HOUR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26967" y="2938562"/>
            <a:ext cx="3026105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content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26967" y="3286522"/>
            <a:ext cx="3026105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 figures, tables and the method. Note data, metrics and baselines; skip proofs.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26967" y="4093369"/>
            <a:ext cx="3026105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1F6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Output:</a:t>
            </a:r>
            <a:r>
              <a:rPr lang="en-US" sz="1300" dirty="0">
                <a:solidFill>
                  <a:srgbClr val="1F6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one row in your extraction matrix.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64984" y="1885851"/>
            <a:ext cx="3407866" cy="2921099"/>
          </a:xfrm>
          <a:prstGeom prst="roundRect">
            <a:avLst>
              <a:gd name="adj" fmla="val 3261"/>
            </a:avLst>
          </a:prstGeom>
          <a:solidFill>
            <a:srgbClr val="FFFDF8"/>
          </a:solidFill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199934" y="2120801"/>
            <a:ext cx="302610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B545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Pass 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199934" y="2636341"/>
            <a:ext cx="302610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F6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SEVERAL HOURS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99934" y="2938562"/>
            <a:ext cx="3026105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deep dive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199934" y="3286522"/>
            <a:ext cx="3026105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Mentally re-implement it. Question every assumption and choice.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99934" y="3854053"/>
            <a:ext cx="3026105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1F6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for</a:t>
            </a:r>
            <a:r>
              <a:rPr lang="en-US" sz="1300" dirty="0">
                <a:solidFill>
                  <a:srgbClr val="1F6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5–10 papers your work builds on.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Based on S. Keshav, “How to Read a Paper,” ACM SIGCOMM Computer Communication Review, 2007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45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· CRITICAL READING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After pass 1, answer the five Cs: U-Net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5130697"/>
              </p:ext>
            </p:extLst>
          </p:nvPr>
        </p:nvGraphicFramePr>
        <p:xfrm>
          <a:off x="812800" y="1854101"/>
          <a:ext cx="10566400" cy="2760561"/>
        </p:xfrm>
        <a:graphic>
          <a:graphicData uri="http://schemas.openxmlformats.org/drawingml/2006/table">
            <a:tbl>
              <a:tblPr/>
              <a:tblGrid>
                <a:gridCol w="1796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6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15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EF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C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EF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Question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EF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Answer for U-Net (2015)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5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Category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type of paper is it?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method paper proposing a new architecture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5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Context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Which work does it build on?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Fully convolutional networks (Long et al., 2015)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5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Correctness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Are its assumptions valid for me?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Designed for 2D microscopy, not 3D brain MRI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266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Contributions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is genuinely new?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Encoder–decoder with skip connections, trained from few images using heavy augmentation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5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Clarity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Is it well written and explained?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Yes: one architecture figure explains the whole design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90676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Notice “Correctness”:</a:t>
            </a:r>
            <a:r>
              <a:rPr lang="en-US" sz="14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paper can be correct in its own setting and still not fit yours.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five Cs are from S. Keshav, “How to Read a Paper,” 2007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45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· CRITICAL READING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Six questions for any paper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85851"/>
            <a:ext cx="3407767" cy="1194891"/>
          </a:xfrm>
          <a:prstGeom prst="roundRect">
            <a:avLst>
              <a:gd name="adj" fmla="val 7971"/>
            </a:avLst>
          </a:prstGeom>
          <a:solidFill>
            <a:srgbClr val="FFFDF8"/>
          </a:solidFill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28700" y="2082701"/>
            <a:ext cx="3078327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F6F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 · Data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28700" y="2405261"/>
            <a:ext cx="3078327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dataset, which MRI sequences, how many patients? Is it like mine?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92017" y="1885851"/>
            <a:ext cx="3407866" cy="1194891"/>
          </a:xfrm>
          <a:prstGeom prst="roundRect">
            <a:avLst>
              <a:gd name="adj" fmla="val 7971"/>
            </a:avLst>
          </a:prstGeom>
          <a:solidFill>
            <a:srgbClr val="FFFDF8"/>
          </a:solidFill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601567" y="2082701"/>
            <a:ext cx="3078429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F6F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 · Baselines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01567" y="2405261"/>
            <a:ext cx="3078429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Compared against strong recent methods, or weak old ones?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64984" y="1885851"/>
            <a:ext cx="3407866" cy="1194891"/>
          </a:xfrm>
          <a:prstGeom prst="roundRect">
            <a:avLst>
              <a:gd name="adj" fmla="val 7971"/>
            </a:avLst>
          </a:prstGeom>
          <a:solidFill>
            <a:srgbClr val="FFFDF8"/>
          </a:solidFill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174534" y="2082701"/>
            <a:ext cx="3078429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F6F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 · Metrics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74534" y="2405261"/>
            <a:ext cx="3078429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Dice and Hausdorff distance per sub-region, or only pixel accuracy?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9150" y="3245842"/>
            <a:ext cx="3407767" cy="1194891"/>
          </a:xfrm>
          <a:prstGeom prst="roundRect">
            <a:avLst>
              <a:gd name="adj" fmla="val 7971"/>
            </a:avLst>
          </a:prstGeom>
          <a:solidFill>
            <a:srgbClr val="FFFDF8"/>
          </a:solidFill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28700" y="3442692"/>
            <a:ext cx="3078327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F6F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 · Generalisation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28700" y="3765252"/>
            <a:ext cx="3078327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Tested on scans from other hospitals and scanners?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92017" y="3245842"/>
            <a:ext cx="3407866" cy="1194891"/>
          </a:xfrm>
          <a:prstGeom prst="roundRect">
            <a:avLst>
              <a:gd name="adj" fmla="val 7971"/>
            </a:avLst>
          </a:prstGeom>
          <a:solidFill>
            <a:srgbClr val="FFFDF8"/>
          </a:solidFill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01567" y="3442692"/>
            <a:ext cx="3078429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F6F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 · Reproducibility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601567" y="3765252"/>
            <a:ext cx="3078429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Code, trained weights and data splits released?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64984" y="3245842"/>
            <a:ext cx="3407866" cy="1194891"/>
          </a:xfrm>
          <a:prstGeom prst="roundRect">
            <a:avLst>
              <a:gd name="adj" fmla="val 7971"/>
            </a:avLst>
          </a:prstGeom>
          <a:solidFill>
            <a:srgbClr val="FFFDF8"/>
          </a:solidFill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174534" y="3442692"/>
            <a:ext cx="3078429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F6F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 · Limitations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174534" y="3765252"/>
            <a:ext cx="3078429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did the authors admit, and what did they leave out?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CSEG3060 · Unit III · Part 2 — Literature Analysis &amp; Synthesis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3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86D3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· CRITICAL READING · WHY METRIC 3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1427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3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Suppose a tumour fills 1% of the voxels in a scan. A model that predicts “no tumour” everywhere is </a:t>
            </a:r>
            <a:r>
              <a:rPr lang="en-US" sz="3200" b="1" dirty="0">
                <a:solidFill>
                  <a:srgbClr val="F2A38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99% accurate</a:t>
            </a:r>
            <a:r>
              <a:rPr lang="en-US" sz="3200" b="1" dirty="0">
                <a:solidFill>
                  <a:srgbClr val="F3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, and useless.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4600079"/>
            <a:ext cx="5406430" cy="1445121"/>
          </a:xfrm>
          <a:prstGeom prst="roundRect">
            <a:avLst>
              <a:gd name="adj" fmla="val 7031"/>
            </a:avLst>
          </a:prstGeom>
          <a:solidFill>
            <a:srgbClr val="1B3F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92200" y="4828679"/>
            <a:ext cx="49930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86D3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DICE SCORE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2200" y="5118199"/>
            <a:ext cx="4993059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3EF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Dice = 2|A ∩ B| / (|A| + |B|)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2200" y="5585520"/>
            <a:ext cx="499305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9D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= predicted tumour voxels · B = true tumour voxels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24030" y="4908252"/>
            <a:ext cx="5000825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C9D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Dice measures overlap with the tumour itself, so the empty prediction scores </a:t>
            </a:r>
            <a:r>
              <a:rPr lang="en-US" sz="1500" b="1" dirty="0">
                <a:solidFill>
                  <a:srgbClr val="F3EF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r>
              <a:rPr lang="en-US" sz="1500" dirty="0">
                <a:solidFill>
                  <a:srgbClr val="C9D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Papers that report only accuracy deserve suspicion.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45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· EXTRACTION MATRIX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row per paper, same columns every time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732735"/>
              </p:ext>
            </p:extLst>
          </p:nvPr>
        </p:nvGraphicFramePr>
        <p:xfrm>
          <a:off x="812800" y="1828701"/>
          <a:ext cx="10566400" cy="3123804"/>
        </p:xfrm>
        <a:graphic>
          <a:graphicData uri="http://schemas.openxmlformats.org/drawingml/2006/table">
            <a:tbl>
              <a:tblPr/>
              <a:tblGrid>
                <a:gridCol w="1796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76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76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84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3EF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Paper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3EF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Core idea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3EF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Evaluated 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3EF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Strength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3EF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Limit for your task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74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U-Net (2015)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Encoder–decoder with skip connections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2D microscopy images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Learns from few images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2D only; not MRI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4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3D U-Net (2016)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Same idea on 3D volumes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Volumetric microscopy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Uses 3D context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Memory-hungry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174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nnU-Net (2021)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Self-configuring U-Net pipeline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Many public challenge datasets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Strong baseline, no manual tuning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Heavy training compute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174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Swin UNETR (2022)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Swin transformer encoder, U-Net decoder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BraTS 2021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Built for brain tumours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Large model; curated inputs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174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MedSAM (2024)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Promptable foundation model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Large multi-modality collection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Generalises across tasks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Needs a box prompt from a user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521920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</a:t>
            </a:r>
            <a:r>
              <a:rPr lang="en-US" sz="14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 a column</a:t>
            </a:r>
            <a:r>
              <a:rPr lang="en-US" sz="14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patterns appear. The last column is where gaps come from.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CSEG3060 · Unit III · Part 2 — Literature Analysis &amp; Synthesis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45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· THE CRITICAL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benchmark scan is not a hospital scan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54101"/>
          <a:ext cx="10566400" cy="2636046"/>
        </p:xfrm>
        <a:graphic>
          <a:graphicData uri="http://schemas.openxmlformats.org/drawingml/2006/table">
            <a:tbl>
              <a:tblPr/>
              <a:tblGrid>
                <a:gridCol w="528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3EF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BraTS benchmark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700" marR="1397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3EF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Routine scan in a district hospital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700" marR="1397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All four MRI sequences (T1, T1ce, T2, FLAIR)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700" marR="1397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Often one or two sequences missing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700" marR="1397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Skull-stripped, co-registered, resampled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700" marR="1397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Raw scans at varying resolutions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700" marR="1397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Expert labels agreed by protocol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700" marR="1397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labels at all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700" marR="1397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Scanners from contributing research centres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700" marR="1397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Different scanners and protocols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700" marR="1397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Evaluated offline on large GPUs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700" marR="1397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Modest hardware, results needed quickly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700" marR="1397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2800" y="4782245"/>
            <a:ext cx="10566400" cy="596900"/>
          </a:xfrm>
          <a:prstGeom prst="roundRect">
            <a:avLst>
              <a:gd name="adj" fmla="val 8511"/>
            </a:avLst>
          </a:prstGeom>
          <a:solidFill>
            <a:srgbClr val="F7E1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838200" y="4782245"/>
            <a:ext cx="0" cy="596900"/>
          </a:xfrm>
          <a:prstGeom prst="line">
            <a:avLst/>
          </a:prstGeom>
          <a:noFill/>
          <a:ln w="50800">
            <a:solidFill>
              <a:srgbClr val="B545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092200" y="4947345"/>
            <a:ext cx="103601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high Dice score on BraTS does </a:t>
            </a:r>
            <a:r>
              <a:rPr lang="en-US" sz="15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</a:t>
            </a:r>
            <a:r>
              <a:rPr lang="en-US" sz="15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guarantee a high Dice score in a district hospital.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CSEG3060 · Unit III · Part 2 — Literature Analysis &amp; Synthesis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45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· SYNTHESIS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919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summary lists papers. A synthesis makes an argument.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2307431"/>
            <a:ext cx="3924300" cy="2337991"/>
          </a:xfrm>
          <a:prstGeom prst="roundRect">
            <a:avLst>
              <a:gd name="adj" fmla="val 4074"/>
            </a:avLst>
          </a:prstGeom>
          <a:solidFill>
            <a:srgbClr val="FFFDF8"/>
          </a:solidFill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54100" y="2542381"/>
            <a:ext cx="35580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C6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SUMMARY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4100" y="2857302"/>
            <a:ext cx="3558032" cy="1263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Ronneberger et al. proposed U-Net for biomedical segmentation. Isensee et al. proposed nnU-Net, which configures itself. Hatamizadeh et al. proposed Swin UNETR using transformers.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4100" y="4197152"/>
            <a:ext cx="35580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C6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separate facts. No link, no point.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59350" y="2307431"/>
            <a:ext cx="6413500" cy="2337991"/>
          </a:xfrm>
          <a:prstGeom prst="roundRect">
            <a:avLst>
              <a:gd name="adj" fmla="val 4074"/>
            </a:avLst>
          </a:prstGeom>
          <a:solidFill>
            <a:srgbClr val="FFFDF8"/>
          </a:solidFill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194300" y="2542381"/>
            <a:ext cx="61219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F6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SYNTHESIS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94300" y="2857302"/>
            <a:ext cx="6121908" cy="151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Since U-Net [1], encoder–decoder networks have dominated brain tumour segmentation, and both self-configuring pipelines [3] and transformer hybrids [4] now perform strongly on BraTS. </a:t>
            </a:r>
            <a:r>
              <a:rPr lang="en-US" sz="1300" b="1" dirty="0">
                <a:solidFill>
                  <a:srgbClr val="1F6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However,</a:t>
            </a:r>
            <a:r>
              <a:rPr lang="en-US" sz="13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these results assume curated inputs with all four MRI sequences and substantial GPU resources. </a:t>
            </a:r>
            <a:r>
              <a:rPr lang="en-US" sz="1300" b="1" dirty="0">
                <a:solidFill>
                  <a:srgbClr val="B545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such models perform on incomplete, heterogeneous clinical scans with modest hardware remains insufficiently studied.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4931172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6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</a:t>
            </a:r>
            <a:r>
              <a:rPr lang="en-US" sz="14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papers → </a:t>
            </a:r>
            <a:r>
              <a:rPr lang="en-US" sz="1400" b="1" dirty="0">
                <a:solidFill>
                  <a:srgbClr val="1F6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contrast</a:t>
            </a:r>
            <a:r>
              <a:rPr lang="en-US" sz="14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 with reality → </a:t>
            </a:r>
            <a:r>
              <a:rPr lang="en-US" sz="1400" b="1" dirty="0">
                <a:solidFill>
                  <a:srgbClr val="B545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 on the gap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CSEG3060 · Unit III · Part 2 — Literature Analysis &amp; Synthesis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45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· SYNTHESIS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ways to organise the same papers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85851"/>
            <a:ext cx="3407767" cy="2285603"/>
          </a:xfrm>
          <a:prstGeom prst="roundRect">
            <a:avLst>
              <a:gd name="adj" fmla="val 4167"/>
            </a:avLst>
          </a:prstGeom>
          <a:solidFill>
            <a:srgbClr val="FFFDF8"/>
          </a:solidFill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54100" y="2120801"/>
            <a:ext cx="3026003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Chronological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54100" y="2499221"/>
            <a:ext cx="3026003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time:</a:t>
            </a:r>
            <a:r>
              <a:rPr lang="en-US" sz="13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how the field evolved.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4100" y="2827437"/>
            <a:ext cx="3026003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3E4E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U-Net → 3D U-Net → nnU-Net → Swin UNETR → MedSAM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4100" y="3723184"/>
            <a:ext cx="30260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6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for: background sections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92017" y="1885851"/>
            <a:ext cx="3407866" cy="2285603"/>
          </a:xfrm>
          <a:prstGeom prst="roundRect">
            <a:avLst>
              <a:gd name="adj" fmla="val 4167"/>
            </a:avLst>
          </a:prstGeom>
          <a:solidFill>
            <a:srgbClr val="FFFDF8"/>
          </a:solidFill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626967" y="2120801"/>
            <a:ext cx="3026105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Thematic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26967" y="2499221"/>
            <a:ext cx="3026105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question:</a:t>
            </a:r>
            <a:r>
              <a:rPr lang="en-US" sz="13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what the field keeps asking.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26967" y="3066752"/>
            <a:ext cx="3026105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3E4E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Architectures · loss functions · missing sequences · generalisation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26967" y="3723184"/>
            <a:ext cx="302610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45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for: most literature reviews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64984" y="1885851"/>
            <a:ext cx="3407866" cy="2285603"/>
          </a:xfrm>
          <a:prstGeom prst="roundRect">
            <a:avLst>
              <a:gd name="adj" fmla="val 4167"/>
            </a:avLst>
          </a:prstGeom>
          <a:solidFill>
            <a:srgbClr val="FFFDF8"/>
          </a:solidFill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199934" y="2120801"/>
            <a:ext cx="3026105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Methodological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199934" y="2499221"/>
            <a:ext cx="3026105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how studies were done.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99934" y="2827437"/>
            <a:ext cx="3026105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3E4E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CNN vs. transformer vs. foundation model; 2D vs. 3D; benchmark vs. clinical validation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99934" y="3723184"/>
            <a:ext cx="302610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6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for: justifying your method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CSEG3060 · Unit III · Part 2 — Literature Analysis &amp; Synthesis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BE6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45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· CHRONOLOGICAL SYNTHESIS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Each step fixed a limitation of the last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308622"/>
            <a:ext cx="1786434" cy="0"/>
          </a:xfrm>
          <a:prstGeom prst="line">
            <a:avLst/>
          </a:prstGeom>
          <a:noFill/>
          <a:ln w="38100">
            <a:solidFill>
              <a:srgbClr val="1F6F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2800" y="2505472"/>
            <a:ext cx="168483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545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2015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800" y="2972792"/>
            <a:ext cx="168483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U-Net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2800" y="3277592"/>
            <a:ext cx="1684834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E4E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Skip connections; learns from few images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99234" y="2308622"/>
            <a:ext cx="1786533" cy="0"/>
          </a:xfrm>
          <a:prstGeom prst="line">
            <a:avLst/>
          </a:prstGeom>
          <a:noFill/>
          <a:ln w="38100">
            <a:solidFill>
              <a:srgbClr val="1F6F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599234" y="2505472"/>
            <a:ext cx="1684933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545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2016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99234" y="2972792"/>
            <a:ext cx="16849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3D U-Net, V-Net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99234" y="3277592"/>
            <a:ext cx="168493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E4E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Whole volumes; V-Net trains with a Dice loss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5766" y="2308622"/>
            <a:ext cx="1786434" cy="0"/>
          </a:xfrm>
          <a:prstGeom prst="line">
            <a:avLst/>
          </a:prstGeom>
          <a:noFill/>
          <a:ln w="38100">
            <a:solidFill>
              <a:srgbClr val="1F6F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385766" y="2505472"/>
            <a:ext cx="168483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545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2018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85766" y="2972792"/>
            <a:ext cx="168483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Attention U-Net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85766" y="3277592"/>
            <a:ext cx="168483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E4E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Learns where in the image to focus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2308622"/>
            <a:ext cx="1786533" cy="0"/>
          </a:xfrm>
          <a:prstGeom prst="line">
            <a:avLst/>
          </a:prstGeom>
          <a:noFill/>
          <a:ln w="38100">
            <a:solidFill>
              <a:srgbClr val="1F6F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72200" y="2505472"/>
            <a:ext cx="1684933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545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2021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72200" y="2972792"/>
            <a:ext cx="16849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nnU-Net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72200" y="3277592"/>
            <a:ext cx="168493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E4E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Configures itself for each new dataset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58733" y="2308622"/>
            <a:ext cx="1786434" cy="0"/>
          </a:xfrm>
          <a:prstGeom prst="line">
            <a:avLst/>
          </a:prstGeom>
          <a:noFill/>
          <a:ln w="38100">
            <a:solidFill>
              <a:srgbClr val="1F6F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958733" y="2505472"/>
            <a:ext cx="168483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545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2022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958733" y="2972792"/>
            <a:ext cx="168483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Swin UNETR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958733" y="3277592"/>
            <a:ext cx="168483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E4E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Transformer encoder, tested on BraTS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745166" y="2308622"/>
            <a:ext cx="1634034" cy="0"/>
          </a:xfrm>
          <a:prstGeom prst="line">
            <a:avLst/>
          </a:prstGeom>
          <a:noFill/>
          <a:ln w="38100">
            <a:solidFill>
              <a:srgbClr val="B5452A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745166" y="2505472"/>
            <a:ext cx="168483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545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2024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745166" y="2972792"/>
            <a:ext cx="168483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MedSAM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745166" y="3277592"/>
            <a:ext cx="168483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E4E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Promptable foundation model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2800" y="4632325"/>
            <a:ext cx="10566400" cy="1209675"/>
          </a:xfrm>
          <a:prstGeom prst="roundRect">
            <a:avLst>
              <a:gd name="adj" fmla="val 8399"/>
            </a:avLst>
          </a:prstGeom>
          <a:solidFill>
            <a:srgbClr val="FFFD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066800" y="4822825"/>
            <a:ext cx="10360152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Written as a paragraph: </a:t>
            </a:r>
            <a:r>
              <a:rPr lang="en-US" sz="1500" i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“Segmentation research moved from 2D to 3D, then from hand-tuned to self-configuring pipelines, and most recently to transformers and foundation models…”</a:t>
            </a:r>
            <a:r>
              <a:rPr lang="en-US" sz="15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next step on the line is where your work goes.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CSEG3060 · Unit III · Part 2 — Literature Analysis &amp; Synthesis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45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· THEMATIC SYNTHESIS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Group your papers by the question they answer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60451"/>
            <a:ext cx="5194300" cy="1439267"/>
          </a:xfrm>
          <a:prstGeom prst="roundRect">
            <a:avLst>
              <a:gd name="adj" fmla="val 6618"/>
            </a:avLst>
          </a:prstGeom>
          <a:solidFill>
            <a:srgbClr val="FFFDF8"/>
          </a:solidFill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1400" y="2059781"/>
            <a:ext cx="1478855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Architectures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627563" y="2044601"/>
            <a:ext cx="1163638" cy="289520"/>
          </a:xfrm>
          <a:prstGeom prst="roundRect">
            <a:avLst>
              <a:gd name="adj" fmla="val 43866"/>
            </a:avLst>
          </a:prstGeom>
          <a:solidFill>
            <a:srgbClr val="E2EE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729163" y="2082701"/>
            <a:ext cx="10112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Many papers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1400" y="2397621"/>
            <a:ext cx="4892294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U-Net family vs. transformer hybrids. They agree skip connections matter; they debate whether transformers justify their cost.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8550" y="1860451"/>
            <a:ext cx="5194300" cy="1439267"/>
          </a:xfrm>
          <a:prstGeom prst="roundRect">
            <a:avLst>
              <a:gd name="adj" fmla="val 6618"/>
            </a:avLst>
          </a:prstGeom>
          <a:solidFill>
            <a:srgbClr val="FFFDF8"/>
          </a:solidFill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0" y="2059781"/>
            <a:ext cx="1598910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Loss functions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986963" y="2044601"/>
            <a:ext cx="1163638" cy="289520"/>
          </a:xfrm>
          <a:prstGeom prst="roundRect">
            <a:avLst>
              <a:gd name="adj" fmla="val 43866"/>
            </a:avLst>
          </a:prstGeom>
          <a:solidFill>
            <a:srgbClr val="E2EE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088563" y="2082701"/>
            <a:ext cx="10112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Many papers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2397621"/>
            <a:ext cx="4892294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problem: tiny tumours, huge background. Dice loss (V-Net) and Dice + cross-entropy are the common answers.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9150" y="3464818"/>
            <a:ext cx="5194300" cy="1199952"/>
          </a:xfrm>
          <a:prstGeom prst="roundRect">
            <a:avLst>
              <a:gd name="adj" fmla="val 7938"/>
            </a:avLst>
          </a:prstGeom>
          <a:solidFill>
            <a:srgbClr val="FFFDF8"/>
          </a:solidFill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41400" y="3664148"/>
            <a:ext cx="2048096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Missing sequences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735612" y="3648968"/>
            <a:ext cx="1055588" cy="289520"/>
          </a:xfrm>
          <a:prstGeom prst="roundRect">
            <a:avLst>
              <a:gd name="adj" fmla="val 43866"/>
            </a:avLst>
          </a:prstGeom>
          <a:solidFill>
            <a:srgbClr val="F7E1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37212" y="3687068"/>
            <a:ext cx="9031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 papers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41400" y="4001988"/>
            <a:ext cx="4892294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Hetero-modal methods such as HeMIS (Havaei et al., 2016) segment with whichever MRI sequences are available.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8550" y="3464818"/>
            <a:ext cx="5194300" cy="1199952"/>
          </a:xfrm>
          <a:prstGeom prst="roundRect">
            <a:avLst>
              <a:gd name="adj" fmla="val 7938"/>
            </a:avLst>
          </a:prstGeom>
          <a:solidFill>
            <a:srgbClr val="FFFDF8"/>
          </a:solidFill>
          <a:ln w="12700">
            <a:solidFill>
              <a:srgbClr val="DD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00800" y="3664148"/>
            <a:ext cx="1545729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Generalisation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0095012" y="3648968"/>
            <a:ext cx="1055588" cy="289520"/>
          </a:xfrm>
          <a:prstGeom prst="roundRect">
            <a:avLst>
              <a:gd name="adj" fmla="val 43866"/>
            </a:avLst>
          </a:prstGeom>
          <a:solidFill>
            <a:srgbClr val="F7E1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196612" y="3687068"/>
            <a:ext cx="9031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 papers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4001988"/>
            <a:ext cx="4892294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Scanner and protocol differences are widely recognised, yet few of her papers test on data outside BraTS.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800" y="495052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Crowded themes show where the field agrees. </a:t>
            </a:r>
            <a:r>
              <a:rPr lang="en-US" sz="1400" b="1" dirty="0">
                <a:solidFill>
                  <a:srgbClr val="B545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 themes point to gaps.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CSEG3060 · Unit III · Part 2 — Literature Analysis &amp; Synthesis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45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· SYNTHESIS TOOL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concept matrix makes the gap visible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037339"/>
              </p:ext>
            </p:extLst>
          </p:nvPr>
        </p:nvGraphicFramePr>
        <p:xfrm>
          <a:off x="812800" y="1828701"/>
          <a:ext cx="10566400" cy="2951060"/>
        </p:xfrm>
        <a:graphic>
          <a:graphicData uri="http://schemas.openxmlformats.org/drawingml/2006/table">
            <a:tbl>
              <a:tblPr/>
              <a:tblGrid>
                <a:gridCol w="264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15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EF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Paper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EF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3D context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EF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Transformer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EF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Auto-config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EF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BraTS data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EF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Missing MRI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5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U-Net (2015)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5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3D U-Net (2016)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5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HeMIS (2016)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5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nnU-Net (2021)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5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Swin UNETR (2022)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15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Your study?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 or —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1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5046464"/>
            <a:ext cx="10883392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paper in the list combines a </a:t>
            </a:r>
            <a:r>
              <a:rPr lang="en-US" sz="14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3D architecture</a:t>
            </a:r>
            <a:r>
              <a:rPr lang="en-US" sz="14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</a:t>
            </a:r>
            <a:r>
              <a:rPr lang="en-US" sz="14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robustness to missing sequences</a:t>
            </a:r>
            <a:r>
              <a:rPr lang="en-US" sz="14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That empty intersection is your gap.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matrix idea: Webster &amp; Watson, MIS Quarterly, 2002 · Ticks reflect each paper’s main contribution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545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 · RESEARCH GAPS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Five kinds of gap to look for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2532429"/>
              </p:ext>
            </p:extLst>
          </p:nvPr>
        </p:nvGraphicFramePr>
        <p:xfrm>
          <a:off x="812800" y="1854101"/>
          <a:ext cx="10566400" cy="2760561"/>
        </p:xfrm>
        <a:graphic>
          <a:graphicData uri="http://schemas.openxmlformats.org/drawingml/2006/table">
            <a:tbl>
              <a:tblPr/>
              <a:tblGrid>
                <a:gridCol w="1901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2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1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15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EF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Gap type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EF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Question to ask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EF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Your  version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5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Context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Tested in this setting?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Routine scans from Indian hospitals, not only BraTS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5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Is there suitable data?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Few public, labelled sets with realistic missing sequences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5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Method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Does the method handle this condition?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Modern 3D models assume all four sequences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5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Evaluation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Are the right things measured?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Dice reported; inference time on modest GPUs rarely is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266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Population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Does it work equally for all groups?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26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Performance across tumour grades and age groups seldom broken down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2800" y="4906764"/>
            <a:ext cx="10566400" cy="553641"/>
          </a:xfrm>
          <a:prstGeom prst="roundRect">
            <a:avLst>
              <a:gd name="adj" fmla="val 9176"/>
            </a:avLst>
          </a:prstGeom>
          <a:solidFill>
            <a:srgbClr val="F7E1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838200" y="4906764"/>
            <a:ext cx="0" cy="553641"/>
          </a:xfrm>
          <a:prstGeom prst="line">
            <a:avLst/>
          </a:prstGeom>
          <a:noFill/>
          <a:ln w="50800">
            <a:solidFill>
              <a:srgbClr val="B545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092200" y="5059164"/>
            <a:ext cx="103601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one or two.</a:t>
            </a:r>
            <a:r>
              <a:rPr lang="en-US" sz="14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gap that tries to fix everything is really a scope problem.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CSEG3060 · Unit III · Part 2 — Literature Analysis &amp; Synthesis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3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86D3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 · RESEARCH GAPS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3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gap to gap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54101"/>
            <a:ext cx="10566400" cy="1267420"/>
          </a:xfrm>
          <a:prstGeom prst="roundRect">
            <a:avLst>
              <a:gd name="adj" fmla="val 8016"/>
            </a:avLst>
          </a:prstGeom>
          <a:solidFill>
            <a:srgbClr val="1B3F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66800" y="2057301"/>
            <a:ext cx="103601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86D3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800" y="2346821"/>
            <a:ext cx="10360152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C9D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“Although </a:t>
            </a:r>
            <a:r>
              <a:rPr lang="en-US" sz="1500" dirty="0">
                <a:solidFill>
                  <a:srgbClr val="F2A3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[prior work]</a:t>
            </a:r>
            <a:r>
              <a:rPr lang="en-US" sz="1500" dirty="0">
                <a:solidFill>
                  <a:srgbClr val="C9D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has achieved </a:t>
            </a:r>
            <a:r>
              <a:rPr lang="en-US" sz="1500" dirty="0">
                <a:solidFill>
                  <a:srgbClr val="F2A3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[result]</a:t>
            </a:r>
            <a:r>
              <a:rPr lang="en-US" sz="1500" dirty="0">
                <a:solidFill>
                  <a:srgbClr val="C9D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under </a:t>
            </a:r>
            <a:r>
              <a:rPr lang="en-US" sz="1500" dirty="0">
                <a:solidFill>
                  <a:srgbClr val="F2A3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[conditions]</a:t>
            </a:r>
            <a:r>
              <a:rPr lang="en-US" sz="1500" dirty="0">
                <a:solidFill>
                  <a:srgbClr val="C9D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500" dirty="0">
                <a:solidFill>
                  <a:srgbClr val="F2A3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[specific limitation]</a:t>
            </a:r>
            <a:r>
              <a:rPr lang="en-US" sz="1500" dirty="0">
                <a:solidFill>
                  <a:srgbClr val="C9D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remains unaddressed, particularly for </a:t>
            </a:r>
            <a:r>
              <a:rPr lang="en-US" sz="1500" dirty="0">
                <a:solidFill>
                  <a:srgbClr val="F2A3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[your context]</a:t>
            </a:r>
            <a:r>
              <a:rPr lang="en-US" sz="1500" dirty="0">
                <a:solidFill>
                  <a:srgbClr val="C9D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This study addresses it by </a:t>
            </a:r>
            <a:r>
              <a:rPr lang="en-US" sz="1500" dirty="0">
                <a:solidFill>
                  <a:srgbClr val="F2A3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[your approach]</a:t>
            </a:r>
            <a:r>
              <a:rPr lang="en-US" sz="1500" dirty="0">
                <a:solidFill>
                  <a:srgbClr val="C9D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2800" y="3400921"/>
            <a:ext cx="10566400" cy="1838920"/>
          </a:xfrm>
          <a:prstGeom prst="roundRect">
            <a:avLst>
              <a:gd name="adj" fmla="val 5525"/>
            </a:avLst>
          </a:prstGeom>
          <a:solidFill>
            <a:srgbClr val="F6F4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66800" y="3604121"/>
            <a:ext cx="103601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545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GAP STATEMENT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6800" y="3893641"/>
            <a:ext cx="10360152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“Although 3D encoder–decoder and transformer models perform strongly on the BraTS benchmark, they assume all four MRI sequences are available, a condition often unmet in routine clinical practice. This study evaluates and adapts a lightweight 3D segmentation model that remains accurate when one or more sequences are missing, tested on scans from Indian hospitals.”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B545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BE3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 IT · 30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FF8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Turn your Part 1 reading list into a gap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79501"/>
            <a:ext cx="5181600" cy="1762621"/>
          </a:xfrm>
          <a:prstGeom prst="roundRect">
            <a:avLst>
              <a:gd name="adj" fmla="val 5764"/>
            </a:avLst>
          </a:prstGeom>
          <a:solidFill>
            <a:srgbClr val="FF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66800" y="2133501"/>
            <a:ext cx="4813808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Analyse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6800" y="2534741"/>
            <a:ext cx="4813808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24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Pass-1 read five papers from your log</a:t>
            </a:r>
            <a:endParaRPr lang="en-US" sz="1400" dirty="0"/>
          </a:p>
          <a:p>
            <a:pPr marL="342900" indent="-342900" algn="l">
              <a:lnSpc>
                <a:spcPts val="224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 the five Cs for one of them</a:t>
            </a:r>
            <a:endParaRPr lang="en-US" sz="1400" dirty="0"/>
          </a:p>
          <a:p>
            <a:pPr marL="342900" indent="-342900" algn="l">
              <a:lnSpc>
                <a:spcPts val="224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Fill a five-column extraction matrix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97600" y="1879501"/>
            <a:ext cx="5181600" cy="1762621"/>
          </a:xfrm>
          <a:prstGeom prst="roundRect">
            <a:avLst>
              <a:gd name="adj" fmla="val 5764"/>
            </a:avLst>
          </a:prstGeom>
          <a:solidFill>
            <a:srgbClr val="FFF4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51600" y="2133501"/>
            <a:ext cx="4813808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3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Synthesise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51600" y="2534741"/>
            <a:ext cx="4813808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24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concept matrix of four concepts</a:t>
            </a:r>
            <a:endParaRPr lang="en-US" sz="1400" dirty="0"/>
          </a:p>
          <a:p>
            <a:pPr marL="342900" indent="-342900" algn="l">
              <a:lnSpc>
                <a:spcPts val="224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one synthesis paragraph, not a summary</a:t>
            </a:r>
            <a:endParaRPr lang="en-US" sz="1400" dirty="0"/>
          </a:p>
          <a:p>
            <a:pPr marL="342900" indent="-342900" algn="l">
              <a:lnSpc>
                <a:spcPts val="224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3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 it with a gap statement using the template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3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86D3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3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papers to a problem worth solving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390180"/>
            <a:ext cx="10566400" cy="0"/>
          </a:xfrm>
          <a:prstGeom prst="line">
            <a:avLst/>
          </a:prstGeom>
          <a:noFill/>
          <a:ln w="12700">
            <a:solidFill>
              <a:srgbClr val="2D5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2800" y="2536230"/>
            <a:ext cx="495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2A38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0500" y="2568277"/>
            <a:ext cx="6690932" cy="316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F3EF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in passes; save the deep read for the papers you build on.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12800" y="3037880"/>
            <a:ext cx="10566400" cy="0"/>
          </a:xfrm>
          <a:prstGeom prst="line">
            <a:avLst/>
          </a:prstGeom>
          <a:noFill/>
          <a:ln w="12700">
            <a:solidFill>
              <a:srgbClr val="2D5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12800" y="3183930"/>
            <a:ext cx="495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2A38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0500" y="3215977"/>
            <a:ext cx="6267434" cy="316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F3EF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Judge each paper against your conditions, not only its own.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12800" y="3685580"/>
            <a:ext cx="10566400" cy="0"/>
          </a:xfrm>
          <a:prstGeom prst="line">
            <a:avLst/>
          </a:prstGeom>
          <a:noFill/>
          <a:ln w="12700">
            <a:solidFill>
              <a:srgbClr val="2D5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12800" y="3831630"/>
            <a:ext cx="495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2A38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0500" y="3863677"/>
            <a:ext cx="6255375" cy="316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F3EF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Synthesis connects, contrasts and ends on what is missing.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2800" y="4333280"/>
            <a:ext cx="10566400" cy="0"/>
          </a:xfrm>
          <a:prstGeom prst="line">
            <a:avLst/>
          </a:prstGeom>
          <a:noFill/>
          <a:ln w="12700">
            <a:solidFill>
              <a:srgbClr val="2D5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12800" y="4980980"/>
            <a:ext cx="10566400" cy="0"/>
          </a:xfrm>
          <a:prstGeom prst="line">
            <a:avLst/>
          </a:prstGeom>
          <a:noFill/>
          <a:ln w="12700">
            <a:solidFill>
              <a:srgbClr val="2D55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12800" y="4479330"/>
            <a:ext cx="495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2A38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0500" y="4511377"/>
            <a:ext cx="7575841" cy="316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F3EF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real gap is traced to the literature and confirmed by a targeted search.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12800" y="579635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86D3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· Part 3: Research ethics, using patient MRI data responsibly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2461</Words>
  <Application>Microsoft Office PowerPoint</Application>
  <PresentationFormat>Widescreen</PresentationFormat>
  <Paragraphs>329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Inter</vt:lpstr>
      <vt:lpstr>JetBrains Mono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III · Part 2: Literature Analysis &amp; Synthesis</dc:title>
  <dc:subject>PptxGenJS Presentation</dc:subject>
  <dc:creator>PptxGenJS</dc:creator>
  <cp:lastModifiedBy>Mohsin Faurkh</cp:lastModifiedBy>
  <cp:revision>2</cp:revision>
  <dcterms:created xsi:type="dcterms:W3CDTF">2026-09-22T18:21:58Z</dcterms:created>
  <dcterms:modified xsi:type="dcterms:W3CDTF">2026-09-22T18:37:49Z</dcterms:modified>
</cp:coreProperties>
</file>