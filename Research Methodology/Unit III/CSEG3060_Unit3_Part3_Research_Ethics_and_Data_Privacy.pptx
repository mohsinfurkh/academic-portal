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8990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now has a gap: a segmentation model that copes with missing MRI sequences, tested on scans from Indian hospitals. That means real patient data. Today is about handling it honestly and legally.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would you be comfortable if your own brain scan, with your name on it, appeared in a student's GitHub repository? Hold that thought for the case study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P2, P3 are three patients; each chip is one 2D slice. This is one of the most common problems in medical imaging papers, because 2D models make it easy to shuffle slices without thinking about patients.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Renaming the file to patient_001.nii is not anonymisation. Ask students which of the three leaks the GitHub case study later on would have contained.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"Ravi Kumar" is a made-up name. In practice, Priya's project will almost certainly work with pseudonymised data inside the hospital and should only ever share anonymised data outside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of principles. Students do not need the article numbers; they need to know which law is triggered by which data, and that India's DPDP Act is the one for Indian hospital scans.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training on the public BraTS dataset need IEC approval? Usually the data-use terms are the main requirement, but some institutions still ask for a formal exemption. Collecting new scans from a hospital definitely needs approval, from the hospital's committee and often the university's too.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minutes before revealing the next slide. Most students spot the names; fewer notice that "openly accessible" does not mean "permitted", or that the faces in 3D scans and the radiology reports are also identifying.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on BraTS as well as private hospital data gives other researchers a public benchmark to reproduce against, which answers the "reproducibility" argument from the case study without exposing any patient.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Cancer Imaging Archive (TCIA) is a well-known example of a controlled repository for de-identified medical images; some of its collections require signed data-use agreements.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answers. A: no approval, no agreement, insecure channel; decline and go through the IEC and the hospital. B: objectivity and honesty; report the subgroup result and discuss it as a limitation. C: purpose limitation and the terms of the approval; the data was released for her research only, so it is not hers to sell.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A"/>
        </a:solidFill>
        <a:effectLst/>
      </p:bgPr>
    </p:bg>
    <p:spTree>
      <p:nvGrpSpPr>
        <p:cNvPr id="1" name=""/>
        <p:cNvGrpSpPr/>
        <p:nvPr/>
      </p:nvGrpSpPr>
      <p:grpSpPr>
        <a:xfrm>
          <a:off x="0" y="0"/>
          <a:ext cx="0" cy="0"/>
          <a:chOff x="0" y="0"/>
          <a:chExt cx="0" cy="0"/>
        </a:xfrm>
      </p:grpSpPr>
      <p:pic>
        <p:nvPicPr>
          <p:cNvPr id="2" name="Image 0" descr="Stylised brain MRI slice behind a padlock, representing protected patient data"/>
          <p:cNvPicPr>
            <a:picLocks noChangeAspect="1"/>
          </p:cNvPicPr>
          <p:nvPr/>
        </p:nvPicPr>
        <p:blipFill>
          <a:blip r:embed="rId3"/>
          <a:srcRect/>
          <a:stretch/>
        </p:blipFill>
        <p:spPr>
          <a:xfrm>
            <a:off x="7823200" y="1206500"/>
            <a:ext cx="3556000" cy="4445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CSEG3060 · RESEARCH METHODOLOGY IN COMPUTER SCIENCE</a:t>
            </a:r>
            <a:endParaRPr lang="en-US" sz="1200" dirty="0"/>
          </a:p>
        </p:txBody>
      </p:sp>
      <p:sp>
        <p:nvSpPr>
          <p:cNvPr id="4" name="Text 1"/>
          <p:cNvSpPr/>
          <p:nvPr/>
        </p:nvSpPr>
        <p:spPr>
          <a:xfrm>
            <a:off x="812800" y="2042319"/>
            <a:ext cx="680212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384"/>
                </a:solidFill>
                <a:latin typeface="Inter" pitchFamily="34" charset="0"/>
                <a:ea typeface="Inter" pitchFamily="34" charset="-122"/>
                <a:cs typeface="Inter" pitchFamily="34" charset="-120"/>
              </a:rPr>
              <a:t>UNIT III · PART 3</a:t>
            </a:r>
            <a:endParaRPr lang="en-US" sz="1400" dirty="0"/>
          </a:p>
        </p:txBody>
      </p:sp>
      <p:sp>
        <p:nvSpPr>
          <p:cNvPr id="5" name="Text 2"/>
          <p:cNvSpPr/>
          <p:nvPr/>
        </p:nvSpPr>
        <p:spPr>
          <a:xfrm>
            <a:off x="812800" y="2468959"/>
            <a:ext cx="6802120" cy="1518841"/>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3EFE6"/>
                </a:solidFill>
                <a:latin typeface="Space Grotesk" pitchFamily="34" charset="0"/>
                <a:ea typeface="Space Grotesk" pitchFamily="34" charset="-122"/>
                <a:cs typeface="Space Grotesk" pitchFamily="34" charset="-120"/>
              </a:rPr>
              <a:t>Research Ethics &amp; Data Privacy</a:t>
            </a:r>
            <a:endParaRPr lang="en-US" sz="5600" dirty="0"/>
          </a:p>
        </p:txBody>
      </p:sp>
      <p:sp>
        <p:nvSpPr>
          <p:cNvPr id="6" name="Text 3"/>
          <p:cNvSpPr/>
          <p:nvPr/>
        </p:nvSpPr>
        <p:spPr>
          <a:xfrm>
            <a:off x="812800" y="4140200"/>
            <a:ext cx="680212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D4"/>
                </a:solidFill>
                <a:latin typeface="Inter" pitchFamily="34" charset="0"/>
                <a:ea typeface="Inter" pitchFamily="34" charset="-122"/>
                <a:cs typeface="Inter" pitchFamily="34" charset="-120"/>
              </a:rPr>
              <a:t>Doing honest research with patient data, continuing with brain tumour segmentation in MRI.</a:t>
            </a:r>
            <a:endParaRPr lang="en-US" sz="1800" dirty="0"/>
          </a:p>
        </p:txBody>
      </p:sp>
      <p:sp>
        <p:nvSpPr>
          <p:cNvPr id="7" name="Text 4"/>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D4"/>
                </a:solidFill>
                <a:latin typeface="Inter" pitchFamily="34" charset="0"/>
                <a:ea typeface="Inter" pitchFamily="34" charset="-122"/>
                <a:cs typeface="Inter" pitchFamily="34" charset="-120"/>
              </a:rPr>
              <a:t>Dr. Mohsin Furkh Dar · School of Computer Science, UPES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SESSION GOALS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By the end of this session, you can…</a:t>
            </a:r>
            <a:endParaRPr lang="en-US" sz="3200" dirty="0"/>
          </a:p>
        </p:txBody>
      </p:sp>
      <p:sp>
        <p:nvSpPr>
          <p:cNvPr id="4" name="Shape 2"/>
          <p:cNvSpPr/>
          <p:nvPr/>
        </p:nvSpPr>
        <p:spPr>
          <a:xfrm>
            <a:off x="812800" y="1885851"/>
            <a:ext cx="10566400" cy="0"/>
          </a:xfrm>
          <a:prstGeom prst="line">
            <a:avLst/>
          </a:prstGeom>
          <a:noFill/>
          <a:ln w="12700">
            <a:solidFill>
              <a:srgbClr val="DDD6C8"/>
            </a:solidFill>
            <a:prstDash val="solid"/>
          </a:ln>
        </p:spPr>
        <p:txBody>
          <a:bodyPr/>
          <a:lstStyle/>
          <a:p>
            <a:endParaRPr lang="en-IN"/>
          </a:p>
        </p:txBody>
      </p:sp>
      <p:sp>
        <p:nvSpPr>
          <p:cNvPr id="5" name="Text 3"/>
          <p:cNvSpPr/>
          <p:nvPr/>
        </p:nvSpPr>
        <p:spPr>
          <a:xfrm>
            <a:off x="812800" y="201920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1638300" y="2074466"/>
            <a:ext cx="7231443"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Apply </a:t>
            </a:r>
            <a:r>
              <a:rPr lang="en-US" sz="1700" b="1" dirty="0">
                <a:solidFill>
                  <a:srgbClr val="13262E"/>
                </a:solidFill>
                <a:latin typeface="Inter" pitchFamily="34" charset="0"/>
                <a:ea typeface="Inter" pitchFamily="34" charset="-122"/>
                <a:cs typeface="Inter" pitchFamily="34" charset="-120"/>
              </a:rPr>
              <a:t>honesty, objectivity and integrity</a:t>
            </a:r>
            <a:r>
              <a:rPr lang="en-US" sz="1700" dirty="0">
                <a:solidFill>
                  <a:srgbClr val="13262E"/>
                </a:solidFill>
                <a:latin typeface="Inter" pitchFamily="34" charset="0"/>
                <a:ea typeface="Inter" pitchFamily="34" charset="-122"/>
                <a:cs typeface="Inter" pitchFamily="34" charset="-120"/>
              </a:rPr>
              <a:t> to a machine learning study</a:t>
            </a:r>
            <a:endParaRPr lang="en-US" sz="1700" dirty="0"/>
          </a:p>
        </p:txBody>
      </p:sp>
      <p:sp>
        <p:nvSpPr>
          <p:cNvPr id="7" name="Shape 5"/>
          <p:cNvSpPr/>
          <p:nvPr/>
        </p:nvSpPr>
        <p:spPr>
          <a:xfrm>
            <a:off x="812800" y="2543671"/>
            <a:ext cx="10566400" cy="0"/>
          </a:xfrm>
          <a:prstGeom prst="line">
            <a:avLst/>
          </a:prstGeom>
          <a:noFill/>
          <a:ln w="12700">
            <a:solidFill>
              <a:srgbClr val="DDD6C8"/>
            </a:solidFill>
            <a:prstDash val="solid"/>
          </a:ln>
        </p:spPr>
        <p:txBody>
          <a:bodyPr/>
          <a:lstStyle/>
          <a:p>
            <a:endParaRPr lang="en-IN"/>
          </a:p>
        </p:txBody>
      </p:sp>
      <p:sp>
        <p:nvSpPr>
          <p:cNvPr id="8" name="Text 6"/>
          <p:cNvSpPr/>
          <p:nvPr/>
        </p:nvSpPr>
        <p:spPr>
          <a:xfrm>
            <a:off x="812800" y="267702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02</a:t>
            </a:r>
            <a:endParaRPr lang="en-US" sz="2200" dirty="0"/>
          </a:p>
        </p:txBody>
      </p:sp>
      <p:sp>
        <p:nvSpPr>
          <p:cNvPr id="9" name="Text 7"/>
          <p:cNvSpPr/>
          <p:nvPr/>
        </p:nvSpPr>
        <p:spPr>
          <a:xfrm>
            <a:off x="1638300" y="2732286"/>
            <a:ext cx="4810129"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Spot the </a:t>
            </a:r>
            <a:r>
              <a:rPr lang="en-US" sz="1700" b="1" dirty="0">
                <a:solidFill>
                  <a:srgbClr val="13262E"/>
                </a:solidFill>
                <a:latin typeface="Inter" pitchFamily="34" charset="0"/>
                <a:ea typeface="Inter" pitchFamily="34" charset="-122"/>
                <a:cs typeface="Inter" pitchFamily="34" charset="-120"/>
              </a:rPr>
              <a:t>hidden identifiers</a:t>
            </a:r>
            <a:r>
              <a:rPr lang="en-US" sz="1700" dirty="0">
                <a:solidFill>
                  <a:srgbClr val="13262E"/>
                </a:solidFill>
                <a:latin typeface="Inter" pitchFamily="34" charset="0"/>
                <a:ea typeface="Inter" pitchFamily="34" charset="-122"/>
                <a:cs typeface="Inter" pitchFamily="34" charset="-120"/>
              </a:rPr>
              <a:t> in medical images</a:t>
            </a:r>
            <a:endParaRPr lang="en-US" sz="1700" dirty="0"/>
          </a:p>
        </p:txBody>
      </p:sp>
      <p:sp>
        <p:nvSpPr>
          <p:cNvPr id="10" name="Shape 8"/>
          <p:cNvSpPr/>
          <p:nvPr/>
        </p:nvSpPr>
        <p:spPr>
          <a:xfrm>
            <a:off x="812800" y="3201491"/>
            <a:ext cx="10566400" cy="0"/>
          </a:xfrm>
          <a:prstGeom prst="line">
            <a:avLst/>
          </a:prstGeom>
          <a:noFill/>
          <a:ln w="12700">
            <a:solidFill>
              <a:srgbClr val="DDD6C8"/>
            </a:solidFill>
            <a:prstDash val="solid"/>
          </a:ln>
        </p:spPr>
        <p:txBody>
          <a:bodyPr/>
          <a:lstStyle/>
          <a:p>
            <a:endParaRPr lang="en-IN"/>
          </a:p>
        </p:txBody>
      </p:sp>
      <p:sp>
        <p:nvSpPr>
          <p:cNvPr id="11" name="Text 9"/>
          <p:cNvSpPr/>
          <p:nvPr/>
        </p:nvSpPr>
        <p:spPr>
          <a:xfrm>
            <a:off x="812800" y="333484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03</a:t>
            </a:r>
            <a:endParaRPr lang="en-US" sz="2200" dirty="0"/>
          </a:p>
        </p:txBody>
      </p:sp>
      <p:sp>
        <p:nvSpPr>
          <p:cNvPr id="12" name="Text 10"/>
          <p:cNvSpPr/>
          <p:nvPr/>
        </p:nvSpPr>
        <p:spPr>
          <a:xfrm>
            <a:off x="1638300" y="3390106"/>
            <a:ext cx="4757498"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Compare </a:t>
            </a:r>
            <a:r>
              <a:rPr lang="en-US" sz="1700" b="1" dirty="0">
                <a:solidFill>
                  <a:srgbClr val="13262E"/>
                </a:solidFill>
                <a:latin typeface="Inter" pitchFamily="34" charset="0"/>
                <a:ea typeface="Inter" pitchFamily="34" charset="-122"/>
                <a:cs typeface="Inter" pitchFamily="34" charset="-120"/>
              </a:rPr>
              <a:t>GDPR, HIPAA and India’s DPDP Act</a:t>
            </a:r>
            <a:endParaRPr lang="en-US" sz="1700" dirty="0"/>
          </a:p>
        </p:txBody>
      </p:sp>
      <p:sp>
        <p:nvSpPr>
          <p:cNvPr id="13" name="Shape 11"/>
          <p:cNvSpPr/>
          <p:nvPr/>
        </p:nvSpPr>
        <p:spPr>
          <a:xfrm>
            <a:off x="812800" y="3859312"/>
            <a:ext cx="10566400" cy="0"/>
          </a:xfrm>
          <a:prstGeom prst="line">
            <a:avLst/>
          </a:prstGeom>
          <a:noFill/>
          <a:ln w="12700">
            <a:solidFill>
              <a:srgbClr val="DDD6C8"/>
            </a:solidFill>
            <a:prstDash val="solid"/>
          </a:ln>
        </p:spPr>
        <p:txBody>
          <a:bodyPr/>
          <a:lstStyle/>
          <a:p>
            <a:endParaRPr lang="en-IN"/>
          </a:p>
        </p:txBody>
      </p:sp>
      <p:sp>
        <p:nvSpPr>
          <p:cNvPr id="14" name="Text 12"/>
          <p:cNvSpPr/>
          <p:nvPr/>
        </p:nvSpPr>
        <p:spPr>
          <a:xfrm>
            <a:off x="812800" y="399266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04</a:t>
            </a:r>
            <a:endParaRPr lang="en-US" sz="2200" dirty="0"/>
          </a:p>
        </p:txBody>
      </p:sp>
      <p:sp>
        <p:nvSpPr>
          <p:cNvPr id="15" name="Text 13"/>
          <p:cNvSpPr/>
          <p:nvPr/>
        </p:nvSpPr>
        <p:spPr>
          <a:xfrm>
            <a:off x="1638300" y="4047927"/>
            <a:ext cx="6155326"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Explain the role of the </a:t>
            </a:r>
            <a:r>
              <a:rPr lang="en-US" sz="1700" b="1" dirty="0">
                <a:solidFill>
                  <a:srgbClr val="13262E"/>
                </a:solidFill>
                <a:latin typeface="Inter" pitchFamily="34" charset="0"/>
                <a:ea typeface="Inter" pitchFamily="34" charset="-122"/>
                <a:cs typeface="Inter" pitchFamily="34" charset="-120"/>
              </a:rPr>
              <a:t>IRB / Institutional Ethics Committee</a:t>
            </a:r>
            <a:endParaRPr lang="en-US" sz="1700" dirty="0"/>
          </a:p>
        </p:txBody>
      </p:sp>
      <p:sp>
        <p:nvSpPr>
          <p:cNvPr id="16" name="Shape 14"/>
          <p:cNvSpPr/>
          <p:nvPr/>
        </p:nvSpPr>
        <p:spPr>
          <a:xfrm>
            <a:off x="812800" y="4517132"/>
            <a:ext cx="10566400" cy="0"/>
          </a:xfrm>
          <a:prstGeom prst="line">
            <a:avLst/>
          </a:prstGeom>
          <a:noFill/>
          <a:ln w="12700">
            <a:solidFill>
              <a:srgbClr val="DDD6C8"/>
            </a:solidFill>
            <a:prstDash val="solid"/>
          </a:ln>
        </p:spPr>
        <p:txBody>
          <a:bodyPr/>
          <a:lstStyle/>
          <a:p>
            <a:endParaRPr lang="en-IN"/>
          </a:p>
        </p:txBody>
      </p:sp>
      <p:sp>
        <p:nvSpPr>
          <p:cNvPr id="17" name="Shape 15"/>
          <p:cNvSpPr/>
          <p:nvPr/>
        </p:nvSpPr>
        <p:spPr>
          <a:xfrm>
            <a:off x="812800" y="5174952"/>
            <a:ext cx="10566400" cy="0"/>
          </a:xfrm>
          <a:prstGeom prst="line">
            <a:avLst/>
          </a:prstGeom>
          <a:noFill/>
          <a:ln w="12700">
            <a:solidFill>
              <a:srgbClr val="DDD6C8"/>
            </a:solidFill>
            <a:prstDash val="solid"/>
          </a:ln>
        </p:spPr>
        <p:txBody>
          <a:bodyPr/>
          <a:lstStyle/>
          <a:p>
            <a:endParaRPr lang="en-IN"/>
          </a:p>
        </p:txBody>
      </p:sp>
      <p:sp>
        <p:nvSpPr>
          <p:cNvPr id="18" name="Text 16"/>
          <p:cNvSpPr/>
          <p:nvPr/>
        </p:nvSpPr>
        <p:spPr>
          <a:xfrm>
            <a:off x="812800" y="465048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05</a:t>
            </a:r>
            <a:endParaRPr lang="en-US" sz="2200" dirty="0"/>
          </a:p>
        </p:txBody>
      </p:sp>
      <p:sp>
        <p:nvSpPr>
          <p:cNvPr id="19" name="Text 17"/>
          <p:cNvSpPr/>
          <p:nvPr/>
        </p:nvSpPr>
        <p:spPr>
          <a:xfrm>
            <a:off x="1638300" y="4705747"/>
            <a:ext cx="7345595"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Lay out the </a:t>
            </a:r>
            <a:r>
              <a:rPr lang="en-US" sz="1700" b="1" dirty="0">
                <a:solidFill>
                  <a:srgbClr val="13262E"/>
                </a:solidFill>
                <a:latin typeface="Inter" pitchFamily="34" charset="0"/>
                <a:ea typeface="Inter" pitchFamily="34" charset="-122"/>
                <a:cs typeface="Inter" pitchFamily="34" charset="-120"/>
              </a:rPr>
              <a:t>correct procedure</a:t>
            </a:r>
            <a:r>
              <a:rPr lang="en-US" sz="1700" dirty="0">
                <a:solidFill>
                  <a:srgbClr val="13262E"/>
                </a:solidFill>
                <a:latin typeface="Inter" pitchFamily="34" charset="0"/>
                <a:ea typeface="Inter" pitchFamily="34" charset="-122"/>
                <a:cs typeface="Inter" pitchFamily="34" charset="-120"/>
              </a:rPr>
              <a:t> before, during and after data collection</a:t>
            </a:r>
            <a:endParaRPr lang="en-US" sz="17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WHY ETHICS COMES FIRST</a:t>
            </a:r>
            <a:endParaRPr lang="en-US" sz="1200" dirty="0"/>
          </a:p>
        </p:txBody>
      </p:sp>
      <p:sp>
        <p:nvSpPr>
          <p:cNvPr id="3" name="Text 1"/>
          <p:cNvSpPr/>
          <p:nvPr/>
        </p:nvSpPr>
        <p:spPr>
          <a:xfrm>
            <a:off x="812800" y="1178520"/>
            <a:ext cx="10883392" cy="11430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F3EFE6"/>
                </a:solidFill>
                <a:latin typeface="Space Grotesk" pitchFamily="34" charset="0"/>
                <a:ea typeface="Space Grotesk" pitchFamily="34" charset="-122"/>
                <a:cs typeface="Space Grotesk" pitchFamily="34" charset="-120"/>
              </a:rPr>
              <a:t>An MRI scan is not just an image. </a:t>
            </a:r>
            <a:r>
              <a:rPr lang="en-US" sz="4000" b="1" dirty="0">
                <a:solidFill>
                  <a:srgbClr val="F2A384"/>
                </a:solidFill>
                <a:latin typeface="Space Grotesk" pitchFamily="34" charset="0"/>
                <a:ea typeface="Space Grotesk" pitchFamily="34" charset="-122"/>
                <a:cs typeface="Space Grotesk" pitchFamily="34" charset="-120"/>
              </a:rPr>
              <a:t>It belongs to a patient.</a:t>
            </a:r>
            <a:endParaRPr lang="en-US" sz="4000" dirty="0"/>
          </a:p>
        </p:txBody>
      </p:sp>
      <p:sp>
        <p:nvSpPr>
          <p:cNvPr id="4" name="Shape 2"/>
          <p:cNvSpPr/>
          <p:nvPr/>
        </p:nvSpPr>
        <p:spPr>
          <a:xfrm>
            <a:off x="812800" y="4600873"/>
            <a:ext cx="3420467" cy="1444327"/>
          </a:xfrm>
          <a:prstGeom prst="roundRect">
            <a:avLst>
              <a:gd name="adj" fmla="val 7034"/>
            </a:avLst>
          </a:prstGeom>
          <a:solidFill>
            <a:srgbClr val="1B3F4A"/>
          </a:solidFill>
          <a:ln/>
        </p:spPr>
        <p:txBody>
          <a:bodyPr/>
          <a:lstStyle/>
          <a:p>
            <a:endParaRPr lang="en-IN"/>
          </a:p>
        </p:txBody>
      </p:sp>
      <p:sp>
        <p:nvSpPr>
          <p:cNvPr id="5" name="Text 3"/>
          <p:cNvSpPr/>
          <p:nvPr/>
        </p:nvSpPr>
        <p:spPr>
          <a:xfrm>
            <a:off x="1016000" y="4804073"/>
            <a:ext cx="310448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384"/>
                </a:solidFill>
                <a:latin typeface="Space Grotesk" pitchFamily="34" charset="0"/>
                <a:ea typeface="Space Grotesk" pitchFamily="34" charset="-122"/>
                <a:cs typeface="Space Grotesk" pitchFamily="34" charset="-120"/>
              </a:rPr>
              <a:t>A diagnosis</a:t>
            </a:r>
            <a:endParaRPr lang="en-US" sz="1600" dirty="0"/>
          </a:p>
        </p:txBody>
      </p:sp>
      <p:sp>
        <p:nvSpPr>
          <p:cNvPr id="6" name="Text 4"/>
          <p:cNvSpPr/>
          <p:nvPr/>
        </p:nvSpPr>
        <p:spPr>
          <a:xfrm>
            <a:off x="1016000" y="5124053"/>
            <a:ext cx="3104489"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D6D4"/>
                </a:solidFill>
                <a:latin typeface="Inter" pitchFamily="34" charset="0"/>
                <a:ea typeface="Inter" pitchFamily="34" charset="-122"/>
                <a:cs typeface="Inter" pitchFamily="34" charset="-120"/>
              </a:rPr>
              <a:t>A brain tumour is some of the most sensitive health information a person has.</a:t>
            </a:r>
            <a:endParaRPr lang="en-US" sz="1300" dirty="0"/>
          </a:p>
        </p:txBody>
      </p:sp>
      <p:sp>
        <p:nvSpPr>
          <p:cNvPr id="7" name="Shape 5"/>
          <p:cNvSpPr/>
          <p:nvPr/>
        </p:nvSpPr>
        <p:spPr>
          <a:xfrm>
            <a:off x="4385667" y="4600873"/>
            <a:ext cx="3420566" cy="1444327"/>
          </a:xfrm>
          <a:prstGeom prst="roundRect">
            <a:avLst>
              <a:gd name="adj" fmla="val 7034"/>
            </a:avLst>
          </a:prstGeom>
          <a:solidFill>
            <a:srgbClr val="1B3F4A"/>
          </a:solidFill>
          <a:ln/>
        </p:spPr>
        <p:txBody>
          <a:bodyPr/>
          <a:lstStyle/>
          <a:p>
            <a:endParaRPr lang="en-IN"/>
          </a:p>
        </p:txBody>
      </p:sp>
      <p:sp>
        <p:nvSpPr>
          <p:cNvPr id="8" name="Text 6"/>
          <p:cNvSpPr/>
          <p:nvPr/>
        </p:nvSpPr>
        <p:spPr>
          <a:xfrm>
            <a:off x="4588867" y="4804073"/>
            <a:ext cx="31045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384"/>
                </a:solidFill>
                <a:latin typeface="Space Grotesk" pitchFamily="34" charset="0"/>
                <a:ea typeface="Space Grotesk" pitchFamily="34" charset="-122"/>
                <a:cs typeface="Space Grotesk" pitchFamily="34" charset="-120"/>
              </a:rPr>
              <a:t>An identity</a:t>
            </a:r>
            <a:endParaRPr lang="en-US" sz="1600" dirty="0"/>
          </a:p>
        </p:txBody>
      </p:sp>
      <p:sp>
        <p:nvSpPr>
          <p:cNvPr id="9" name="Text 7"/>
          <p:cNvSpPr/>
          <p:nvPr/>
        </p:nvSpPr>
        <p:spPr>
          <a:xfrm>
            <a:off x="4588867" y="5124053"/>
            <a:ext cx="3104591"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D6D4"/>
                </a:solidFill>
                <a:latin typeface="Inter" pitchFamily="34" charset="0"/>
                <a:ea typeface="Inter" pitchFamily="34" charset="-122"/>
                <a:cs typeface="Inter" pitchFamily="34" charset="-120"/>
              </a:rPr>
              <a:t>Files carry names, IDs and dates, and a 3D head scan contains a face.</a:t>
            </a:r>
            <a:endParaRPr lang="en-US" sz="1300" dirty="0"/>
          </a:p>
        </p:txBody>
      </p:sp>
      <p:sp>
        <p:nvSpPr>
          <p:cNvPr id="10" name="Shape 8"/>
          <p:cNvSpPr/>
          <p:nvPr/>
        </p:nvSpPr>
        <p:spPr>
          <a:xfrm>
            <a:off x="7958634" y="4600873"/>
            <a:ext cx="3420566" cy="1444327"/>
          </a:xfrm>
          <a:prstGeom prst="roundRect">
            <a:avLst>
              <a:gd name="adj" fmla="val 7034"/>
            </a:avLst>
          </a:prstGeom>
          <a:solidFill>
            <a:srgbClr val="1B3F4A"/>
          </a:solidFill>
          <a:ln/>
        </p:spPr>
        <p:txBody>
          <a:bodyPr/>
          <a:lstStyle/>
          <a:p>
            <a:endParaRPr lang="en-IN"/>
          </a:p>
        </p:txBody>
      </p:sp>
      <p:sp>
        <p:nvSpPr>
          <p:cNvPr id="11" name="Text 9"/>
          <p:cNvSpPr/>
          <p:nvPr/>
        </p:nvSpPr>
        <p:spPr>
          <a:xfrm>
            <a:off x="8161834" y="4804073"/>
            <a:ext cx="31045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384"/>
                </a:solidFill>
                <a:latin typeface="Space Grotesk" pitchFamily="34" charset="0"/>
                <a:ea typeface="Space Grotesk" pitchFamily="34" charset="-122"/>
                <a:cs typeface="Space Grotesk" pitchFamily="34" charset="-120"/>
              </a:rPr>
              <a:t>A trust</a:t>
            </a:r>
            <a:endParaRPr lang="en-US" sz="1600" dirty="0"/>
          </a:p>
        </p:txBody>
      </p:sp>
      <p:sp>
        <p:nvSpPr>
          <p:cNvPr id="12" name="Text 10"/>
          <p:cNvSpPr/>
          <p:nvPr/>
        </p:nvSpPr>
        <p:spPr>
          <a:xfrm>
            <a:off x="8161834" y="5124053"/>
            <a:ext cx="3104591"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D6D4"/>
                </a:solidFill>
                <a:latin typeface="Inter" pitchFamily="34" charset="0"/>
                <a:ea typeface="Inter" pitchFamily="34" charset="-122"/>
                <a:cs typeface="Inter" pitchFamily="34" charset="-120"/>
              </a:rPr>
              <a:t>Patients were scanned for care, not for your thesis. Reuse needs permission.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A · CORE PRINCIPLES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Three principles, made concrete for segmentation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79501"/>
          <a:ext cx="10566400" cy="3453804"/>
        </p:xfrm>
        <a:graphic>
          <a:graphicData uri="http://schemas.openxmlformats.org/drawingml/2006/table">
            <a:tbl>
              <a:tblPr/>
              <a:tblGrid>
                <a:gridCol w="1690624">
                  <a:extLst>
                    <a:ext uri="{9D8B030D-6E8A-4147-A177-3AD203B41FA5}">
                      <a16:colId xmlns:a16="http://schemas.microsoft.com/office/drawing/2014/main" val="20000"/>
                    </a:ext>
                  </a:extLst>
                </a:gridCol>
                <a:gridCol w="2324608">
                  <a:extLst>
                    <a:ext uri="{9D8B030D-6E8A-4147-A177-3AD203B41FA5}">
                      <a16:colId xmlns:a16="http://schemas.microsoft.com/office/drawing/2014/main" val="20001"/>
                    </a:ext>
                  </a:extLst>
                </a:gridCol>
                <a:gridCol w="3275584">
                  <a:extLst>
                    <a:ext uri="{9D8B030D-6E8A-4147-A177-3AD203B41FA5}">
                      <a16:colId xmlns:a16="http://schemas.microsoft.com/office/drawing/2014/main" val="20002"/>
                    </a:ext>
                  </a:extLst>
                </a:gridCol>
                <a:gridCol w="3275584">
                  <a:extLst>
                    <a:ext uri="{9D8B030D-6E8A-4147-A177-3AD203B41FA5}">
                      <a16:colId xmlns:a16="http://schemas.microsoft.com/office/drawing/2014/main" val="20003"/>
                    </a:ext>
                  </a:extLst>
                </a:gridCol>
              </a:tblGrid>
              <a:tr h="421580">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Principle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Meaning</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Violation</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Correct practice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extLst>
                  <a:ext uri="{0D108BD9-81ED-4DB2-BD59-A6C34878D82A}">
                    <a16:rowId xmlns:a16="http://schemas.microsoft.com/office/drawing/2014/main" val="10000"/>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Honesty</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Report what actually happened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Tuning on the test set, then reporting that Dice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Separate validation set; touch the test set once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21580">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Honesty</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Reporting only the best of ten runs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Report mean ± standard deviation</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2"/>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Objectivity</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Let evidence, not hope, decide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Showing only the neatest tumour outlines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Include failure cases and per-region scores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Objectivity</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Tuning your model but not the baselines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Give baselines the same tuning effort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4"/>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Integrity</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Keep your word, respect the rules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Using BraTS without its terms or citations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Follow data-use terms; cite the datasets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A · HONESTY IN PRACTICE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The quiet cheat: data leakage between patients</a:t>
            </a:r>
            <a:endParaRPr lang="en-US" sz="3200" dirty="0"/>
          </a:p>
        </p:txBody>
      </p:sp>
      <p:sp>
        <p:nvSpPr>
          <p:cNvPr id="4" name="Shape 2"/>
          <p:cNvSpPr/>
          <p:nvPr/>
        </p:nvSpPr>
        <p:spPr>
          <a:xfrm>
            <a:off x="819150" y="1860451"/>
            <a:ext cx="5168900" cy="2472928"/>
          </a:xfrm>
          <a:prstGeom prst="roundRect">
            <a:avLst>
              <a:gd name="adj" fmla="val 3852"/>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54100" y="20954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5452A"/>
                </a:solidFill>
                <a:latin typeface="Space Grotesk" pitchFamily="34" charset="0"/>
                <a:ea typeface="Space Grotesk" pitchFamily="34" charset="-122"/>
                <a:cs typeface="Space Grotesk" pitchFamily="34" charset="-120"/>
              </a:rPr>
              <a:t>✗ Split by slice</a:t>
            </a:r>
            <a:endParaRPr lang="en-US" sz="1800" dirty="0"/>
          </a:p>
        </p:txBody>
      </p:sp>
      <p:sp>
        <p:nvSpPr>
          <p:cNvPr id="6" name="Text 4"/>
          <p:cNvSpPr/>
          <p:nvPr/>
        </p:nvSpPr>
        <p:spPr>
          <a:xfrm>
            <a:off x="1054100" y="2547441"/>
            <a:ext cx="622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Train</a:t>
            </a:r>
            <a:endParaRPr lang="en-US" sz="1200" dirty="0"/>
          </a:p>
        </p:txBody>
      </p:sp>
      <p:sp>
        <p:nvSpPr>
          <p:cNvPr id="7" name="Shape 5"/>
          <p:cNvSpPr/>
          <p:nvPr/>
        </p:nvSpPr>
        <p:spPr>
          <a:xfrm>
            <a:off x="1701800" y="2496641"/>
            <a:ext cx="337145" cy="314920"/>
          </a:xfrm>
          <a:prstGeom prst="roundRect">
            <a:avLst>
              <a:gd name="adj" fmla="val 16131"/>
            </a:avLst>
          </a:prstGeom>
          <a:solidFill>
            <a:srgbClr val="86D3C7"/>
          </a:solidFill>
          <a:ln/>
        </p:spPr>
        <p:txBody>
          <a:bodyPr/>
          <a:lstStyle/>
          <a:p>
            <a:endParaRPr lang="en-IN"/>
          </a:p>
        </p:txBody>
      </p:sp>
      <p:sp>
        <p:nvSpPr>
          <p:cNvPr id="8" name="Text 6"/>
          <p:cNvSpPr/>
          <p:nvPr/>
        </p:nvSpPr>
        <p:spPr>
          <a:xfrm>
            <a:off x="1790700" y="2547441"/>
            <a:ext cx="210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P1</a:t>
            </a:r>
            <a:endParaRPr lang="en-US" sz="1200" dirty="0"/>
          </a:p>
        </p:txBody>
      </p:sp>
      <p:sp>
        <p:nvSpPr>
          <p:cNvPr id="9" name="Shape 7"/>
          <p:cNvSpPr/>
          <p:nvPr/>
        </p:nvSpPr>
        <p:spPr>
          <a:xfrm>
            <a:off x="2115145" y="2496641"/>
            <a:ext cx="368102" cy="314920"/>
          </a:xfrm>
          <a:prstGeom prst="roundRect">
            <a:avLst>
              <a:gd name="adj" fmla="val 16131"/>
            </a:avLst>
          </a:prstGeom>
          <a:solidFill>
            <a:srgbClr val="F2C14E"/>
          </a:solidFill>
          <a:ln/>
        </p:spPr>
        <p:txBody>
          <a:bodyPr/>
          <a:lstStyle/>
          <a:p>
            <a:endParaRPr lang="en-IN"/>
          </a:p>
        </p:txBody>
      </p:sp>
      <p:sp>
        <p:nvSpPr>
          <p:cNvPr id="10" name="Text 8"/>
          <p:cNvSpPr/>
          <p:nvPr/>
        </p:nvSpPr>
        <p:spPr>
          <a:xfrm>
            <a:off x="2204045" y="2547441"/>
            <a:ext cx="2411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P2</a:t>
            </a:r>
            <a:endParaRPr lang="en-US" sz="1200" dirty="0"/>
          </a:p>
        </p:txBody>
      </p:sp>
      <p:sp>
        <p:nvSpPr>
          <p:cNvPr id="11" name="Shape 9"/>
          <p:cNvSpPr/>
          <p:nvPr/>
        </p:nvSpPr>
        <p:spPr>
          <a:xfrm>
            <a:off x="2559447" y="2496641"/>
            <a:ext cx="337145" cy="314920"/>
          </a:xfrm>
          <a:prstGeom prst="roundRect">
            <a:avLst>
              <a:gd name="adj" fmla="val 16131"/>
            </a:avLst>
          </a:prstGeom>
          <a:solidFill>
            <a:srgbClr val="86D3C7"/>
          </a:solidFill>
          <a:ln/>
        </p:spPr>
        <p:txBody>
          <a:bodyPr/>
          <a:lstStyle/>
          <a:p>
            <a:endParaRPr lang="en-IN"/>
          </a:p>
        </p:txBody>
      </p:sp>
      <p:sp>
        <p:nvSpPr>
          <p:cNvPr id="12" name="Text 10"/>
          <p:cNvSpPr/>
          <p:nvPr/>
        </p:nvSpPr>
        <p:spPr>
          <a:xfrm>
            <a:off x="2648347" y="2547441"/>
            <a:ext cx="210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P1</a:t>
            </a:r>
            <a:endParaRPr lang="en-US" sz="1200" dirty="0"/>
          </a:p>
        </p:txBody>
      </p:sp>
      <p:sp>
        <p:nvSpPr>
          <p:cNvPr id="13" name="Shape 11"/>
          <p:cNvSpPr/>
          <p:nvPr/>
        </p:nvSpPr>
        <p:spPr>
          <a:xfrm>
            <a:off x="2972792" y="2496641"/>
            <a:ext cx="369292" cy="314920"/>
          </a:xfrm>
          <a:prstGeom prst="roundRect">
            <a:avLst>
              <a:gd name="adj" fmla="val 16131"/>
            </a:avLst>
          </a:prstGeom>
          <a:solidFill>
            <a:srgbClr val="F2A384"/>
          </a:solidFill>
          <a:ln/>
        </p:spPr>
        <p:txBody>
          <a:bodyPr/>
          <a:lstStyle/>
          <a:p>
            <a:endParaRPr lang="en-IN"/>
          </a:p>
        </p:txBody>
      </p:sp>
      <p:sp>
        <p:nvSpPr>
          <p:cNvPr id="14" name="Text 12"/>
          <p:cNvSpPr/>
          <p:nvPr/>
        </p:nvSpPr>
        <p:spPr>
          <a:xfrm>
            <a:off x="3061692" y="2547441"/>
            <a:ext cx="2422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P3</a:t>
            </a:r>
            <a:endParaRPr lang="en-US" sz="1200" dirty="0"/>
          </a:p>
        </p:txBody>
      </p:sp>
      <p:sp>
        <p:nvSpPr>
          <p:cNvPr id="15" name="Shape 13"/>
          <p:cNvSpPr/>
          <p:nvPr/>
        </p:nvSpPr>
        <p:spPr>
          <a:xfrm>
            <a:off x="3418284" y="2496641"/>
            <a:ext cx="368102" cy="314920"/>
          </a:xfrm>
          <a:prstGeom prst="roundRect">
            <a:avLst>
              <a:gd name="adj" fmla="val 16131"/>
            </a:avLst>
          </a:prstGeom>
          <a:solidFill>
            <a:srgbClr val="F2C14E"/>
          </a:solidFill>
          <a:ln/>
        </p:spPr>
        <p:txBody>
          <a:bodyPr/>
          <a:lstStyle/>
          <a:p>
            <a:endParaRPr lang="en-IN"/>
          </a:p>
        </p:txBody>
      </p:sp>
      <p:sp>
        <p:nvSpPr>
          <p:cNvPr id="16" name="Text 14"/>
          <p:cNvSpPr/>
          <p:nvPr/>
        </p:nvSpPr>
        <p:spPr>
          <a:xfrm>
            <a:off x="3507184" y="2547441"/>
            <a:ext cx="2411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P2</a:t>
            </a:r>
            <a:endParaRPr lang="en-US" sz="1200" dirty="0"/>
          </a:p>
        </p:txBody>
      </p:sp>
      <p:sp>
        <p:nvSpPr>
          <p:cNvPr id="17" name="Text 15"/>
          <p:cNvSpPr/>
          <p:nvPr/>
        </p:nvSpPr>
        <p:spPr>
          <a:xfrm>
            <a:off x="1054100" y="2989362"/>
            <a:ext cx="622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Test</a:t>
            </a:r>
            <a:endParaRPr lang="en-US" sz="1200" dirty="0"/>
          </a:p>
        </p:txBody>
      </p:sp>
      <p:sp>
        <p:nvSpPr>
          <p:cNvPr id="18" name="Shape 16"/>
          <p:cNvSpPr/>
          <p:nvPr/>
        </p:nvSpPr>
        <p:spPr>
          <a:xfrm>
            <a:off x="1701800" y="2938562"/>
            <a:ext cx="337145" cy="314920"/>
          </a:xfrm>
          <a:prstGeom prst="roundRect">
            <a:avLst>
              <a:gd name="adj" fmla="val 16131"/>
            </a:avLst>
          </a:prstGeom>
          <a:solidFill>
            <a:srgbClr val="86D3C7"/>
          </a:solidFill>
          <a:ln/>
        </p:spPr>
        <p:txBody>
          <a:bodyPr/>
          <a:lstStyle/>
          <a:p>
            <a:endParaRPr lang="en-IN"/>
          </a:p>
        </p:txBody>
      </p:sp>
      <p:sp>
        <p:nvSpPr>
          <p:cNvPr id="19" name="Text 17"/>
          <p:cNvSpPr/>
          <p:nvPr/>
        </p:nvSpPr>
        <p:spPr>
          <a:xfrm>
            <a:off x="1790700" y="2989362"/>
            <a:ext cx="210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P1</a:t>
            </a:r>
            <a:endParaRPr lang="en-US" sz="1200" dirty="0"/>
          </a:p>
        </p:txBody>
      </p:sp>
      <p:sp>
        <p:nvSpPr>
          <p:cNvPr id="20" name="Shape 18"/>
          <p:cNvSpPr/>
          <p:nvPr/>
        </p:nvSpPr>
        <p:spPr>
          <a:xfrm>
            <a:off x="2115145" y="2938562"/>
            <a:ext cx="369292" cy="314920"/>
          </a:xfrm>
          <a:prstGeom prst="roundRect">
            <a:avLst>
              <a:gd name="adj" fmla="val 16131"/>
            </a:avLst>
          </a:prstGeom>
          <a:solidFill>
            <a:srgbClr val="F2A384"/>
          </a:solidFill>
          <a:ln/>
        </p:spPr>
        <p:txBody>
          <a:bodyPr/>
          <a:lstStyle/>
          <a:p>
            <a:endParaRPr lang="en-IN"/>
          </a:p>
        </p:txBody>
      </p:sp>
      <p:sp>
        <p:nvSpPr>
          <p:cNvPr id="21" name="Text 19"/>
          <p:cNvSpPr/>
          <p:nvPr/>
        </p:nvSpPr>
        <p:spPr>
          <a:xfrm>
            <a:off x="2204045" y="2989362"/>
            <a:ext cx="2422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P3</a:t>
            </a:r>
            <a:endParaRPr lang="en-US" sz="1200" dirty="0"/>
          </a:p>
        </p:txBody>
      </p:sp>
      <p:sp>
        <p:nvSpPr>
          <p:cNvPr id="22" name="Text 20"/>
          <p:cNvSpPr/>
          <p:nvPr/>
        </p:nvSpPr>
        <p:spPr>
          <a:xfrm>
            <a:off x="1054100" y="3380482"/>
            <a:ext cx="4839970"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Neighbouring slices of the same patient look almost identical. The model is tested on brains it has already seen, so Dice looks better than it really is.</a:t>
            </a:r>
            <a:endParaRPr lang="en-US" sz="1300" dirty="0"/>
          </a:p>
        </p:txBody>
      </p:sp>
      <p:sp>
        <p:nvSpPr>
          <p:cNvPr id="23" name="Shape 21"/>
          <p:cNvSpPr/>
          <p:nvPr/>
        </p:nvSpPr>
        <p:spPr>
          <a:xfrm>
            <a:off x="6203950" y="1860451"/>
            <a:ext cx="5168900" cy="2472928"/>
          </a:xfrm>
          <a:prstGeom prst="roundRect">
            <a:avLst>
              <a:gd name="adj" fmla="val 3852"/>
            </a:avLst>
          </a:prstGeom>
          <a:solidFill>
            <a:srgbClr val="FFFDF8"/>
          </a:solidFill>
          <a:ln w="12700">
            <a:solidFill>
              <a:srgbClr val="DDD6C8"/>
            </a:solidFill>
            <a:prstDash val="solid"/>
          </a:ln>
        </p:spPr>
        <p:txBody>
          <a:bodyPr/>
          <a:lstStyle/>
          <a:p>
            <a:endParaRPr lang="en-IN"/>
          </a:p>
        </p:txBody>
      </p:sp>
      <p:sp>
        <p:nvSpPr>
          <p:cNvPr id="24" name="Text 22"/>
          <p:cNvSpPr/>
          <p:nvPr/>
        </p:nvSpPr>
        <p:spPr>
          <a:xfrm>
            <a:off x="6438900" y="20954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6F66"/>
                </a:solidFill>
                <a:latin typeface="Space Grotesk" pitchFamily="34" charset="0"/>
                <a:ea typeface="Space Grotesk" pitchFamily="34" charset="-122"/>
                <a:cs typeface="Space Grotesk" pitchFamily="34" charset="-120"/>
              </a:rPr>
              <a:t>✓ Split by patient</a:t>
            </a:r>
            <a:endParaRPr lang="en-US" sz="1800" dirty="0"/>
          </a:p>
        </p:txBody>
      </p:sp>
      <p:sp>
        <p:nvSpPr>
          <p:cNvPr id="25" name="Text 23"/>
          <p:cNvSpPr/>
          <p:nvPr/>
        </p:nvSpPr>
        <p:spPr>
          <a:xfrm>
            <a:off x="6438900" y="2547441"/>
            <a:ext cx="622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Train</a:t>
            </a:r>
            <a:endParaRPr lang="en-US" sz="1200" dirty="0"/>
          </a:p>
        </p:txBody>
      </p:sp>
      <p:sp>
        <p:nvSpPr>
          <p:cNvPr id="26" name="Shape 24"/>
          <p:cNvSpPr/>
          <p:nvPr/>
        </p:nvSpPr>
        <p:spPr>
          <a:xfrm>
            <a:off x="7086600" y="2496641"/>
            <a:ext cx="337145" cy="314920"/>
          </a:xfrm>
          <a:prstGeom prst="roundRect">
            <a:avLst>
              <a:gd name="adj" fmla="val 16131"/>
            </a:avLst>
          </a:prstGeom>
          <a:solidFill>
            <a:srgbClr val="86D3C7"/>
          </a:solidFill>
          <a:ln/>
        </p:spPr>
        <p:txBody>
          <a:bodyPr/>
          <a:lstStyle/>
          <a:p>
            <a:endParaRPr lang="en-IN"/>
          </a:p>
        </p:txBody>
      </p:sp>
      <p:sp>
        <p:nvSpPr>
          <p:cNvPr id="27" name="Text 25"/>
          <p:cNvSpPr/>
          <p:nvPr/>
        </p:nvSpPr>
        <p:spPr>
          <a:xfrm>
            <a:off x="7175500" y="2547441"/>
            <a:ext cx="210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P1</a:t>
            </a:r>
            <a:endParaRPr lang="en-US" sz="1200" dirty="0"/>
          </a:p>
        </p:txBody>
      </p:sp>
      <p:sp>
        <p:nvSpPr>
          <p:cNvPr id="28" name="Shape 26"/>
          <p:cNvSpPr/>
          <p:nvPr/>
        </p:nvSpPr>
        <p:spPr>
          <a:xfrm>
            <a:off x="7499945" y="2496641"/>
            <a:ext cx="337145" cy="314920"/>
          </a:xfrm>
          <a:prstGeom prst="roundRect">
            <a:avLst>
              <a:gd name="adj" fmla="val 16131"/>
            </a:avLst>
          </a:prstGeom>
          <a:solidFill>
            <a:srgbClr val="86D3C7"/>
          </a:solidFill>
          <a:ln/>
        </p:spPr>
        <p:txBody>
          <a:bodyPr/>
          <a:lstStyle/>
          <a:p>
            <a:endParaRPr lang="en-IN"/>
          </a:p>
        </p:txBody>
      </p:sp>
      <p:sp>
        <p:nvSpPr>
          <p:cNvPr id="29" name="Text 27"/>
          <p:cNvSpPr/>
          <p:nvPr/>
        </p:nvSpPr>
        <p:spPr>
          <a:xfrm>
            <a:off x="7588845" y="2547441"/>
            <a:ext cx="210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P1</a:t>
            </a:r>
            <a:endParaRPr lang="en-US" sz="1200" dirty="0"/>
          </a:p>
        </p:txBody>
      </p:sp>
      <p:sp>
        <p:nvSpPr>
          <p:cNvPr id="30" name="Shape 28"/>
          <p:cNvSpPr/>
          <p:nvPr/>
        </p:nvSpPr>
        <p:spPr>
          <a:xfrm>
            <a:off x="7913291" y="2496641"/>
            <a:ext cx="368102" cy="314920"/>
          </a:xfrm>
          <a:prstGeom prst="roundRect">
            <a:avLst>
              <a:gd name="adj" fmla="val 16131"/>
            </a:avLst>
          </a:prstGeom>
          <a:solidFill>
            <a:srgbClr val="F2C14E"/>
          </a:solidFill>
          <a:ln/>
        </p:spPr>
        <p:txBody>
          <a:bodyPr/>
          <a:lstStyle/>
          <a:p>
            <a:endParaRPr lang="en-IN"/>
          </a:p>
        </p:txBody>
      </p:sp>
      <p:sp>
        <p:nvSpPr>
          <p:cNvPr id="31" name="Text 29"/>
          <p:cNvSpPr/>
          <p:nvPr/>
        </p:nvSpPr>
        <p:spPr>
          <a:xfrm>
            <a:off x="8002191" y="2547441"/>
            <a:ext cx="2411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P2</a:t>
            </a:r>
            <a:endParaRPr lang="en-US" sz="1200" dirty="0"/>
          </a:p>
        </p:txBody>
      </p:sp>
      <p:sp>
        <p:nvSpPr>
          <p:cNvPr id="32" name="Shape 30"/>
          <p:cNvSpPr/>
          <p:nvPr/>
        </p:nvSpPr>
        <p:spPr>
          <a:xfrm>
            <a:off x="8357592" y="2496641"/>
            <a:ext cx="368102" cy="314920"/>
          </a:xfrm>
          <a:prstGeom prst="roundRect">
            <a:avLst>
              <a:gd name="adj" fmla="val 16131"/>
            </a:avLst>
          </a:prstGeom>
          <a:solidFill>
            <a:srgbClr val="F2C14E"/>
          </a:solidFill>
          <a:ln/>
        </p:spPr>
        <p:txBody>
          <a:bodyPr/>
          <a:lstStyle/>
          <a:p>
            <a:endParaRPr lang="en-IN"/>
          </a:p>
        </p:txBody>
      </p:sp>
      <p:sp>
        <p:nvSpPr>
          <p:cNvPr id="33" name="Text 31"/>
          <p:cNvSpPr/>
          <p:nvPr/>
        </p:nvSpPr>
        <p:spPr>
          <a:xfrm>
            <a:off x="8446492" y="2547441"/>
            <a:ext cx="2411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P2</a:t>
            </a:r>
            <a:endParaRPr lang="en-US" sz="1200" dirty="0"/>
          </a:p>
        </p:txBody>
      </p:sp>
      <p:sp>
        <p:nvSpPr>
          <p:cNvPr id="34" name="Text 32"/>
          <p:cNvSpPr/>
          <p:nvPr/>
        </p:nvSpPr>
        <p:spPr>
          <a:xfrm>
            <a:off x="6438900" y="2989362"/>
            <a:ext cx="622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Test</a:t>
            </a:r>
            <a:endParaRPr lang="en-US" sz="1200" dirty="0"/>
          </a:p>
        </p:txBody>
      </p:sp>
      <p:sp>
        <p:nvSpPr>
          <p:cNvPr id="35" name="Shape 33"/>
          <p:cNvSpPr/>
          <p:nvPr/>
        </p:nvSpPr>
        <p:spPr>
          <a:xfrm>
            <a:off x="7086600" y="2938562"/>
            <a:ext cx="369292" cy="314920"/>
          </a:xfrm>
          <a:prstGeom prst="roundRect">
            <a:avLst>
              <a:gd name="adj" fmla="val 16131"/>
            </a:avLst>
          </a:prstGeom>
          <a:solidFill>
            <a:srgbClr val="F2A384"/>
          </a:solidFill>
          <a:ln/>
        </p:spPr>
        <p:txBody>
          <a:bodyPr/>
          <a:lstStyle/>
          <a:p>
            <a:endParaRPr lang="en-IN"/>
          </a:p>
        </p:txBody>
      </p:sp>
      <p:sp>
        <p:nvSpPr>
          <p:cNvPr id="36" name="Text 34"/>
          <p:cNvSpPr/>
          <p:nvPr/>
        </p:nvSpPr>
        <p:spPr>
          <a:xfrm>
            <a:off x="7175500" y="2989362"/>
            <a:ext cx="2422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P3</a:t>
            </a:r>
            <a:endParaRPr lang="en-US" sz="1200" dirty="0"/>
          </a:p>
        </p:txBody>
      </p:sp>
      <p:sp>
        <p:nvSpPr>
          <p:cNvPr id="37" name="Shape 35"/>
          <p:cNvSpPr/>
          <p:nvPr/>
        </p:nvSpPr>
        <p:spPr>
          <a:xfrm>
            <a:off x="7532092" y="2938562"/>
            <a:ext cx="369292" cy="314920"/>
          </a:xfrm>
          <a:prstGeom prst="roundRect">
            <a:avLst>
              <a:gd name="adj" fmla="val 16131"/>
            </a:avLst>
          </a:prstGeom>
          <a:solidFill>
            <a:srgbClr val="F2A384"/>
          </a:solidFill>
          <a:ln/>
        </p:spPr>
        <p:txBody>
          <a:bodyPr/>
          <a:lstStyle/>
          <a:p>
            <a:endParaRPr lang="en-IN"/>
          </a:p>
        </p:txBody>
      </p:sp>
      <p:sp>
        <p:nvSpPr>
          <p:cNvPr id="38" name="Text 36"/>
          <p:cNvSpPr/>
          <p:nvPr/>
        </p:nvSpPr>
        <p:spPr>
          <a:xfrm>
            <a:off x="7620992" y="2989362"/>
            <a:ext cx="2422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2E"/>
                </a:solidFill>
                <a:latin typeface="Inter" pitchFamily="34" charset="0"/>
                <a:ea typeface="Inter" pitchFamily="34" charset="-122"/>
                <a:cs typeface="Inter" pitchFamily="34" charset="-120"/>
              </a:rPr>
              <a:t>P3</a:t>
            </a:r>
            <a:endParaRPr lang="en-US" sz="1200" dirty="0"/>
          </a:p>
        </p:txBody>
      </p:sp>
      <p:sp>
        <p:nvSpPr>
          <p:cNvPr id="39" name="Text 37"/>
          <p:cNvSpPr/>
          <p:nvPr/>
        </p:nvSpPr>
        <p:spPr>
          <a:xfrm>
            <a:off x="6438900" y="3380482"/>
            <a:ext cx="4839970"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Every scan of a patient goes to exactly one set. The test score now measures performance on genuinely new patients.</a:t>
            </a:r>
            <a:endParaRPr lang="en-US" sz="1300" dirty="0"/>
          </a:p>
        </p:txBody>
      </p:sp>
      <p:sp>
        <p:nvSpPr>
          <p:cNvPr id="40" name="Text 38"/>
          <p:cNvSpPr/>
          <p:nvPr/>
        </p:nvSpPr>
        <p:spPr>
          <a:xfrm>
            <a:off x="812800" y="461912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62E"/>
                </a:solidFill>
                <a:latin typeface="Inter" pitchFamily="34" charset="0"/>
                <a:ea typeface="Inter" pitchFamily="34" charset="-122"/>
                <a:cs typeface="Inter" pitchFamily="34" charset="-120"/>
              </a:rPr>
              <a:t>Reporting leaked results as real is an honesty failure.</a:t>
            </a:r>
            <a:r>
              <a:rPr lang="en-US" sz="1400" dirty="0">
                <a:solidFill>
                  <a:srgbClr val="13262E"/>
                </a:solidFill>
                <a:latin typeface="Inter" pitchFamily="34" charset="0"/>
                <a:ea typeface="Inter" pitchFamily="34" charset="-122"/>
                <a:cs typeface="Inter" pitchFamily="34" charset="-120"/>
              </a:rPr>
              <a:t> Check your split.</a:t>
            </a:r>
            <a:endParaRPr lang="en-US" sz="1400" dirty="0"/>
          </a:p>
        </p:txBody>
      </p:sp>
      <p:sp>
        <p:nvSpPr>
          <p:cNvPr id="41" name="Text 3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B · DATA PRIVACY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Three places a scan hides a patient’s identity</a:t>
            </a:r>
            <a:endParaRPr lang="en-US" sz="3200" dirty="0"/>
          </a:p>
        </p:txBody>
      </p:sp>
      <p:sp>
        <p:nvSpPr>
          <p:cNvPr id="4" name="Shape 2"/>
          <p:cNvSpPr/>
          <p:nvPr/>
        </p:nvSpPr>
        <p:spPr>
          <a:xfrm>
            <a:off x="819150" y="1860451"/>
            <a:ext cx="3407767" cy="3073499"/>
          </a:xfrm>
          <a:prstGeom prst="roundRect">
            <a:avLst>
              <a:gd name="adj" fmla="val 3099"/>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41400" y="2082701"/>
            <a:ext cx="3052165"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5452A"/>
                </a:solidFill>
                <a:latin typeface="Space Grotesk" pitchFamily="34" charset="0"/>
                <a:ea typeface="Space Grotesk" pitchFamily="34" charset="-122"/>
                <a:cs typeface="Space Grotesk" pitchFamily="34" charset="-120"/>
              </a:rPr>
              <a:t>1</a:t>
            </a:r>
            <a:endParaRPr lang="en-US" sz="2400" dirty="0"/>
          </a:p>
        </p:txBody>
      </p:sp>
      <p:sp>
        <p:nvSpPr>
          <p:cNvPr id="6" name="Text 4"/>
          <p:cNvSpPr/>
          <p:nvPr/>
        </p:nvSpPr>
        <p:spPr>
          <a:xfrm>
            <a:off x="1041400" y="2598241"/>
            <a:ext cx="305216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The file header</a:t>
            </a:r>
            <a:endParaRPr lang="en-US" sz="1700" dirty="0"/>
          </a:p>
        </p:txBody>
      </p:sp>
      <p:sp>
        <p:nvSpPr>
          <p:cNvPr id="7" name="Text 5"/>
          <p:cNvSpPr/>
          <p:nvPr/>
        </p:nvSpPr>
        <p:spPr>
          <a:xfrm>
            <a:off x="1041400" y="2946202"/>
            <a:ext cx="305216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DICOM headers store name, patient ID, birth date, scan date and hospital.</a:t>
            </a:r>
            <a:endParaRPr lang="en-US" sz="1300" dirty="0"/>
          </a:p>
        </p:txBody>
      </p:sp>
      <p:sp>
        <p:nvSpPr>
          <p:cNvPr id="8" name="Shape 6"/>
          <p:cNvSpPr/>
          <p:nvPr/>
        </p:nvSpPr>
        <p:spPr>
          <a:xfrm>
            <a:off x="1041400" y="4107259"/>
            <a:ext cx="2963267" cy="604441"/>
          </a:xfrm>
          <a:prstGeom prst="roundRect">
            <a:avLst>
              <a:gd name="adj" fmla="val 10506"/>
            </a:avLst>
          </a:prstGeom>
          <a:solidFill>
            <a:srgbClr val="E2EEEB"/>
          </a:solidFill>
          <a:ln/>
        </p:spPr>
        <p:txBody>
          <a:bodyPr/>
          <a:lstStyle/>
          <a:p>
            <a:endParaRPr lang="en-IN"/>
          </a:p>
        </p:txBody>
      </p:sp>
      <p:sp>
        <p:nvSpPr>
          <p:cNvPr id="9" name="Text 7"/>
          <p:cNvSpPr/>
          <p:nvPr/>
        </p:nvSpPr>
        <p:spPr>
          <a:xfrm>
            <a:off x="1155700" y="4196159"/>
            <a:ext cx="281670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Fix:</a:t>
            </a:r>
            <a:r>
              <a:rPr lang="en-US" sz="1200" dirty="0">
                <a:solidFill>
                  <a:srgbClr val="13262E"/>
                </a:solidFill>
                <a:latin typeface="Inter" pitchFamily="34" charset="0"/>
                <a:ea typeface="Inter" pitchFamily="34" charset="-122"/>
                <a:cs typeface="Inter" pitchFamily="34" charset="-120"/>
              </a:rPr>
              <a:t> strip or replace every identifying tag</a:t>
            </a:r>
            <a:endParaRPr lang="en-US" sz="1200" dirty="0"/>
          </a:p>
        </p:txBody>
      </p:sp>
      <p:sp>
        <p:nvSpPr>
          <p:cNvPr id="10" name="Shape 8"/>
          <p:cNvSpPr/>
          <p:nvPr/>
        </p:nvSpPr>
        <p:spPr>
          <a:xfrm>
            <a:off x="4392017" y="1860451"/>
            <a:ext cx="3407866" cy="3073499"/>
          </a:xfrm>
          <a:prstGeom prst="roundRect">
            <a:avLst>
              <a:gd name="adj" fmla="val 3099"/>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4614267" y="2082701"/>
            <a:ext cx="305226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5452A"/>
                </a:solidFill>
                <a:latin typeface="Space Grotesk" pitchFamily="34" charset="0"/>
                <a:ea typeface="Space Grotesk" pitchFamily="34" charset="-122"/>
                <a:cs typeface="Space Grotesk" pitchFamily="34" charset="-120"/>
              </a:rPr>
              <a:t>2</a:t>
            </a:r>
            <a:endParaRPr lang="en-US" sz="2400" dirty="0"/>
          </a:p>
        </p:txBody>
      </p:sp>
      <p:sp>
        <p:nvSpPr>
          <p:cNvPr id="12" name="Text 10"/>
          <p:cNvSpPr/>
          <p:nvPr/>
        </p:nvSpPr>
        <p:spPr>
          <a:xfrm>
            <a:off x="4614267" y="259824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The face</a:t>
            </a:r>
            <a:endParaRPr lang="en-US" sz="1700" dirty="0"/>
          </a:p>
        </p:txBody>
      </p:sp>
      <p:sp>
        <p:nvSpPr>
          <p:cNvPr id="13" name="Text 11"/>
          <p:cNvSpPr/>
          <p:nvPr/>
        </p:nvSpPr>
        <p:spPr>
          <a:xfrm>
            <a:off x="4614267" y="2946202"/>
            <a:ext cx="3052267" cy="122197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A 3D head MRI can be rendered into a face. A 2019 study in NEJM matched such reconstructions to photos with face-recognition software.</a:t>
            </a:r>
            <a:endParaRPr lang="en-US" sz="1300" dirty="0"/>
          </a:p>
        </p:txBody>
      </p:sp>
      <p:sp>
        <p:nvSpPr>
          <p:cNvPr id="14" name="Shape 12"/>
          <p:cNvSpPr/>
          <p:nvPr/>
        </p:nvSpPr>
        <p:spPr>
          <a:xfrm>
            <a:off x="4614267" y="4320580"/>
            <a:ext cx="2963366" cy="391120"/>
          </a:xfrm>
          <a:prstGeom prst="roundRect">
            <a:avLst>
              <a:gd name="adj" fmla="val 16235"/>
            </a:avLst>
          </a:prstGeom>
          <a:solidFill>
            <a:srgbClr val="E2EEEB"/>
          </a:solidFill>
          <a:ln/>
        </p:spPr>
        <p:txBody>
          <a:bodyPr/>
          <a:lstStyle/>
          <a:p>
            <a:endParaRPr lang="en-IN"/>
          </a:p>
        </p:txBody>
      </p:sp>
      <p:sp>
        <p:nvSpPr>
          <p:cNvPr id="15" name="Text 13"/>
          <p:cNvSpPr/>
          <p:nvPr/>
        </p:nvSpPr>
        <p:spPr>
          <a:xfrm>
            <a:off x="4728567" y="4409480"/>
            <a:ext cx="281680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Fix:</a:t>
            </a:r>
            <a:r>
              <a:rPr lang="en-US" sz="1200" dirty="0">
                <a:solidFill>
                  <a:srgbClr val="13262E"/>
                </a:solidFill>
                <a:latin typeface="Inter" pitchFamily="34" charset="0"/>
                <a:ea typeface="Inter" pitchFamily="34" charset="-122"/>
                <a:cs typeface="Inter" pitchFamily="34" charset="-120"/>
              </a:rPr>
              <a:t> “deface” volumes before sharing</a:t>
            </a:r>
            <a:endParaRPr lang="en-US" sz="1200" dirty="0"/>
          </a:p>
        </p:txBody>
      </p:sp>
      <p:sp>
        <p:nvSpPr>
          <p:cNvPr id="16" name="Shape 14"/>
          <p:cNvSpPr/>
          <p:nvPr/>
        </p:nvSpPr>
        <p:spPr>
          <a:xfrm>
            <a:off x="7964984" y="1860451"/>
            <a:ext cx="3407866" cy="3073499"/>
          </a:xfrm>
          <a:prstGeom prst="roundRect">
            <a:avLst>
              <a:gd name="adj" fmla="val 3099"/>
            </a:avLst>
          </a:prstGeom>
          <a:solidFill>
            <a:srgbClr val="FFFDF8"/>
          </a:solidFill>
          <a:ln w="12700">
            <a:solidFill>
              <a:srgbClr val="DDD6C8"/>
            </a:solidFill>
            <a:prstDash val="solid"/>
          </a:ln>
        </p:spPr>
        <p:txBody>
          <a:bodyPr/>
          <a:lstStyle/>
          <a:p>
            <a:endParaRPr lang="en-IN"/>
          </a:p>
        </p:txBody>
      </p:sp>
      <p:sp>
        <p:nvSpPr>
          <p:cNvPr id="17" name="Text 15"/>
          <p:cNvSpPr/>
          <p:nvPr/>
        </p:nvSpPr>
        <p:spPr>
          <a:xfrm>
            <a:off x="8187234" y="2082701"/>
            <a:ext cx="305226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5452A"/>
                </a:solidFill>
                <a:latin typeface="Space Grotesk" pitchFamily="34" charset="0"/>
                <a:ea typeface="Space Grotesk" pitchFamily="34" charset="-122"/>
                <a:cs typeface="Space Grotesk" pitchFamily="34" charset="-120"/>
              </a:rPr>
              <a:t>3</a:t>
            </a:r>
            <a:endParaRPr lang="en-US" sz="2400" dirty="0"/>
          </a:p>
        </p:txBody>
      </p:sp>
      <p:sp>
        <p:nvSpPr>
          <p:cNvPr id="18" name="Text 16"/>
          <p:cNvSpPr/>
          <p:nvPr/>
        </p:nvSpPr>
        <p:spPr>
          <a:xfrm>
            <a:off x="8187234" y="259824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The pixels</a:t>
            </a:r>
            <a:endParaRPr lang="en-US" sz="1700" dirty="0"/>
          </a:p>
        </p:txBody>
      </p:sp>
      <p:sp>
        <p:nvSpPr>
          <p:cNvPr id="19" name="Text 17"/>
          <p:cNvSpPr/>
          <p:nvPr/>
        </p:nvSpPr>
        <p:spPr>
          <a:xfrm>
            <a:off x="8187234" y="2946202"/>
            <a:ext cx="3052267"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Some images have names or dates burned into the pixels; a rare condition in a small town can identify someone alone.</a:t>
            </a:r>
            <a:endParaRPr lang="en-US" sz="1300" dirty="0"/>
          </a:p>
        </p:txBody>
      </p:sp>
      <p:sp>
        <p:nvSpPr>
          <p:cNvPr id="20" name="Shape 18"/>
          <p:cNvSpPr/>
          <p:nvPr/>
        </p:nvSpPr>
        <p:spPr>
          <a:xfrm>
            <a:off x="8187234" y="4320580"/>
            <a:ext cx="2963366" cy="391120"/>
          </a:xfrm>
          <a:prstGeom prst="roundRect">
            <a:avLst>
              <a:gd name="adj" fmla="val 16235"/>
            </a:avLst>
          </a:prstGeom>
          <a:solidFill>
            <a:srgbClr val="E2EEEB"/>
          </a:solidFill>
          <a:ln/>
        </p:spPr>
        <p:txBody>
          <a:bodyPr/>
          <a:lstStyle/>
          <a:p>
            <a:endParaRPr lang="en-IN"/>
          </a:p>
        </p:txBody>
      </p:sp>
      <p:sp>
        <p:nvSpPr>
          <p:cNvPr id="21" name="Text 19"/>
          <p:cNvSpPr/>
          <p:nvPr/>
        </p:nvSpPr>
        <p:spPr>
          <a:xfrm>
            <a:off x="8301534" y="4409480"/>
            <a:ext cx="281680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2E"/>
                </a:solidFill>
                <a:latin typeface="Inter" pitchFamily="34" charset="0"/>
                <a:ea typeface="Inter" pitchFamily="34" charset="-122"/>
                <a:cs typeface="Inter" pitchFamily="34" charset="-120"/>
              </a:rPr>
              <a:t>Fix:</a:t>
            </a:r>
            <a:r>
              <a:rPr lang="en-US" sz="1200" dirty="0">
                <a:solidFill>
                  <a:srgbClr val="13262E"/>
                </a:solidFill>
                <a:latin typeface="Inter" pitchFamily="34" charset="0"/>
                <a:ea typeface="Inter" pitchFamily="34" charset="-122"/>
                <a:cs typeface="Inter" pitchFamily="34" charset="-120"/>
              </a:rPr>
              <a:t> inspect images; limit rare details</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Face study: Schwarz et al., New England Journal of Medicine, 2019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B · DATA PRIVACY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Pseudonymised is not the same as anonymised</a:t>
            </a:r>
            <a:endParaRPr lang="en-US" sz="3200" dirty="0"/>
          </a:p>
        </p:txBody>
      </p:sp>
      <p:sp>
        <p:nvSpPr>
          <p:cNvPr id="4" name="Shape 2"/>
          <p:cNvSpPr/>
          <p:nvPr/>
        </p:nvSpPr>
        <p:spPr>
          <a:xfrm>
            <a:off x="819150" y="1885851"/>
            <a:ext cx="5168900" cy="2543473"/>
          </a:xfrm>
          <a:prstGeom prst="roundRect">
            <a:avLst>
              <a:gd name="adj" fmla="val 3745"/>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79500" y="2146201"/>
            <a:ext cx="478764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3262E"/>
                </a:solidFill>
                <a:latin typeface="Space Grotesk" pitchFamily="34" charset="0"/>
                <a:ea typeface="Space Grotesk" pitchFamily="34" charset="-122"/>
                <a:cs typeface="Space Grotesk" pitchFamily="34" charset="-120"/>
              </a:rPr>
              <a:t>Pseudonymised</a:t>
            </a:r>
            <a:endParaRPr lang="en-US" sz="1900" dirty="0"/>
          </a:p>
        </p:txBody>
      </p:sp>
      <p:sp>
        <p:nvSpPr>
          <p:cNvPr id="6" name="Shape 4"/>
          <p:cNvSpPr/>
          <p:nvPr/>
        </p:nvSpPr>
        <p:spPr>
          <a:xfrm>
            <a:off x="1079500" y="2537321"/>
            <a:ext cx="4648200" cy="434280"/>
          </a:xfrm>
          <a:prstGeom prst="roundRect">
            <a:avLst>
              <a:gd name="adj" fmla="val 14622"/>
            </a:avLst>
          </a:prstGeom>
          <a:solidFill>
            <a:srgbClr val="12303A"/>
          </a:solidFill>
          <a:ln/>
        </p:spPr>
        <p:txBody>
          <a:bodyPr/>
          <a:lstStyle/>
          <a:p>
            <a:endParaRPr lang="en-IN"/>
          </a:p>
        </p:txBody>
      </p:sp>
      <p:sp>
        <p:nvSpPr>
          <p:cNvPr id="7" name="Text 5"/>
          <p:cNvSpPr/>
          <p:nvPr/>
        </p:nvSpPr>
        <p:spPr>
          <a:xfrm>
            <a:off x="1206500" y="2638921"/>
            <a:ext cx="45260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AE4D6"/>
                </a:solidFill>
                <a:latin typeface="JetBrains Mono" pitchFamily="34" charset="0"/>
                <a:ea typeface="JetBrains Mono" pitchFamily="34" charset="-122"/>
                <a:cs typeface="JetBrains Mono" pitchFamily="34" charset="-120"/>
              </a:rPr>
              <a:t>Ravi Kumar → PT-0417</a:t>
            </a:r>
            <a:endParaRPr lang="en-US" sz="1300" dirty="0"/>
          </a:p>
        </p:txBody>
      </p:sp>
      <p:sp>
        <p:nvSpPr>
          <p:cNvPr id="8" name="Text 6"/>
          <p:cNvSpPr/>
          <p:nvPr/>
        </p:nvSpPr>
        <p:spPr>
          <a:xfrm>
            <a:off x="1079500" y="3073202"/>
            <a:ext cx="4787646"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3262E"/>
                </a:solidFill>
                <a:latin typeface="Inter" pitchFamily="34" charset="0"/>
                <a:ea typeface="Inter" pitchFamily="34" charset="-122"/>
                <a:cs typeface="Inter" pitchFamily="34" charset="-120"/>
              </a:rPr>
              <a:t>Names replaced by codes, but a </a:t>
            </a:r>
            <a:r>
              <a:rPr lang="en-US" sz="1400" b="1" dirty="0">
                <a:solidFill>
                  <a:srgbClr val="13262E"/>
                </a:solidFill>
                <a:latin typeface="Inter" pitchFamily="34" charset="0"/>
                <a:ea typeface="Inter" pitchFamily="34" charset="-122"/>
                <a:cs typeface="Inter" pitchFamily="34" charset="-120"/>
              </a:rPr>
              <a:t>key file</a:t>
            </a:r>
            <a:r>
              <a:rPr lang="en-US" sz="1400" dirty="0">
                <a:solidFill>
                  <a:srgbClr val="13262E"/>
                </a:solidFill>
                <a:latin typeface="Inter" pitchFamily="34" charset="0"/>
                <a:ea typeface="Inter" pitchFamily="34" charset="-122"/>
                <a:cs typeface="Inter" pitchFamily="34" charset="-120"/>
              </a:rPr>
              <a:t> can link them back.</a:t>
            </a:r>
            <a:endParaRPr lang="en-US" sz="1400" dirty="0"/>
          </a:p>
        </p:txBody>
      </p:sp>
      <p:sp>
        <p:nvSpPr>
          <p:cNvPr id="9" name="Text 7"/>
          <p:cNvSpPr/>
          <p:nvPr/>
        </p:nvSpPr>
        <p:spPr>
          <a:xfrm>
            <a:off x="1079500" y="3690342"/>
            <a:ext cx="4787646"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E53"/>
                </a:solidFill>
                <a:latin typeface="Inter" pitchFamily="34" charset="0"/>
                <a:ea typeface="Inter" pitchFamily="34" charset="-122"/>
                <a:cs typeface="Inter" pitchFamily="34" charset="-120"/>
              </a:rPr>
              <a:t>Still personal data. Keep the key locked and separate, and protect the data as personal data.</a:t>
            </a:r>
            <a:endParaRPr lang="en-US" sz="1300" dirty="0"/>
          </a:p>
        </p:txBody>
      </p:sp>
      <p:sp>
        <p:nvSpPr>
          <p:cNvPr id="10" name="Shape 8"/>
          <p:cNvSpPr/>
          <p:nvPr/>
        </p:nvSpPr>
        <p:spPr>
          <a:xfrm>
            <a:off x="6203950" y="1885851"/>
            <a:ext cx="5168900" cy="2543473"/>
          </a:xfrm>
          <a:prstGeom prst="roundRect">
            <a:avLst>
              <a:gd name="adj" fmla="val 3745"/>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6464300" y="2146201"/>
            <a:ext cx="478764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3262E"/>
                </a:solidFill>
                <a:latin typeface="Space Grotesk" pitchFamily="34" charset="0"/>
                <a:ea typeface="Space Grotesk" pitchFamily="34" charset="-122"/>
                <a:cs typeface="Space Grotesk" pitchFamily="34" charset="-120"/>
              </a:rPr>
              <a:t>Anonymised</a:t>
            </a:r>
            <a:endParaRPr lang="en-US" sz="1900" dirty="0"/>
          </a:p>
        </p:txBody>
      </p:sp>
      <p:sp>
        <p:nvSpPr>
          <p:cNvPr id="12" name="Shape 10"/>
          <p:cNvSpPr/>
          <p:nvPr/>
        </p:nvSpPr>
        <p:spPr>
          <a:xfrm>
            <a:off x="6464300" y="2537321"/>
            <a:ext cx="4648200" cy="434280"/>
          </a:xfrm>
          <a:prstGeom prst="roundRect">
            <a:avLst>
              <a:gd name="adj" fmla="val 14622"/>
            </a:avLst>
          </a:prstGeom>
          <a:solidFill>
            <a:srgbClr val="12303A"/>
          </a:solidFill>
          <a:ln/>
        </p:spPr>
        <p:txBody>
          <a:bodyPr/>
          <a:lstStyle/>
          <a:p>
            <a:endParaRPr lang="en-IN"/>
          </a:p>
        </p:txBody>
      </p:sp>
      <p:sp>
        <p:nvSpPr>
          <p:cNvPr id="13" name="Text 11"/>
          <p:cNvSpPr/>
          <p:nvPr/>
        </p:nvSpPr>
        <p:spPr>
          <a:xfrm>
            <a:off x="6591300" y="2638921"/>
            <a:ext cx="45260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AE4D6"/>
                </a:solidFill>
                <a:latin typeface="JetBrains Mono" pitchFamily="34" charset="0"/>
                <a:ea typeface="JetBrains Mono" pitchFamily="34" charset="-122"/>
                <a:cs typeface="JetBrains Mono" pitchFamily="34" charset="-120"/>
              </a:rPr>
              <a:t>Ravi Kumar → (no link exists)</a:t>
            </a:r>
            <a:endParaRPr lang="en-US" sz="1300" dirty="0"/>
          </a:p>
        </p:txBody>
      </p:sp>
      <p:sp>
        <p:nvSpPr>
          <p:cNvPr id="14" name="Text 12"/>
          <p:cNvSpPr/>
          <p:nvPr/>
        </p:nvSpPr>
        <p:spPr>
          <a:xfrm>
            <a:off x="6464300" y="3073202"/>
            <a:ext cx="4787646"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3262E"/>
                </a:solidFill>
                <a:latin typeface="Inter" pitchFamily="34" charset="0"/>
                <a:ea typeface="Inter" pitchFamily="34" charset="-122"/>
                <a:cs typeface="Inter" pitchFamily="34" charset="-120"/>
              </a:rPr>
              <a:t>No reasonable way to identify the person, </a:t>
            </a:r>
            <a:r>
              <a:rPr lang="en-US" sz="1400" b="1" dirty="0">
                <a:solidFill>
                  <a:srgbClr val="13262E"/>
                </a:solidFill>
                <a:latin typeface="Inter" pitchFamily="34" charset="0"/>
                <a:ea typeface="Inter" pitchFamily="34" charset="-122"/>
                <a:cs typeface="Inter" pitchFamily="34" charset="-120"/>
              </a:rPr>
              <a:t>even by combining</a:t>
            </a:r>
            <a:r>
              <a:rPr lang="en-US" sz="1400" dirty="0">
                <a:solidFill>
                  <a:srgbClr val="13262E"/>
                </a:solidFill>
                <a:latin typeface="Inter" pitchFamily="34" charset="0"/>
                <a:ea typeface="Inter" pitchFamily="34" charset="-122"/>
                <a:cs typeface="Inter" pitchFamily="34" charset="-120"/>
              </a:rPr>
              <a:t> it with other data.</a:t>
            </a:r>
            <a:endParaRPr lang="en-US" sz="1400" dirty="0"/>
          </a:p>
        </p:txBody>
      </p:sp>
      <p:sp>
        <p:nvSpPr>
          <p:cNvPr id="15" name="Text 13"/>
          <p:cNvSpPr/>
          <p:nvPr/>
        </p:nvSpPr>
        <p:spPr>
          <a:xfrm>
            <a:off x="6464300" y="3690342"/>
            <a:ext cx="4787646"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E53"/>
                </a:solidFill>
                <a:latin typeface="Inter" pitchFamily="34" charset="0"/>
                <a:ea typeface="Inter" pitchFamily="34" charset="-122"/>
                <a:cs typeface="Inter" pitchFamily="34" charset="-120"/>
              </a:rPr>
              <a:t>Hard to achieve for images; needs header cleaning, defacing and removing rare details.</a:t>
            </a:r>
            <a:endParaRPr lang="en-US" sz="1300" dirty="0"/>
          </a:p>
        </p:txBody>
      </p:sp>
      <p:sp>
        <p:nvSpPr>
          <p:cNvPr id="16" name="Text 14"/>
          <p:cNvSpPr/>
          <p:nvPr/>
        </p:nvSpPr>
        <p:spPr>
          <a:xfrm>
            <a:off x="812800" y="474047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Under GDPR, pseudonymised data is </a:t>
            </a:r>
            <a:r>
              <a:rPr lang="en-US" sz="1400" b="1" dirty="0">
                <a:solidFill>
                  <a:srgbClr val="13262E"/>
                </a:solidFill>
                <a:latin typeface="Inter" pitchFamily="34" charset="0"/>
                <a:ea typeface="Inter" pitchFamily="34" charset="-122"/>
                <a:cs typeface="Inter" pitchFamily="34" charset="-120"/>
              </a:rPr>
              <a:t>still personal data</a:t>
            </a:r>
            <a:r>
              <a:rPr lang="en-US" sz="1400" dirty="0">
                <a:solidFill>
                  <a:srgbClr val="13262E"/>
                </a:solidFill>
                <a:latin typeface="Inter" pitchFamily="34" charset="0"/>
                <a:ea typeface="Inter" pitchFamily="34" charset="-122"/>
                <a:cs typeface="Inter" pitchFamily="34" charset="-120"/>
              </a:rPr>
              <a:t>; only truly anonymised data falls outside the law.</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C · PRIVACY LAWS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Which privacy law applies to you?</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794653268"/>
              </p:ext>
            </p:extLst>
          </p:nvPr>
        </p:nvGraphicFramePr>
        <p:xfrm>
          <a:off x="812800" y="1854101"/>
          <a:ext cx="10566400" cy="2730500"/>
        </p:xfrm>
        <a:graphic>
          <a:graphicData uri="http://schemas.openxmlformats.org/drawingml/2006/table">
            <a:tbl>
              <a:tblPr/>
              <a:tblGrid>
                <a:gridCol w="1690624">
                  <a:extLst>
                    <a:ext uri="{9D8B030D-6E8A-4147-A177-3AD203B41FA5}">
                      <a16:colId xmlns:a16="http://schemas.microsoft.com/office/drawing/2014/main" val="20000"/>
                    </a:ext>
                  </a:extLst>
                </a:gridCol>
                <a:gridCol w="2958592">
                  <a:extLst>
                    <a:ext uri="{9D8B030D-6E8A-4147-A177-3AD203B41FA5}">
                      <a16:colId xmlns:a16="http://schemas.microsoft.com/office/drawing/2014/main" val="20001"/>
                    </a:ext>
                  </a:extLst>
                </a:gridCol>
                <a:gridCol w="2958592">
                  <a:extLst>
                    <a:ext uri="{9D8B030D-6E8A-4147-A177-3AD203B41FA5}">
                      <a16:colId xmlns:a16="http://schemas.microsoft.com/office/drawing/2014/main" val="20002"/>
                    </a:ext>
                  </a:extLst>
                </a:gridCol>
                <a:gridCol w="2958592">
                  <a:extLst>
                    <a:ext uri="{9D8B030D-6E8A-4147-A177-3AD203B41FA5}">
                      <a16:colId xmlns:a16="http://schemas.microsoft.com/office/drawing/2014/main" val="20003"/>
                    </a:ext>
                  </a:extLst>
                </a:gridCol>
              </a:tblGrid>
              <a:tr h="412750">
                <a:tc>
                  <a:txBody>
                    <a:bodyPr/>
                    <a:lstStyle/>
                    <a:p>
                      <a:pPr marL="0" indent="0">
                        <a:lnSpc>
                          <a:spcPts val="1750"/>
                        </a:lnSpc>
                        <a:buNone/>
                      </a:pP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750"/>
                        </a:lnSpc>
                        <a:buNone/>
                      </a:pPr>
                      <a:r>
                        <a:rPr lang="en-US" sz="1250" b="1" dirty="0">
                          <a:solidFill>
                            <a:srgbClr val="F3EFE6"/>
                          </a:solidFill>
                          <a:latin typeface="Inter" pitchFamily="34" charset="0"/>
                          <a:ea typeface="Inter" pitchFamily="34" charset="-122"/>
                          <a:cs typeface="Inter" pitchFamily="34" charset="-120"/>
                        </a:rPr>
                        <a:t>GDPR (EU, 2018)</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750"/>
                        </a:lnSpc>
                        <a:buNone/>
                      </a:pPr>
                      <a:r>
                        <a:rPr lang="en-US" sz="1250" b="1" dirty="0">
                          <a:solidFill>
                            <a:srgbClr val="F3EFE6"/>
                          </a:solidFill>
                          <a:latin typeface="Inter" pitchFamily="34" charset="0"/>
                          <a:ea typeface="Inter" pitchFamily="34" charset="-122"/>
                          <a:cs typeface="Inter" pitchFamily="34" charset="-120"/>
                        </a:rPr>
                        <a:t>HIPAA (USA, 1996)</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750"/>
                        </a:lnSpc>
                        <a:buNone/>
                      </a:pPr>
                      <a:r>
                        <a:rPr lang="en-US" sz="1250" b="1" dirty="0">
                          <a:solidFill>
                            <a:srgbClr val="F3EFE6"/>
                          </a:solidFill>
                          <a:latin typeface="Inter" pitchFamily="34" charset="0"/>
                          <a:ea typeface="Inter" pitchFamily="34" charset="-122"/>
                          <a:cs typeface="Inter" pitchFamily="34" charset="-120"/>
                        </a:rPr>
                        <a:t>DPDP Act (India, 2023)</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extLst>
                  <a:ext uri="{0D108BD9-81ED-4DB2-BD59-A6C34878D82A}">
                    <a16:rowId xmlns:a16="http://schemas.microsoft.com/office/drawing/2014/main" val="10000"/>
                  </a:ext>
                </a:extLst>
              </a:tr>
              <a:tr h="635000">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Covers</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Personal data of people in the EU</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US health providers, insurers and partners</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Digital personal data processed in India</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635000">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Health data</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A “special category” needing extra justification</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Protected Health Information (PHI)</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Personal data; no separate sensitive tier</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2"/>
                  </a:ext>
                </a:extLst>
              </a:tr>
              <a:tr h="635000">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De-identify by</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True anonymisation</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Safe Harbor: remove 18 identifier types</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Consent and purpose limits for identifiable data</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412750">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For Your work</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Only if EU data or partners</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Only if US hospital data</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50"/>
                        </a:lnSpc>
                        <a:buNone/>
                      </a:pPr>
                      <a:r>
                        <a:rPr lang="en-US" sz="1250" dirty="0">
                          <a:solidFill>
                            <a:srgbClr val="13262E"/>
                          </a:solidFill>
                          <a:latin typeface="Inter" pitchFamily="34" charset="0"/>
                          <a:ea typeface="Inter" pitchFamily="34" charset="-122"/>
                          <a:cs typeface="Inter" pitchFamily="34" charset="-120"/>
                        </a:rPr>
                        <a:t>Applies directly</a:t>
                      </a:r>
                      <a:endParaRPr lang="en-US" sz="125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87670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BraTS itself was assembled across institutions, so always read a dataset’s own terms as well as the law.</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 · Summary only, not legal advice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5452A"/>
                </a:solidFill>
                <a:latin typeface="Inter" pitchFamily="34" charset="0"/>
                <a:ea typeface="Inter" pitchFamily="34" charset="-122"/>
                <a:cs typeface="Inter" pitchFamily="34" charset="-120"/>
              </a:rPr>
              <a:t>C · PRIVACY LAWS</a:t>
            </a:r>
            <a:endParaRPr lang="en-US" sz="1196" dirty="0"/>
          </a:p>
        </p:txBody>
      </p:sp>
      <p:sp>
        <p:nvSpPr>
          <p:cNvPr id="3" name="Text 1"/>
          <p:cNvSpPr/>
          <p:nvPr/>
        </p:nvSpPr>
        <p:spPr>
          <a:xfrm>
            <a:off x="812800" y="1123950"/>
            <a:ext cx="10883392" cy="464344"/>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3262E"/>
                </a:solidFill>
                <a:latin typeface="Space Grotesk" pitchFamily="34" charset="0"/>
                <a:ea typeface="Space Grotesk" pitchFamily="34" charset="-122"/>
                <a:cs typeface="Space Grotesk" pitchFamily="34" charset="-120"/>
              </a:rPr>
              <a:t>India’s DPDP Act in your terms</a:t>
            </a:r>
            <a:endParaRPr lang="en-US" sz="3150" dirty="0"/>
          </a:p>
        </p:txBody>
      </p:sp>
      <p:sp>
        <p:nvSpPr>
          <p:cNvPr id="4" name="Shape 2"/>
          <p:cNvSpPr/>
          <p:nvPr/>
        </p:nvSpPr>
        <p:spPr>
          <a:xfrm>
            <a:off x="819150" y="1848644"/>
            <a:ext cx="3407767"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28700" y="2032794"/>
            <a:ext cx="30783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Data Principal</a:t>
            </a:r>
            <a:endParaRPr lang="en-US" sz="1600" dirty="0"/>
          </a:p>
        </p:txBody>
      </p:sp>
      <p:sp>
        <p:nvSpPr>
          <p:cNvPr id="6" name="Text 4"/>
          <p:cNvSpPr/>
          <p:nvPr/>
        </p:nvSpPr>
        <p:spPr>
          <a:xfrm>
            <a:off x="1028700" y="2340074"/>
            <a:ext cx="3078327"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The patient whose scan it is.</a:t>
            </a:r>
            <a:endParaRPr lang="en-US" sz="1300" dirty="0"/>
          </a:p>
        </p:txBody>
      </p:sp>
      <p:sp>
        <p:nvSpPr>
          <p:cNvPr id="7" name="Shape 5"/>
          <p:cNvSpPr/>
          <p:nvPr/>
        </p:nvSpPr>
        <p:spPr>
          <a:xfrm>
            <a:off x="4392017" y="1848644"/>
            <a:ext cx="3407866"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4601567" y="2032794"/>
            <a:ext cx="3078429" cy="263327"/>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F6F66"/>
                </a:solidFill>
                <a:latin typeface="Space Grotesk" pitchFamily="34" charset="0"/>
                <a:ea typeface="Space Grotesk" pitchFamily="34" charset="-122"/>
                <a:cs typeface="Space Grotesk" pitchFamily="34" charset="-120"/>
              </a:rPr>
              <a:t>Data Fiduciary</a:t>
            </a:r>
            <a:endParaRPr lang="en-US" sz="1560" dirty="0"/>
          </a:p>
        </p:txBody>
      </p:sp>
      <p:sp>
        <p:nvSpPr>
          <p:cNvPr id="9" name="Text 7"/>
          <p:cNvSpPr/>
          <p:nvPr/>
        </p:nvSpPr>
        <p:spPr>
          <a:xfrm>
            <a:off x="4601567" y="2334220"/>
            <a:ext cx="3078429" cy="726182"/>
          </a:xfrm>
          <a:prstGeom prst="rect">
            <a:avLst/>
          </a:prstGeom>
          <a:noFill/>
          <a:ln/>
        </p:spPr>
        <p:txBody>
          <a:bodyPr wrap="square" lIns="0" tIns="0" rIns="0" bIns="0" rtlCol="0" anchor="t">
            <a:normAutofit/>
          </a:bodyPr>
          <a:lstStyle/>
          <a:p>
            <a:pPr marL="0" indent="0" algn="l">
              <a:lnSpc>
                <a:spcPts val="1838"/>
              </a:lnSpc>
              <a:buNone/>
            </a:pPr>
            <a:r>
              <a:rPr lang="en-US" sz="1268" dirty="0">
                <a:solidFill>
                  <a:srgbClr val="13262E"/>
                </a:solidFill>
                <a:latin typeface="Inter" pitchFamily="34" charset="0"/>
                <a:ea typeface="Inter" pitchFamily="34" charset="-122"/>
                <a:cs typeface="Inter" pitchFamily="34" charset="-120"/>
              </a:rPr>
              <a:t>Whoever decides why and how the data is used: the hospital, the university.</a:t>
            </a:r>
            <a:endParaRPr lang="en-US" sz="1268" dirty="0"/>
          </a:p>
        </p:txBody>
      </p:sp>
      <p:sp>
        <p:nvSpPr>
          <p:cNvPr id="10" name="Shape 8"/>
          <p:cNvSpPr/>
          <p:nvPr/>
        </p:nvSpPr>
        <p:spPr>
          <a:xfrm>
            <a:off x="7964984" y="1848644"/>
            <a:ext cx="3407866"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8174534" y="2032794"/>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Consent</a:t>
            </a:r>
            <a:endParaRPr lang="en-US" sz="1600" dirty="0"/>
          </a:p>
        </p:txBody>
      </p:sp>
      <p:sp>
        <p:nvSpPr>
          <p:cNvPr id="12" name="Text 10"/>
          <p:cNvSpPr/>
          <p:nvPr/>
        </p:nvSpPr>
        <p:spPr>
          <a:xfrm>
            <a:off x="8174534" y="2340074"/>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Free, specific, informed and unambiguous, for a stated purpose.</a:t>
            </a:r>
            <a:endParaRPr lang="en-US" sz="1300" dirty="0"/>
          </a:p>
        </p:txBody>
      </p:sp>
      <p:sp>
        <p:nvSpPr>
          <p:cNvPr id="13" name="Shape 11"/>
          <p:cNvSpPr/>
          <p:nvPr/>
        </p:nvSpPr>
        <p:spPr>
          <a:xfrm>
            <a:off x="819150" y="3384252"/>
            <a:ext cx="3407767"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14" name="Text 12"/>
          <p:cNvSpPr/>
          <p:nvPr/>
        </p:nvSpPr>
        <p:spPr>
          <a:xfrm>
            <a:off x="1028700" y="3568402"/>
            <a:ext cx="3078327" cy="263327"/>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F6F66"/>
                </a:solidFill>
                <a:latin typeface="Space Grotesk" pitchFamily="34" charset="0"/>
                <a:ea typeface="Space Grotesk" pitchFamily="34" charset="-122"/>
                <a:cs typeface="Space Grotesk" pitchFamily="34" charset="-120"/>
              </a:rPr>
              <a:t>Purpose limitation</a:t>
            </a:r>
            <a:endParaRPr lang="en-US" sz="1560" dirty="0"/>
          </a:p>
        </p:txBody>
      </p:sp>
      <p:sp>
        <p:nvSpPr>
          <p:cNvPr id="15" name="Text 13"/>
          <p:cNvSpPr/>
          <p:nvPr/>
        </p:nvSpPr>
        <p:spPr>
          <a:xfrm>
            <a:off x="1028700" y="3869829"/>
            <a:ext cx="3078327" cy="726182"/>
          </a:xfrm>
          <a:prstGeom prst="rect">
            <a:avLst/>
          </a:prstGeom>
          <a:noFill/>
          <a:ln/>
        </p:spPr>
        <p:txBody>
          <a:bodyPr wrap="square" lIns="0" tIns="0" rIns="0" bIns="0" rtlCol="0" anchor="t">
            <a:normAutofit/>
          </a:bodyPr>
          <a:lstStyle/>
          <a:p>
            <a:pPr marL="0" indent="0" algn="l">
              <a:lnSpc>
                <a:spcPts val="1838"/>
              </a:lnSpc>
              <a:buNone/>
            </a:pPr>
            <a:r>
              <a:rPr lang="en-US" sz="1268" dirty="0">
                <a:solidFill>
                  <a:srgbClr val="13262E"/>
                </a:solidFill>
                <a:latin typeface="Inter" pitchFamily="34" charset="0"/>
                <a:ea typeface="Inter" pitchFamily="34" charset="-122"/>
                <a:cs typeface="Inter" pitchFamily="34" charset="-120"/>
              </a:rPr>
              <a:t>Scans shared for tumour research cannot quietly be reused for something else.</a:t>
            </a:r>
            <a:endParaRPr lang="en-US" sz="1268" dirty="0"/>
          </a:p>
        </p:txBody>
      </p:sp>
      <p:sp>
        <p:nvSpPr>
          <p:cNvPr id="16" name="Shape 14"/>
          <p:cNvSpPr/>
          <p:nvPr/>
        </p:nvSpPr>
        <p:spPr>
          <a:xfrm>
            <a:off x="4392017" y="3384252"/>
            <a:ext cx="3407866"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17" name="Text 15"/>
          <p:cNvSpPr/>
          <p:nvPr/>
        </p:nvSpPr>
        <p:spPr>
          <a:xfrm>
            <a:off x="4601567" y="3568402"/>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Rights</a:t>
            </a:r>
            <a:endParaRPr lang="en-US" sz="1600" dirty="0"/>
          </a:p>
        </p:txBody>
      </p:sp>
      <p:sp>
        <p:nvSpPr>
          <p:cNvPr id="18" name="Text 16"/>
          <p:cNvSpPr/>
          <p:nvPr/>
        </p:nvSpPr>
        <p:spPr>
          <a:xfrm>
            <a:off x="4601567" y="3875683"/>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Access, correction and erasure; consent can be withdrawn.</a:t>
            </a:r>
            <a:endParaRPr lang="en-US" sz="1300" dirty="0"/>
          </a:p>
        </p:txBody>
      </p:sp>
      <p:sp>
        <p:nvSpPr>
          <p:cNvPr id="19" name="Shape 17"/>
          <p:cNvSpPr/>
          <p:nvPr/>
        </p:nvSpPr>
        <p:spPr>
          <a:xfrm>
            <a:off x="7964984" y="3384252"/>
            <a:ext cx="3407866" cy="1370509"/>
          </a:xfrm>
          <a:prstGeom prst="roundRect">
            <a:avLst>
              <a:gd name="adj" fmla="val 6950"/>
            </a:avLst>
          </a:prstGeom>
          <a:solidFill>
            <a:srgbClr val="FFFDF8"/>
          </a:solidFill>
          <a:ln w="12700">
            <a:solidFill>
              <a:srgbClr val="DDD6C8"/>
            </a:solidFill>
            <a:prstDash val="solid"/>
          </a:ln>
        </p:spPr>
        <p:txBody>
          <a:bodyPr/>
          <a:lstStyle/>
          <a:p>
            <a:endParaRPr lang="en-IN"/>
          </a:p>
        </p:txBody>
      </p:sp>
      <p:sp>
        <p:nvSpPr>
          <p:cNvPr id="20" name="Text 18"/>
          <p:cNvSpPr/>
          <p:nvPr/>
        </p:nvSpPr>
        <p:spPr>
          <a:xfrm>
            <a:off x="8174534" y="3568402"/>
            <a:ext cx="3078429" cy="263327"/>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B5452A"/>
                </a:solidFill>
                <a:latin typeface="Space Grotesk" pitchFamily="34" charset="0"/>
                <a:ea typeface="Space Grotesk" pitchFamily="34" charset="-122"/>
                <a:cs typeface="Space Grotesk" pitchFamily="34" charset="-120"/>
              </a:rPr>
              <a:t>Children</a:t>
            </a:r>
            <a:endParaRPr lang="en-US" sz="1560" dirty="0"/>
          </a:p>
        </p:txBody>
      </p:sp>
      <p:sp>
        <p:nvSpPr>
          <p:cNvPr id="21" name="Text 19"/>
          <p:cNvSpPr/>
          <p:nvPr/>
        </p:nvSpPr>
        <p:spPr>
          <a:xfrm>
            <a:off x="8174534" y="3869829"/>
            <a:ext cx="3078429" cy="726182"/>
          </a:xfrm>
          <a:prstGeom prst="rect">
            <a:avLst/>
          </a:prstGeom>
          <a:noFill/>
          <a:ln/>
        </p:spPr>
        <p:txBody>
          <a:bodyPr wrap="square" lIns="0" tIns="0" rIns="0" bIns="0" rtlCol="0" anchor="t">
            <a:normAutofit/>
          </a:bodyPr>
          <a:lstStyle/>
          <a:p>
            <a:pPr marL="0" indent="0" algn="l">
              <a:lnSpc>
                <a:spcPts val="1838"/>
              </a:lnSpc>
              <a:buNone/>
            </a:pPr>
            <a:r>
              <a:rPr lang="en-US" sz="1268" dirty="0">
                <a:solidFill>
                  <a:srgbClr val="13262E"/>
                </a:solidFill>
                <a:latin typeface="Inter" pitchFamily="34" charset="0"/>
                <a:ea typeface="Inter" pitchFamily="34" charset="-122"/>
                <a:cs typeface="Inter" pitchFamily="34" charset="-120"/>
              </a:rPr>
              <a:t>Under 18 needs verifiable parental consent: relevant for paediatric tumours.</a:t>
            </a:r>
            <a:endParaRPr lang="en-US" sz="1268" dirty="0"/>
          </a:p>
        </p:txBody>
      </p:sp>
      <p:sp>
        <p:nvSpPr>
          <p:cNvPr id="22" name="Shape 20"/>
          <p:cNvSpPr/>
          <p:nvPr/>
        </p:nvSpPr>
        <p:spPr>
          <a:xfrm>
            <a:off x="812800" y="5040511"/>
            <a:ext cx="10566400" cy="801489"/>
          </a:xfrm>
          <a:prstGeom prst="roundRect">
            <a:avLst>
              <a:gd name="adj" fmla="val 12676"/>
            </a:avLst>
          </a:prstGeom>
          <a:solidFill>
            <a:srgbClr val="12303A"/>
          </a:solidFill>
          <a:ln/>
        </p:spPr>
        <p:txBody>
          <a:bodyPr/>
          <a:lstStyle/>
          <a:p>
            <a:endParaRPr lang="en-IN"/>
          </a:p>
        </p:txBody>
      </p:sp>
      <p:sp>
        <p:nvSpPr>
          <p:cNvPr id="23" name="Text 21"/>
          <p:cNvSpPr/>
          <p:nvPr/>
        </p:nvSpPr>
        <p:spPr>
          <a:xfrm>
            <a:off x="1041400" y="5205611"/>
            <a:ext cx="10412476" cy="496689"/>
          </a:xfrm>
          <a:prstGeom prst="rect">
            <a:avLst/>
          </a:prstGeom>
          <a:noFill/>
          <a:ln/>
        </p:spPr>
        <p:txBody>
          <a:bodyPr wrap="square" lIns="0" tIns="0" rIns="0" bIns="0" rtlCol="0" anchor="t">
            <a:normAutofit/>
          </a:bodyPr>
          <a:lstStyle/>
          <a:p>
            <a:pPr marL="0" indent="0" algn="l">
              <a:lnSpc>
                <a:spcPts val="1861"/>
              </a:lnSpc>
              <a:buNone/>
            </a:pPr>
            <a:r>
              <a:rPr lang="en-US" sz="1284" dirty="0">
                <a:solidFill>
                  <a:srgbClr val="F3EFE6"/>
                </a:solidFill>
                <a:latin typeface="Inter" pitchFamily="34" charset="0"/>
                <a:ea typeface="Inter" pitchFamily="34" charset="-122"/>
                <a:cs typeface="Inter" pitchFamily="34" charset="-120"/>
              </a:rPr>
              <a:t>The Act allows some processing for research under conditions and prescribed standards. </a:t>
            </a:r>
            <a:r>
              <a:rPr lang="en-US" sz="1284" b="1" dirty="0">
                <a:solidFill>
                  <a:srgbClr val="F2A384"/>
                </a:solidFill>
                <a:latin typeface="Inter" pitchFamily="34" charset="0"/>
                <a:ea typeface="Inter" pitchFamily="34" charset="-122"/>
                <a:cs typeface="Inter" pitchFamily="34" charset="-120"/>
              </a:rPr>
              <a:t>Your ethics committee, not you, decides how that applies.</a:t>
            </a:r>
            <a:endParaRPr lang="en-US" sz="1284"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Digital Personal Data Protection Act, 2023 · Summary for teaching, not legal advice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D · ETHICS REVIEW</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The IRB checks your plan before any data moves</a:t>
            </a:r>
            <a:endParaRPr lang="en-US" sz="3200" dirty="0"/>
          </a:p>
        </p:txBody>
      </p:sp>
      <p:sp>
        <p:nvSpPr>
          <p:cNvPr id="4" name="Text 2"/>
          <p:cNvSpPr/>
          <p:nvPr/>
        </p:nvSpPr>
        <p:spPr>
          <a:xfrm>
            <a:off x="812800" y="1854101"/>
            <a:ext cx="6383528"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3262E"/>
                </a:solidFill>
                <a:latin typeface="Inter" pitchFamily="34" charset="0"/>
                <a:ea typeface="Inter" pitchFamily="34" charset="-122"/>
                <a:cs typeface="Inter" pitchFamily="34" charset="-120"/>
              </a:rPr>
              <a:t>An </a:t>
            </a:r>
            <a:r>
              <a:rPr lang="en-US" sz="1400" b="1" dirty="0">
                <a:solidFill>
                  <a:srgbClr val="13262E"/>
                </a:solidFill>
                <a:latin typeface="Inter" pitchFamily="34" charset="0"/>
                <a:ea typeface="Inter" pitchFamily="34" charset="-122"/>
                <a:cs typeface="Inter" pitchFamily="34" charset="-120"/>
              </a:rPr>
              <a:t>Institutional Review Board</a:t>
            </a:r>
            <a:r>
              <a:rPr lang="en-US" sz="1400" dirty="0">
                <a:solidFill>
                  <a:srgbClr val="13262E"/>
                </a:solidFill>
                <a:latin typeface="Inter" pitchFamily="34" charset="0"/>
                <a:ea typeface="Inter" pitchFamily="34" charset="-122"/>
                <a:cs typeface="Inter" pitchFamily="34" charset="-120"/>
              </a:rPr>
              <a:t>, called an </a:t>
            </a:r>
            <a:r>
              <a:rPr lang="en-US" sz="1400" b="1" dirty="0">
                <a:solidFill>
                  <a:srgbClr val="13262E"/>
                </a:solidFill>
                <a:latin typeface="Inter" pitchFamily="34" charset="0"/>
                <a:ea typeface="Inter" pitchFamily="34" charset="-122"/>
                <a:cs typeface="Inter" pitchFamily="34" charset="-120"/>
              </a:rPr>
              <a:t>Institutional Ethics Committee (IEC)</a:t>
            </a:r>
            <a:r>
              <a:rPr lang="en-US" sz="1400" dirty="0">
                <a:solidFill>
                  <a:srgbClr val="13262E"/>
                </a:solidFill>
                <a:latin typeface="Inter" pitchFamily="34" charset="0"/>
                <a:ea typeface="Inter" pitchFamily="34" charset="-122"/>
                <a:cs typeface="Inter" pitchFamily="34" charset="-120"/>
              </a:rPr>
              <a:t> in India, reviews research involving people or their data. Indian IECs follow the </a:t>
            </a:r>
            <a:r>
              <a:rPr lang="en-US" sz="1400" b="1" dirty="0">
                <a:solidFill>
                  <a:srgbClr val="13262E"/>
                </a:solidFill>
                <a:latin typeface="Inter" pitchFamily="34" charset="0"/>
                <a:ea typeface="Inter" pitchFamily="34" charset="-122"/>
                <a:cs typeface="Inter" pitchFamily="34" charset="-120"/>
              </a:rPr>
              <a:t>ICMR National Ethical Guidelines (2017)</a:t>
            </a:r>
            <a:r>
              <a:rPr lang="en-US" sz="1400" dirty="0">
                <a:solidFill>
                  <a:srgbClr val="13262E"/>
                </a:solidFill>
                <a:latin typeface="Inter" pitchFamily="34" charset="0"/>
                <a:ea typeface="Inter" pitchFamily="34" charset="-122"/>
                <a:cs typeface="Inter" pitchFamily="34" charset="-120"/>
              </a:rPr>
              <a:t>.</a:t>
            </a:r>
            <a:endParaRPr lang="en-US" sz="1400" dirty="0"/>
          </a:p>
        </p:txBody>
      </p:sp>
      <p:sp>
        <p:nvSpPr>
          <p:cNvPr id="5" name="Shape 3"/>
          <p:cNvSpPr/>
          <p:nvPr/>
        </p:nvSpPr>
        <p:spPr>
          <a:xfrm>
            <a:off x="812800" y="2781201"/>
            <a:ext cx="6197600" cy="820341"/>
          </a:xfrm>
          <a:prstGeom prst="roundRect">
            <a:avLst>
              <a:gd name="adj" fmla="val 6193"/>
            </a:avLst>
          </a:prstGeom>
          <a:solidFill>
            <a:srgbClr val="F7E1D8"/>
          </a:solidFill>
          <a:ln/>
        </p:spPr>
        <p:txBody>
          <a:bodyPr/>
          <a:lstStyle/>
          <a:p>
            <a:endParaRPr lang="en-IN"/>
          </a:p>
        </p:txBody>
      </p:sp>
      <p:sp>
        <p:nvSpPr>
          <p:cNvPr id="6" name="Shape 4"/>
          <p:cNvSpPr/>
          <p:nvPr/>
        </p:nvSpPr>
        <p:spPr>
          <a:xfrm>
            <a:off x="838200" y="2781201"/>
            <a:ext cx="0" cy="820341"/>
          </a:xfrm>
          <a:prstGeom prst="line">
            <a:avLst/>
          </a:prstGeom>
          <a:noFill/>
          <a:ln w="50800">
            <a:solidFill>
              <a:srgbClr val="B5452A"/>
            </a:solidFill>
            <a:prstDash val="solid"/>
          </a:ln>
        </p:spPr>
        <p:txBody>
          <a:bodyPr/>
          <a:lstStyle/>
          <a:p>
            <a:endParaRPr lang="en-IN"/>
          </a:p>
        </p:txBody>
      </p:sp>
      <p:sp>
        <p:nvSpPr>
          <p:cNvPr id="7" name="Text 5"/>
          <p:cNvSpPr/>
          <p:nvPr/>
        </p:nvSpPr>
        <p:spPr>
          <a:xfrm>
            <a:off x="1054100" y="2933601"/>
            <a:ext cx="5938774"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3262E"/>
                </a:solidFill>
                <a:latin typeface="Inter" pitchFamily="34" charset="0"/>
                <a:ea typeface="Inter" pitchFamily="34" charset="-122"/>
                <a:cs typeface="Inter" pitchFamily="34" charset="-120"/>
              </a:rPr>
              <a:t>Approval comes first.</a:t>
            </a:r>
            <a:r>
              <a:rPr lang="en-US" sz="1400" dirty="0">
                <a:solidFill>
                  <a:srgbClr val="13262E"/>
                </a:solidFill>
                <a:latin typeface="Inter" pitchFamily="34" charset="0"/>
                <a:ea typeface="Inter" pitchFamily="34" charset="-122"/>
                <a:cs typeface="Inter" pitchFamily="34" charset="-120"/>
              </a:rPr>
              <a:t> Collecting data and asking later is a violation, however good the intentions.</a:t>
            </a:r>
            <a:endParaRPr lang="en-US" sz="1400" dirty="0"/>
          </a:p>
        </p:txBody>
      </p:sp>
      <p:sp>
        <p:nvSpPr>
          <p:cNvPr id="8" name="Text 6"/>
          <p:cNvSpPr/>
          <p:nvPr/>
        </p:nvSpPr>
        <p:spPr>
          <a:xfrm>
            <a:off x="812800" y="3728541"/>
            <a:ext cx="6383528"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4E53"/>
                </a:solidFill>
                <a:latin typeface="Inter" pitchFamily="34" charset="0"/>
                <a:ea typeface="Inter" pitchFamily="34" charset="-122"/>
                <a:cs typeface="Inter" pitchFamily="34" charset="-120"/>
              </a:rPr>
              <a:t>Using old, stored scans? The committee may allow a </a:t>
            </a:r>
            <a:r>
              <a:rPr lang="en-US" sz="1300" b="1" dirty="0">
                <a:solidFill>
                  <a:srgbClr val="3E4E53"/>
                </a:solidFill>
                <a:latin typeface="Inter" pitchFamily="34" charset="0"/>
                <a:ea typeface="Inter" pitchFamily="34" charset="-122"/>
                <a:cs typeface="Inter" pitchFamily="34" charset="-120"/>
              </a:rPr>
              <a:t>waiver of consent</a:t>
            </a:r>
            <a:r>
              <a:rPr lang="en-US" sz="1300" dirty="0">
                <a:solidFill>
                  <a:srgbClr val="3E4E53"/>
                </a:solidFill>
                <a:latin typeface="Inter" pitchFamily="34" charset="0"/>
                <a:ea typeface="Inter" pitchFamily="34" charset="-122"/>
                <a:cs typeface="Inter" pitchFamily="34" charset="-120"/>
              </a:rPr>
              <a:t>. The committee decides that, not the researcher.</a:t>
            </a:r>
            <a:endParaRPr lang="en-US" sz="1300" dirty="0"/>
          </a:p>
        </p:txBody>
      </p:sp>
      <p:sp>
        <p:nvSpPr>
          <p:cNvPr id="9" name="Shape 7"/>
          <p:cNvSpPr/>
          <p:nvPr/>
        </p:nvSpPr>
        <p:spPr>
          <a:xfrm>
            <a:off x="7315200" y="1854101"/>
            <a:ext cx="4064000" cy="3136404"/>
          </a:xfrm>
          <a:prstGeom prst="roundRect">
            <a:avLst>
              <a:gd name="adj" fmla="val 3239"/>
            </a:avLst>
          </a:prstGeom>
          <a:solidFill>
            <a:srgbClr val="12303A"/>
          </a:solidFill>
          <a:ln/>
        </p:spPr>
        <p:txBody>
          <a:bodyPr/>
          <a:lstStyle/>
          <a:p>
            <a:endParaRPr lang="en-IN"/>
          </a:p>
        </p:txBody>
      </p:sp>
      <p:sp>
        <p:nvSpPr>
          <p:cNvPr id="10" name="Text 8"/>
          <p:cNvSpPr/>
          <p:nvPr/>
        </p:nvSpPr>
        <p:spPr>
          <a:xfrm>
            <a:off x="7543800" y="2082701"/>
            <a:ext cx="37150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A384"/>
                </a:solidFill>
                <a:latin typeface="Space Grotesk" pitchFamily="34" charset="0"/>
                <a:ea typeface="Space Grotesk" pitchFamily="34" charset="-122"/>
                <a:cs typeface="Space Grotesk" pitchFamily="34" charset="-120"/>
              </a:rPr>
              <a:t>What the committee reviews</a:t>
            </a:r>
            <a:endParaRPr lang="en-US" sz="1700" dirty="0"/>
          </a:p>
        </p:txBody>
      </p:sp>
      <p:sp>
        <p:nvSpPr>
          <p:cNvPr id="11" name="Text 9"/>
          <p:cNvSpPr/>
          <p:nvPr/>
        </p:nvSpPr>
        <p:spPr>
          <a:xfrm>
            <a:off x="7543800" y="2430661"/>
            <a:ext cx="3715004" cy="2356644"/>
          </a:xfrm>
          <a:prstGeom prst="rect">
            <a:avLst/>
          </a:prstGeom>
          <a:noFill/>
          <a:ln/>
        </p:spPr>
        <p:txBody>
          <a:bodyPr wrap="square" lIns="0" tIns="0" rIns="0" bIns="0" rtlCol="0" anchor="t">
            <a:normAutofit/>
          </a:bodyPr>
          <a:lstStyle/>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Purpose and scientific value</a:t>
            </a:r>
            <a:endParaRPr lang="en-US" sz="1350" dirty="0"/>
          </a:p>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Risks to patients, and how they are reduced</a:t>
            </a:r>
            <a:endParaRPr lang="en-US" sz="1350" dirty="0"/>
          </a:p>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Consent form, or case for a waiver</a:t>
            </a:r>
            <a:endParaRPr lang="en-US" sz="1350" dirty="0"/>
          </a:p>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De-identification and storage plan</a:t>
            </a:r>
            <a:endParaRPr lang="en-US" sz="1350" dirty="0"/>
          </a:p>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Who can access the data, and for how long</a:t>
            </a:r>
            <a:endParaRPr lang="en-US" sz="1350" dirty="0"/>
          </a:p>
          <a:p>
            <a:pPr marL="342900" indent="-342900" algn="l">
              <a:lnSpc>
                <a:spcPts val="2295"/>
              </a:lnSpc>
              <a:buSzPct val="100000"/>
              <a:buChar char="•"/>
            </a:pPr>
            <a:r>
              <a:rPr lang="en-US" sz="1350" dirty="0">
                <a:solidFill>
                  <a:srgbClr val="F3EFE6"/>
                </a:solidFill>
                <a:latin typeface="Inter" pitchFamily="34" charset="0"/>
                <a:ea typeface="Inter" pitchFamily="34" charset="-122"/>
                <a:cs typeface="Inter" pitchFamily="34" charset="-120"/>
              </a:rPr>
              <a:t>Plans for publishing and sharing</a:t>
            </a:r>
            <a:endParaRPr lang="en-US" sz="135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545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BE3D8"/>
                </a:solidFill>
                <a:latin typeface="Inter" pitchFamily="34" charset="0"/>
                <a:ea typeface="Inter" pitchFamily="34" charset="-122"/>
                <a:cs typeface="Inter" pitchFamily="34" charset="-120"/>
              </a:rPr>
              <a:t>E · CASE STUDY 3, ADAPTED</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8F2"/>
                </a:solidFill>
                <a:latin typeface="Space Grotesk" pitchFamily="34" charset="0"/>
                <a:ea typeface="Space Grotesk" pitchFamily="34" charset="-122"/>
                <a:cs typeface="Space Grotesk" pitchFamily="34" charset="-120"/>
              </a:rPr>
              <a:t>The “reproducible” GitHub repository</a:t>
            </a:r>
            <a:endParaRPr lang="en-US" sz="3200" dirty="0"/>
          </a:p>
        </p:txBody>
      </p:sp>
      <p:sp>
        <p:nvSpPr>
          <p:cNvPr id="4" name="Shape 2"/>
          <p:cNvSpPr/>
          <p:nvPr/>
        </p:nvSpPr>
        <p:spPr>
          <a:xfrm>
            <a:off x="812800" y="2594769"/>
            <a:ext cx="10566400" cy="1897063"/>
          </a:xfrm>
          <a:prstGeom prst="roundRect">
            <a:avLst>
              <a:gd name="adj" fmla="val 5356"/>
            </a:avLst>
          </a:prstGeom>
          <a:solidFill>
            <a:srgbClr val="FFF4EC"/>
          </a:solidFill>
          <a:ln/>
        </p:spPr>
        <p:txBody>
          <a:bodyPr/>
          <a:lstStyle/>
          <a:p>
            <a:endParaRPr lang="en-IN"/>
          </a:p>
        </p:txBody>
      </p:sp>
      <p:sp>
        <p:nvSpPr>
          <p:cNvPr id="5" name="Text 3"/>
          <p:cNvSpPr/>
          <p:nvPr/>
        </p:nvSpPr>
        <p:spPr>
          <a:xfrm>
            <a:off x="1143000" y="2874169"/>
            <a:ext cx="10203180" cy="1363663"/>
          </a:xfrm>
          <a:prstGeom prst="rect">
            <a:avLst/>
          </a:prstGeom>
          <a:noFill/>
          <a:ln/>
        </p:spPr>
        <p:txBody>
          <a:bodyPr wrap="square" lIns="0" tIns="0" rIns="0" bIns="0" rtlCol="0" anchor="t">
            <a:normAutofit/>
          </a:bodyPr>
          <a:lstStyle/>
          <a:p>
            <a:pPr marL="0" indent="0" algn="l">
              <a:lnSpc>
                <a:spcPts val="2635"/>
              </a:lnSpc>
              <a:buNone/>
            </a:pPr>
            <a:r>
              <a:rPr lang="en-US" sz="1700" dirty="0">
                <a:solidFill>
                  <a:srgbClr val="13262E"/>
                </a:solidFill>
                <a:latin typeface="Inter" pitchFamily="34" charset="0"/>
                <a:ea typeface="Inter" pitchFamily="34" charset="-122"/>
                <a:cs typeface="Inter" pitchFamily="34" charset="-120"/>
              </a:rPr>
              <a:t>A PhD student building a brain tumour segmentation model finds a hospital server that is openly accessible. They download MRI scans with radiology reports. To make the work “reproducible”, they upload the full dataset to a public GitHub repository, </a:t>
            </a:r>
            <a:r>
              <a:rPr lang="en-US" sz="1700" b="1" dirty="0">
                <a:solidFill>
                  <a:srgbClr val="13262E"/>
                </a:solidFill>
                <a:latin typeface="Inter" pitchFamily="34" charset="0"/>
                <a:ea typeface="Inter" pitchFamily="34" charset="-122"/>
                <a:cs typeface="Inter" pitchFamily="34" charset="-120"/>
              </a:rPr>
              <a:t>with patient names still in the file headers</a:t>
            </a:r>
            <a:r>
              <a:rPr lang="en-US" sz="1700" dirty="0">
                <a:solidFill>
                  <a:srgbClr val="13262E"/>
                </a:solidFill>
                <a:latin typeface="Inter" pitchFamily="34" charset="0"/>
                <a:ea typeface="Inter" pitchFamily="34" charset="-122"/>
                <a:cs typeface="Inter" pitchFamily="34" charset="-120"/>
              </a:rPr>
              <a:t>.</a:t>
            </a:r>
            <a:endParaRPr lang="en-US" sz="1700" dirty="0"/>
          </a:p>
        </p:txBody>
      </p:sp>
      <p:sp>
        <p:nvSpPr>
          <p:cNvPr id="6" name="Text 4"/>
          <p:cNvSpPr/>
          <p:nvPr/>
        </p:nvSpPr>
        <p:spPr>
          <a:xfrm>
            <a:off x="812800" y="5511800"/>
            <a:ext cx="3575507"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8F2"/>
                </a:solidFill>
                <a:latin typeface="Inter" pitchFamily="34" charset="0"/>
                <a:ea typeface="Inter" pitchFamily="34" charset="-122"/>
                <a:cs typeface="Inter" pitchFamily="34" charset="-120"/>
              </a:rPr>
              <a:t>Discuss in pairs (5 min):</a:t>
            </a:r>
            <a:endParaRPr lang="en-US" sz="1500" dirty="0"/>
          </a:p>
        </p:txBody>
      </p:sp>
      <p:sp>
        <p:nvSpPr>
          <p:cNvPr id="7" name="Text 5"/>
          <p:cNvSpPr/>
          <p:nvPr/>
        </p:nvSpPr>
        <p:spPr>
          <a:xfrm>
            <a:off x="4436566" y="5511800"/>
            <a:ext cx="715091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8F2"/>
                </a:solidFill>
                <a:latin typeface="Inter" pitchFamily="34" charset="0"/>
                <a:ea typeface="Inter" pitchFamily="34" charset="-122"/>
                <a:cs typeface="Inter" pitchFamily="34" charset="-120"/>
              </a:rPr>
              <a:t>Which principles were broken? Which laws apply? What should the student have done instead?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E · CASE STUDY: WHAT WENT WRONG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Five failures in one repository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54101"/>
          <a:ext cx="10566400" cy="2760561"/>
        </p:xfrm>
        <a:graphic>
          <a:graphicData uri="http://schemas.openxmlformats.org/drawingml/2006/table">
            <a:tbl>
              <a:tblPr/>
              <a:tblGrid>
                <a:gridCol w="3169920">
                  <a:extLst>
                    <a:ext uri="{9D8B030D-6E8A-4147-A177-3AD203B41FA5}">
                      <a16:colId xmlns:a16="http://schemas.microsoft.com/office/drawing/2014/main" val="20000"/>
                    </a:ext>
                  </a:extLst>
                </a:gridCol>
                <a:gridCol w="3698240">
                  <a:extLst>
                    <a:ext uri="{9D8B030D-6E8A-4147-A177-3AD203B41FA5}">
                      <a16:colId xmlns:a16="http://schemas.microsoft.com/office/drawing/2014/main" val="20001"/>
                    </a:ext>
                  </a:extLst>
                </a:gridCol>
                <a:gridCol w="3698240">
                  <a:extLst>
                    <a:ext uri="{9D8B030D-6E8A-4147-A177-3AD203B41FA5}">
                      <a16:colId xmlns:a16="http://schemas.microsoft.com/office/drawing/2014/main" val="20002"/>
                    </a:ext>
                  </a:extLst>
                </a:gridCol>
              </a:tblGrid>
              <a:tr h="421580">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What the student did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What it violated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Why it matters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extLst>
                  <a:ext uri="{0D108BD9-81ED-4DB2-BD59-A6C34878D82A}">
                    <a16:rowId xmlns:a16="http://schemas.microsoft.com/office/drawing/2014/main" val="10000"/>
                  </a:ext>
                </a:extLst>
              </a:tr>
              <a:tr h="421580">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Took data from an open server</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Integrity; hospital’s ownership</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Accessible is not the same as permitted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21580">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No ethics approval</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IEC review; ICMR guidelines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No one checked risks or safeguards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2"/>
                  </a:ext>
                </a:extLst>
              </a:tr>
              <a:tr h="421580">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No consent or waiver</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Informed consent; DPDP Act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Patients never agreed to this use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Left names, reports, faces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De-identification; DPDP Act (HIPAA if US data)</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Diagnoses now linked to real people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4"/>
                  </a:ext>
                </a:extLst>
              </a:tr>
              <a:tr h="421580">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Posted on public GitHub</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Purpose limitation; security safeguards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Copies spread; it cannot be undone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90676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52A"/>
                </a:solidFill>
                <a:latin typeface="Inter" pitchFamily="34" charset="0"/>
                <a:ea typeface="Inter" pitchFamily="34" charset="-122"/>
                <a:cs typeface="Inter" pitchFamily="34" charset="-120"/>
              </a:rPr>
              <a:t>Reproducibility never overrides privacy.</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E6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E · THE CORRECT PROCEDURE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Your checklist: before, during, after</a:t>
            </a:r>
            <a:endParaRPr lang="en-US" sz="3200" dirty="0"/>
          </a:p>
        </p:txBody>
      </p:sp>
      <p:sp>
        <p:nvSpPr>
          <p:cNvPr id="4" name="Shape 2"/>
          <p:cNvSpPr/>
          <p:nvPr/>
        </p:nvSpPr>
        <p:spPr>
          <a:xfrm>
            <a:off x="812800" y="1854101"/>
            <a:ext cx="3420467" cy="2443163"/>
          </a:xfrm>
          <a:prstGeom prst="roundRect">
            <a:avLst>
              <a:gd name="adj" fmla="val 4159"/>
            </a:avLst>
          </a:prstGeom>
          <a:solidFill>
            <a:srgbClr val="FFFDF8"/>
          </a:solidFill>
          <a:ln/>
        </p:spPr>
        <p:txBody>
          <a:bodyPr/>
          <a:lstStyle/>
          <a:p>
            <a:endParaRPr lang="en-IN"/>
          </a:p>
        </p:txBody>
      </p:sp>
      <p:sp>
        <p:nvSpPr>
          <p:cNvPr id="5" name="Shape 3"/>
          <p:cNvSpPr/>
          <p:nvPr/>
        </p:nvSpPr>
        <p:spPr>
          <a:xfrm>
            <a:off x="812800" y="1879501"/>
            <a:ext cx="3420467" cy="0"/>
          </a:xfrm>
          <a:prstGeom prst="line">
            <a:avLst/>
          </a:prstGeom>
          <a:noFill/>
          <a:ln w="50800">
            <a:solidFill>
              <a:srgbClr val="1F6F66"/>
            </a:solidFill>
            <a:prstDash val="solid"/>
          </a:ln>
        </p:spPr>
        <p:txBody>
          <a:bodyPr/>
          <a:lstStyle/>
          <a:p>
            <a:endParaRPr lang="en-IN"/>
          </a:p>
        </p:txBody>
      </p:sp>
      <p:sp>
        <p:nvSpPr>
          <p:cNvPr id="6" name="Text 4"/>
          <p:cNvSpPr/>
          <p:nvPr/>
        </p:nvSpPr>
        <p:spPr>
          <a:xfrm>
            <a:off x="1028700" y="2120801"/>
            <a:ext cx="307832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6F66"/>
                </a:solidFill>
                <a:latin typeface="Space Grotesk" pitchFamily="34" charset="0"/>
                <a:ea typeface="Space Grotesk" pitchFamily="34" charset="-122"/>
                <a:cs typeface="Space Grotesk" pitchFamily="34" charset="-120"/>
              </a:rPr>
              <a:t>Before collection</a:t>
            </a:r>
            <a:endParaRPr lang="en-US" sz="1800" dirty="0"/>
          </a:p>
        </p:txBody>
      </p:sp>
      <p:sp>
        <p:nvSpPr>
          <p:cNvPr id="7" name="Text 5"/>
          <p:cNvSpPr/>
          <p:nvPr/>
        </p:nvSpPr>
        <p:spPr>
          <a:xfrm>
            <a:off x="1028700" y="2496641"/>
            <a:ext cx="3078327" cy="1346002"/>
          </a:xfrm>
          <a:prstGeom prst="rect">
            <a:avLst/>
          </a:prstGeom>
          <a:noFill/>
          <a:ln/>
        </p:spPr>
        <p:txBody>
          <a:bodyPr wrap="square" lIns="0" tIns="0" rIns="0" bIns="0" rtlCol="0" anchor="t">
            <a:normAutofit/>
          </a:bodyPr>
          <a:lstStyle/>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Written agreement with the hospital</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IEC approval of the protocol</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Consent form, or approved waiver</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Data management plan</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Parental consent for under-18s</a:t>
            </a:r>
            <a:endParaRPr lang="en-US" sz="1300" dirty="0"/>
          </a:p>
        </p:txBody>
      </p:sp>
      <p:sp>
        <p:nvSpPr>
          <p:cNvPr id="8" name="Shape 6"/>
          <p:cNvSpPr/>
          <p:nvPr/>
        </p:nvSpPr>
        <p:spPr>
          <a:xfrm>
            <a:off x="4385667" y="1854101"/>
            <a:ext cx="3420566" cy="2443163"/>
          </a:xfrm>
          <a:prstGeom prst="roundRect">
            <a:avLst>
              <a:gd name="adj" fmla="val 4159"/>
            </a:avLst>
          </a:prstGeom>
          <a:solidFill>
            <a:srgbClr val="FFFDF8"/>
          </a:solidFill>
          <a:ln/>
        </p:spPr>
        <p:txBody>
          <a:bodyPr/>
          <a:lstStyle/>
          <a:p>
            <a:endParaRPr lang="en-IN"/>
          </a:p>
        </p:txBody>
      </p:sp>
      <p:sp>
        <p:nvSpPr>
          <p:cNvPr id="9" name="Shape 7"/>
          <p:cNvSpPr/>
          <p:nvPr/>
        </p:nvSpPr>
        <p:spPr>
          <a:xfrm>
            <a:off x="4385667" y="1879501"/>
            <a:ext cx="3420566" cy="0"/>
          </a:xfrm>
          <a:prstGeom prst="line">
            <a:avLst/>
          </a:prstGeom>
          <a:noFill/>
          <a:ln w="50800">
            <a:solidFill>
              <a:srgbClr val="F2C14E"/>
            </a:solidFill>
            <a:prstDash val="solid"/>
          </a:ln>
        </p:spPr>
        <p:txBody>
          <a:bodyPr/>
          <a:lstStyle/>
          <a:p>
            <a:endParaRPr lang="en-IN"/>
          </a:p>
        </p:txBody>
      </p:sp>
      <p:sp>
        <p:nvSpPr>
          <p:cNvPr id="10" name="Text 8"/>
          <p:cNvSpPr/>
          <p:nvPr/>
        </p:nvSpPr>
        <p:spPr>
          <a:xfrm>
            <a:off x="4601567" y="2120801"/>
            <a:ext cx="30784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A6A0C"/>
                </a:solidFill>
                <a:latin typeface="Space Grotesk" pitchFamily="34" charset="0"/>
                <a:ea typeface="Space Grotesk" pitchFamily="34" charset="-122"/>
                <a:cs typeface="Space Grotesk" pitchFamily="34" charset="-120"/>
              </a:rPr>
              <a:t>During collection</a:t>
            </a:r>
            <a:endParaRPr lang="en-US" sz="1800" dirty="0"/>
          </a:p>
        </p:txBody>
      </p:sp>
      <p:sp>
        <p:nvSpPr>
          <p:cNvPr id="11" name="Text 9"/>
          <p:cNvSpPr/>
          <p:nvPr/>
        </p:nvSpPr>
        <p:spPr>
          <a:xfrm>
            <a:off x="4601567" y="2496641"/>
            <a:ext cx="3078429" cy="1610122"/>
          </a:xfrm>
          <a:prstGeom prst="rect">
            <a:avLst/>
          </a:prstGeom>
          <a:noFill/>
          <a:ln/>
        </p:spPr>
        <p:txBody>
          <a:bodyPr wrap="square" lIns="0" tIns="0" rIns="0" bIns="0" rtlCol="0" anchor="t">
            <a:normAutofit/>
          </a:bodyPr>
          <a:lstStyle/>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De-identify inside the hospital</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Deface 3D volumes</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Store encrypted on approved servers</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Keep the ID key separate</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Log who accesses the data</a:t>
            </a:r>
            <a:endParaRPr lang="en-US" sz="1300" dirty="0"/>
          </a:p>
        </p:txBody>
      </p:sp>
      <p:sp>
        <p:nvSpPr>
          <p:cNvPr id="12" name="Shape 10"/>
          <p:cNvSpPr/>
          <p:nvPr/>
        </p:nvSpPr>
        <p:spPr>
          <a:xfrm>
            <a:off x="7958634" y="1854101"/>
            <a:ext cx="3420566" cy="2443163"/>
          </a:xfrm>
          <a:prstGeom prst="roundRect">
            <a:avLst>
              <a:gd name="adj" fmla="val 4159"/>
            </a:avLst>
          </a:prstGeom>
          <a:solidFill>
            <a:srgbClr val="FFFDF8"/>
          </a:solidFill>
          <a:ln/>
        </p:spPr>
        <p:txBody>
          <a:bodyPr/>
          <a:lstStyle/>
          <a:p>
            <a:endParaRPr lang="en-IN"/>
          </a:p>
        </p:txBody>
      </p:sp>
      <p:sp>
        <p:nvSpPr>
          <p:cNvPr id="13" name="Shape 11"/>
          <p:cNvSpPr/>
          <p:nvPr/>
        </p:nvSpPr>
        <p:spPr>
          <a:xfrm>
            <a:off x="7958634" y="1879501"/>
            <a:ext cx="3420566" cy="0"/>
          </a:xfrm>
          <a:prstGeom prst="line">
            <a:avLst/>
          </a:prstGeom>
          <a:noFill/>
          <a:ln w="50800">
            <a:solidFill>
              <a:srgbClr val="B5452A"/>
            </a:solidFill>
            <a:prstDash val="solid"/>
          </a:ln>
        </p:spPr>
        <p:txBody>
          <a:bodyPr/>
          <a:lstStyle/>
          <a:p>
            <a:endParaRPr lang="en-IN"/>
          </a:p>
        </p:txBody>
      </p:sp>
      <p:sp>
        <p:nvSpPr>
          <p:cNvPr id="14" name="Text 12"/>
          <p:cNvSpPr/>
          <p:nvPr/>
        </p:nvSpPr>
        <p:spPr>
          <a:xfrm>
            <a:off x="8174534" y="2120801"/>
            <a:ext cx="307842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5452A"/>
                </a:solidFill>
                <a:latin typeface="Space Grotesk" pitchFamily="34" charset="0"/>
                <a:ea typeface="Space Grotesk" pitchFamily="34" charset="-122"/>
                <a:cs typeface="Space Grotesk" pitchFamily="34" charset="-120"/>
              </a:rPr>
              <a:t>After / publication</a:t>
            </a:r>
            <a:endParaRPr lang="en-US" sz="1800" dirty="0"/>
          </a:p>
        </p:txBody>
      </p:sp>
      <p:sp>
        <p:nvSpPr>
          <p:cNvPr id="15" name="Text 13"/>
          <p:cNvSpPr/>
          <p:nvPr/>
        </p:nvSpPr>
        <p:spPr>
          <a:xfrm>
            <a:off x="8174534" y="2496641"/>
            <a:ext cx="3078429" cy="1346002"/>
          </a:xfrm>
          <a:prstGeom prst="rect">
            <a:avLst/>
          </a:prstGeom>
          <a:noFill/>
          <a:ln/>
        </p:spPr>
        <p:txBody>
          <a:bodyPr wrap="square" lIns="0" tIns="0" rIns="0" bIns="0" rtlCol="0" anchor="t">
            <a:normAutofit/>
          </a:bodyPr>
          <a:lstStyle/>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Share code, not raw scans</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Report results on BraTS too</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Release only approved data</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Report failures and subgroups</a:t>
            </a:r>
            <a:endParaRPr lang="en-US" sz="1300" dirty="0"/>
          </a:p>
          <a:p>
            <a:pPr marL="342900" indent="-342900" algn="l">
              <a:lnSpc>
                <a:spcPts val="2080"/>
              </a:lnSpc>
              <a:buSzPct val="100000"/>
              <a:buFont typeface="+mj-lt"/>
              <a:buAutoNum type="arabicPeriod"/>
            </a:pPr>
            <a:r>
              <a:rPr lang="en-US" sz="1300" dirty="0">
                <a:solidFill>
                  <a:srgbClr val="13262E"/>
                </a:solidFill>
                <a:latin typeface="Inter" pitchFamily="34" charset="0"/>
                <a:ea typeface="Inter" pitchFamily="34" charset="-122"/>
                <a:cs typeface="Inter" pitchFamily="34" charset="-120"/>
              </a:rPr>
              <a:t>Delete data as promised</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E · DOING IT RIGHT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Reproducible research without exposing patients</a:t>
            </a:r>
            <a:endParaRPr lang="en-US" sz="3200" dirty="0"/>
          </a:p>
        </p:txBody>
      </p:sp>
      <p:sp>
        <p:nvSpPr>
          <p:cNvPr id="4" name="Shape 2"/>
          <p:cNvSpPr/>
          <p:nvPr/>
        </p:nvSpPr>
        <p:spPr>
          <a:xfrm>
            <a:off x="819150" y="1860451"/>
            <a:ext cx="5194300" cy="1179612"/>
          </a:xfrm>
          <a:prstGeom prst="roundRect">
            <a:avLst>
              <a:gd name="adj" fmla="val 8075"/>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41400" y="2057301"/>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Share the code and settings</a:t>
            </a:r>
            <a:endParaRPr lang="en-US" sz="1600" dirty="0"/>
          </a:p>
        </p:txBody>
      </p:sp>
      <p:sp>
        <p:nvSpPr>
          <p:cNvPr id="6" name="Text 4"/>
          <p:cNvSpPr/>
          <p:nvPr/>
        </p:nvSpPr>
        <p:spPr>
          <a:xfrm>
            <a:off x="1041400" y="2364581"/>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Training scripts, pre-processing steps, hyperparameters and random seeds.</a:t>
            </a:r>
            <a:endParaRPr lang="en-US" sz="1300" dirty="0"/>
          </a:p>
        </p:txBody>
      </p:sp>
      <p:sp>
        <p:nvSpPr>
          <p:cNvPr id="7" name="Shape 5"/>
          <p:cNvSpPr/>
          <p:nvPr/>
        </p:nvSpPr>
        <p:spPr>
          <a:xfrm>
            <a:off x="6178550" y="1860451"/>
            <a:ext cx="5194300" cy="1179612"/>
          </a:xfrm>
          <a:prstGeom prst="roundRect">
            <a:avLst>
              <a:gd name="adj" fmla="val 8075"/>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6400800" y="2057301"/>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Benchmark on public data</a:t>
            </a:r>
            <a:endParaRPr lang="en-US" sz="1600" dirty="0"/>
          </a:p>
        </p:txBody>
      </p:sp>
      <p:sp>
        <p:nvSpPr>
          <p:cNvPr id="9" name="Text 7"/>
          <p:cNvSpPr/>
          <p:nvPr/>
        </p:nvSpPr>
        <p:spPr>
          <a:xfrm>
            <a:off x="6400800" y="2364581"/>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Report BraTS results too, so anyone can compare without your private scans.</a:t>
            </a:r>
            <a:endParaRPr lang="en-US" sz="1300" dirty="0"/>
          </a:p>
        </p:txBody>
      </p:sp>
      <p:sp>
        <p:nvSpPr>
          <p:cNvPr id="10" name="Shape 8"/>
          <p:cNvSpPr/>
          <p:nvPr/>
        </p:nvSpPr>
        <p:spPr>
          <a:xfrm>
            <a:off x="819150" y="3205163"/>
            <a:ext cx="5194300" cy="1179612"/>
          </a:xfrm>
          <a:prstGeom prst="roundRect">
            <a:avLst>
              <a:gd name="adj" fmla="val 8075"/>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1041400" y="3402013"/>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Use controlled access</a:t>
            </a:r>
            <a:endParaRPr lang="en-US" sz="1600" dirty="0"/>
          </a:p>
        </p:txBody>
      </p:sp>
      <p:sp>
        <p:nvSpPr>
          <p:cNvPr id="12" name="Text 10"/>
          <p:cNvSpPr/>
          <p:nvPr/>
        </p:nvSpPr>
        <p:spPr>
          <a:xfrm>
            <a:off x="1041400" y="3709293"/>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Release approved, de-identified data through repositories that require a data-use agreement.</a:t>
            </a:r>
            <a:endParaRPr lang="en-US" sz="1300" dirty="0"/>
          </a:p>
        </p:txBody>
      </p:sp>
      <p:sp>
        <p:nvSpPr>
          <p:cNvPr id="13" name="Shape 11"/>
          <p:cNvSpPr/>
          <p:nvPr/>
        </p:nvSpPr>
        <p:spPr>
          <a:xfrm>
            <a:off x="6178550" y="3205163"/>
            <a:ext cx="5194300" cy="1179612"/>
          </a:xfrm>
          <a:prstGeom prst="roundRect">
            <a:avLst>
              <a:gd name="adj" fmla="val 8075"/>
            </a:avLst>
          </a:prstGeom>
          <a:solidFill>
            <a:srgbClr val="FFFDF8"/>
          </a:solidFill>
          <a:ln w="12700">
            <a:solidFill>
              <a:srgbClr val="DDD6C8"/>
            </a:solidFill>
            <a:prstDash val="solid"/>
          </a:ln>
        </p:spPr>
        <p:txBody>
          <a:bodyPr/>
          <a:lstStyle/>
          <a:p>
            <a:endParaRPr lang="en-IN"/>
          </a:p>
        </p:txBody>
      </p:sp>
      <p:sp>
        <p:nvSpPr>
          <p:cNvPr id="14" name="Text 12"/>
          <p:cNvSpPr/>
          <p:nvPr/>
        </p:nvSpPr>
        <p:spPr>
          <a:xfrm>
            <a:off x="6400800" y="3402013"/>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52A"/>
                </a:solidFill>
                <a:latin typeface="Space Grotesk" pitchFamily="34" charset="0"/>
                <a:ea typeface="Space Grotesk" pitchFamily="34" charset="-122"/>
                <a:cs typeface="Space Grotesk" pitchFamily="34" charset="-120"/>
              </a:rPr>
              <a:t>Treat model weights with care</a:t>
            </a:r>
            <a:endParaRPr lang="en-US" sz="1600" dirty="0"/>
          </a:p>
        </p:txBody>
      </p:sp>
      <p:sp>
        <p:nvSpPr>
          <p:cNvPr id="15" name="Text 13"/>
          <p:cNvSpPr/>
          <p:nvPr/>
        </p:nvSpPr>
        <p:spPr>
          <a:xfrm>
            <a:off x="6400800" y="3709293"/>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Models can memorise training data. Ask the committee before releasing weights trained on private scans.</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3 — Research Ethics &amp; Data Privacy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545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BE3D8"/>
                </a:solidFill>
                <a:latin typeface="Inter" pitchFamily="34" charset="0"/>
                <a:ea typeface="Inter" pitchFamily="34" charset="-122"/>
                <a:cs typeface="Inter" pitchFamily="34" charset="-120"/>
              </a:rPr>
              <a:t>TRY IT · 20 MINUTES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8F2"/>
                </a:solidFill>
                <a:latin typeface="Space Grotesk" pitchFamily="34" charset="0"/>
                <a:ea typeface="Space Grotesk" pitchFamily="34" charset="-122"/>
                <a:cs typeface="Space Grotesk" pitchFamily="34" charset="-120"/>
              </a:rPr>
              <a:t>What would you do? Three dilemmas</a:t>
            </a:r>
            <a:endParaRPr lang="en-US" sz="3200" dirty="0"/>
          </a:p>
        </p:txBody>
      </p:sp>
      <p:sp>
        <p:nvSpPr>
          <p:cNvPr id="4" name="Shape 2"/>
          <p:cNvSpPr/>
          <p:nvPr/>
        </p:nvSpPr>
        <p:spPr>
          <a:xfrm>
            <a:off x="812800" y="1854101"/>
            <a:ext cx="3420467" cy="1551285"/>
          </a:xfrm>
          <a:prstGeom prst="roundRect">
            <a:avLst>
              <a:gd name="adj" fmla="val 6549"/>
            </a:avLst>
          </a:prstGeom>
          <a:solidFill>
            <a:srgbClr val="FFF4EC"/>
          </a:solidFill>
          <a:ln/>
        </p:spPr>
        <p:txBody>
          <a:bodyPr/>
          <a:lstStyle/>
          <a:p>
            <a:endParaRPr lang="en-IN"/>
          </a:p>
        </p:txBody>
      </p:sp>
      <p:sp>
        <p:nvSpPr>
          <p:cNvPr id="5" name="Text 3"/>
          <p:cNvSpPr/>
          <p:nvPr/>
        </p:nvSpPr>
        <p:spPr>
          <a:xfrm>
            <a:off x="1028700" y="2070001"/>
            <a:ext cx="30783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B5452A"/>
                </a:solidFill>
                <a:latin typeface="Space Grotesk" pitchFamily="34" charset="0"/>
                <a:ea typeface="Space Grotesk" pitchFamily="34" charset="-122"/>
                <a:cs typeface="Space Grotesk" pitchFamily="34" charset="-120"/>
              </a:rPr>
              <a:t>A · The shortcut</a:t>
            </a:r>
            <a:endParaRPr lang="en-US" sz="1700" dirty="0"/>
          </a:p>
        </p:txBody>
      </p:sp>
      <p:sp>
        <p:nvSpPr>
          <p:cNvPr id="6" name="Text 4"/>
          <p:cNvSpPr/>
          <p:nvPr/>
        </p:nvSpPr>
        <p:spPr>
          <a:xfrm>
            <a:off x="1028700" y="2417961"/>
            <a:ext cx="3078327"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3262E"/>
                </a:solidFill>
                <a:latin typeface="Inter" pitchFamily="34" charset="0"/>
                <a:ea typeface="Inter" pitchFamily="34" charset="-122"/>
                <a:cs typeface="Inter" pitchFamily="34" charset="-120"/>
              </a:rPr>
              <a:t>A relative who is a radiologist offers to send you 200 scans on WhatsApp, “to save time”.</a:t>
            </a:r>
            <a:endParaRPr lang="en-US" sz="1350" dirty="0"/>
          </a:p>
        </p:txBody>
      </p:sp>
      <p:sp>
        <p:nvSpPr>
          <p:cNvPr id="7" name="Shape 5"/>
          <p:cNvSpPr/>
          <p:nvPr/>
        </p:nvSpPr>
        <p:spPr>
          <a:xfrm>
            <a:off x="4385667" y="1854101"/>
            <a:ext cx="3420566" cy="1551285"/>
          </a:xfrm>
          <a:prstGeom prst="roundRect">
            <a:avLst>
              <a:gd name="adj" fmla="val 6549"/>
            </a:avLst>
          </a:prstGeom>
          <a:solidFill>
            <a:srgbClr val="FFF4EC"/>
          </a:solidFill>
          <a:ln/>
        </p:spPr>
        <p:txBody>
          <a:bodyPr/>
          <a:lstStyle/>
          <a:p>
            <a:endParaRPr lang="en-IN"/>
          </a:p>
        </p:txBody>
      </p:sp>
      <p:sp>
        <p:nvSpPr>
          <p:cNvPr id="8" name="Text 6"/>
          <p:cNvSpPr/>
          <p:nvPr/>
        </p:nvSpPr>
        <p:spPr>
          <a:xfrm>
            <a:off x="4601567" y="2070001"/>
            <a:ext cx="307842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B5452A"/>
                </a:solidFill>
                <a:latin typeface="Space Grotesk" pitchFamily="34" charset="0"/>
                <a:ea typeface="Space Grotesk" pitchFamily="34" charset="-122"/>
                <a:cs typeface="Space Grotesk" pitchFamily="34" charset="-120"/>
              </a:rPr>
              <a:t>B · The awkward result</a:t>
            </a:r>
            <a:endParaRPr lang="en-US" sz="1700" dirty="0"/>
          </a:p>
        </p:txBody>
      </p:sp>
      <p:sp>
        <p:nvSpPr>
          <p:cNvPr id="9" name="Text 7"/>
          <p:cNvSpPr/>
          <p:nvPr/>
        </p:nvSpPr>
        <p:spPr>
          <a:xfrm>
            <a:off x="4601567" y="2417961"/>
            <a:ext cx="3078429"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3262E"/>
                </a:solidFill>
                <a:latin typeface="Inter" pitchFamily="34" charset="0"/>
                <a:ea typeface="Inter" pitchFamily="34" charset="-122"/>
                <a:cs typeface="Inter" pitchFamily="34" charset="-120"/>
              </a:rPr>
              <a:t>The model scores much lower on children’s tumours. A co-author suggests leaving that table out.</a:t>
            </a:r>
            <a:endParaRPr lang="en-US" sz="1350" dirty="0"/>
          </a:p>
        </p:txBody>
      </p:sp>
      <p:sp>
        <p:nvSpPr>
          <p:cNvPr id="10" name="Shape 8"/>
          <p:cNvSpPr/>
          <p:nvPr/>
        </p:nvSpPr>
        <p:spPr>
          <a:xfrm>
            <a:off x="7958634" y="1854101"/>
            <a:ext cx="3420566" cy="1551285"/>
          </a:xfrm>
          <a:prstGeom prst="roundRect">
            <a:avLst>
              <a:gd name="adj" fmla="val 6549"/>
            </a:avLst>
          </a:prstGeom>
          <a:solidFill>
            <a:srgbClr val="FFF4EC"/>
          </a:solidFill>
          <a:ln/>
        </p:spPr>
        <p:txBody>
          <a:bodyPr/>
          <a:lstStyle/>
          <a:p>
            <a:endParaRPr lang="en-IN"/>
          </a:p>
        </p:txBody>
      </p:sp>
      <p:sp>
        <p:nvSpPr>
          <p:cNvPr id="11" name="Text 9"/>
          <p:cNvSpPr/>
          <p:nvPr/>
        </p:nvSpPr>
        <p:spPr>
          <a:xfrm>
            <a:off x="8174534" y="2070001"/>
            <a:ext cx="307842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B5452A"/>
                </a:solidFill>
                <a:latin typeface="Space Grotesk" pitchFamily="34" charset="0"/>
                <a:ea typeface="Space Grotesk" pitchFamily="34" charset="-122"/>
                <a:cs typeface="Space Grotesk" pitchFamily="34" charset="-120"/>
              </a:rPr>
              <a:t>C · The offer</a:t>
            </a:r>
            <a:endParaRPr lang="en-US" sz="1700" dirty="0"/>
          </a:p>
        </p:txBody>
      </p:sp>
      <p:sp>
        <p:nvSpPr>
          <p:cNvPr id="12" name="Text 10"/>
          <p:cNvSpPr/>
          <p:nvPr/>
        </p:nvSpPr>
        <p:spPr>
          <a:xfrm>
            <a:off x="8174534" y="2417961"/>
            <a:ext cx="3078429"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3262E"/>
                </a:solidFill>
                <a:latin typeface="Inter" pitchFamily="34" charset="0"/>
                <a:ea typeface="Inter" pitchFamily="34" charset="-122"/>
                <a:cs typeface="Inter" pitchFamily="34" charset="-120"/>
              </a:rPr>
              <a:t>A start-up offers to buy the de-identified hospital dataset you assembled for your thesis.</a:t>
            </a:r>
            <a:endParaRPr lang="en-US" sz="1350" dirty="0"/>
          </a:p>
        </p:txBody>
      </p:sp>
      <p:sp>
        <p:nvSpPr>
          <p:cNvPr id="13" name="Text 11"/>
          <p:cNvSpPr/>
          <p:nvPr/>
        </p:nvSpPr>
        <p:spPr>
          <a:xfrm>
            <a:off x="812800" y="3684786"/>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8F2"/>
                </a:solidFill>
                <a:latin typeface="Inter" pitchFamily="34" charset="0"/>
                <a:ea typeface="Inter" pitchFamily="34" charset="-122"/>
                <a:cs typeface="Inter" pitchFamily="34" charset="-120"/>
              </a:rPr>
              <a:t>For each: </a:t>
            </a:r>
            <a:r>
              <a:rPr lang="en-US" sz="1500" b="1" dirty="0">
                <a:solidFill>
                  <a:srgbClr val="FFF8F2"/>
                </a:solidFill>
                <a:latin typeface="Inter" pitchFamily="34" charset="0"/>
                <a:ea typeface="Inter" pitchFamily="34" charset="-122"/>
                <a:cs typeface="Inter" pitchFamily="34" charset="-120"/>
              </a:rPr>
              <a:t>which principle or law is at stake, and what is the right action?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KEY TAKEAWAYS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3EFE6"/>
                </a:solidFill>
                <a:latin typeface="Space Grotesk" pitchFamily="34" charset="0"/>
                <a:ea typeface="Space Grotesk" pitchFamily="34" charset="-122"/>
                <a:cs typeface="Space Grotesk" pitchFamily="34" charset="-120"/>
              </a:rPr>
              <a:t>Four rules for research with patient data</a:t>
            </a:r>
            <a:endParaRPr lang="en-US" sz="3200" dirty="0"/>
          </a:p>
        </p:txBody>
      </p:sp>
      <p:sp>
        <p:nvSpPr>
          <p:cNvPr id="4" name="Shape 2"/>
          <p:cNvSpPr/>
          <p:nvPr/>
        </p:nvSpPr>
        <p:spPr>
          <a:xfrm>
            <a:off x="812800" y="2390180"/>
            <a:ext cx="10566400" cy="0"/>
          </a:xfrm>
          <a:prstGeom prst="line">
            <a:avLst/>
          </a:prstGeom>
          <a:noFill/>
          <a:ln w="12700">
            <a:solidFill>
              <a:srgbClr val="2D5562"/>
            </a:solidFill>
            <a:prstDash val="solid"/>
          </a:ln>
        </p:spPr>
        <p:txBody>
          <a:bodyPr/>
          <a:lstStyle/>
          <a:p>
            <a:endParaRPr lang="en-IN"/>
          </a:p>
        </p:txBody>
      </p:sp>
      <p:sp>
        <p:nvSpPr>
          <p:cNvPr id="5" name="Text 3"/>
          <p:cNvSpPr/>
          <p:nvPr/>
        </p:nvSpPr>
        <p:spPr>
          <a:xfrm>
            <a:off x="812800" y="25362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60500" y="2568277"/>
            <a:ext cx="6081847"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Honest results start with an honest split: divide by patient.</a:t>
            </a:r>
            <a:endParaRPr lang="en-US" sz="1700" dirty="0"/>
          </a:p>
        </p:txBody>
      </p:sp>
      <p:sp>
        <p:nvSpPr>
          <p:cNvPr id="7" name="Shape 5"/>
          <p:cNvSpPr/>
          <p:nvPr/>
        </p:nvSpPr>
        <p:spPr>
          <a:xfrm>
            <a:off x="812800" y="3037880"/>
            <a:ext cx="10566400" cy="0"/>
          </a:xfrm>
          <a:prstGeom prst="line">
            <a:avLst/>
          </a:prstGeom>
          <a:noFill/>
          <a:ln w="12700">
            <a:solidFill>
              <a:srgbClr val="2D5562"/>
            </a:solidFill>
            <a:prstDash val="solid"/>
          </a:ln>
        </p:spPr>
        <p:txBody>
          <a:bodyPr/>
          <a:lstStyle/>
          <a:p>
            <a:endParaRPr lang="en-IN"/>
          </a:p>
        </p:txBody>
      </p:sp>
      <p:sp>
        <p:nvSpPr>
          <p:cNvPr id="8" name="Text 6"/>
          <p:cNvSpPr/>
          <p:nvPr/>
        </p:nvSpPr>
        <p:spPr>
          <a:xfrm>
            <a:off x="812800" y="31839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1460500" y="3215977"/>
            <a:ext cx="5346348"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Headers, faces and pixels can all identify a patient.</a:t>
            </a:r>
            <a:endParaRPr lang="en-US" sz="1700" dirty="0"/>
          </a:p>
        </p:txBody>
      </p:sp>
      <p:sp>
        <p:nvSpPr>
          <p:cNvPr id="10" name="Shape 8"/>
          <p:cNvSpPr/>
          <p:nvPr/>
        </p:nvSpPr>
        <p:spPr>
          <a:xfrm>
            <a:off x="812800" y="3685580"/>
            <a:ext cx="10566400" cy="0"/>
          </a:xfrm>
          <a:prstGeom prst="line">
            <a:avLst/>
          </a:prstGeom>
          <a:noFill/>
          <a:ln w="12700">
            <a:solidFill>
              <a:srgbClr val="2D5562"/>
            </a:solidFill>
            <a:prstDash val="solid"/>
          </a:ln>
        </p:spPr>
        <p:txBody>
          <a:bodyPr/>
          <a:lstStyle/>
          <a:p>
            <a:endParaRPr lang="en-IN"/>
          </a:p>
        </p:txBody>
      </p:sp>
      <p:sp>
        <p:nvSpPr>
          <p:cNvPr id="11" name="Text 9"/>
          <p:cNvSpPr/>
          <p:nvPr/>
        </p:nvSpPr>
        <p:spPr>
          <a:xfrm>
            <a:off x="812800" y="38316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3</a:t>
            </a:r>
            <a:endParaRPr lang="en-US" sz="2000" dirty="0"/>
          </a:p>
        </p:txBody>
      </p:sp>
      <p:sp>
        <p:nvSpPr>
          <p:cNvPr id="12" name="Text 10"/>
          <p:cNvSpPr/>
          <p:nvPr/>
        </p:nvSpPr>
        <p:spPr>
          <a:xfrm>
            <a:off x="1460500" y="3863677"/>
            <a:ext cx="8500504"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For Indian hospital data, the DPDP Act applies; approval comes before collection.</a:t>
            </a:r>
            <a:endParaRPr lang="en-US" sz="1700" dirty="0"/>
          </a:p>
        </p:txBody>
      </p:sp>
      <p:sp>
        <p:nvSpPr>
          <p:cNvPr id="13" name="Shape 11"/>
          <p:cNvSpPr/>
          <p:nvPr/>
        </p:nvSpPr>
        <p:spPr>
          <a:xfrm>
            <a:off x="812800" y="4333280"/>
            <a:ext cx="10566400" cy="0"/>
          </a:xfrm>
          <a:prstGeom prst="line">
            <a:avLst/>
          </a:prstGeom>
          <a:noFill/>
          <a:ln w="12700">
            <a:solidFill>
              <a:srgbClr val="2D5562"/>
            </a:solidFill>
            <a:prstDash val="solid"/>
          </a:ln>
        </p:spPr>
        <p:txBody>
          <a:bodyPr/>
          <a:lstStyle/>
          <a:p>
            <a:endParaRPr lang="en-IN"/>
          </a:p>
        </p:txBody>
      </p:sp>
      <p:sp>
        <p:nvSpPr>
          <p:cNvPr id="14" name="Shape 12"/>
          <p:cNvSpPr/>
          <p:nvPr/>
        </p:nvSpPr>
        <p:spPr>
          <a:xfrm>
            <a:off x="812800" y="4980980"/>
            <a:ext cx="10566400" cy="0"/>
          </a:xfrm>
          <a:prstGeom prst="line">
            <a:avLst/>
          </a:prstGeom>
          <a:noFill/>
          <a:ln w="12700">
            <a:solidFill>
              <a:srgbClr val="2D5562"/>
            </a:solidFill>
            <a:prstDash val="solid"/>
          </a:ln>
        </p:spPr>
        <p:txBody>
          <a:bodyPr/>
          <a:lstStyle/>
          <a:p>
            <a:endParaRPr lang="en-IN"/>
          </a:p>
        </p:txBody>
      </p:sp>
      <p:sp>
        <p:nvSpPr>
          <p:cNvPr id="15" name="Text 13"/>
          <p:cNvSpPr/>
          <p:nvPr/>
        </p:nvSpPr>
        <p:spPr>
          <a:xfrm>
            <a:off x="812800" y="44793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4</a:t>
            </a:r>
            <a:endParaRPr lang="en-US" sz="2000" dirty="0"/>
          </a:p>
        </p:txBody>
      </p:sp>
      <p:sp>
        <p:nvSpPr>
          <p:cNvPr id="16" name="Text 14"/>
          <p:cNvSpPr/>
          <p:nvPr/>
        </p:nvSpPr>
        <p:spPr>
          <a:xfrm>
            <a:off x="1460500" y="4511377"/>
            <a:ext cx="8655228"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Reproducibility never overrides privacy: share code and benchmarks, not patients.</a:t>
            </a:r>
            <a:endParaRPr lang="en-US" sz="1700" dirty="0"/>
          </a:p>
        </p:txBody>
      </p:sp>
      <p:sp>
        <p:nvSpPr>
          <p:cNvPr id="17" name="Text 1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3C7"/>
                </a:solidFill>
                <a:latin typeface="Inter" pitchFamily="34" charset="0"/>
                <a:ea typeface="Inter" pitchFamily="34" charset="-122"/>
                <a:cs typeface="Inter" pitchFamily="34" charset="-120"/>
              </a:rPr>
              <a:t>Next · Part 4: Plagiarism and citation ethics, writing it all up honestly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2158</Words>
  <Application>Microsoft Office PowerPoint</Application>
  <PresentationFormat>Widescreen</PresentationFormat>
  <Paragraphs>261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Inter</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III · Part 3: Research Ethics &amp; Data Privacy</dc:title>
  <dc:subject>PptxGenJS Presentation</dc:subject>
  <dc:creator>PptxGenJS</dc:creator>
  <cp:lastModifiedBy>Mohsin Faurkh</cp:lastModifiedBy>
  <cp:revision>2</cp:revision>
  <dcterms:created xsi:type="dcterms:W3CDTF">2026-09-22T18:27:35Z</dcterms:created>
  <dcterms:modified xsi:type="dcterms:W3CDTF">2026-09-22T18:43:41Z</dcterms:modified>
</cp:coreProperties>
</file>