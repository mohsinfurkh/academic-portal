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7712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Priya has her papers, her gap and her ethics approval. Now she writes her literature review and proposal. The final risk is presenting other people's work as her own, usually by accident.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five kinds of thing in the definition. Computer science students often think only of copied sentences, but in our field figures, code and baseline numbers are copied at least as often.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writing policies differ between publishers, conferences and universities, and change often. The safe habit is to check the current policy of the venue or institution every time.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find the swapped words before revealing the underlines. The good version does something the source does not: it links the idea to tumour boundaries, which is Priya's own contribution to the sentence.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0 attracts no penalty; each higher level carries stronger consequences, up to withdrawal of the work for Level 3. Point students to UPES's own academic integrity policy for the exact procedure used here.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is a conference paper (MICCAI proceedings, published by Springer); [2] is a journal article. Point out how the two formats differ: "in" plus proceedings title for the conference, volume and issue for the journal.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top row is what you should do; the bottom row is what you must not do. Coercive citation usually comes from reviewers or supervisors asking for their own unrelated papers to be cited.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answers. Case 1: figure plagiarism; draw your own or credit "adapted from [1]" with permission if needed. Case 2: result plagiarism; cite each number's source or rerun the baselines. Case 3: self-plagiarism if the report was published or graded elsewhere; rewrite and cite or disclose. The task is the practical exercise; students swap paraphrases and check them against the originals.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03A"/>
        </a:solidFill>
        <a:effectLst/>
      </p:bgPr>
    </p:bg>
    <p:spTree>
      <p:nvGrpSpPr>
        <p:cNvPr id="1" name=""/>
        <p:cNvGrpSpPr/>
        <p:nvPr/>
      </p:nvGrpSpPr>
      <p:grpSpPr>
        <a:xfrm>
          <a:off x="0" y="0"/>
          <a:ext cx="0" cy="0"/>
          <a:chOff x="0" y="0"/>
          <a:chExt cx="0" cy="0"/>
        </a:xfrm>
      </p:grpSpPr>
      <p:pic>
        <p:nvPicPr>
          <p:cNvPr id="2" name="Image 0" descr="A page of text with a citation bracket linking one highlighted line to a source card"/>
          <p:cNvPicPr>
            <a:picLocks noChangeAspect="1"/>
          </p:cNvPicPr>
          <p:nvPr/>
        </p:nvPicPr>
        <p:blipFill>
          <a:blip r:embed="rId3"/>
          <a:srcRect/>
          <a:stretch/>
        </p:blipFill>
        <p:spPr>
          <a:xfrm>
            <a:off x="7823200" y="1206500"/>
            <a:ext cx="3556000" cy="44450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6D3C7"/>
                </a:solidFill>
                <a:latin typeface="Inter" pitchFamily="34" charset="0"/>
                <a:ea typeface="Inter" pitchFamily="34" charset="-122"/>
                <a:cs typeface="Inter" pitchFamily="34" charset="-120"/>
              </a:rPr>
              <a:t>CSEG3060 · RESEARCH METHODOLOGY IN COMPUTER SCIENCE</a:t>
            </a:r>
            <a:endParaRPr lang="en-US" sz="1200" dirty="0"/>
          </a:p>
        </p:txBody>
      </p:sp>
      <p:sp>
        <p:nvSpPr>
          <p:cNvPr id="4" name="Text 1"/>
          <p:cNvSpPr/>
          <p:nvPr/>
        </p:nvSpPr>
        <p:spPr>
          <a:xfrm>
            <a:off x="812800" y="2042319"/>
            <a:ext cx="6802120"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2A384"/>
                </a:solidFill>
                <a:latin typeface="Inter" pitchFamily="34" charset="0"/>
                <a:ea typeface="Inter" pitchFamily="34" charset="-122"/>
                <a:cs typeface="Inter" pitchFamily="34" charset="-120"/>
              </a:rPr>
              <a:t>UNIT III · PART 4</a:t>
            </a:r>
            <a:endParaRPr lang="en-US" sz="1400" dirty="0"/>
          </a:p>
        </p:txBody>
      </p:sp>
      <p:sp>
        <p:nvSpPr>
          <p:cNvPr id="5" name="Text 2"/>
          <p:cNvSpPr/>
          <p:nvPr/>
        </p:nvSpPr>
        <p:spPr>
          <a:xfrm>
            <a:off x="812800" y="2468959"/>
            <a:ext cx="6802120" cy="1518841"/>
          </a:xfrm>
          <a:prstGeom prst="rect">
            <a:avLst/>
          </a:prstGeom>
          <a:noFill/>
          <a:ln/>
        </p:spPr>
        <p:txBody>
          <a:bodyPr wrap="square" lIns="0" tIns="0" rIns="0" bIns="0" rtlCol="0" anchor="t">
            <a:normAutofit/>
          </a:bodyPr>
          <a:lstStyle/>
          <a:p>
            <a:pPr marL="0" indent="0" algn="l">
              <a:lnSpc>
                <a:spcPts val="5880"/>
              </a:lnSpc>
              <a:buNone/>
            </a:pPr>
            <a:r>
              <a:rPr lang="en-US" sz="5600" b="1" dirty="0">
                <a:solidFill>
                  <a:srgbClr val="F3EFE6"/>
                </a:solidFill>
                <a:latin typeface="Space Grotesk" pitchFamily="34" charset="0"/>
                <a:ea typeface="Space Grotesk" pitchFamily="34" charset="-122"/>
                <a:cs typeface="Space Grotesk" pitchFamily="34" charset="-120"/>
              </a:rPr>
              <a:t>Plagiarism &amp; Citation Ethics</a:t>
            </a:r>
            <a:endParaRPr lang="en-US" sz="5600" dirty="0"/>
          </a:p>
        </p:txBody>
      </p:sp>
      <p:sp>
        <p:nvSpPr>
          <p:cNvPr id="6" name="Text 3"/>
          <p:cNvSpPr/>
          <p:nvPr/>
        </p:nvSpPr>
        <p:spPr>
          <a:xfrm>
            <a:off x="812800" y="4140200"/>
            <a:ext cx="6802120" cy="665361"/>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D6D4"/>
                </a:solidFill>
                <a:latin typeface="Inter" pitchFamily="34" charset="0"/>
                <a:ea typeface="Inter" pitchFamily="34" charset="-122"/>
                <a:cs typeface="Inter" pitchFamily="34" charset="-120"/>
              </a:rPr>
              <a:t>Writing it all up honestly, concluding the brain tumour segmentation example.</a:t>
            </a:r>
            <a:endParaRPr lang="en-US" sz="1800" dirty="0"/>
          </a:p>
        </p:txBody>
      </p:sp>
      <p:sp>
        <p:nvSpPr>
          <p:cNvPr id="7" name="Text 4"/>
          <p:cNvSpPr/>
          <p:nvPr/>
        </p:nvSpPr>
        <p:spPr>
          <a:xfrm>
            <a:off x="812800" y="579635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6D4"/>
                </a:solidFill>
                <a:latin typeface="Inter" pitchFamily="34" charset="0"/>
                <a:ea typeface="Inter" pitchFamily="34" charset="-122"/>
                <a:cs typeface="Inter" pitchFamily="34" charset="-120"/>
              </a:rPr>
              <a:t>Dr. Mohsin Furkh Dar · School of Computer Science, UPES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452A"/>
                </a:solidFill>
                <a:latin typeface="Inter" pitchFamily="34" charset="0"/>
                <a:ea typeface="Inter" pitchFamily="34" charset="-122"/>
                <a:cs typeface="Inter" pitchFamily="34" charset="-120"/>
              </a:rPr>
              <a:t>SESSION GOALS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3262E"/>
                </a:solidFill>
                <a:latin typeface="Space Grotesk" pitchFamily="34" charset="0"/>
                <a:ea typeface="Space Grotesk" pitchFamily="34" charset="-122"/>
                <a:cs typeface="Space Grotesk" pitchFamily="34" charset="-120"/>
              </a:rPr>
              <a:t>By the end of this session, you can…</a:t>
            </a:r>
            <a:endParaRPr lang="en-US" sz="3200" dirty="0"/>
          </a:p>
        </p:txBody>
      </p:sp>
      <p:sp>
        <p:nvSpPr>
          <p:cNvPr id="4" name="Shape 2"/>
          <p:cNvSpPr/>
          <p:nvPr/>
        </p:nvSpPr>
        <p:spPr>
          <a:xfrm>
            <a:off x="812800" y="1885851"/>
            <a:ext cx="10566400" cy="0"/>
          </a:xfrm>
          <a:prstGeom prst="line">
            <a:avLst/>
          </a:prstGeom>
          <a:noFill/>
          <a:ln w="12700">
            <a:solidFill>
              <a:srgbClr val="DDD6C8"/>
            </a:solidFill>
            <a:prstDash val="solid"/>
          </a:ln>
        </p:spPr>
        <p:txBody>
          <a:bodyPr/>
          <a:lstStyle/>
          <a:p>
            <a:endParaRPr lang="en-IN"/>
          </a:p>
        </p:txBody>
      </p:sp>
      <p:sp>
        <p:nvSpPr>
          <p:cNvPr id="5" name="Text 3"/>
          <p:cNvSpPr/>
          <p:nvPr/>
        </p:nvSpPr>
        <p:spPr>
          <a:xfrm>
            <a:off x="812800" y="2019201"/>
            <a:ext cx="6223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452A"/>
                </a:solidFill>
                <a:latin typeface="Space Grotesk" pitchFamily="34" charset="0"/>
                <a:ea typeface="Space Grotesk" pitchFamily="34" charset="-122"/>
                <a:cs typeface="Space Grotesk" pitchFamily="34" charset="-120"/>
              </a:rPr>
              <a:t>01</a:t>
            </a:r>
            <a:endParaRPr lang="en-US" sz="2200" dirty="0"/>
          </a:p>
        </p:txBody>
      </p:sp>
      <p:sp>
        <p:nvSpPr>
          <p:cNvPr id="6" name="Text 4"/>
          <p:cNvSpPr/>
          <p:nvPr/>
        </p:nvSpPr>
        <p:spPr>
          <a:xfrm>
            <a:off x="1638300" y="2074466"/>
            <a:ext cx="6112608" cy="305991"/>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13262E"/>
                </a:solidFill>
                <a:latin typeface="Inter" pitchFamily="34" charset="0"/>
                <a:ea typeface="Inter" pitchFamily="34" charset="-122"/>
                <a:cs typeface="Inter" pitchFamily="34" charset="-120"/>
              </a:rPr>
              <a:t>Recognise </a:t>
            </a:r>
            <a:r>
              <a:rPr lang="en-US" sz="1700" b="1" dirty="0">
                <a:solidFill>
                  <a:srgbClr val="13262E"/>
                </a:solidFill>
                <a:latin typeface="Inter" pitchFamily="34" charset="0"/>
                <a:ea typeface="Inter" pitchFamily="34" charset="-122"/>
                <a:cs typeface="Inter" pitchFamily="34" charset="-120"/>
              </a:rPr>
              <a:t>direct, mosaic, self- and accidental</a:t>
            </a:r>
            <a:r>
              <a:rPr lang="en-US" sz="1700" dirty="0">
                <a:solidFill>
                  <a:srgbClr val="13262E"/>
                </a:solidFill>
                <a:latin typeface="Inter" pitchFamily="34" charset="0"/>
                <a:ea typeface="Inter" pitchFamily="34" charset="-122"/>
                <a:cs typeface="Inter" pitchFamily="34" charset="-120"/>
              </a:rPr>
              <a:t> plagiarism</a:t>
            </a:r>
            <a:endParaRPr lang="en-US" sz="1700" dirty="0"/>
          </a:p>
        </p:txBody>
      </p:sp>
      <p:sp>
        <p:nvSpPr>
          <p:cNvPr id="7" name="Shape 5"/>
          <p:cNvSpPr/>
          <p:nvPr/>
        </p:nvSpPr>
        <p:spPr>
          <a:xfrm>
            <a:off x="812800" y="2543671"/>
            <a:ext cx="10566400" cy="0"/>
          </a:xfrm>
          <a:prstGeom prst="line">
            <a:avLst/>
          </a:prstGeom>
          <a:noFill/>
          <a:ln w="12700">
            <a:solidFill>
              <a:srgbClr val="DDD6C8"/>
            </a:solidFill>
            <a:prstDash val="solid"/>
          </a:ln>
        </p:spPr>
        <p:txBody>
          <a:bodyPr/>
          <a:lstStyle/>
          <a:p>
            <a:endParaRPr lang="en-IN"/>
          </a:p>
        </p:txBody>
      </p:sp>
      <p:sp>
        <p:nvSpPr>
          <p:cNvPr id="8" name="Text 6"/>
          <p:cNvSpPr/>
          <p:nvPr/>
        </p:nvSpPr>
        <p:spPr>
          <a:xfrm>
            <a:off x="812800" y="2677021"/>
            <a:ext cx="6223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452A"/>
                </a:solidFill>
                <a:latin typeface="Space Grotesk" pitchFamily="34" charset="0"/>
                <a:ea typeface="Space Grotesk" pitchFamily="34" charset="-122"/>
                <a:cs typeface="Space Grotesk" pitchFamily="34" charset="-120"/>
              </a:rPr>
              <a:t>02</a:t>
            </a:r>
            <a:endParaRPr lang="en-US" sz="2200" dirty="0"/>
          </a:p>
        </p:txBody>
      </p:sp>
      <p:sp>
        <p:nvSpPr>
          <p:cNvPr id="9" name="Text 7"/>
          <p:cNvSpPr/>
          <p:nvPr/>
        </p:nvSpPr>
        <p:spPr>
          <a:xfrm>
            <a:off x="1638300" y="2732286"/>
            <a:ext cx="5991405" cy="305991"/>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13262E"/>
                </a:solidFill>
                <a:latin typeface="Inter" pitchFamily="34" charset="0"/>
                <a:ea typeface="Inter" pitchFamily="34" charset="-122"/>
                <a:cs typeface="Inter" pitchFamily="34" charset="-120"/>
              </a:rPr>
              <a:t>Spot plagiarism in </a:t>
            </a:r>
            <a:r>
              <a:rPr lang="en-US" sz="1700" b="1" dirty="0">
                <a:solidFill>
                  <a:srgbClr val="13262E"/>
                </a:solidFill>
                <a:latin typeface="Inter" pitchFamily="34" charset="0"/>
                <a:ea typeface="Inter" pitchFamily="34" charset="-122"/>
                <a:cs typeface="Inter" pitchFamily="34" charset="-120"/>
              </a:rPr>
              <a:t>figures, code and results</a:t>
            </a:r>
            <a:r>
              <a:rPr lang="en-US" sz="1700" dirty="0">
                <a:solidFill>
                  <a:srgbClr val="13262E"/>
                </a:solidFill>
                <a:latin typeface="Inter" pitchFamily="34" charset="0"/>
                <a:ea typeface="Inter" pitchFamily="34" charset="-122"/>
                <a:cs typeface="Inter" pitchFamily="34" charset="-120"/>
              </a:rPr>
              <a:t>, not just text</a:t>
            </a:r>
            <a:endParaRPr lang="en-US" sz="1700" dirty="0"/>
          </a:p>
        </p:txBody>
      </p:sp>
      <p:sp>
        <p:nvSpPr>
          <p:cNvPr id="10" name="Shape 8"/>
          <p:cNvSpPr/>
          <p:nvPr/>
        </p:nvSpPr>
        <p:spPr>
          <a:xfrm>
            <a:off x="812800" y="3201491"/>
            <a:ext cx="10566400" cy="0"/>
          </a:xfrm>
          <a:prstGeom prst="line">
            <a:avLst/>
          </a:prstGeom>
          <a:noFill/>
          <a:ln w="12700">
            <a:solidFill>
              <a:srgbClr val="DDD6C8"/>
            </a:solidFill>
            <a:prstDash val="solid"/>
          </a:ln>
        </p:spPr>
        <p:txBody>
          <a:bodyPr/>
          <a:lstStyle/>
          <a:p>
            <a:endParaRPr lang="en-IN"/>
          </a:p>
        </p:txBody>
      </p:sp>
      <p:sp>
        <p:nvSpPr>
          <p:cNvPr id="11" name="Text 9"/>
          <p:cNvSpPr/>
          <p:nvPr/>
        </p:nvSpPr>
        <p:spPr>
          <a:xfrm>
            <a:off x="812800" y="3334841"/>
            <a:ext cx="6223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452A"/>
                </a:solidFill>
                <a:latin typeface="Space Grotesk" pitchFamily="34" charset="0"/>
                <a:ea typeface="Space Grotesk" pitchFamily="34" charset="-122"/>
                <a:cs typeface="Space Grotesk" pitchFamily="34" charset="-120"/>
              </a:rPr>
              <a:t>03</a:t>
            </a:r>
            <a:endParaRPr lang="en-US" sz="2200" dirty="0"/>
          </a:p>
        </p:txBody>
      </p:sp>
      <p:sp>
        <p:nvSpPr>
          <p:cNvPr id="12" name="Text 10"/>
          <p:cNvSpPr/>
          <p:nvPr/>
        </p:nvSpPr>
        <p:spPr>
          <a:xfrm>
            <a:off x="1638300" y="3390106"/>
            <a:ext cx="6049247" cy="305991"/>
          </a:xfrm>
          <a:prstGeom prst="rect">
            <a:avLst/>
          </a:prstGeom>
          <a:noFill/>
          <a:ln/>
        </p:spPr>
        <p:txBody>
          <a:bodyPr wrap="square" lIns="0" tIns="0" rIns="0" bIns="0" rtlCol="0" anchor="t">
            <a:normAutofit/>
          </a:bodyPr>
          <a:lstStyle/>
          <a:p>
            <a:pPr marL="0" indent="0" algn="l">
              <a:lnSpc>
                <a:spcPts val="2210"/>
              </a:lnSpc>
              <a:buNone/>
            </a:pPr>
            <a:r>
              <a:rPr lang="en-US" sz="1700" b="1" dirty="0">
                <a:solidFill>
                  <a:srgbClr val="13262E"/>
                </a:solidFill>
                <a:latin typeface="Inter" pitchFamily="34" charset="0"/>
                <a:ea typeface="Inter" pitchFamily="34" charset="-122"/>
                <a:cs typeface="Inter" pitchFamily="34" charset="-120"/>
              </a:rPr>
              <a:t>Paraphrase</a:t>
            </a:r>
            <a:r>
              <a:rPr lang="en-US" sz="1700" dirty="0">
                <a:solidFill>
                  <a:srgbClr val="13262E"/>
                </a:solidFill>
                <a:latin typeface="Inter" pitchFamily="34" charset="0"/>
                <a:ea typeface="Inter" pitchFamily="34" charset="-122"/>
                <a:cs typeface="Inter" pitchFamily="34" charset="-120"/>
              </a:rPr>
              <a:t> properly, and read a similarity report sensibly</a:t>
            </a:r>
            <a:endParaRPr lang="en-US" sz="1700" dirty="0"/>
          </a:p>
        </p:txBody>
      </p:sp>
      <p:sp>
        <p:nvSpPr>
          <p:cNvPr id="13" name="Shape 11"/>
          <p:cNvSpPr/>
          <p:nvPr/>
        </p:nvSpPr>
        <p:spPr>
          <a:xfrm>
            <a:off x="812800" y="3859312"/>
            <a:ext cx="10566400" cy="0"/>
          </a:xfrm>
          <a:prstGeom prst="line">
            <a:avLst/>
          </a:prstGeom>
          <a:noFill/>
          <a:ln w="12700">
            <a:solidFill>
              <a:srgbClr val="DDD6C8"/>
            </a:solidFill>
            <a:prstDash val="solid"/>
          </a:ln>
        </p:spPr>
        <p:txBody>
          <a:bodyPr/>
          <a:lstStyle/>
          <a:p>
            <a:endParaRPr lang="en-IN"/>
          </a:p>
        </p:txBody>
      </p:sp>
      <p:sp>
        <p:nvSpPr>
          <p:cNvPr id="14" name="Text 12"/>
          <p:cNvSpPr/>
          <p:nvPr/>
        </p:nvSpPr>
        <p:spPr>
          <a:xfrm>
            <a:off x="812800" y="3992662"/>
            <a:ext cx="6223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452A"/>
                </a:solidFill>
                <a:latin typeface="Space Grotesk" pitchFamily="34" charset="0"/>
                <a:ea typeface="Space Grotesk" pitchFamily="34" charset="-122"/>
                <a:cs typeface="Space Grotesk" pitchFamily="34" charset="-120"/>
              </a:rPr>
              <a:t>04</a:t>
            </a:r>
            <a:endParaRPr lang="en-US" sz="2200" dirty="0"/>
          </a:p>
        </p:txBody>
      </p:sp>
      <p:sp>
        <p:nvSpPr>
          <p:cNvPr id="15" name="Text 13"/>
          <p:cNvSpPr/>
          <p:nvPr/>
        </p:nvSpPr>
        <p:spPr>
          <a:xfrm>
            <a:off x="1638300" y="4047927"/>
            <a:ext cx="4314380" cy="305991"/>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13262E"/>
                </a:solidFill>
                <a:latin typeface="Inter" pitchFamily="34" charset="0"/>
                <a:ea typeface="Inter" pitchFamily="34" charset="-122"/>
                <a:cs typeface="Inter" pitchFamily="34" charset="-120"/>
              </a:rPr>
              <a:t>Format references in </a:t>
            </a:r>
            <a:r>
              <a:rPr lang="en-US" sz="1700" b="1" dirty="0">
                <a:solidFill>
                  <a:srgbClr val="13262E"/>
                </a:solidFill>
                <a:latin typeface="Inter" pitchFamily="34" charset="0"/>
                <a:ea typeface="Inter" pitchFamily="34" charset="-122"/>
                <a:cs typeface="Inter" pitchFamily="34" charset="-120"/>
              </a:rPr>
              <a:t>IEEE and ACM</a:t>
            </a:r>
            <a:r>
              <a:rPr lang="en-US" sz="1700" dirty="0">
                <a:solidFill>
                  <a:srgbClr val="13262E"/>
                </a:solidFill>
                <a:latin typeface="Inter" pitchFamily="34" charset="0"/>
                <a:ea typeface="Inter" pitchFamily="34" charset="-122"/>
                <a:cs typeface="Inter" pitchFamily="34" charset="-120"/>
              </a:rPr>
              <a:t> style</a:t>
            </a:r>
            <a:endParaRPr lang="en-US" sz="1700" dirty="0"/>
          </a:p>
        </p:txBody>
      </p:sp>
      <p:sp>
        <p:nvSpPr>
          <p:cNvPr id="16" name="Shape 14"/>
          <p:cNvSpPr/>
          <p:nvPr/>
        </p:nvSpPr>
        <p:spPr>
          <a:xfrm>
            <a:off x="812800" y="4517132"/>
            <a:ext cx="10566400" cy="0"/>
          </a:xfrm>
          <a:prstGeom prst="line">
            <a:avLst/>
          </a:prstGeom>
          <a:noFill/>
          <a:ln w="12700">
            <a:solidFill>
              <a:srgbClr val="DDD6C8"/>
            </a:solidFill>
            <a:prstDash val="solid"/>
          </a:ln>
        </p:spPr>
        <p:txBody>
          <a:bodyPr/>
          <a:lstStyle/>
          <a:p>
            <a:endParaRPr lang="en-IN"/>
          </a:p>
        </p:txBody>
      </p:sp>
      <p:sp>
        <p:nvSpPr>
          <p:cNvPr id="17" name="Shape 15"/>
          <p:cNvSpPr/>
          <p:nvPr/>
        </p:nvSpPr>
        <p:spPr>
          <a:xfrm>
            <a:off x="812800" y="5174952"/>
            <a:ext cx="10566400" cy="0"/>
          </a:xfrm>
          <a:prstGeom prst="line">
            <a:avLst/>
          </a:prstGeom>
          <a:noFill/>
          <a:ln w="12700">
            <a:solidFill>
              <a:srgbClr val="DDD6C8"/>
            </a:solidFill>
            <a:prstDash val="solid"/>
          </a:ln>
        </p:spPr>
        <p:txBody>
          <a:bodyPr/>
          <a:lstStyle/>
          <a:p>
            <a:endParaRPr lang="en-IN"/>
          </a:p>
        </p:txBody>
      </p:sp>
      <p:sp>
        <p:nvSpPr>
          <p:cNvPr id="18" name="Text 16"/>
          <p:cNvSpPr/>
          <p:nvPr/>
        </p:nvSpPr>
        <p:spPr>
          <a:xfrm>
            <a:off x="812800" y="4650482"/>
            <a:ext cx="6223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452A"/>
                </a:solidFill>
                <a:latin typeface="Space Grotesk" pitchFamily="34" charset="0"/>
                <a:ea typeface="Space Grotesk" pitchFamily="34" charset="-122"/>
                <a:cs typeface="Space Grotesk" pitchFamily="34" charset="-120"/>
              </a:rPr>
              <a:t>05</a:t>
            </a:r>
            <a:endParaRPr lang="en-US" sz="2200" dirty="0"/>
          </a:p>
        </p:txBody>
      </p:sp>
      <p:sp>
        <p:nvSpPr>
          <p:cNvPr id="19" name="Text 17"/>
          <p:cNvSpPr/>
          <p:nvPr/>
        </p:nvSpPr>
        <p:spPr>
          <a:xfrm>
            <a:off x="1638300" y="4705747"/>
            <a:ext cx="3531257" cy="305991"/>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13262E"/>
                </a:solidFill>
                <a:latin typeface="Inter" pitchFamily="34" charset="0"/>
                <a:ea typeface="Inter" pitchFamily="34" charset="-122"/>
                <a:cs typeface="Inter" pitchFamily="34" charset="-120"/>
              </a:rPr>
              <a:t>Follow the rules of </a:t>
            </a:r>
            <a:r>
              <a:rPr lang="en-US" sz="1700" b="1" dirty="0">
                <a:solidFill>
                  <a:srgbClr val="13262E"/>
                </a:solidFill>
                <a:latin typeface="Inter" pitchFamily="34" charset="0"/>
                <a:ea typeface="Inter" pitchFamily="34" charset="-122"/>
                <a:cs typeface="Inter" pitchFamily="34" charset="-120"/>
              </a:rPr>
              <a:t>citation ethics</a:t>
            </a:r>
            <a:endParaRPr lang="en-US" sz="17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0"/>
                </a:solidFill>
                <a:latin typeface="Inter" pitchFamily="34" charset="0"/>
                <a:ea typeface="Inter" pitchFamily="34" charset="-122"/>
                <a:cs typeface="Inter" pitchFamily="34" charset="-120"/>
              </a:rPr>
              <a:t>CSEG3060 · Unit III · Part 4 — Plagiarism &amp; Citation Ethics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303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6D3C7"/>
                </a:solidFill>
                <a:latin typeface="Inter" pitchFamily="34" charset="0"/>
                <a:ea typeface="Inter" pitchFamily="34" charset="-122"/>
                <a:cs typeface="Inter" pitchFamily="34" charset="-120"/>
              </a:rPr>
              <a:t>WHAT PLAGIARISM IS</a:t>
            </a:r>
            <a:endParaRPr lang="en-US" sz="1200" dirty="0"/>
          </a:p>
        </p:txBody>
      </p:sp>
      <p:sp>
        <p:nvSpPr>
          <p:cNvPr id="3" name="Text 1"/>
          <p:cNvSpPr/>
          <p:nvPr/>
        </p:nvSpPr>
        <p:spPr>
          <a:xfrm>
            <a:off x="812800" y="1178520"/>
            <a:ext cx="10883392" cy="1646734"/>
          </a:xfrm>
          <a:prstGeom prst="rect">
            <a:avLst/>
          </a:prstGeom>
          <a:noFill/>
          <a:ln/>
        </p:spPr>
        <p:txBody>
          <a:bodyPr wrap="square" lIns="0" tIns="0" rIns="0" bIns="0" rtlCol="0" anchor="t">
            <a:normAutofit/>
          </a:bodyPr>
          <a:lstStyle/>
          <a:p>
            <a:pPr marL="0" indent="0" algn="l">
              <a:lnSpc>
                <a:spcPts val="4256"/>
              </a:lnSpc>
              <a:buNone/>
            </a:pPr>
            <a:r>
              <a:rPr lang="en-US" sz="3800" b="1" dirty="0">
                <a:solidFill>
                  <a:srgbClr val="F3EFE6"/>
                </a:solidFill>
                <a:latin typeface="Space Grotesk" pitchFamily="34" charset="0"/>
                <a:ea typeface="Space Grotesk" pitchFamily="34" charset="-122"/>
                <a:cs typeface="Space Grotesk" pitchFamily="34" charset="-120"/>
              </a:rPr>
              <a:t>Presenting someone else’s </a:t>
            </a:r>
            <a:r>
              <a:rPr lang="en-US" sz="3800" b="1" dirty="0">
                <a:solidFill>
                  <a:srgbClr val="F2A384"/>
                </a:solidFill>
                <a:latin typeface="Space Grotesk" pitchFamily="34" charset="0"/>
                <a:ea typeface="Space Grotesk" pitchFamily="34" charset="-122"/>
                <a:cs typeface="Space Grotesk" pitchFamily="34" charset="-120"/>
              </a:rPr>
              <a:t>words, ideas, figures, code or results</a:t>
            </a:r>
            <a:r>
              <a:rPr lang="en-US" sz="3800" b="1" dirty="0">
                <a:solidFill>
                  <a:srgbClr val="F3EFE6"/>
                </a:solidFill>
                <a:latin typeface="Space Grotesk" pitchFamily="34" charset="0"/>
                <a:ea typeface="Space Grotesk" pitchFamily="34" charset="-122"/>
                <a:cs typeface="Space Grotesk" pitchFamily="34" charset="-120"/>
              </a:rPr>
              <a:t> as your own, without proper credit.</a:t>
            </a:r>
            <a:endParaRPr lang="en-US" sz="3800" dirty="0"/>
          </a:p>
        </p:txBody>
      </p:sp>
      <p:sp>
        <p:nvSpPr>
          <p:cNvPr id="4" name="Shape 2"/>
          <p:cNvSpPr/>
          <p:nvPr/>
        </p:nvSpPr>
        <p:spPr>
          <a:xfrm>
            <a:off x="812800" y="4890889"/>
            <a:ext cx="3420467" cy="1154311"/>
          </a:xfrm>
          <a:prstGeom prst="roundRect">
            <a:avLst>
              <a:gd name="adj" fmla="val 8802"/>
            </a:avLst>
          </a:prstGeom>
          <a:solidFill>
            <a:srgbClr val="1B3F4A"/>
          </a:solidFill>
          <a:ln/>
        </p:spPr>
        <p:txBody>
          <a:bodyPr/>
          <a:lstStyle/>
          <a:p>
            <a:endParaRPr lang="en-IN"/>
          </a:p>
        </p:txBody>
      </p:sp>
      <p:sp>
        <p:nvSpPr>
          <p:cNvPr id="5" name="Text 3"/>
          <p:cNvSpPr/>
          <p:nvPr/>
        </p:nvSpPr>
        <p:spPr>
          <a:xfrm>
            <a:off x="1016000" y="5081389"/>
            <a:ext cx="3104489" cy="540941"/>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F3EFE6"/>
                </a:solidFill>
                <a:latin typeface="Inter" pitchFamily="34" charset="0"/>
                <a:ea typeface="Inter" pitchFamily="34" charset="-122"/>
                <a:cs typeface="Inter" pitchFamily="34" charset="-120"/>
              </a:rPr>
              <a:t>Intent doesn’t erase it.</a:t>
            </a:r>
            <a:r>
              <a:rPr lang="en-US" sz="1400" dirty="0">
                <a:solidFill>
                  <a:srgbClr val="C9D6D4"/>
                </a:solidFill>
                <a:latin typeface="Inter" pitchFamily="34" charset="0"/>
                <a:ea typeface="Inter" pitchFamily="34" charset="-122"/>
                <a:cs typeface="Inter" pitchFamily="34" charset="-120"/>
              </a:rPr>
              <a:t> Accidental plagiarism is still plagiarism.</a:t>
            </a:r>
            <a:endParaRPr lang="en-US" sz="1400" dirty="0"/>
          </a:p>
        </p:txBody>
      </p:sp>
      <p:sp>
        <p:nvSpPr>
          <p:cNvPr id="6" name="Shape 4"/>
          <p:cNvSpPr/>
          <p:nvPr/>
        </p:nvSpPr>
        <p:spPr>
          <a:xfrm>
            <a:off x="4385667" y="4890889"/>
            <a:ext cx="3420566" cy="1154311"/>
          </a:xfrm>
          <a:prstGeom prst="roundRect">
            <a:avLst>
              <a:gd name="adj" fmla="val 8802"/>
            </a:avLst>
          </a:prstGeom>
          <a:solidFill>
            <a:srgbClr val="1B3F4A"/>
          </a:solidFill>
          <a:ln/>
        </p:spPr>
        <p:txBody>
          <a:bodyPr/>
          <a:lstStyle/>
          <a:p>
            <a:endParaRPr lang="en-IN"/>
          </a:p>
        </p:txBody>
      </p:sp>
      <p:sp>
        <p:nvSpPr>
          <p:cNvPr id="7" name="Text 5"/>
          <p:cNvSpPr/>
          <p:nvPr/>
        </p:nvSpPr>
        <p:spPr>
          <a:xfrm>
            <a:off x="4588867" y="5081389"/>
            <a:ext cx="3104591" cy="798711"/>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F3EFE6"/>
                </a:solidFill>
                <a:latin typeface="Inter" pitchFamily="34" charset="0"/>
                <a:ea typeface="Inter" pitchFamily="34" charset="-122"/>
                <a:cs typeface="Inter" pitchFamily="34" charset="-120"/>
              </a:rPr>
              <a:t>Ideas count, not just words.</a:t>
            </a:r>
            <a:r>
              <a:rPr lang="en-US" sz="1400" dirty="0">
                <a:solidFill>
                  <a:srgbClr val="C9D6D4"/>
                </a:solidFill>
                <a:latin typeface="Inter" pitchFamily="34" charset="0"/>
                <a:ea typeface="Inter" pitchFamily="34" charset="-122"/>
                <a:cs typeface="Inter" pitchFamily="34" charset="-120"/>
              </a:rPr>
              <a:t> Rewording an idea still needs a citation.</a:t>
            </a:r>
            <a:endParaRPr lang="en-US" sz="1400" dirty="0"/>
          </a:p>
        </p:txBody>
      </p:sp>
      <p:sp>
        <p:nvSpPr>
          <p:cNvPr id="8" name="Shape 6"/>
          <p:cNvSpPr/>
          <p:nvPr/>
        </p:nvSpPr>
        <p:spPr>
          <a:xfrm>
            <a:off x="7958634" y="4890889"/>
            <a:ext cx="3420566" cy="1154311"/>
          </a:xfrm>
          <a:prstGeom prst="roundRect">
            <a:avLst>
              <a:gd name="adj" fmla="val 8802"/>
            </a:avLst>
          </a:prstGeom>
          <a:solidFill>
            <a:srgbClr val="1B3F4A"/>
          </a:solidFill>
          <a:ln/>
        </p:spPr>
        <p:txBody>
          <a:bodyPr/>
          <a:lstStyle/>
          <a:p>
            <a:endParaRPr lang="en-IN"/>
          </a:p>
        </p:txBody>
      </p:sp>
      <p:sp>
        <p:nvSpPr>
          <p:cNvPr id="9" name="Text 7"/>
          <p:cNvSpPr/>
          <p:nvPr/>
        </p:nvSpPr>
        <p:spPr>
          <a:xfrm>
            <a:off x="8161834" y="5081389"/>
            <a:ext cx="3104591" cy="540941"/>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F3EFE6"/>
                </a:solidFill>
                <a:latin typeface="Inter" pitchFamily="34" charset="0"/>
                <a:ea typeface="Inter" pitchFamily="34" charset="-122"/>
                <a:cs typeface="Inter" pitchFamily="34" charset="-120"/>
              </a:rPr>
              <a:t>The fix is simple.</a:t>
            </a:r>
            <a:r>
              <a:rPr lang="en-US" sz="1400" dirty="0">
                <a:solidFill>
                  <a:srgbClr val="C9D6D4"/>
                </a:solidFill>
                <a:latin typeface="Inter" pitchFamily="34" charset="0"/>
                <a:ea typeface="Inter" pitchFamily="34" charset="-122"/>
                <a:cs typeface="Inter" pitchFamily="34" charset="-120"/>
              </a:rPr>
              <a:t> Credit every source, every time.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452A"/>
                </a:solidFill>
                <a:latin typeface="Inter" pitchFamily="34" charset="0"/>
                <a:ea typeface="Inter" pitchFamily="34" charset="-122"/>
                <a:cs typeface="Inter" pitchFamily="34" charset="-120"/>
              </a:rPr>
              <a:t>A · TYPES OF PLAGIARISM</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3262E"/>
                </a:solidFill>
                <a:latin typeface="Space Grotesk" pitchFamily="34" charset="0"/>
                <a:ea typeface="Space Grotesk" pitchFamily="34" charset="-122"/>
                <a:cs typeface="Space Grotesk" pitchFamily="34" charset="-120"/>
              </a:rPr>
              <a:t>Four types, as they happen in your review</a:t>
            </a:r>
            <a:endParaRPr lang="en-US" sz="3200" dirty="0"/>
          </a:p>
        </p:txBody>
      </p:sp>
      <p:sp>
        <p:nvSpPr>
          <p:cNvPr id="4" name="Shape 2"/>
          <p:cNvSpPr/>
          <p:nvPr/>
        </p:nvSpPr>
        <p:spPr>
          <a:xfrm>
            <a:off x="819150" y="1860451"/>
            <a:ext cx="5194300" cy="1685032"/>
          </a:xfrm>
          <a:prstGeom prst="roundRect">
            <a:avLst>
              <a:gd name="adj" fmla="val 5653"/>
            </a:avLst>
          </a:prstGeom>
          <a:solidFill>
            <a:srgbClr val="FFFDF8"/>
          </a:solidFill>
          <a:ln w="12700">
            <a:solidFill>
              <a:srgbClr val="DDD6C8"/>
            </a:solidFill>
            <a:prstDash val="solid"/>
          </a:ln>
        </p:spPr>
        <p:txBody>
          <a:bodyPr/>
          <a:lstStyle/>
          <a:p>
            <a:endParaRPr lang="en-IN"/>
          </a:p>
        </p:txBody>
      </p:sp>
      <p:sp>
        <p:nvSpPr>
          <p:cNvPr id="5" name="Text 3"/>
          <p:cNvSpPr/>
          <p:nvPr/>
        </p:nvSpPr>
        <p:spPr>
          <a:xfrm>
            <a:off x="1041400" y="2057301"/>
            <a:ext cx="489229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3262E"/>
                </a:solidFill>
                <a:latin typeface="Space Grotesk" pitchFamily="34" charset="0"/>
                <a:ea typeface="Space Grotesk" pitchFamily="34" charset="-122"/>
                <a:cs typeface="Space Grotesk" pitchFamily="34" charset="-120"/>
              </a:rPr>
              <a:t>Direct</a:t>
            </a:r>
            <a:endParaRPr lang="en-US" sz="1700" dirty="0"/>
          </a:p>
        </p:txBody>
      </p:sp>
      <p:sp>
        <p:nvSpPr>
          <p:cNvPr id="6" name="Text 4"/>
          <p:cNvSpPr/>
          <p:nvPr/>
        </p:nvSpPr>
        <p:spPr>
          <a:xfrm>
            <a:off x="1041400" y="2379861"/>
            <a:ext cx="4892294"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Word-for-word copying without quotation marks and citation.</a:t>
            </a:r>
            <a:endParaRPr lang="en-US" sz="1300" dirty="0"/>
          </a:p>
        </p:txBody>
      </p:sp>
      <p:sp>
        <p:nvSpPr>
          <p:cNvPr id="7" name="Text 5"/>
          <p:cNvSpPr/>
          <p:nvPr/>
        </p:nvSpPr>
        <p:spPr>
          <a:xfrm>
            <a:off x="1041400" y="2921992"/>
            <a:ext cx="4892294" cy="23872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3E4E53"/>
                </a:solidFill>
                <a:latin typeface="Inter" pitchFamily="34" charset="0"/>
                <a:ea typeface="Inter" pitchFamily="34" charset="-122"/>
                <a:cs typeface="Inter" pitchFamily="34" charset="-120"/>
              </a:rPr>
              <a:t>Pasting nnU-Net’s abstract into your background section.</a:t>
            </a:r>
            <a:endParaRPr lang="en-US" sz="1200" dirty="0"/>
          </a:p>
        </p:txBody>
      </p:sp>
      <p:sp>
        <p:nvSpPr>
          <p:cNvPr id="8" name="Shape 6"/>
          <p:cNvSpPr/>
          <p:nvPr/>
        </p:nvSpPr>
        <p:spPr>
          <a:xfrm>
            <a:off x="6178550" y="1860451"/>
            <a:ext cx="5194300" cy="1685032"/>
          </a:xfrm>
          <a:prstGeom prst="roundRect">
            <a:avLst>
              <a:gd name="adj" fmla="val 5653"/>
            </a:avLst>
          </a:prstGeom>
          <a:solidFill>
            <a:srgbClr val="FFFDF8"/>
          </a:solidFill>
          <a:ln w="12700">
            <a:solidFill>
              <a:srgbClr val="DDD6C8"/>
            </a:solidFill>
            <a:prstDash val="solid"/>
          </a:ln>
        </p:spPr>
        <p:txBody>
          <a:bodyPr/>
          <a:lstStyle/>
          <a:p>
            <a:endParaRPr lang="en-IN"/>
          </a:p>
        </p:txBody>
      </p:sp>
      <p:sp>
        <p:nvSpPr>
          <p:cNvPr id="9" name="Text 7"/>
          <p:cNvSpPr/>
          <p:nvPr/>
        </p:nvSpPr>
        <p:spPr>
          <a:xfrm>
            <a:off x="6400800" y="2057301"/>
            <a:ext cx="489229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3262E"/>
                </a:solidFill>
                <a:latin typeface="Space Grotesk" pitchFamily="34" charset="0"/>
                <a:ea typeface="Space Grotesk" pitchFamily="34" charset="-122"/>
                <a:cs typeface="Space Grotesk" pitchFamily="34" charset="-120"/>
              </a:rPr>
              <a:t>Mosaic (patchwriting)</a:t>
            </a:r>
            <a:endParaRPr lang="en-US" sz="1700" dirty="0"/>
          </a:p>
        </p:txBody>
      </p:sp>
      <p:sp>
        <p:nvSpPr>
          <p:cNvPr id="10" name="Text 8"/>
          <p:cNvSpPr/>
          <p:nvPr/>
        </p:nvSpPr>
        <p:spPr>
          <a:xfrm>
            <a:off x="6400800" y="2379861"/>
            <a:ext cx="4892294"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Borrowed phrases stitched together, or synonyms swapped into the original structure.</a:t>
            </a:r>
            <a:endParaRPr lang="en-US" sz="1300" dirty="0"/>
          </a:p>
        </p:txBody>
      </p:sp>
      <p:sp>
        <p:nvSpPr>
          <p:cNvPr id="11" name="Text 9"/>
          <p:cNvSpPr/>
          <p:nvPr/>
        </p:nvSpPr>
        <p:spPr>
          <a:xfrm>
            <a:off x="6400800" y="2921992"/>
            <a:ext cx="4892294" cy="452041"/>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3E4E53"/>
                </a:solidFill>
                <a:latin typeface="Inter" pitchFamily="34" charset="0"/>
                <a:ea typeface="Inter" pitchFamily="34" charset="-122"/>
                <a:cs typeface="Inter" pitchFamily="34" charset="-120"/>
              </a:rPr>
              <a:t>Changing “precise” to “accurate” in a U-Net sentence and calling it yours.</a:t>
            </a:r>
            <a:endParaRPr lang="en-US" sz="1200" dirty="0"/>
          </a:p>
        </p:txBody>
      </p:sp>
      <p:sp>
        <p:nvSpPr>
          <p:cNvPr id="12" name="Shape 10"/>
          <p:cNvSpPr/>
          <p:nvPr/>
        </p:nvSpPr>
        <p:spPr>
          <a:xfrm>
            <a:off x="819150" y="3710583"/>
            <a:ext cx="5194300" cy="1471712"/>
          </a:xfrm>
          <a:prstGeom prst="roundRect">
            <a:avLst>
              <a:gd name="adj" fmla="val 6472"/>
            </a:avLst>
          </a:prstGeom>
          <a:solidFill>
            <a:srgbClr val="FFFDF8"/>
          </a:solidFill>
          <a:ln w="12700">
            <a:solidFill>
              <a:srgbClr val="DDD6C8"/>
            </a:solidFill>
            <a:prstDash val="solid"/>
          </a:ln>
        </p:spPr>
        <p:txBody>
          <a:bodyPr/>
          <a:lstStyle/>
          <a:p>
            <a:endParaRPr lang="en-IN"/>
          </a:p>
        </p:txBody>
      </p:sp>
      <p:sp>
        <p:nvSpPr>
          <p:cNvPr id="13" name="Text 11"/>
          <p:cNvSpPr/>
          <p:nvPr/>
        </p:nvSpPr>
        <p:spPr>
          <a:xfrm>
            <a:off x="1041400" y="3907433"/>
            <a:ext cx="489229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3262E"/>
                </a:solidFill>
                <a:latin typeface="Space Grotesk" pitchFamily="34" charset="0"/>
                <a:ea typeface="Space Grotesk" pitchFamily="34" charset="-122"/>
                <a:cs typeface="Space Grotesk" pitchFamily="34" charset="-120"/>
              </a:rPr>
              <a:t>Self-plagiarism</a:t>
            </a:r>
            <a:endParaRPr lang="en-US" sz="1700" dirty="0"/>
          </a:p>
        </p:txBody>
      </p:sp>
      <p:sp>
        <p:nvSpPr>
          <p:cNvPr id="14" name="Text 12"/>
          <p:cNvSpPr/>
          <p:nvPr/>
        </p:nvSpPr>
        <p:spPr>
          <a:xfrm>
            <a:off x="1041400" y="4229993"/>
            <a:ext cx="4892294"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Reusing your own published text, figures or results without disclosure.</a:t>
            </a:r>
            <a:endParaRPr lang="en-US" sz="1300" dirty="0"/>
          </a:p>
        </p:txBody>
      </p:sp>
      <p:sp>
        <p:nvSpPr>
          <p:cNvPr id="15" name="Text 13"/>
          <p:cNvSpPr/>
          <p:nvPr/>
        </p:nvSpPr>
        <p:spPr>
          <a:xfrm>
            <a:off x="1041400" y="4772124"/>
            <a:ext cx="4892294" cy="23872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3E4E53"/>
                </a:solidFill>
                <a:latin typeface="Inter" pitchFamily="34" charset="0"/>
                <a:ea typeface="Inter" pitchFamily="34" charset="-122"/>
                <a:cs typeface="Inter" pitchFamily="34" charset="-120"/>
              </a:rPr>
              <a:t>Sending your conference paper’s results to a journal as if new.</a:t>
            </a:r>
            <a:endParaRPr lang="en-US" sz="1200" dirty="0"/>
          </a:p>
        </p:txBody>
      </p:sp>
      <p:sp>
        <p:nvSpPr>
          <p:cNvPr id="16" name="Shape 14"/>
          <p:cNvSpPr/>
          <p:nvPr/>
        </p:nvSpPr>
        <p:spPr>
          <a:xfrm>
            <a:off x="6178550" y="3710583"/>
            <a:ext cx="5194300" cy="1471712"/>
          </a:xfrm>
          <a:prstGeom prst="roundRect">
            <a:avLst>
              <a:gd name="adj" fmla="val 6472"/>
            </a:avLst>
          </a:prstGeom>
          <a:solidFill>
            <a:srgbClr val="FFFDF8"/>
          </a:solidFill>
          <a:ln w="12700">
            <a:solidFill>
              <a:srgbClr val="DDD6C8"/>
            </a:solidFill>
            <a:prstDash val="solid"/>
          </a:ln>
        </p:spPr>
        <p:txBody>
          <a:bodyPr/>
          <a:lstStyle/>
          <a:p>
            <a:endParaRPr lang="en-IN"/>
          </a:p>
        </p:txBody>
      </p:sp>
      <p:sp>
        <p:nvSpPr>
          <p:cNvPr id="17" name="Text 15"/>
          <p:cNvSpPr/>
          <p:nvPr/>
        </p:nvSpPr>
        <p:spPr>
          <a:xfrm>
            <a:off x="6400800" y="3907433"/>
            <a:ext cx="4892294"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3262E"/>
                </a:solidFill>
                <a:latin typeface="Space Grotesk" pitchFamily="34" charset="0"/>
                <a:ea typeface="Space Grotesk" pitchFamily="34" charset="-122"/>
                <a:cs typeface="Space Grotesk" pitchFamily="34" charset="-120"/>
              </a:rPr>
              <a:t>Accidental</a:t>
            </a:r>
            <a:endParaRPr lang="en-US" sz="1700" dirty="0"/>
          </a:p>
        </p:txBody>
      </p:sp>
      <p:sp>
        <p:nvSpPr>
          <p:cNvPr id="18" name="Text 16"/>
          <p:cNvSpPr/>
          <p:nvPr/>
        </p:nvSpPr>
        <p:spPr>
          <a:xfrm>
            <a:off x="6400800" y="4229993"/>
            <a:ext cx="4892294" cy="264716"/>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Unintended, usually from careless notes or a lost citation.</a:t>
            </a:r>
            <a:endParaRPr lang="en-US" sz="1300" dirty="0"/>
          </a:p>
        </p:txBody>
      </p:sp>
      <p:sp>
        <p:nvSpPr>
          <p:cNvPr id="19" name="Text 17"/>
          <p:cNvSpPr/>
          <p:nvPr/>
        </p:nvSpPr>
        <p:spPr>
          <a:xfrm>
            <a:off x="6400800" y="4532809"/>
            <a:ext cx="4892294" cy="23872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3E4E53"/>
                </a:solidFill>
                <a:latin typeface="Inter" pitchFamily="34" charset="0"/>
                <a:ea typeface="Inter" pitchFamily="34" charset="-122"/>
                <a:cs typeface="Inter" pitchFamily="34" charset="-120"/>
              </a:rPr>
              <a:t>A copied sentence in your notes that you later believe I wrote.</a:t>
            </a:r>
            <a:endParaRPr lang="en-US" sz="12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0"/>
                </a:solidFill>
                <a:latin typeface="Inter" pitchFamily="34" charset="0"/>
                <a:ea typeface="Inter" pitchFamily="34" charset="-122"/>
                <a:cs typeface="Inter" pitchFamily="34" charset="-120"/>
              </a:rPr>
              <a:t>CSEG3060 · Unit III · Part 4 — Plagiarism &amp; Citation Ethics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452A"/>
                </a:solidFill>
                <a:latin typeface="Inter" pitchFamily="34" charset="0"/>
                <a:ea typeface="Inter" pitchFamily="34" charset="-122"/>
                <a:cs typeface="Inter" pitchFamily="34" charset="-120"/>
              </a:rPr>
              <a:t>A · TYPES OF PLAGIARISM</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3262E"/>
                </a:solidFill>
                <a:latin typeface="Space Grotesk" pitchFamily="34" charset="0"/>
                <a:ea typeface="Space Grotesk" pitchFamily="34" charset="-122"/>
                <a:cs typeface="Space Grotesk" pitchFamily="34" charset="-120"/>
              </a:rPr>
              <a:t>Plagiarism goes beyond text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854101"/>
          <a:ext cx="10566400" cy="3684885"/>
        </p:xfrm>
        <a:graphic>
          <a:graphicData uri="http://schemas.openxmlformats.org/drawingml/2006/table">
            <a:tbl>
              <a:tblPr/>
              <a:tblGrid>
                <a:gridCol w="1479296">
                  <a:extLst>
                    <a:ext uri="{9D8B030D-6E8A-4147-A177-3AD203B41FA5}">
                      <a16:colId xmlns:a16="http://schemas.microsoft.com/office/drawing/2014/main" val="20000"/>
                    </a:ext>
                  </a:extLst>
                </a:gridCol>
                <a:gridCol w="4543552">
                  <a:extLst>
                    <a:ext uri="{9D8B030D-6E8A-4147-A177-3AD203B41FA5}">
                      <a16:colId xmlns:a16="http://schemas.microsoft.com/office/drawing/2014/main" val="20001"/>
                    </a:ext>
                  </a:extLst>
                </a:gridCol>
                <a:gridCol w="4543552">
                  <a:extLst>
                    <a:ext uri="{9D8B030D-6E8A-4147-A177-3AD203B41FA5}">
                      <a16:colId xmlns:a16="http://schemas.microsoft.com/office/drawing/2014/main" val="20002"/>
                    </a:ext>
                  </a:extLst>
                </a:gridCol>
              </a:tblGrid>
              <a:tr h="421580">
                <a:tc>
                  <a:txBody>
                    <a:bodyPr/>
                    <a:lstStyle/>
                    <a:p>
                      <a:pPr marL="0" indent="0">
                        <a:lnSpc>
                          <a:spcPts val="1820"/>
                        </a:lnSpc>
                        <a:buNone/>
                      </a:pPr>
                      <a:r>
                        <a:rPr lang="en-US" sz="1300" b="1" dirty="0">
                          <a:solidFill>
                            <a:srgbClr val="F3EFE6"/>
                          </a:solidFill>
                          <a:latin typeface="Inter" pitchFamily="34" charset="0"/>
                          <a:ea typeface="Inter" pitchFamily="34" charset="-122"/>
                          <a:cs typeface="Inter" pitchFamily="34" charset="-120"/>
                        </a:rPr>
                        <a:t>What</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12303A"/>
                    </a:solidFill>
                  </a:tcPr>
                </a:tc>
                <a:tc>
                  <a:txBody>
                    <a:bodyPr/>
                    <a:lstStyle/>
                    <a:p>
                      <a:pPr marL="0" indent="0">
                        <a:lnSpc>
                          <a:spcPts val="1820"/>
                        </a:lnSpc>
                        <a:buNone/>
                      </a:pPr>
                      <a:r>
                        <a:rPr lang="en-US" sz="1300" b="1" dirty="0">
                          <a:solidFill>
                            <a:srgbClr val="F3EFE6"/>
                          </a:solidFill>
                          <a:latin typeface="Inter" pitchFamily="34" charset="0"/>
                          <a:ea typeface="Inter" pitchFamily="34" charset="-122"/>
                          <a:cs typeface="Inter" pitchFamily="34" charset="-120"/>
                        </a:rPr>
                        <a:t>The mistake</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12303A"/>
                    </a:solidFill>
                  </a:tcPr>
                </a:tc>
                <a:tc>
                  <a:txBody>
                    <a:bodyPr/>
                    <a:lstStyle/>
                    <a:p>
                      <a:pPr marL="0" indent="0">
                        <a:lnSpc>
                          <a:spcPts val="1820"/>
                        </a:lnSpc>
                        <a:buNone/>
                      </a:pPr>
                      <a:r>
                        <a:rPr lang="en-US" sz="1300" b="1" dirty="0">
                          <a:solidFill>
                            <a:srgbClr val="F3EFE6"/>
                          </a:solidFill>
                          <a:latin typeface="Inter" pitchFamily="34" charset="0"/>
                          <a:ea typeface="Inter" pitchFamily="34" charset="-122"/>
                          <a:cs typeface="Inter" pitchFamily="34" charset="-120"/>
                        </a:rPr>
                        <a:t>Doing it right</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12303A"/>
                    </a:solidFill>
                  </a:tcPr>
                </a:tc>
                <a:extLst>
                  <a:ext uri="{0D108BD9-81ED-4DB2-BD59-A6C34878D82A}">
                    <a16:rowId xmlns:a16="http://schemas.microsoft.com/office/drawing/2014/main" val="10000"/>
                  </a:ext>
                </a:extLst>
              </a:tr>
              <a:tr h="652661">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Figures</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Redrawing the U-Net architecture diagram almost exactly, uncredited</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Draw your own, or write “adapted from [1]”, with permission if needed</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652661">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Code</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Copying a GitHub repository into your project without its licence</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Keep the licence notice; credit the repository in the paper</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extLst>
                  <a:ext uri="{0D108BD9-81ED-4DB2-BD59-A6C34878D82A}">
                    <a16:rowId xmlns:a16="http://schemas.microsoft.com/office/drawing/2014/main" val="10002"/>
                  </a:ext>
                </a:extLst>
              </a:tr>
              <a:tr h="652661">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Results</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Copying baseline Dice scores from another paper’s table</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State they are reported by [n], or rerun and say so</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r h="652661">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Datasets</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Using BraTS without the citations its organisers request</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Cite the papers the dataset’s terms list</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extLst>
                  <a:ext uri="{0D108BD9-81ED-4DB2-BD59-A6C34878D82A}">
                    <a16:rowId xmlns:a16="http://schemas.microsoft.com/office/drawing/2014/main" val="10004"/>
                  </a:ext>
                </a:extLst>
              </a:tr>
              <a:tr h="652661">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AI tools</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Submitting AI-written text as entirely your own</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820"/>
                        </a:lnSpc>
                        <a:buNone/>
                      </a:pPr>
                      <a:r>
                        <a:rPr lang="en-US" sz="1300" dirty="0">
                          <a:solidFill>
                            <a:srgbClr val="13262E"/>
                          </a:solidFill>
                          <a:latin typeface="Inter" pitchFamily="34" charset="0"/>
                          <a:ea typeface="Inter" pitchFamily="34" charset="-122"/>
                          <a:cs typeface="Inter" pitchFamily="34" charset="-120"/>
                        </a:rPr>
                        <a:t>Follow the venue’s AI policy; disclose use where required</a:t>
                      </a:r>
                      <a:endParaRPr lang="en-US" sz="130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extLst>
                  <a:ext uri="{0D108BD9-81ED-4DB2-BD59-A6C34878D82A}">
                    <a16:rowId xmlns:a16="http://schemas.microsoft.com/office/drawing/2014/main" val="10005"/>
                  </a:ext>
                </a:extLst>
              </a:tr>
            </a:tbl>
          </a:graphicData>
        </a:graphic>
      </p:graphicFrame>
      <p:sp>
        <p:nvSpPr>
          <p:cNvPr id="5" name="Text 2"/>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0"/>
                </a:solidFill>
                <a:latin typeface="Inter" pitchFamily="34" charset="0"/>
                <a:ea typeface="Inter" pitchFamily="34" charset="-122"/>
                <a:cs typeface="Inter" pitchFamily="34" charset="-120"/>
              </a:rPr>
              <a:t>CSEG3060 · Unit III · Part 4 — Plagiarism &amp; Citation Ethics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452A"/>
                </a:solidFill>
                <a:latin typeface="Inter" pitchFamily="34" charset="0"/>
                <a:ea typeface="Inter" pitchFamily="34" charset="-122"/>
                <a:cs typeface="Inter" pitchFamily="34" charset="-120"/>
              </a:rPr>
              <a:t>A · A CLOSER LOOK</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3262E"/>
                </a:solidFill>
                <a:latin typeface="Space Grotesk" pitchFamily="34" charset="0"/>
                <a:ea typeface="Space Grotesk" pitchFamily="34" charset="-122"/>
                <a:cs typeface="Space Grotesk" pitchFamily="34" charset="-120"/>
              </a:rPr>
              <a:t>“But it was my own paper!” Self-plagiarism</a:t>
            </a:r>
            <a:endParaRPr lang="en-US" sz="3200" dirty="0"/>
          </a:p>
        </p:txBody>
      </p:sp>
      <p:sp>
        <p:nvSpPr>
          <p:cNvPr id="4" name="Shape 2"/>
          <p:cNvSpPr/>
          <p:nvPr/>
        </p:nvSpPr>
        <p:spPr>
          <a:xfrm>
            <a:off x="819150" y="1860451"/>
            <a:ext cx="3407767" cy="1510407"/>
          </a:xfrm>
          <a:prstGeom prst="roundRect">
            <a:avLst>
              <a:gd name="adj" fmla="val 6306"/>
            </a:avLst>
          </a:prstGeom>
          <a:solidFill>
            <a:srgbClr val="FFFDF8"/>
          </a:solidFill>
          <a:ln w="12700">
            <a:solidFill>
              <a:srgbClr val="DDD6C8"/>
            </a:solidFill>
            <a:prstDash val="solid"/>
          </a:ln>
        </p:spPr>
        <p:txBody>
          <a:bodyPr/>
          <a:lstStyle/>
          <a:p>
            <a:endParaRPr lang="en-IN"/>
          </a:p>
        </p:txBody>
      </p:sp>
      <p:sp>
        <p:nvSpPr>
          <p:cNvPr id="5" name="Text 3"/>
          <p:cNvSpPr/>
          <p:nvPr/>
        </p:nvSpPr>
        <p:spPr>
          <a:xfrm>
            <a:off x="1041400" y="2082701"/>
            <a:ext cx="305216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3262E"/>
                </a:solidFill>
                <a:latin typeface="Space Grotesk" pitchFamily="34" charset="0"/>
                <a:ea typeface="Space Grotesk" pitchFamily="34" charset="-122"/>
                <a:cs typeface="Space Grotesk" pitchFamily="34" charset="-120"/>
              </a:rPr>
              <a:t>Duplicate publication</a:t>
            </a:r>
            <a:endParaRPr lang="en-US" sz="1700" dirty="0"/>
          </a:p>
        </p:txBody>
      </p:sp>
      <p:sp>
        <p:nvSpPr>
          <p:cNvPr id="6" name="Text 4"/>
          <p:cNvSpPr/>
          <p:nvPr/>
        </p:nvSpPr>
        <p:spPr>
          <a:xfrm>
            <a:off x="1041400" y="2430661"/>
            <a:ext cx="3052165"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The same experiments published twice as if new. Readers and meta-analyses count them twice.</a:t>
            </a:r>
            <a:endParaRPr lang="en-US" sz="1300" dirty="0"/>
          </a:p>
        </p:txBody>
      </p:sp>
      <p:sp>
        <p:nvSpPr>
          <p:cNvPr id="7" name="Shape 5"/>
          <p:cNvSpPr/>
          <p:nvPr/>
        </p:nvSpPr>
        <p:spPr>
          <a:xfrm>
            <a:off x="4392017" y="1860451"/>
            <a:ext cx="3407866" cy="1510407"/>
          </a:xfrm>
          <a:prstGeom prst="roundRect">
            <a:avLst>
              <a:gd name="adj" fmla="val 6306"/>
            </a:avLst>
          </a:prstGeom>
          <a:solidFill>
            <a:srgbClr val="FFFDF8"/>
          </a:solidFill>
          <a:ln w="12700">
            <a:solidFill>
              <a:srgbClr val="DDD6C8"/>
            </a:solidFill>
            <a:prstDash val="solid"/>
          </a:ln>
        </p:spPr>
        <p:txBody>
          <a:bodyPr/>
          <a:lstStyle/>
          <a:p>
            <a:endParaRPr lang="en-IN"/>
          </a:p>
        </p:txBody>
      </p:sp>
      <p:sp>
        <p:nvSpPr>
          <p:cNvPr id="8" name="Text 6"/>
          <p:cNvSpPr/>
          <p:nvPr/>
        </p:nvSpPr>
        <p:spPr>
          <a:xfrm>
            <a:off x="4614267" y="2082701"/>
            <a:ext cx="3052267"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3262E"/>
                </a:solidFill>
                <a:latin typeface="Space Grotesk" pitchFamily="34" charset="0"/>
                <a:ea typeface="Space Grotesk" pitchFamily="34" charset="-122"/>
                <a:cs typeface="Space Grotesk" pitchFamily="34" charset="-120"/>
              </a:rPr>
              <a:t>Salami slicing</a:t>
            </a:r>
            <a:endParaRPr lang="en-US" sz="1700" dirty="0"/>
          </a:p>
        </p:txBody>
      </p:sp>
      <p:sp>
        <p:nvSpPr>
          <p:cNvPr id="9" name="Text 7"/>
          <p:cNvSpPr/>
          <p:nvPr/>
        </p:nvSpPr>
        <p:spPr>
          <a:xfrm>
            <a:off x="4614267" y="2430661"/>
            <a:ext cx="3052267"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One study cut into several thin papers, e.g., whole tumour in one, tumour core in another.</a:t>
            </a:r>
            <a:endParaRPr lang="en-US" sz="1300" dirty="0"/>
          </a:p>
        </p:txBody>
      </p:sp>
      <p:sp>
        <p:nvSpPr>
          <p:cNvPr id="10" name="Shape 8"/>
          <p:cNvSpPr/>
          <p:nvPr/>
        </p:nvSpPr>
        <p:spPr>
          <a:xfrm>
            <a:off x="7964984" y="1860451"/>
            <a:ext cx="3407866" cy="1510407"/>
          </a:xfrm>
          <a:prstGeom prst="roundRect">
            <a:avLst>
              <a:gd name="adj" fmla="val 6306"/>
            </a:avLst>
          </a:prstGeom>
          <a:solidFill>
            <a:srgbClr val="FFFDF8"/>
          </a:solidFill>
          <a:ln w="12700">
            <a:solidFill>
              <a:srgbClr val="DDD6C8"/>
            </a:solidFill>
            <a:prstDash val="solid"/>
          </a:ln>
        </p:spPr>
        <p:txBody>
          <a:bodyPr/>
          <a:lstStyle/>
          <a:p>
            <a:endParaRPr lang="en-IN"/>
          </a:p>
        </p:txBody>
      </p:sp>
      <p:sp>
        <p:nvSpPr>
          <p:cNvPr id="11" name="Text 9"/>
          <p:cNvSpPr/>
          <p:nvPr/>
        </p:nvSpPr>
        <p:spPr>
          <a:xfrm>
            <a:off x="8187234" y="2082701"/>
            <a:ext cx="3052267"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3262E"/>
                </a:solidFill>
                <a:latin typeface="Space Grotesk" pitchFamily="34" charset="0"/>
                <a:ea typeface="Space Grotesk" pitchFamily="34" charset="-122"/>
                <a:cs typeface="Space Grotesk" pitchFamily="34" charset="-120"/>
              </a:rPr>
              <a:t>Recycled text</a:t>
            </a:r>
            <a:endParaRPr lang="en-US" sz="1700" dirty="0"/>
          </a:p>
        </p:txBody>
      </p:sp>
      <p:sp>
        <p:nvSpPr>
          <p:cNvPr id="12" name="Text 10"/>
          <p:cNvSpPr/>
          <p:nvPr/>
        </p:nvSpPr>
        <p:spPr>
          <a:xfrm>
            <a:off x="8187234" y="2430661"/>
            <a:ext cx="3052267"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Copying large parts of your own earlier paper without citing it.</a:t>
            </a:r>
            <a:endParaRPr lang="en-US" sz="1300" dirty="0"/>
          </a:p>
        </p:txBody>
      </p:sp>
      <p:sp>
        <p:nvSpPr>
          <p:cNvPr id="13" name="Shape 11"/>
          <p:cNvSpPr/>
          <p:nvPr/>
        </p:nvSpPr>
        <p:spPr>
          <a:xfrm>
            <a:off x="812800" y="3656608"/>
            <a:ext cx="10566400" cy="1166912"/>
          </a:xfrm>
          <a:prstGeom prst="roundRect">
            <a:avLst>
              <a:gd name="adj" fmla="val 8707"/>
            </a:avLst>
          </a:prstGeom>
          <a:solidFill>
            <a:srgbClr val="E2EEEB"/>
          </a:solidFill>
          <a:ln/>
        </p:spPr>
        <p:txBody>
          <a:bodyPr/>
          <a:lstStyle/>
          <a:p>
            <a:endParaRPr lang="en-IN"/>
          </a:p>
        </p:txBody>
      </p:sp>
      <p:sp>
        <p:nvSpPr>
          <p:cNvPr id="14" name="Text 12"/>
          <p:cNvSpPr/>
          <p:nvPr/>
        </p:nvSpPr>
        <p:spPr>
          <a:xfrm>
            <a:off x="1054100" y="3847108"/>
            <a:ext cx="1038631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6F66"/>
                </a:solidFill>
                <a:latin typeface="Space Grotesk" pitchFamily="34" charset="0"/>
                <a:ea typeface="Space Grotesk" pitchFamily="34" charset="-122"/>
                <a:cs typeface="Space Grotesk" pitchFamily="34" charset="-120"/>
              </a:rPr>
              <a:t>The legitimate route: conference → journal extension</a:t>
            </a:r>
            <a:endParaRPr lang="en-US" sz="1600" dirty="0"/>
          </a:p>
        </p:txBody>
      </p:sp>
      <p:sp>
        <p:nvSpPr>
          <p:cNvPr id="15" name="Text 13"/>
          <p:cNvSpPr/>
          <p:nvPr/>
        </p:nvSpPr>
        <p:spPr>
          <a:xfrm>
            <a:off x="1054100" y="4154388"/>
            <a:ext cx="10386314"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Cite the conference version, add substantial new work (more data, new experiments, deeper analysis), tell the editor, and check the journal’s policy on how much must be new.</a:t>
            </a:r>
            <a:endParaRPr lang="en-US" sz="13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0"/>
                </a:solidFill>
                <a:latin typeface="Inter" pitchFamily="34" charset="0"/>
                <a:ea typeface="Inter" pitchFamily="34" charset="-122"/>
                <a:cs typeface="Inter" pitchFamily="34" charset="-120"/>
              </a:rPr>
              <a:t>CSEG3060 · Unit III · Part 4 — Plagiarism &amp; Citation Ethics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452A"/>
                </a:solidFill>
                <a:latin typeface="Inter" pitchFamily="34" charset="0"/>
                <a:ea typeface="Inter" pitchFamily="34" charset="-122"/>
                <a:cs typeface="Inter" pitchFamily="34" charset="-120"/>
              </a:rPr>
              <a:t>B · PREVENTION</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3262E"/>
                </a:solidFill>
                <a:latin typeface="Space Grotesk" pitchFamily="34" charset="0"/>
                <a:ea typeface="Space Grotesk" pitchFamily="34" charset="-122"/>
                <a:cs typeface="Space Grotesk" pitchFamily="34" charset="-120"/>
              </a:rPr>
              <a:t>Stop accidental plagiarism at the note-taking stage</a:t>
            </a:r>
            <a:endParaRPr lang="en-US" sz="3200" dirty="0"/>
          </a:p>
        </p:txBody>
      </p:sp>
      <p:sp>
        <p:nvSpPr>
          <p:cNvPr id="4" name="Text 2"/>
          <p:cNvSpPr/>
          <p:nvPr/>
        </p:nvSpPr>
        <p:spPr>
          <a:xfrm>
            <a:off x="812800" y="1854101"/>
            <a:ext cx="5650992"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3262E"/>
                </a:solidFill>
                <a:latin typeface="Inter" pitchFamily="34" charset="0"/>
                <a:ea typeface="Inter" pitchFamily="34" charset="-122"/>
                <a:cs typeface="Inter" pitchFamily="34" charset="-120"/>
              </a:rPr>
              <a:t>Tag every note </a:t>
            </a:r>
            <a:r>
              <a:rPr lang="en-US" sz="1400" b="1" dirty="0">
                <a:solidFill>
                  <a:srgbClr val="13262E"/>
                </a:solidFill>
                <a:latin typeface="Inter" pitchFamily="34" charset="0"/>
                <a:ea typeface="Inter" pitchFamily="34" charset="-122"/>
                <a:cs typeface="Inter" pitchFamily="34" charset="-120"/>
              </a:rPr>
              <a:t>the moment you write it</a:t>
            </a:r>
            <a:r>
              <a:rPr lang="en-US" sz="1400" dirty="0">
                <a:solidFill>
                  <a:srgbClr val="13262E"/>
                </a:solidFill>
                <a:latin typeface="Inter" pitchFamily="34" charset="0"/>
                <a:ea typeface="Inter" pitchFamily="34" charset="-122"/>
                <a:cs typeface="Inter" pitchFamily="34" charset="-120"/>
              </a:rPr>
              <a:t>, with its source:</a:t>
            </a:r>
            <a:endParaRPr lang="en-US" sz="1400" dirty="0"/>
          </a:p>
        </p:txBody>
      </p:sp>
      <p:sp>
        <p:nvSpPr>
          <p:cNvPr id="5" name="Shape 3"/>
          <p:cNvSpPr/>
          <p:nvPr/>
        </p:nvSpPr>
        <p:spPr>
          <a:xfrm>
            <a:off x="812800" y="2222401"/>
            <a:ext cx="548680" cy="375841"/>
          </a:xfrm>
          <a:prstGeom prst="roundRect">
            <a:avLst>
              <a:gd name="adj" fmla="val 13516"/>
            </a:avLst>
          </a:prstGeom>
          <a:solidFill>
            <a:srgbClr val="B5452A"/>
          </a:solidFill>
          <a:ln/>
        </p:spPr>
        <p:txBody>
          <a:bodyPr/>
          <a:lstStyle/>
          <a:p>
            <a:endParaRPr lang="en-IN"/>
          </a:p>
        </p:txBody>
      </p:sp>
      <p:sp>
        <p:nvSpPr>
          <p:cNvPr id="6" name="Text 4"/>
          <p:cNvSpPr/>
          <p:nvPr/>
        </p:nvSpPr>
        <p:spPr>
          <a:xfrm>
            <a:off x="927100" y="2285901"/>
            <a:ext cx="37088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8F2"/>
                </a:solidFill>
                <a:latin typeface="JetBrains Mono" pitchFamily="34" charset="0"/>
                <a:ea typeface="JetBrains Mono" pitchFamily="34" charset="-122"/>
                <a:cs typeface="JetBrains Mono" pitchFamily="34" charset="-120"/>
              </a:rPr>
              <a:t>[Q]</a:t>
            </a:r>
            <a:endParaRPr lang="en-US" sz="1400" dirty="0"/>
          </a:p>
        </p:txBody>
      </p:sp>
      <p:sp>
        <p:nvSpPr>
          <p:cNvPr id="7" name="Text 5"/>
          <p:cNvSpPr/>
          <p:nvPr/>
        </p:nvSpPr>
        <p:spPr>
          <a:xfrm>
            <a:off x="1488480" y="2285901"/>
            <a:ext cx="273229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62E"/>
                </a:solidFill>
                <a:latin typeface="Inter" pitchFamily="34" charset="0"/>
                <a:ea typeface="Inter" pitchFamily="34" charset="-122"/>
                <a:cs typeface="Inter" pitchFamily="34" charset="-120"/>
              </a:rPr>
              <a:t>Exact quote, in quotation marks</a:t>
            </a:r>
            <a:endParaRPr lang="en-US" sz="1400" dirty="0"/>
          </a:p>
        </p:txBody>
      </p:sp>
      <p:sp>
        <p:nvSpPr>
          <p:cNvPr id="8" name="Shape 6"/>
          <p:cNvSpPr/>
          <p:nvPr/>
        </p:nvSpPr>
        <p:spPr>
          <a:xfrm>
            <a:off x="812800" y="2699841"/>
            <a:ext cx="548680" cy="375841"/>
          </a:xfrm>
          <a:prstGeom prst="roundRect">
            <a:avLst>
              <a:gd name="adj" fmla="val 13516"/>
            </a:avLst>
          </a:prstGeom>
          <a:solidFill>
            <a:srgbClr val="8A6A0C"/>
          </a:solidFill>
          <a:ln/>
        </p:spPr>
        <p:txBody>
          <a:bodyPr/>
          <a:lstStyle/>
          <a:p>
            <a:endParaRPr lang="en-IN"/>
          </a:p>
        </p:txBody>
      </p:sp>
      <p:sp>
        <p:nvSpPr>
          <p:cNvPr id="9" name="Text 7"/>
          <p:cNvSpPr/>
          <p:nvPr/>
        </p:nvSpPr>
        <p:spPr>
          <a:xfrm>
            <a:off x="927100" y="2763341"/>
            <a:ext cx="37088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8F2"/>
                </a:solidFill>
                <a:latin typeface="JetBrains Mono" pitchFamily="34" charset="0"/>
                <a:ea typeface="JetBrains Mono" pitchFamily="34" charset="-122"/>
                <a:cs typeface="JetBrains Mono" pitchFamily="34" charset="-120"/>
              </a:rPr>
              <a:t>[P]</a:t>
            </a:r>
            <a:endParaRPr lang="en-US" sz="1400" dirty="0"/>
          </a:p>
        </p:txBody>
      </p:sp>
      <p:sp>
        <p:nvSpPr>
          <p:cNvPr id="10" name="Text 8"/>
          <p:cNvSpPr/>
          <p:nvPr/>
        </p:nvSpPr>
        <p:spPr>
          <a:xfrm>
            <a:off x="1488480" y="2763341"/>
            <a:ext cx="2929326"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62E"/>
                </a:solidFill>
                <a:latin typeface="Inter" pitchFamily="34" charset="0"/>
                <a:ea typeface="Inter" pitchFamily="34" charset="-122"/>
                <a:cs typeface="Inter" pitchFamily="34" charset="-120"/>
              </a:rPr>
              <a:t>My paraphrase of someone’s idea</a:t>
            </a:r>
            <a:endParaRPr lang="en-US" sz="1400" dirty="0"/>
          </a:p>
        </p:txBody>
      </p:sp>
      <p:sp>
        <p:nvSpPr>
          <p:cNvPr id="11" name="Shape 9"/>
          <p:cNvSpPr/>
          <p:nvPr/>
        </p:nvSpPr>
        <p:spPr>
          <a:xfrm>
            <a:off x="812800" y="3177282"/>
            <a:ext cx="548680" cy="375841"/>
          </a:xfrm>
          <a:prstGeom prst="roundRect">
            <a:avLst>
              <a:gd name="adj" fmla="val 13516"/>
            </a:avLst>
          </a:prstGeom>
          <a:solidFill>
            <a:srgbClr val="1F6F66"/>
          </a:solidFill>
          <a:ln/>
        </p:spPr>
        <p:txBody>
          <a:bodyPr/>
          <a:lstStyle/>
          <a:p>
            <a:endParaRPr lang="en-IN"/>
          </a:p>
        </p:txBody>
      </p:sp>
      <p:sp>
        <p:nvSpPr>
          <p:cNvPr id="12" name="Text 10"/>
          <p:cNvSpPr/>
          <p:nvPr/>
        </p:nvSpPr>
        <p:spPr>
          <a:xfrm>
            <a:off x="927100" y="3240782"/>
            <a:ext cx="37088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FF8F2"/>
                </a:solidFill>
                <a:latin typeface="JetBrains Mono" pitchFamily="34" charset="0"/>
                <a:ea typeface="JetBrains Mono" pitchFamily="34" charset="-122"/>
                <a:cs typeface="JetBrains Mono" pitchFamily="34" charset="-120"/>
              </a:rPr>
              <a:t>[M]</a:t>
            </a:r>
            <a:endParaRPr lang="en-US" sz="1400" dirty="0"/>
          </a:p>
        </p:txBody>
      </p:sp>
      <p:sp>
        <p:nvSpPr>
          <p:cNvPr id="13" name="Text 11"/>
          <p:cNvSpPr/>
          <p:nvPr/>
        </p:nvSpPr>
        <p:spPr>
          <a:xfrm>
            <a:off x="1488480" y="3240782"/>
            <a:ext cx="232545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62E"/>
                </a:solidFill>
                <a:latin typeface="Inter" pitchFamily="34" charset="0"/>
                <a:ea typeface="Inter" pitchFamily="34" charset="-122"/>
                <a:cs typeface="Inter" pitchFamily="34" charset="-120"/>
              </a:rPr>
              <a:t>My own idea or conclusion</a:t>
            </a:r>
            <a:endParaRPr lang="en-US" sz="1400" dirty="0"/>
          </a:p>
        </p:txBody>
      </p:sp>
      <p:sp>
        <p:nvSpPr>
          <p:cNvPr id="14" name="Shape 12"/>
          <p:cNvSpPr/>
          <p:nvPr/>
        </p:nvSpPr>
        <p:spPr>
          <a:xfrm>
            <a:off x="6553200" y="1854101"/>
            <a:ext cx="4826000" cy="2298303"/>
          </a:xfrm>
          <a:prstGeom prst="roundRect">
            <a:avLst>
              <a:gd name="adj" fmla="val 4421"/>
            </a:avLst>
          </a:prstGeom>
          <a:solidFill>
            <a:srgbClr val="12303A"/>
          </a:solidFill>
          <a:ln/>
        </p:spPr>
        <p:txBody>
          <a:bodyPr/>
          <a:lstStyle/>
          <a:p>
            <a:endParaRPr lang="en-IN"/>
          </a:p>
        </p:txBody>
      </p:sp>
      <p:sp>
        <p:nvSpPr>
          <p:cNvPr id="15" name="Text 13"/>
          <p:cNvSpPr/>
          <p:nvPr/>
        </p:nvSpPr>
        <p:spPr>
          <a:xfrm>
            <a:off x="6794500" y="2070001"/>
            <a:ext cx="447370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6D3C7"/>
                </a:solidFill>
                <a:latin typeface="Inter" pitchFamily="34" charset="0"/>
                <a:ea typeface="Inter" pitchFamily="34" charset="-122"/>
                <a:cs typeface="Inter" pitchFamily="34" charset="-120"/>
              </a:rPr>
              <a:t>PRIYA’S NOTES ON NNU-NET</a:t>
            </a:r>
            <a:endParaRPr lang="en-US" sz="1200" dirty="0"/>
          </a:p>
        </p:txBody>
      </p:sp>
      <p:sp>
        <p:nvSpPr>
          <p:cNvPr id="16" name="Text 14"/>
          <p:cNvSpPr/>
          <p:nvPr/>
        </p:nvSpPr>
        <p:spPr>
          <a:xfrm>
            <a:off x="6794500" y="2346821"/>
            <a:ext cx="4473702" cy="512961"/>
          </a:xfrm>
          <a:prstGeom prst="rect">
            <a:avLst/>
          </a:prstGeom>
          <a:noFill/>
          <a:ln/>
        </p:spPr>
        <p:txBody>
          <a:bodyPr wrap="square" lIns="0" tIns="0" rIns="0" bIns="0" rtlCol="0" anchor="t">
            <a:normAutofit/>
          </a:bodyPr>
          <a:lstStyle/>
          <a:p>
            <a:pPr marL="0" indent="0" algn="l">
              <a:lnSpc>
                <a:spcPts val="1920"/>
              </a:lnSpc>
              <a:buNone/>
            </a:pPr>
            <a:r>
              <a:rPr lang="en-US" sz="1200" dirty="0">
                <a:solidFill>
                  <a:srgbClr val="EAE4D6"/>
                </a:solidFill>
                <a:latin typeface="JetBrains Mono" pitchFamily="34" charset="0"/>
                <a:ea typeface="JetBrains Mono" pitchFamily="34" charset="-122"/>
                <a:cs typeface="JetBrains Mono" pitchFamily="34" charset="-120"/>
              </a:rPr>
              <a:t>[P] Isensee21: pipeline adapts pre-processing, network and training to each new dataset.</a:t>
            </a:r>
            <a:endParaRPr lang="en-US" sz="1200" dirty="0"/>
          </a:p>
        </p:txBody>
      </p:sp>
      <p:sp>
        <p:nvSpPr>
          <p:cNvPr id="17" name="Text 15"/>
          <p:cNvSpPr/>
          <p:nvPr/>
        </p:nvSpPr>
        <p:spPr>
          <a:xfrm>
            <a:off x="6794500" y="2897882"/>
            <a:ext cx="4473702" cy="512961"/>
          </a:xfrm>
          <a:prstGeom prst="rect">
            <a:avLst/>
          </a:prstGeom>
          <a:noFill/>
          <a:ln/>
        </p:spPr>
        <p:txBody>
          <a:bodyPr wrap="square" lIns="0" tIns="0" rIns="0" bIns="0" rtlCol="0" anchor="t">
            <a:normAutofit/>
          </a:bodyPr>
          <a:lstStyle/>
          <a:p>
            <a:pPr marL="0" indent="0" algn="l">
              <a:lnSpc>
                <a:spcPts val="1920"/>
              </a:lnSpc>
              <a:buNone/>
            </a:pPr>
            <a:r>
              <a:rPr lang="en-US" sz="1200" dirty="0">
                <a:solidFill>
                  <a:srgbClr val="EAE4D6"/>
                </a:solidFill>
                <a:latin typeface="JetBrains Mono" pitchFamily="34" charset="0"/>
                <a:ea typeface="JetBrains Mono" pitchFamily="34" charset="-122"/>
                <a:cs typeface="JetBrains Mono" pitchFamily="34" charset="-120"/>
              </a:rPr>
              <a:t>[P] Isensee21: evaluated on many public segmentation challenges.</a:t>
            </a:r>
            <a:endParaRPr lang="en-US" sz="1200" dirty="0"/>
          </a:p>
        </p:txBody>
      </p:sp>
      <p:sp>
        <p:nvSpPr>
          <p:cNvPr id="18" name="Text 16"/>
          <p:cNvSpPr/>
          <p:nvPr/>
        </p:nvSpPr>
        <p:spPr>
          <a:xfrm>
            <a:off x="6794500" y="3448943"/>
            <a:ext cx="4473702" cy="512961"/>
          </a:xfrm>
          <a:prstGeom prst="rect">
            <a:avLst/>
          </a:prstGeom>
          <a:noFill/>
          <a:ln/>
        </p:spPr>
        <p:txBody>
          <a:bodyPr wrap="square" lIns="0" tIns="0" rIns="0" bIns="0" rtlCol="0" anchor="t">
            <a:normAutofit/>
          </a:bodyPr>
          <a:lstStyle/>
          <a:p>
            <a:pPr marL="0" indent="0" algn="l">
              <a:lnSpc>
                <a:spcPts val="1920"/>
              </a:lnSpc>
              <a:buNone/>
            </a:pPr>
            <a:r>
              <a:rPr lang="en-US" sz="1200" dirty="0">
                <a:solidFill>
                  <a:srgbClr val="EAE4D6"/>
                </a:solidFill>
                <a:latin typeface="JetBrains Mono" pitchFamily="34" charset="0"/>
                <a:ea typeface="JetBrains Mono" pitchFamily="34" charset="-122"/>
                <a:cs typeface="JetBrains Mono" pitchFamily="34" charset="-120"/>
              </a:rPr>
              <a:t>[M] Assumes every training case has the same input sequences. My gap?</a:t>
            </a:r>
            <a:endParaRPr lang="en-US" sz="1200" dirty="0"/>
          </a:p>
        </p:txBody>
      </p:sp>
      <p:sp>
        <p:nvSpPr>
          <p:cNvPr id="19" name="Text 17"/>
          <p:cNvSpPr/>
          <p:nvPr/>
        </p:nvSpPr>
        <p:spPr>
          <a:xfrm>
            <a:off x="812800" y="4431804"/>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3262E"/>
                </a:solidFill>
                <a:latin typeface="Inter" pitchFamily="34" charset="0"/>
                <a:ea typeface="Inter" pitchFamily="34" charset="-122"/>
                <a:cs typeface="Inter" pitchFamily="34" charset="-120"/>
              </a:rPr>
              <a:t>Keep sources in a </a:t>
            </a:r>
            <a:r>
              <a:rPr lang="en-US" sz="1400" b="1" dirty="0">
                <a:solidFill>
                  <a:srgbClr val="13262E"/>
                </a:solidFill>
                <a:latin typeface="Inter" pitchFamily="34" charset="0"/>
                <a:ea typeface="Inter" pitchFamily="34" charset="-122"/>
                <a:cs typeface="Inter" pitchFamily="34" charset="-120"/>
              </a:rPr>
              <a:t>reference manager</a:t>
            </a:r>
            <a:r>
              <a:rPr lang="en-US" sz="1400" dirty="0">
                <a:solidFill>
                  <a:srgbClr val="13262E"/>
                </a:solidFill>
                <a:latin typeface="Inter" pitchFamily="34" charset="0"/>
                <a:ea typeface="Inter" pitchFamily="34" charset="-122"/>
                <a:cs typeface="Inter" pitchFamily="34" charset="-120"/>
              </a:rPr>
              <a:t> (Zotero or Mendeley) from day one, so no citation is ever lost.</a:t>
            </a:r>
            <a:endParaRPr lang="en-US" sz="1400" dirty="0"/>
          </a:p>
        </p:txBody>
      </p:sp>
      <p:sp>
        <p:nvSpPr>
          <p:cNvPr id="20" name="Text 1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0"/>
                </a:solidFill>
                <a:latin typeface="Inter" pitchFamily="34" charset="0"/>
                <a:ea typeface="Inter" pitchFamily="34" charset="-122"/>
                <a:cs typeface="Inter" pitchFamily="34" charset="-120"/>
              </a:rPr>
              <a:t>CSEG3060 · Unit III · Part 4 — Plagiarism &amp; Citation Ethics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452A"/>
                </a:solidFill>
                <a:latin typeface="Inter" pitchFamily="34" charset="0"/>
                <a:ea typeface="Inter" pitchFamily="34" charset="-122"/>
                <a:cs typeface="Inter" pitchFamily="34" charset="-120"/>
              </a:rPr>
              <a:t>C · PARAPHRASING</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3262E"/>
                </a:solidFill>
                <a:latin typeface="Space Grotesk" pitchFamily="34" charset="0"/>
                <a:ea typeface="Space Grotesk" pitchFamily="34" charset="-122"/>
                <a:cs typeface="Space Grotesk" pitchFamily="34" charset="-120"/>
              </a:rPr>
              <a:t>Five steps to a genuine paraphrase</a:t>
            </a:r>
            <a:endParaRPr lang="en-US" sz="3200" dirty="0"/>
          </a:p>
        </p:txBody>
      </p:sp>
      <p:sp>
        <p:nvSpPr>
          <p:cNvPr id="4" name="Shape 2"/>
          <p:cNvSpPr/>
          <p:nvPr/>
        </p:nvSpPr>
        <p:spPr>
          <a:xfrm>
            <a:off x="819150" y="1885851"/>
            <a:ext cx="2024360" cy="1729581"/>
          </a:xfrm>
          <a:prstGeom prst="roundRect">
            <a:avLst>
              <a:gd name="adj" fmla="val 5507"/>
            </a:avLst>
          </a:prstGeom>
          <a:solidFill>
            <a:srgbClr val="FFFDF8"/>
          </a:solidFill>
          <a:ln w="12700">
            <a:solidFill>
              <a:srgbClr val="DDD6C8"/>
            </a:solidFill>
            <a:prstDash val="solid"/>
          </a:ln>
        </p:spPr>
        <p:txBody>
          <a:bodyPr/>
          <a:lstStyle/>
          <a:p>
            <a:endParaRPr lang="en-IN"/>
          </a:p>
        </p:txBody>
      </p:sp>
      <p:sp>
        <p:nvSpPr>
          <p:cNvPr id="5" name="Text 3"/>
          <p:cNvSpPr/>
          <p:nvPr/>
        </p:nvSpPr>
        <p:spPr>
          <a:xfrm>
            <a:off x="990600" y="2082701"/>
            <a:ext cx="1732260"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B5452A"/>
                </a:solidFill>
                <a:latin typeface="Space Grotesk" pitchFamily="34" charset="0"/>
                <a:ea typeface="Space Grotesk" pitchFamily="34" charset="-122"/>
                <a:cs typeface="Space Grotesk" pitchFamily="34" charset="-120"/>
              </a:rPr>
              <a:t>1</a:t>
            </a:r>
            <a:endParaRPr lang="en-US" sz="2800" dirty="0"/>
          </a:p>
        </p:txBody>
      </p:sp>
      <p:sp>
        <p:nvSpPr>
          <p:cNvPr id="6" name="Text 4"/>
          <p:cNvSpPr/>
          <p:nvPr/>
        </p:nvSpPr>
        <p:spPr>
          <a:xfrm>
            <a:off x="990600" y="2656681"/>
            <a:ext cx="173226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62E"/>
                </a:solidFill>
                <a:latin typeface="Space Grotesk" pitchFamily="34" charset="0"/>
                <a:ea typeface="Space Grotesk" pitchFamily="34" charset="-122"/>
                <a:cs typeface="Space Grotesk" pitchFamily="34" charset="-120"/>
              </a:rPr>
              <a:t>Understand</a:t>
            </a:r>
            <a:endParaRPr lang="en-US" sz="1600" dirty="0"/>
          </a:p>
        </p:txBody>
      </p:sp>
      <p:sp>
        <p:nvSpPr>
          <p:cNvPr id="7" name="Text 5"/>
          <p:cNvSpPr/>
          <p:nvPr/>
        </p:nvSpPr>
        <p:spPr>
          <a:xfrm>
            <a:off x="990600" y="2976662"/>
            <a:ext cx="1732260"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E4E53"/>
                </a:solidFill>
                <a:latin typeface="Inter" pitchFamily="34" charset="0"/>
                <a:ea typeface="Inter" pitchFamily="34" charset="-122"/>
                <a:cs typeface="Inter" pitchFamily="34" charset="-120"/>
              </a:rPr>
              <a:t>Read until you could explain it</a:t>
            </a:r>
            <a:endParaRPr lang="en-US" sz="1200" dirty="0"/>
          </a:p>
        </p:txBody>
      </p:sp>
      <p:sp>
        <p:nvSpPr>
          <p:cNvPr id="8" name="Shape 6"/>
          <p:cNvSpPr/>
          <p:nvPr/>
        </p:nvSpPr>
        <p:spPr>
          <a:xfrm>
            <a:off x="2951460" y="1879501"/>
            <a:ext cx="2011759" cy="1742281"/>
          </a:xfrm>
          <a:prstGeom prst="roundRect">
            <a:avLst>
              <a:gd name="adj" fmla="val 5831"/>
            </a:avLst>
          </a:prstGeom>
          <a:solidFill>
            <a:srgbClr val="12303A"/>
          </a:solidFill>
          <a:ln/>
        </p:spPr>
        <p:txBody>
          <a:bodyPr/>
          <a:lstStyle/>
          <a:p>
            <a:endParaRPr lang="en-IN"/>
          </a:p>
        </p:txBody>
      </p:sp>
      <p:sp>
        <p:nvSpPr>
          <p:cNvPr id="9" name="Text 7"/>
          <p:cNvSpPr/>
          <p:nvPr/>
        </p:nvSpPr>
        <p:spPr>
          <a:xfrm>
            <a:off x="3116560" y="2070001"/>
            <a:ext cx="1732359"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F2A384"/>
                </a:solidFill>
                <a:latin typeface="Space Grotesk" pitchFamily="34" charset="0"/>
                <a:ea typeface="Space Grotesk" pitchFamily="34" charset="-122"/>
                <a:cs typeface="Space Grotesk" pitchFamily="34" charset="-120"/>
              </a:rPr>
              <a:t>2</a:t>
            </a:r>
            <a:endParaRPr lang="en-US" sz="2800" dirty="0"/>
          </a:p>
        </p:txBody>
      </p:sp>
      <p:sp>
        <p:nvSpPr>
          <p:cNvPr id="10" name="Text 8"/>
          <p:cNvSpPr/>
          <p:nvPr/>
        </p:nvSpPr>
        <p:spPr>
          <a:xfrm>
            <a:off x="3116560" y="2643981"/>
            <a:ext cx="173235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3EFE6"/>
                </a:solidFill>
                <a:latin typeface="Space Grotesk" pitchFamily="34" charset="0"/>
                <a:ea typeface="Space Grotesk" pitchFamily="34" charset="-122"/>
                <a:cs typeface="Space Grotesk" pitchFamily="34" charset="-120"/>
              </a:rPr>
              <a:t>Close it</a:t>
            </a:r>
            <a:endParaRPr lang="en-US" sz="1600" dirty="0"/>
          </a:p>
        </p:txBody>
      </p:sp>
      <p:sp>
        <p:nvSpPr>
          <p:cNvPr id="11" name="Text 9"/>
          <p:cNvSpPr/>
          <p:nvPr/>
        </p:nvSpPr>
        <p:spPr>
          <a:xfrm>
            <a:off x="3116560" y="2963962"/>
            <a:ext cx="1732359"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C9D6D4"/>
                </a:solidFill>
                <a:latin typeface="Inter" pitchFamily="34" charset="0"/>
                <a:ea typeface="Inter" pitchFamily="34" charset="-122"/>
                <a:cs typeface="Inter" pitchFamily="34" charset="-120"/>
              </a:rPr>
              <a:t>Hide the source. This is the key step.</a:t>
            </a:r>
            <a:endParaRPr lang="en-US" sz="1200" dirty="0"/>
          </a:p>
        </p:txBody>
      </p:sp>
      <p:sp>
        <p:nvSpPr>
          <p:cNvPr id="12" name="Shape 10"/>
          <p:cNvSpPr/>
          <p:nvPr/>
        </p:nvSpPr>
        <p:spPr>
          <a:xfrm>
            <a:off x="5071170" y="1885851"/>
            <a:ext cx="2024360" cy="1729581"/>
          </a:xfrm>
          <a:prstGeom prst="roundRect">
            <a:avLst>
              <a:gd name="adj" fmla="val 5507"/>
            </a:avLst>
          </a:prstGeom>
          <a:solidFill>
            <a:srgbClr val="FFFDF8"/>
          </a:solidFill>
          <a:ln w="12700">
            <a:solidFill>
              <a:srgbClr val="DDD6C8"/>
            </a:solidFill>
            <a:prstDash val="solid"/>
          </a:ln>
        </p:spPr>
        <p:txBody>
          <a:bodyPr/>
          <a:lstStyle/>
          <a:p>
            <a:endParaRPr lang="en-IN"/>
          </a:p>
        </p:txBody>
      </p:sp>
      <p:sp>
        <p:nvSpPr>
          <p:cNvPr id="13" name="Text 11"/>
          <p:cNvSpPr/>
          <p:nvPr/>
        </p:nvSpPr>
        <p:spPr>
          <a:xfrm>
            <a:off x="5242620" y="2082701"/>
            <a:ext cx="1732260"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B5452A"/>
                </a:solidFill>
                <a:latin typeface="Space Grotesk" pitchFamily="34" charset="0"/>
                <a:ea typeface="Space Grotesk" pitchFamily="34" charset="-122"/>
                <a:cs typeface="Space Grotesk" pitchFamily="34" charset="-120"/>
              </a:rPr>
              <a:t>3</a:t>
            </a:r>
            <a:endParaRPr lang="en-US" sz="2800" dirty="0"/>
          </a:p>
        </p:txBody>
      </p:sp>
      <p:sp>
        <p:nvSpPr>
          <p:cNvPr id="14" name="Text 12"/>
          <p:cNvSpPr/>
          <p:nvPr/>
        </p:nvSpPr>
        <p:spPr>
          <a:xfrm>
            <a:off x="5242620" y="2656681"/>
            <a:ext cx="173226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62E"/>
                </a:solidFill>
                <a:latin typeface="Space Grotesk" pitchFamily="34" charset="0"/>
                <a:ea typeface="Space Grotesk" pitchFamily="34" charset="-122"/>
                <a:cs typeface="Space Grotesk" pitchFamily="34" charset="-120"/>
              </a:rPr>
              <a:t>Explain</a:t>
            </a:r>
            <a:endParaRPr lang="en-US" sz="1600" dirty="0"/>
          </a:p>
        </p:txBody>
      </p:sp>
      <p:sp>
        <p:nvSpPr>
          <p:cNvPr id="15" name="Text 13"/>
          <p:cNvSpPr/>
          <p:nvPr/>
        </p:nvSpPr>
        <p:spPr>
          <a:xfrm>
            <a:off x="5242620" y="2976662"/>
            <a:ext cx="1732260"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E4E53"/>
                </a:solidFill>
                <a:latin typeface="Inter" pitchFamily="34" charset="0"/>
                <a:ea typeface="Inter" pitchFamily="34" charset="-122"/>
                <a:cs typeface="Inter" pitchFamily="34" charset="-120"/>
              </a:rPr>
              <a:t>Write it as if telling a friend</a:t>
            </a:r>
            <a:endParaRPr lang="en-US" sz="1200" dirty="0"/>
          </a:p>
        </p:txBody>
      </p:sp>
      <p:sp>
        <p:nvSpPr>
          <p:cNvPr id="16" name="Shape 14"/>
          <p:cNvSpPr/>
          <p:nvPr/>
        </p:nvSpPr>
        <p:spPr>
          <a:xfrm>
            <a:off x="7209830" y="1885851"/>
            <a:ext cx="2024360" cy="1729581"/>
          </a:xfrm>
          <a:prstGeom prst="roundRect">
            <a:avLst>
              <a:gd name="adj" fmla="val 5507"/>
            </a:avLst>
          </a:prstGeom>
          <a:solidFill>
            <a:srgbClr val="FFFDF8"/>
          </a:solidFill>
          <a:ln w="12700">
            <a:solidFill>
              <a:srgbClr val="DDD6C8"/>
            </a:solidFill>
            <a:prstDash val="solid"/>
          </a:ln>
        </p:spPr>
        <p:txBody>
          <a:bodyPr/>
          <a:lstStyle/>
          <a:p>
            <a:endParaRPr lang="en-IN"/>
          </a:p>
        </p:txBody>
      </p:sp>
      <p:sp>
        <p:nvSpPr>
          <p:cNvPr id="17" name="Text 15"/>
          <p:cNvSpPr/>
          <p:nvPr/>
        </p:nvSpPr>
        <p:spPr>
          <a:xfrm>
            <a:off x="7381280" y="2082701"/>
            <a:ext cx="1732260"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B5452A"/>
                </a:solidFill>
                <a:latin typeface="Space Grotesk" pitchFamily="34" charset="0"/>
                <a:ea typeface="Space Grotesk" pitchFamily="34" charset="-122"/>
                <a:cs typeface="Space Grotesk" pitchFamily="34" charset="-120"/>
              </a:rPr>
              <a:t>4</a:t>
            </a:r>
            <a:endParaRPr lang="en-US" sz="2800" dirty="0"/>
          </a:p>
        </p:txBody>
      </p:sp>
      <p:sp>
        <p:nvSpPr>
          <p:cNvPr id="18" name="Text 16"/>
          <p:cNvSpPr/>
          <p:nvPr/>
        </p:nvSpPr>
        <p:spPr>
          <a:xfrm>
            <a:off x="7381280" y="2656681"/>
            <a:ext cx="173226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62E"/>
                </a:solidFill>
                <a:latin typeface="Space Grotesk" pitchFamily="34" charset="0"/>
                <a:ea typeface="Space Grotesk" pitchFamily="34" charset="-122"/>
                <a:cs typeface="Space Grotesk" pitchFamily="34" charset="-120"/>
              </a:rPr>
              <a:t>Compare</a:t>
            </a:r>
            <a:endParaRPr lang="en-US" sz="1600" dirty="0"/>
          </a:p>
        </p:txBody>
      </p:sp>
      <p:sp>
        <p:nvSpPr>
          <p:cNvPr id="19" name="Text 17"/>
          <p:cNvSpPr/>
          <p:nvPr/>
        </p:nvSpPr>
        <p:spPr>
          <a:xfrm>
            <a:off x="7381280" y="2976662"/>
            <a:ext cx="1732260"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E4E53"/>
                </a:solidFill>
                <a:latin typeface="Inter" pitchFamily="34" charset="0"/>
                <a:ea typeface="Inter" pitchFamily="34" charset="-122"/>
                <a:cs typeface="Inter" pitchFamily="34" charset="-120"/>
              </a:rPr>
              <a:t>Different structure and wording?</a:t>
            </a:r>
            <a:endParaRPr lang="en-US" sz="1200" dirty="0"/>
          </a:p>
        </p:txBody>
      </p:sp>
      <p:sp>
        <p:nvSpPr>
          <p:cNvPr id="20" name="Shape 18"/>
          <p:cNvSpPr/>
          <p:nvPr/>
        </p:nvSpPr>
        <p:spPr>
          <a:xfrm>
            <a:off x="9348490" y="1885851"/>
            <a:ext cx="2024360" cy="1729581"/>
          </a:xfrm>
          <a:prstGeom prst="roundRect">
            <a:avLst>
              <a:gd name="adj" fmla="val 5507"/>
            </a:avLst>
          </a:prstGeom>
          <a:solidFill>
            <a:srgbClr val="FFFDF8"/>
          </a:solidFill>
          <a:ln w="12700">
            <a:solidFill>
              <a:srgbClr val="DDD6C8"/>
            </a:solidFill>
            <a:prstDash val="solid"/>
          </a:ln>
        </p:spPr>
        <p:txBody>
          <a:bodyPr/>
          <a:lstStyle/>
          <a:p>
            <a:endParaRPr lang="en-IN"/>
          </a:p>
        </p:txBody>
      </p:sp>
      <p:sp>
        <p:nvSpPr>
          <p:cNvPr id="21" name="Text 19"/>
          <p:cNvSpPr/>
          <p:nvPr/>
        </p:nvSpPr>
        <p:spPr>
          <a:xfrm>
            <a:off x="9519940" y="2082701"/>
            <a:ext cx="1732260" cy="52318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B5452A"/>
                </a:solidFill>
                <a:latin typeface="Space Grotesk" pitchFamily="34" charset="0"/>
                <a:ea typeface="Space Grotesk" pitchFamily="34" charset="-122"/>
                <a:cs typeface="Space Grotesk" pitchFamily="34" charset="-120"/>
              </a:rPr>
              <a:t>5</a:t>
            </a:r>
            <a:endParaRPr lang="en-US" sz="2800" dirty="0"/>
          </a:p>
        </p:txBody>
      </p:sp>
      <p:sp>
        <p:nvSpPr>
          <p:cNvPr id="22" name="Text 20"/>
          <p:cNvSpPr/>
          <p:nvPr/>
        </p:nvSpPr>
        <p:spPr>
          <a:xfrm>
            <a:off x="9519940" y="2656681"/>
            <a:ext cx="173226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3262E"/>
                </a:solidFill>
                <a:latin typeface="Space Grotesk" pitchFamily="34" charset="0"/>
                <a:ea typeface="Space Grotesk" pitchFamily="34" charset="-122"/>
                <a:cs typeface="Space Grotesk" pitchFamily="34" charset="-120"/>
              </a:rPr>
              <a:t>Cite</a:t>
            </a:r>
            <a:endParaRPr lang="en-US" sz="1600" dirty="0"/>
          </a:p>
        </p:txBody>
      </p:sp>
      <p:sp>
        <p:nvSpPr>
          <p:cNvPr id="23" name="Text 21"/>
          <p:cNvSpPr/>
          <p:nvPr/>
        </p:nvSpPr>
        <p:spPr>
          <a:xfrm>
            <a:off x="9519940" y="2976662"/>
            <a:ext cx="1732260"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E4E53"/>
                </a:solidFill>
                <a:latin typeface="Inter" pitchFamily="34" charset="0"/>
                <a:ea typeface="Inter" pitchFamily="34" charset="-122"/>
                <a:cs typeface="Inter" pitchFamily="34" charset="-120"/>
              </a:rPr>
              <a:t>A paraphrase still needs a citation</a:t>
            </a:r>
            <a:endParaRPr lang="en-US" sz="1200" dirty="0"/>
          </a:p>
        </p:txBody>
      </p:sp>
      <p:sp>
        <p:nvSpPr>
          <p:cNvPr id="24" name="Shape 22"/>
          <p:cNvSpPr/>
          <p:nvPr/>
        </p:nvSpPr>
        <p:spPr>
          <a:xfrm>
            <a:off x="812800" y="3926582"/>
            <a:ext cx="5207000" cy="808831"/>
          </a:xfrm>
          <a:prstGeom prst="roundRect">
            <a:avLst>
              <a:gd name="adj" fmla="val 12561"/>
            </a:avLst>
          </a:prstGeom>
          <a:solidFill>
            <a:srgbClr val="E2EEEB"/>
          </a:solidFill>
          <a:ln/>
        </p:spPr>
        <p:txBody>
          <a:bodyPr/>
          <a:lstStyle/>
          <a:p>
            <a:endParaRPr lang="en-IN"/>
          </a:p>
        </p:txBody>
      </p:sp>
      <p:sp>
        <p:nvSpPr>
          <p:cNvPr id="25" name="Text 23"/>
          <p:cNvSpPr/>
          <p:nvPr/>
        </p:nvSpPr>
        <p:spPr>
          <a:xfrm>
            <a:off x="1016000" y="4091682"/>
            <a:ext cx="4944618" cy="504031"/>
          </a:xfrm>
          <a:prstGeom prst="rect">
            <a:avLst/>
          </a:prstGeom>
          <a:noFill/>
          <a:ln/>
        </p:spPr>
        <p:txBody>
          <a:bodyPr wrap="square" lIns="0" tIns="0" rIns="0" bIns="0" rtlCol="0" anchor="t">
            <a:normAutofit/>
          </a:bodyPr>
          <a:lstStyle/>
          <a:p>
            <a:pPr marL="0" indent="0" algn="l">
              <a:lnSpc>
                <a:spcPts val="1885"/>
              </a:lnSpc>
              <a:buNone/>
            </a:pPr>
            <a:r>
              <a:rPr lang="en-US" sz="1300" b="1" dirty="0">
                <a:solidFill>
                  <a:srgbClr val="13262E"/>
                </a:solidFill>
                <a:latin typeface="Inter" pitchFamily="34" charset="0"/>
                <a:ea typeface="Inter" pitchFamily="34" charset="-122"/>
                <a:cs typeface="Inter" pitchFamily="34" charset="-120"/>
              </a:rPr>
              <a:t>Quote</a:t>
            </a:r>
            <a:r>
              <a:rPr lang="en-US" sz="1300" dirty="0">
                <a:solidFill>
                  <a:srgbClr val="13262E"/>
                </a:solidFill>
                <a:latin typeface="Inter" pitchFamily="34" charset="0"/>
                <a:ea typeface="Inter" pitchFamily="34" charset="-122"/>
                <a:cs typeface="Inter" pitchFamily="34" charset="-120"/>
              </a:rPr>
              <a:t> only when exact wording matters: a definition, a claim you dispute. Rare in CS papers.</a:t>
            </a:r>
            <a:endParaRPr lang="en-US" sz="1300" dirty="0"/>
          </a:p>
        </p:txBody>
      </p:sp>
      <p:sp>
        <p:nvSpPr>
          <p:cNvPr id="26" name="Shape 24"/>
          <p:cNvSpPr/>
          <p:nvPr/>
        </p:nvSpPr>
        <p:spPr>
          <a:xfrm>
            <a:off x="6172200" y="3926582"/>
            <a:ext cx="5207000" cy="808831"/>
          </a:xfrm>
          <a:prstGeom prst="roundRect">
            <a:avLst>
              <a:gd name="adj" fmla="val 12561"/>
            </a:avLst>
          </a:prstGeom>
          <a:solidFill>
            <a:srgbClr val="E2EEEB"/>
          </a:solidFill>
          <a:ln/>
        </p:spPr>
        <p:txBody>
          <a:bodyPr/>
          <a:lstStyle/>
          <a:p>
            <a:endParaRPr lang="en-IN"/>
          </a:p>
        </p:txBody>
      </p:sp>
      <p:sp>
        <p:nvSpPr>
          <p:cNvPr id="27" name="Text 25"/>
          <p:cNvSpPr/>
          <p:nvPr/>
        </p:nvSpPr>
        <p:spPr>
          <a:xfrm>
            <a:off x="6375400" y="4091682"/>
            <a:ext cx="4944618" cy="504031"/>
          </a:xfrm>
          <a:prstGeom prst="rect">
            <a:avLst/>
          </a:prstGeom>
          <a:noFill/>
          <a:ln/>
        </p:spPr>
        <p:txBody>
          <a:bodyPr wrap="square" lIns="0" tIns="0" rIns="0" bIns="0" rtlCol="0" anchor="t">
            <a:normAutofit/>
          </a:bodyPr>
          <a:lstStyle/>
          <a:p>
            <a:pPr marL="0" indent="0" algn="l">
              <a:lnSpc>
                <a:spcPts val="1885"/>
              </a:lnSpc>
              <a:buNone/>
            </a:pPr>
            <a:r>
              <a:rPr lang="en-US" sz="1300" b="1" dirty="0">
                <a:solidFill>
                  <a:srgbClr val="13262E"/>
                </a:solidFill>
                <a:latin typeface="Inter" pitchFamily="34" charset="0"/>
                <a:ea typeface="Inter" pitchFamily="34" charset="-122"/>
                <a:cs typeface="Inter" pitchFamily="34" charset="-120"/>
              </a:rPr>
              <a:t>Paraphrase</a:t>
            </a:r>
            <a:r>
              <a:rPr lang="en-US" sz="1300" dirty="0">
                <a:solidFill>
                  <a:srgbClr val="13262E"/>
                </a:solidFill>
                <a:latin typeface="Inter" pitchFamily="34" charset="0"/>
                <a:ea typeface="Inter" pitchFamily="34" charset="-122"/>
                <a:cs typeface="Inter" pitchFamily="34" charset="-120"/>
              </a:rPr>
              <a:t> one idea in detail. </a:t>
            </a:r>
            <a:r>
              <a:rPr lang="en-US" sz="1300" b="1" dirty="0">
                <a:solidFill>
                  <a:srgbClr val="13262E"/>
                </a:solidFill>
                <a:latin typeface="Inter" pitchFamily="34" charset="0"/>
                <a:ea typeface="Inter" pitchFamily="34" charset="-122"/>
                <a:cs typeface="Inter" pitchFamily="34" charset="-120"/>
              </a:rPr>
              <a:t>Summarise</a:t>
            </a:r>
            <a:r>
              <a:rPr lang="en-US" sz="1300" dirty="0">
                <a:solidFill>
                  <a:srgbClr val="13262E"/>
                </a:solidFill>
                <a:latin typeface="Inter" pitchFamily="34" charset="0"/>
                <a:ea typeface="Inter" pitchFamily="34" charset="-122"/>
                <a:cs typeface="Inter" pitchFamily="34" charset="-120"/>
              </a:rPr>
              <a:t> a whole paper in a sentence or two.</a:t>
            </a:r>
            <a:endParaRPr lang="en-US" sz="1300" dirty="0"/>
          </a:p>
        </p:txBody>
      </p:sp>
      <p:sp>
        <p:nvSpPr>
          <p:cNvPr id="28" name="Text 2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0"/>
                </a:solidFill>
                <a:latin typeface="Inter" pitchFamily="34" charset="0"/>
                <a:ea typeface="Inter" pitchFamily="34" charset="-122"/>
                <a:cs typeface="Inter" pitchFamily="34" charset="-120"/>
              </a:rPr>
              <a:t>CSEG3060 · Unit III · Part 4 — Plagiarism &amp; Citation Ethics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452A"/>
                </a:solidFill>
                <a:latin typeface="Inter" pitchFamily="34" charset="0"/>
                <a:ea typeface="Inter" pitchFamily="34" charset="-122"/>
                <a:cs typeface="Inter" pitchFamily="34" charset="-120"/>
              </a:rPr>
              <a:t>C · PARAPHRASING IN PRACTICE</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3262E"/>
                </a:solidFill>
                <a:latin typeface="Space Grotesk" pitchFamily="34" charset="0"/>
                <a:ea typeface="Space Grotesk" pitchFamily="34" charset="-122"/>
                <a:cs typeface="Space Grotesk" pitchFamily="34" charset="-120"/>
              </a:rPr>
              <a:t>Synonym swapping is not paraphrasing</a:t>
            </a:r>
            <a:endParaRPr lang="en-US" sz="3200" dirty="0"/>
          </a:p>
        </p:txBody>
      </p:sp>
      <p:sp>
        <p:nvSpPr>
          <p:cNvPr id="4" name="Shape 2"/>
          <p:cNvSpPr/>
          <p:nvPr/>
        </p:nvSpPr>
        <p:spPr>
          <a:xfrm>
            <a:off x="812800" y="1828701"/>
            <a:ext cx="10566400" cy="1165820"/>
          </a:xfrm>
          <a:prstGeom prst="roundRect">
            <a:avLst>
              <a:gd name="adj" fmla="val 8715"/>
            </a:avLst>
          </a:prstGeom>
          <a:solidFill>
            <a:srgbClr val="12303A"/>
          </a:solidFill>
          <a:ln/>
        </p:spPr>
        <p:txBody>
          <a:bodyPr/>
          <a:lstStyle/>
          <a:p>
            <a:endParaRPr lang="en-IN"/>
          </a:p>
        </p:txBody>
      </p:sp>
      <p:sp>
        <p:nvSpPr>
          <p:cNvPr id="5" name="Text 3"/>
          <p:cNvSpPr/>
          <p:nvPr/>
        </p:nvSpPr>
        <p:spPr>
          <a:xfrm>
            <a:off x="1041400" y="2006501"/>
            <a:ext cx="10412476"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6D3C7"/>
                </a:solidFill>
                <a:latin typeface="Inter" pitchFamily="34" charset="0"/>
                <a:ea typeface="Inter" pitchFamily="34" charset="-122"/>
                <a:cs typeface="Inter" pitchFamily="34" charset="-120"/>
              </a:rPr>
              <a:t>SOURCE (SAMPLE SENTENCE WRITTEN FOR THIS LESSON)</a:t>
            </a:r>
            <a:endParaRPr lang="en-US" sz="1200" dirty="0"/>
          </a:p>
        </p:txBody>
      </p:sp>
      <p:sp>
        <p:nvSpPr>
          <p:cNvPr id="6" name="Text 4"/>
          <p:cNvSpPr/>
          <p:nvPr/>
        </p:nvSpPr>
        <p:spPr>
          <a:xfrm>
            <a:off x="1041400" y="2283321"/>
            <a:ext cx="10412476" cy="5588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F3EFE6"/>
                </a:solidFill>
                <a:latin typeface="Inter" pitchFamily="34" charset="0"/>
                <a:ea typeface="Inter" pitchFamily="34" charset="-122"/>
                <a:cs typeface="Inter" pitchFamily="34" charset="-120"/>
              </a:rPr>
              <a:t>“Skip connections pass high-resolution feature maps from the encoder directly to the decoder, allowing the network to recover fine spatial detail lost during downsampling.”</a:t>
            </a:r>
            <a:endParaRPr lang="en-US" sz="1400" dirty="0"/>
          </a:p>
        </p:txBody>
      </p:sp>
      <p:sp>
        <p:nvSpPr>
          <p:cNvPr id="7" name="Shape 5"/>
          <p:cNvSpPr/>
          <p:nvPr/>
        </p:nvSpPr>
        <p:spPr>
          <a:xfrm>
            <a:off x="819150" y="3254871"/>
            <a:ext cx="5194300" cy="1744266"/>
          </a:xfrm>
          <a:prstGeom prst="roundRect">
            <a:avLst>
              <a:gd name="adj" fmla="val 5461"/>
            </a:avLst>
          </a:prstGeom>
          <a:solidFill>
            <a:srgbClr val="FFFDF8"/>
          </a:solidFill>
          <a:ln w="12700">
            <a:solidFill>
              <a:srgbClr val="DDD6C8"/>
            </a:solidFill>
            <a:prstDash val="solid"/>
          </a:ln>
        </p:spPr>
        <p:txBody>
          <a:bodyPr/>
          <a:lstStyle/>
          <a:p>
            <a:endParaRPr lang="en-IN"/>
          </a:p>
        </p:txBody>
      </p:sp>
      <p:sp>
        <p:nvSpPr>
          <p:cNvPr id="8" name="Text 6"/>
          <p:cNvSpPr/>
          <p:nvPr/>
        </p:nvSpPr>
        <p:spPr>
          <a:xfrm>
            <a:off x="1041400" y="3451721"/>
            <a:ext cx="489229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5452A"/>
                </a:solidFill>
                <a:latin typeface="Inter" pitchFamily="34" charset="0"/>
                <a:ea typeface="Inter" pitchFamily="34" charset="-122"/>
                <a:cs typeface="Inter" pitchFamily="34" charset="-120"/>
              </a:rPr>
              <a:t>✗ MOSAIC</a:t>
            </a:r>
            <a:endParaRPr lang="en-US" sz="1200" dirty="0"/>
          </a:p>
        </p:txBody>
      </p:sp>
      <p:sp>
        <p:nvSpPr>
          <p:cNvPr id="9" name="Text 7"/>
          <p:cNvSpPr/>
          <p:nvPr/>
        </p:nvSpPr>
        <p:spPr>
          <a:xfrm>
            <a:off x="1041400" y="3741241"/>
            <a:ext cx="4892294" cy="796925"/>
          </a:xfrm>
          <a:prstGeom prst="rect">
            <a:avLst/>
          </a:prstGeom>
          <a:noFill/>
          <a:ln/>
        </p:spPr>
        <p:txBody>
          <a:bodyPr wrap="square" lIns="0" tIns="0" rIns="0" bIns="0" rtlCol="0" anchor="t">
            <a:normAutofit/>
          </a:bodyPr>
          <a:lstStyle/>
          <a:p>
            <a:pPr marL="0" indent="0" algn="l">
              <a:lnSpc>
                <a:spcPts val="2025"/>
              </a:lnSpc>
              <a:buNone/>
            </a:pPr>
            <a:r>
              <a:rPr lang="en-US" sz="1350" dirty="0">
                <a:solidFill>
                  <a:srgbClr val="13262E"/>
                </a:solidFill>
                <a:latin typeface="Inter" pitchFamily="34" charset="0"/>
                <a:ea typeface="Inter" pitchFamily="34" charset="-122"/>
                <a:cs typeface="Inter" pitchFamily="34" charset="-120"/>
              </a:rPr>
              <a:t>“Skip </a:t>
            </a:r>
            <a:r>
              <a:rPr lang="en-US" sz="1350" u="sng" dirty="0">
                <a:solidFill>
                  <a:srgbClr val="13262E"/>
                </a:solidFill>
                <a:latin typeface="Inter" pitchFamily="34" charset="0"/>
                <a:ea typeface="Inter" pitchFamily="34" charset="-122"/>
                <a:cs typeface="Inter" pitchFamily="34" charset="-120"/>
              </a:rPr>
              <a:t>links</a:t>
            </a:r>
            <a:r>
              <a:rPr lang="en-US" sz="1350" dirty="0">
                <a:solidFill>
                  <a:srgbClr val="13262E"/>
                </a:solidFill>
                <a:latin typeface="Inter" pitchFamily="34" charset="0"/>
                <a:ea typeface="Inter" pitchFamily="34" charset="-122"/>
                <a:cs typeface="Inter" pitchFamily="34" charset="-120"/>
              </a:rPr>
              <a:t> </a:t>
            </a:r>
            <a:r>
              <a:rPr lang="en-US" sz="1350" u="sng" dirty="0">
                <a:solidFill>
                  <a:srgbClr val="13262E"/>
                </a:solidFill>
                <a:latin typeface="Inter" pitchFamily="34" charset="0"/>
                <a:ea typeface="Inter" pitchFamily="34" charset="-122"/>
                <a:cs typeface="Inter" pitchFamily="34" charset="-120"/>
              </a:rPr>
              <a:t>send</a:t>
            </a:r>
            <a:r>
              <a:rPr lang="en-US" sz="1350" dirty="0">
                <a:solidFill>
                  <a:srgbClr val="13262E"/>
                </a:solidFill>
                <a:latin typeface="Inter" pitchFamily="34" charset="0"/>
                <a:ea typeface="Inter" pitchFamily="34" charset="-122"/>
                <a:cs typeface="Inter" pitchFamily="34" charset="-120"/>
              </a:rPr>
              <a:t> high-resolution feature maps from the encoder </a:t>
            </a:r>
            <a:r>
              <a:rPr lang="en-US" sz="1350" u="sng" dirty="0">
                <a:solidFill>
                  <a:srgbClr val="13262E"/>
                </a:solidFill>
                <a:latin typeface="Inter" pitchFamily="34" charset="0"/>
                <a:ea typeface="Inter" pitchFamily="34" charset="-122"/>
                <a:cs typeface="Inter" pitchFamily="34" charset="-120"/>
              </a:rPr>
              <a:t>straight</a:t>
            </a:r>
            <a:r>
              <a:rPr lang="en-US" sz="1350" dirty="0">
                <a:solidFill>
                  <a:srgbClr val="13262E"/>
                </a:solidFill>
                <a:latin typeface="Inter" pitchFamily="34" charset="0"/>
                <a:ea typeface="Inter" pitchFamily="34" charset="-122"/>
                <a:cs typeface="Inter" pitchFamily="34" charset="-120"/>
              </a:rPr>
              <a:t> to the decoder, </a:t>
            </a:r>
            <a:r>
              <a:rPr lang="en-US" sz="1350" u="sng" dirty="0">
                <a:solidFill>
                  <a:srgbClr val="13262E"/>
                </a:solidFill>
                <a:latin typeface="Inter" pitchFamily="34" charset="0"/>
                <a:ea typeface="Inter" pitchFamily="34" charset="-122"/>
                <a:cs typeface="Inter" pitchFamily="34" charset="-120"/>
              </a:rPr>
              <a:t>letting</a:t>
            </a:r>
            <a:r>
              <a:rPr lang="en-US" sz="1350" dirty="0">
                <a:solidFill>
                  <a:srgbClr val="13262E"/>
                </a:solidFill>
                <a:latin typeface="Inter" pitchFamily="34" charset="0"/>
                <a:ea typeface="Inter" pitchFamily="34" charset="-122"/>
                <a:cs typeface="Inter" pitchFamily="34" charset="-120"/>
              </a:rPr>
              <a:t> the network </a:t>
            </a:r>
            <a:r>
              <a:rPr lang="en-US" sz="1350" u="sng" dirty="0">
                <a:solidFill>
                  <a:srgbClr val="13262E"/>
                </a:solidFill>
                <a:latin typeface="Inter" pitchFamily="34" charset="0"/>
                <a:ea typeface="Inter" pitchFamily="34" charset="-122"/>
                <a:cs typeface="Inter" pitchFamily="34" charset="-120"/>
              </a:rPr>
              <a:t>regain</a:t>
            </a:r>
            <a:r>
              <a:rPr lang="en-US" sz="1350" dirty="0">
                <a:solidFill>
                  <a:srgbClr val="13262E"/>
                </a:solidFill>
                <a:latin typeface="Inter" pitchFamily="34" charset="0"/>
                <a:ea typeface="Inter" pitchFamily="34" charset="-122"/>
                <a:cs typeface="Inter" pitchFamily="34" charset="-120"/>
              </a:rPr>
              <a:t> fine spatial detail lost during downsampling.”</a:t>
            </a:r>
            <a:endParaRPr lang="en-US" sz="1350" dirty="0"/>
          </a:p>
        </p:txBody>
      </p:sp>
      <p:sp>
        <p:nvSpPr>
          <p:cNvPr id="10" name="Text 8"/>
          <p:cNvSpPr/>
          <p:nvPr/>
        </p:nvSpPr>
        <p:spPr>
          <a:xfrm>
            <a:off x="1041400" y="4588966"/>
            <a:ext cx="489229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0"/>
                </a:solidFill>
                <a:latin typeface="Inter" pitchFamily="34" charset="0"/>
                <a:ea typeface="Inter" pitchFamily="34" charset="-122"/>
                <a:cs typeface="Inter" pitchFamily="34" charset="-120"/>
              </a:rPr>
              <a:t>Same skeleton, five words swapped, no citation.</a:t>
            </a:r>
            <a:endParaRPr lang="en-US" sz="1200" dirty="0"/>
          </a:p>
        </p:txBody>
      </p:sp>
      <p:sp>
        <p:nvSpPr>
          <p:cNvPr id="11" name="Shape 9"/>
          <p:cNvSpPr/>
          <p:nvPr/>
        </p:nvSpPr>
        <p:spPr>
          <a:xfrm>
            <a:off x="6178550" y="3254871"/>
            <a:ext cx="5194300" cy="1744266"/>
          </a:xfrm>
          <a:prstGeom prst="roundRect">
            <a:avLst>
              <a:gd name="adj" fmla="val 5461"/>
            </a:avLst>
          </a:prstGeom>
          <a:solidFill>
            <a:srgbClr val="FFFDF8"/>
          </a:solidFill>
          <a:ln w="12700">
            <a:solidFill>
              <a:srgbClr val="DDD6C8"/>
            </a:solidFill>
            <a:prstDash val="solid"/>
          </a:ln>
        </p:spPr>
        <p:txBody>
          <a:bodyPr/>
          <a:lstStyle/>
          <a:p>
            <a:endParaRPr lang="en-IN"/>
          </a:p>
        </p:txBody>
      </p:sp>
      <p:sp>
        <p:nvSpPr>
          <p:cNvPr id="12" name="Text 10"/>
          <p:cNvSpPr/>
          <p:nvPr/>
        </p:nvSpPr>
        <p:spPr>
          <a:xfrm>
            <a:off x="6400800" y="3451721"/>
            <a:ext cx="489229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6F66"/>
                </a:solidFill>
                <a:latin typeface="Inter" pitchFamily="34" charset="0"/>
                <a:ea typeface="Inter" pitchFamily="34" charset="-122"/>
                <a:cs typeface="Inter" pitchFamily="34" charset="-120"/>
              </a:rPr>
              <a:t>✓ PARAPHRASE</a:t>
            </a:r>
            <a:endParaRPr lang="en-US" sz="1200" dirty="0"/>
          </a:p>
        </p:txBody>
      </p:sp>
      <p:sp>
        <p:nvSpPr>
          <p:cNvPr id="13" name="Text 11"/>
          <p:cNvSpPr/>
          <p:nvPr/>
        </p:nvSpPr>
        <p:spPr>
          <a:xfrm>
            <a:off x="6400800" y="3741241"/>
            <a:ext cx="4892294" cy="796925"/>
          </a:xfrm>
          <a:prstGeom prst="rect">
            <a:avLst/>
          </a:prstGeom>
          <a:noFill/>
          <a:ln/>
        </p:spPr>
        <p:txBody>
          <a:bodyPr wrap="square" lIns="0" tIns="0" rIns="0" bIns="0" rtlCol="0" anchor="t">
            <a:normAutofit/>
          </a:bodyPr>
          <a:lstStyle/>
          <a:p>
            <a:pPr marL="0" indent="0" algn="l">
              <a:lnSpc>
                <a:spcPts val="2025"/>
              </a:lnSpc>
              <a:buNone/>
            </a:pPr>
            <a:r>
              <a:rPr lang="en-US" sz="1350" dirty="0">
                <a:solidFill>
                  <a:srgbClr val="13262E"/>
                </a:solidFill>
                <a:latin typeface="Inter" pitchFamily="34" charset="0"/>
                <a:ea typeface="Inter" pitchFamily="34" charset="-122"/>
                <a:cs typeface="Inter" pitchFamily="34" charset="-120"/>
              </a:rPr>
              <a:t>“Because downsampling blurs boundaries, U-Net copies sharper early features across to the decoder, which helps it trace tumour edges accurately [1].”</a:t>
            </a:r>
            <a:endParaRPr lang="en-US" sz="1350" dirty="0"/>
          </a:p>
        </p:txBody>
      </p:sp>
      <p:sp>
        <p:nvSpPr>
          <p:cNvPr id="14" name="Text 12"/>
          <p:cNvSpPr/>
          <p:nvPr/>
        </p:nvSpPr>
        <p:spPr>
          <a:xfrm>
            <a:off x="6400800" y="4588966"/>
            <a:ext cx="489229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0"/>
                </a:solidFill>
                <a:latin typeface="Inter" pitchFamily="34" charset="0"/>
                <a:ea typeface="Inter" pitchFamily="34" charset="-122"/>
                <a:cs typeface="Inter" pitchFamily="34" charset="-120"/>
              </a:rPr>
              <a:t>New structure, applied to her problem, cited.</a:t>
            </a:r>
            <a:endParaRPr lang="en-US" sz="12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0"/>
                </a:solidFill>
                <a:latin typeface="Inter" pitchFamily="34" charset="0"/>
                <a:ea typeface="Inter" pitchFamily="34" charset="-122"/>
                <a:cs typeface="Inter" pitchFamily="34" charset="-120"/>
              </a:rPr>
              <a:t>CSEG3060 · Unit III · Part 4 — Plagiarism &amp; Citation Ethics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452A"/>
                </a:solidFill>
                <a:latin typeface="Inter" pitchFamily="34" charset="0"/>
                <a:ea typeface="Inter" pitchFamily="34" charset="-122"/>
                <a:cs typeface="Inter" pitchFamily="34" charset="-120"/>
              </a:rPr>
              <a:t>D · SIMILARITY CHECKS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3262E"/>
                </a:solidFill>
                <a:latin typeface="Space Grotesk" pitchFamily="34" charset="0"/>
                <a:ea typeface="Space Grotesk" pitchFamily="34" charset="-122"/>
                <a:cs typeface="Space Grotesk" pitchFamily="34" charset="-120"/>
              </a:rPr>
              <a:t>Reading a similarity report sensibly</a:t>
            </a:r>
            <a:endParaRPr lang="en-US" sz="3200" dirty="0"/>
          </a:p>
        </p:txBody>
      </p:sp>
      <p:sp>
        <p:nvSpPr>
          <p:cNvPr id="4" name="Shape 2"/>
          <p:cNvSpPr/>
          <p:nvPr/>
        </p:nvSpPr>
        <p:spPr>
          <a:xfrm>
            <a:off x="819150" y="1860451"/>
            <a:ext cx="3407767" cy="1457027"/>
          </a:xfrm>
          <a:prstGeom prst="roundRect">
            <a:avLst>
              <a:gd name="adj" fmla="val 6537"/>
            </a:avLst>
          </a:prstGeom>
          <a:solidFill>
            <a:srgbClr val="FFFDF8"/>
          </a:solidFill>
          <a:ln w="12700">
            <a:solidFill>
              <a:srgbClr val="DDD6C8"/>
            </a:solidFill>
            <a:prstDash val="solid"/>
          </a:ln>
        </p:spPr>
        <p:txBody>
          <a:bodyPr/>
          <a:lstStyle/>
          <a:p>
            <a:endParaRPr lang="en-IN"/>
          </a:p>
        </p:txBody>
      </p:sp>
      <p:sp>
        <p:nvSpPr>
          <p:cNvPr id="5" name="Text 3"/>
          <p:cNvSpPr/>
          <p:nvPr/>
        </p:nvSpPr>
        <p:spPr>
          <a:xfrm>
            <a:off x="1028700" y="2070001"/>
            <a:ext cx="307832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6F66"/>
                </a:solidFill>
                <a:latin typeface="Space Grotesk" pitchFamily="34" charset="0"/>
                <a:ea typeface="Space Grotesk" pitchFamily="34" charset="-122"/>
                <a:cs typeface="Space Grotesk" pitchFamily="34" charset="-120"/>
              </a:rPr>
              <a:t>What it is</a:t>
            </a:r>
            <a:endParaRPr lang="en-US" sz="1600" dirty="0"/>
          </a:p>
        </p:txBody>
      </p:sp>
      <p:sp>
        <p:nvSpPr>
          <p:cNvPr id="6" name="Text 4"/>
          <p:cNvSpPr/>
          <p:nvPr/>
        </p:nvSpPr>
        <p:spPr>
          <a:xfrm>
            <a:off x="1028700" y="2389981"/>
            <a:ext cx="3078327"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Tools such as Turnitin and iThenticate show text that matches existing sources, as a percentage.</a:t>
            </a:r>
            <a:endParaRPr lang="en-US" sz="1300" dirty="0"/>
          </a:p>
        </p:txBody>
      </p:sp>
      <p:sp>
        <p:nvSpPr>
          <p:cNvPr id="7" name="Shape 5"/>
          <p:cNvSpPr/>
          <p:nvPr/>
        </p:nvSpPr>
        <p:spPr>
          <a:xfrm>
            <a:off x="4392017" y="1860451"/>
            <a:ext cx="3407866" cy="1457027"/>
          </a:xfrm>
          <a:prstGeom prst="roundRect">
            <a:avLst>
              <a:gd name="adj" fmla="val 6537"/>
            </a:avLst>
          </a:prstGeom>
          <a:solidFill>
            <a:srgbClr val="FFFDF8"/>
          </a:solidFill>
          <a:ln w="12700">
            <a:solidFill>
              <a:srgbClr val="DDD6C8"/>
            </a:solidFill>
            <a:prstDash val="solid"/>
          </a:ln>
        </p:spPr>
        <p:txBody>
          <a:bodyPr/>
          <a:lstStyle/>
          <a:p>
            <a:endParaRPr lang="en-IN"/>
          </a:p>
        </p:txBody>
      </p:sp>
      <p:sp>
        <p:nvSpPr>
          <p:cNvPr id="8" name="Text 6"/>
          <p:cNvSpPr/>
          <p:nvPr/>
        </p:nvSpPr>
        <p:spPr>
          <a:xfrm>
            <a:off x="4601567" y="2070001"/>
            <a:ext cx="307842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6F66"/>
                </a:solidFill>
                <a:latin typeface="Space Grotesk" pitchFamily="34" charset="0"/>
                <a:ea typeface="Space Grotesk" pitchFamily="34" charset="-122"/>
                <a:cs typeface="Space Grotesk" pitchFamily="34" charset="-120"/>
              </a:rPr>
              <a:t>High ≠ guilty</a:t>
            </a:r>
            <a:endParaRPr lang="en-US" sz="1600" dirty="0"/>
          </a:p>
        </p:txBody>
      </p:sp>
      <p:sp>
        <p:nvSpPr>
          <p:cNvPr id="9" name="Text 7"/>
          <p:cNvSpPr/>
          <p:nvPr/>
        </p:nvSpPr>
        <p:spPr>
          <a:xfrm>
            <a:off x="4601567" y="2389981"/>
            <a:ext cx="3078429"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Reference lists, properly quoted text and standard phrases like “Dice similarity coefficient” all match.</a:t>
            </a:r>
            <a:endParaRPr lang="en-US" sz="1300" dirty="0"/>
          </a:p>
        </p:txBody>
      </p:sp>
      <p:sp>
        <p:nvSpPr>
          <p:cNvPr id="10" name="Shape 8"/>
          <p:cNvSpPr/>
          <p:nvPr/>
        </p:nvSpPr>
        <p:spPr>
          <a:xfrm>
            <a:off x="7964984" y="1860451"/>
            <a:ext cx="3407866" cy="1457027"/>
          </a:xfrm>
          <a:prstGeom prst="roundRect">
            <a:avLst>
              <a:gd name="adj" fmla="val 6537"/>
            </a:avLst>
          </a:prstGeom>
          <a:solidFill>
            <a:srgbClr val="FFFDF8"/>
          </a:solidFill>
          <a:ln w="12700">
            <a:solidFill>
              <a:srgbClr val="DDD6C8"/>
            </a:solidFill>
            <a:prstDash val="solid"/>
          </a:ln>
        </p:spPr>
        <p:txBody>
          <a:bodyPr/>
          <a:lstStyle/>
          <a:p>
            <a:endParaRPr lang="en-IN"/>
          </a:p>
        </p:txBody>
      </p:sp>
      <p:sp>
        <p:nvSpPr>
          <p:cNvPr id="11" name="Text 9"/>
          <p:cNvSpPr/>
          <p:nvPr/>
        </p:nvSpPr>
        <p:spPr>
          <a:xfrm>
            <a:off x="8174534" y="2070001"/>
            <a:ext cx="307842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5452A"/>
                </a:solidFill>
                <a:latin typeface="Space Grotesk" pitchFamily="34" charset="0"/>
                <a:ea typeface="Space Grotesk" pitchFamily="34" charset="-122"/>
                <a:cs typeface="Space Grotesk" pitchFamily="34" charset="-120"/>
              </a:rPr>
              <a:t>Low ≠ innocent</a:t>
            </a:r>
            <a:endParaRPr lang="en-US" sz="1600" dirty="0"/>
          </a:p>
        </p:txBody>
      </p:sp>
      <p:sp>
        <p:nvSpPr>
          <p:cNvPr id="12" name="Text 10"/>
          <p:cNvSpPr/>
          <p:nvPr/>
        </p:nvSpPr>
        <p:spPr>
          <a:xfrm>
            <a:off x="8174534" y="2389981"/>
            <a:ext cx="3078429"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Copied ideas, figures, code and results may not appear in a text match at all.</a:t>
            </a:r>
            <a:endParaRPr lang="en-US" sz="1300" dirty="0"/>
          </a:p>
        </p:txBody>
      </p:sp>
      <p:sp>
        <p:nvSpPr>
          <p:cNvPr id="13" name="Text 11"/>
          <p:cNvSpPr/>
          <p:nvPr/>
        </p:nvSpPr>
        <p:spPr>
          <a:xfrm>
            <a:off x="812800" y="3603228"/>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262E"/>
                </a:solidFill>
                <a:latin typeface="Inter" pitchFamily="34" charset="0"/>
                <a:ea typeface="Inter" pitchFamily="34" charset="-122"/>
                <a:cs typeface="Inter" pitchFamily="34" charset="-120"/>
              </a:rPr>
              <a:t>UGC Regulations 2018: similarity levels for students’ and researchers’ work (after allowed exclusions)</a:t>
            </a:r>
            <a:endParaRPr lang="en-US" sz="1300" dirty="0"/>
          </a:p>
        </p:txBody>
      </p:sp>
      <p:sp>
        <p:nvSpPr>
          <p:cNvPr id="14" name="Shape 12"/>
          <p:cNvSpPr/>
          <p:nvPr/>
        </p:nvSpPr>
        <p:spPr>
          <a:xfrm>
            <a:off x="812800" y="3923209"/>
            <a:ext cx="2641600" cy="485080"/>
          </a:xfrm>
          <a:prstGeom prst="rect">
            <a:avLst/>
          </a:prstGeom>
          <a:solidFill>
            <a:srgbClr val="E2EEEB"/>
          </a:solidFill>
          <a:ln/>
        </p:spPr>
        <p:txBody>
          <a:bodyPr/>
          <a:lstStyle/>
          <a:p>
            <a:endParaRPr lang="en-IN"/>
          </a:p>
        </p:txBody>
      </p:sp>
      <p:sp>
        <p:nvSpPr>
          <p:cNvPr id="15" name="Text 13"/>
          <p:cNvSpPr/>
          <p:nvPr/>
        </p:nvSpPr>
        <p:spPr>
          <a:xfrm>
            <a:off x="965200" y="4050209"/>
            <a:ext cx="2406904"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262E"/>
                </a:solidFill>
                <a:latin typeface="Inter" pitchFamily="34" charset="0"/>
                <a:ea typeface="Inter" pitchFamily="34" charset="-122"/>
                <a:cs typeface="Inter" pitchFamily="34" charset="-120"/>
              </a:rPr>
              <a:t>Up to 10%</a:t>
            </a:r>
            <a:r>
              <a:rPr lang="en-US" sz="1300" dirty="0">
                <a:solidFill>
                  <a:srgbClr val="13262E"/>
                </a:solidFill>
                <a:latin typeface="Inter" pitchFamily="34" charset="0"/>
                <a:ea typeface="Inter" pitchFamily="34" charset="-122"/>
                <a:cs typeface="Inter" pitchFamily="34" charset="-120"/>
              </a:rPr>
              <a:t> · Level 0</a:t>
            </a:r>
            <a:endParaRPr lang="en-US" sz="1300" dirty="0"/>
          </a:p>
        </p:txBody>
      </p:sp>
      <p:sp>
        <p:nvSpPr>
          <p:cNvPr id="16" name="Shape 14"/>
          <p:cNvSpPr/>
          <p:nvPr/>
        </p:nvSpPr>
        <p:spPr>
          <a:xfrm>
            <a:off x="3454400" y="3923209"/>
            <a:ext cx="2641600" cy="485080"/>
          </a:xfrm>
          <a:prstGeom prst="rect">
            <a:avLst/>
          </a:prstGeom>
          <a:solidFill>
            <a:srgbClr val="F6E7B8"/>
          </a:solidFill>
          <a:ln/>
        </p:spPr>
        <p:txBody>
          <a:bodyPr/>
          <a:lstStyle/>
          <a:p>
            <a:endParaRPr lang="en-IN"/>
          </a:p>
        </p:txBody>
      </p:sp>
      <p:sp>
        <p:nvSpPr>
          <p:cNvPr id="17" name="Text 15"/>
          <p:cNvSpPr/>
          <p:nvPr/>
        </p:nvSpPr>
        <p:spPr>
          <a:xfrm>
            <a:off x="3606800" y="4050209"/>
            <a:ext cx="2406904"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262E"/>
                </a:solidFill>
                <a:latin typeface="Inter" pitchFamily="34" charset="0"/>
                <a:ea typeface="Inter" pitchFamily="34" charset="-122"/>
                <a:cs typeface="Inter" pitchFamily="34" charset="-120"/>
              </a:rPr>
              <a:t>10–40%</a:t>
            </a:r>
            <a:r>
              <a:rPr lang="en-US" sz="1300" dirty="0">
                <a:solidFill>
                  <a:srgbClr val="13262E"/>
                </a:solidFill>
                <a:latin typeface="Inter" pitchFamily="34" charset="0"/>
                <a:ea typeface="Inter" pitchFamily="34" charset="-122"/>
                <a:cs typeface="Inter" pitchFamily="34" charset="-120"/>
              </a:rPr>
              <a:t> · Level 1</a:t>
            </a:r>
            <a:endParaRPr lang="en-US" sz="1300" dirty="0"/>
          </a:p>
        </p:txBody>
      </p:sp>
      <p:sp>
        <p:nvSpPr>
          <p:cNvPr id="18" name="Shape 16"/>
          <p:cNvSpPr/>
          <p:nvPr/>
        </p:nvSpPr>
        <p:spPr>
          <a:xfrm>
            <a:off x="6096000" y="3923209"/>
            <a:ext cx="2641600" cy="485080"/>
          </a:xfrm>
          <a:prstGeom prst="rect">
            <a:avLst/>
          </a:prstGeom>
          <a:solidFill>
            <a:srgbClr val="F7D3C3"/>
          </a:solidFill>
          <a:ln/>
        </p:spPr>
        <p:txBody>
          <a:bodyPr/>
          <a:lstStyle/>
          <a:p>
            <a:endParaRPr lang="en-IN"/>
          </a:p>
        </p:txBody>
      </p:sp>
      <p:sp>
        <p:nvSpPr>
          <p:cNvPr id="19" name="Text 17"/>
          <p:cNvSpPr/>
          <p:nvPr/>
        </p:nvSpPr>
        <p:spPr>
          <a:xfrm>
            <a:off x="6248400" y="4050209"/>
            <a:ext cx="2406904"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262E"/>
                </a:solidFill>
                <a:latin typeface="Inter" pitchFamily="34" charset="0"/>
                <a:ea typeface="Inter" pitchFamily="34" charset="-122"/>
                <a:cs typeface="Inter" pitchFamily="34" charset="-120"/>
              </a:rPr>
              <a:t>40–60%</a:t>
            </a:r>
            <a:r>
              <a:rPr lang="en-US" sz="1300" dirty="0">
                <a:solidFill>
                  <a:srgbClr val="13262E"/>
                </a:solidFill>
                <a:latin typeface="Inter" pitchFamily="34" charset="0"/>
                <a:ea typeface="Inter" pitchFamily="34" charset="-122"/>
                <a:cs typeface="Inter" pitchFamily="34" charset="-120"/>
              </a:rPr>
              <a:t> · Level 2</a:t>
            </a:r>
            <a:endParaRPr lang="en-US" sz="1300" dirty="0"/>
          </a:p>
        </p:txBody>
      </p:sp>
      <p:sp>
        <p:nvSpPr>
          <p:cNvPr id="20" name="Shape 18"/>
          <p:cNvSpPr/>
          <p:nvPr/>
        </p:nvSpPr>
        <p:spPr>
          <a:xfrm>
            <a:off x="8737600" y="3923209"/>
            <a:ext cx="2641600" cy="485080"/>
          </a:xfrm>
          <a:prstGeom prst="rect">
            <a:avLst/>
          </a:prstGeom>
          <a:solidFill>
            <a:srgbClr val="E9B2A0"/>
          </a:solidFill>
          <a:ln/>
        </p:spPr>
        <p:txBody>
          <a:bodyPr/>
          <a:lstStyle/>
          <a:p>
            <a:endParaRPr lang="en-IN"/>
          </a:p>
        </p:txBody>
      </p:sp>
      <p:sp>
        <p:nvSpPr>
          <p:cNvPr id="21" name="Text 19"/>
          <p:cNvSpPr/>
          <p:nvPr/>
        </p:nvSpPr>
        <p:spPr>
          <a:xfrm>
            <a:off x="8890000" y="4050209"/>
            <a:ext cx="2406904"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3262E"/>
                </a:solidFill>
                <a:latin typeface="Inter" pitchFamily="34" charset="0"/>
                <a:ea typeface="Inter" pitchFamily="34" charset="-122"/>
                <a:cs typeface="Inter" pitchFamily="34" charset="-120"/>
              </a:rPr>
              <a:t>Above 60%</a:t>
            </a:r>
            <a:r>
              <a:rPr lang="en-US" sz="1300" dirty="0">
                <a:solidFill>
                  <a:srgbClr val="13262E"/>
                </a:solidFill>
                <a:latin typeface="Inter" pitchFamily="34" charset="0"/>
                <a:ea typeface="Inter" pitchFamily="34" charset="-122"/>
                <a:cs typeface="Inter" pitchFamily="34" charset="-120"/>
              </a:rPr>
              <a:t> · Level 3</a:t>
            </a:r>
            <a:endParaRPr lang="en-US" sz="13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0"/>
                </a:solidFill>
                <a:latin typeface="Inter" pitchFamily="34" charset="0"/>
                <a:ea typeface="Inter" pitchFamily="34" charset="-122"/>
                <a:cs typeface="Inter" pitchFamily="34" charset="-120"/>
              </a:rPr>
              <a:t>UGC (Promotion of Academic Integrity and Prevention of Plagiarism in HEIs) Regulations, 2018</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452A"/>
                </a:solidFill>
                <a:latin typeface="Inter" pitchFamily="34" charset="0"/>
                <a:ea typeface="Inter" pitchFamily="34" charset="-122"/>
                <a:cs typeface="Inter" pitchFamily="34" charset="-120"/>
              </a:rPr>
              <a:t>E · CITATION FORMATS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3262E"/>
                </a:solidFill>
                <a:latin typeface="Space Grotesk" pitchFamily="34" charset="0"/>
                <a:ea typeface="Space Grotesk" pitchFamily="34" charset="-122"/>
                <a:cs typeface="Space Grotesk" pitchFamily="34" charset="-120"/>
              </a:rPr>
              <a:t>IEEE style: numbered in order of use</a:t>
            </a:r>
            <a:endParaRPr lang="en-US" sz="3200" dirty="0"/>
          </a:p>
        </p:txBody>
      </p:sp>
      <p:sp>
        <p:nvSpPr>
          <p:cNvPr id="4" name="Shape 2"/>
          <p:cNvSpPr/>
          <p:nvPr/>
        </p:nvSpPr>
        <p:spPr>
          <a:xfrm>
            <a:off x="819150" y="1835051"/>
            <a:ext cx="10553700" cy="911820"/>
          </a:xfrm>
          <a:prstGeom prst="roundRect">
            <a:avLst>
              <a:gd name="adj" fmla="val 10446"/>
            </a:avLst>
          </a:prstGeom>
          <a:solidFill>
            <a:srgbClr val="FFFDF8"/>
          </a:solidFill>
          <a:ln w="12700">
            <a:solidFill>
              <a:srgbClr val="DDD6C8"/>
            </a:solidFill>
            <a:prstDash val="solid"/>
          </a:ln>
        </p:spPr>
        <p:txBody>
          <a:bodyPr/>
          <a:lstStyle/>
          <a:p>
            <a:endParaRPr lang="en-IN"/>
          </a:p>
        </p:txBody>
      </p:sp>
      <p:sp>
        <p:nvSpPr>
          <p:cNvPr id="5" name="Text 3"/>
          <p:cNvSpPr/>
          <p:nvPr/>
        </p:nvSpPr>
        <p:spPr>
          <a:xfrm>
            <a:off x="1054100" y="2019201"/>
            <a:ext cx="1038631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6F66"/>
                </a:solidFill>
                <a:latin typeface="Inter" pitchFamily="34" charset="0"/>
                <a:ea typeface="Inter" pitchFamily="34" charset="-122"/>
                <a:cs typeface="Inter" pitchFamily="34" charset="-120"/>
              </a:rPr>
              <a:t>IN THE TEXT</a:t>
            </a:r>
            <a:endParaRPr lang="en-US" sz="1200" dirty="0"/>
          </a:p>
        </p:txBody>
      </p:sp>
      <p:sp>
        <p:nvSpPr>
          <p:cNvPr id="6" name="Text 4"/>
          <p:cNvSpPr/>
          <p:nvPr/>
        </p:nvSpPr>
        <p:spPr>
          <a:xfrm>
            <a:off x="1054100" y="2296021"/>
            <a:ext cx="10386314" cy="2921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13262E"/>
                </a:solidFill>
                <a:latin typeface="Inter" pitchFamily="34" charset="0"/>
                <a:ea typeface="Inter" pitchFamily="34" charset="-122"/>
                <a:cs typeface="Inter" pitchFamily="34" charset="-120"/>
              </a:rPr>
              <a:t>“Encoder–decoder networks with skip connections </a:t>
            </a:r>
            <a:r>
              <a:rPr lang="en-US" sz="1400" b="1" dirty="0">
                <a:solidFill>
                  <a:srgbClr val="13262E"/>
                </a:solidFill>
                <a:latin typeface="Inter" pitchFamily="34" charset="0"/>
                <a:ea typeface="Inter" pitchFamily="34" charset="-122"/>
                <a:cs typeface="Inter" pitchFamily="34" charset="-120"/>
              </a:rPr>
              <a:t>[1]</a:t>
            </a:r>
            <a:r>
              <a:rPr lang="en-US" sz="1400" dirty="0">
                <a:solidFill>
                  <a:srgbClr val="13262E"/>
                </a:solidFill>
                <a:latin typeface="Inter" pitchFamily="34" charset="0"/>
                <a:ea typeface="Inter" pitchFamily="34" charset="-122"/>
                <a:cs typeface="Inter" pitchFamily="34" charset="-120"/>
              </a:rPr>
              <a:t> were later made self-configuring </a:t>
            </a:r>
            <a:r>
              <a:rPr lang="en-US" sz="1400" b="1" dirty="0">
                <a:solidFill>
                  <a:srgbClr val="13262E"/>
                </a:solidFill>
                <a:latin typeface="Inter" pitchFamily="34" charset="0"/>
                <a:ea typeface="Inter" pitchFamily="34" charset="-122"/>
                <a:cs typeface="Inter" pitchFamily="34" charset="-120"/>
              </a:rPr>
              <a:t>[2]</a:t>
            </a:r>
            <a:r>
              <a:rPr lang="en-US" sz="1400" dirty="0">
                <a:solidFill>
                  <a:srgbClr val="13262E"/>
                </a:solidFill>
                <a:latin typeface="Inter" pitchFamily="34" charset="0"/>
                <a:ea typeface="Inter" pitchFamily="34" charset="-122"/>
                <a:cs typeface="Inter" pitchFamily="34" charset="-120"/>
              </a:rPr>
              <a:t>.”</a:t>
            </a:r>
            <a:endParaRPr lang="en-US" sz="1400" dirty="0"/>
          </a:p>
        </p:txBody>
      </p:sp>
      <p:sp>
        <p:nvSpPr>
          <p:cNvPr id="7" name="Shape 5"/>
          <p:cNvSpPr/>
          <p:nvPr/>
        </p:nvSpPr>
        <p:spPr>
          <a:xfrm>
            <a:off x="819150" y="3013571"/>
            <a:ext cx="10553700" cy="1833761"/>
          </a:xfrm>
          <a:prstGeom prst="roundRect">
            <a:avLst>
              <a:gd name="adj" fmla="val 5194"/>
            </a:avLst>
          </a:prstGeom>
          <a:solidFill>
            <a:srgbClr val="FFFDF8"/>
          </a:solidFill>
          <a:ln w="12700">
            <a:solidFill>
              <a:srgbClr val="DDD6C8"/>
            </a:solidFill>
            <a:prstDash val="solid"/>
          </a:ln>
        </p:spPr>
        <p:txBody>
          <a:bodyPr/>
          <a:lstStyle/>
          <a:p>
            <a:endParaRPr lang="en-IN"/>
          </a:p>
        </p:txBody>
      </p:sp>
      <p:sp>
        <p:nvSpPr>
          <p:cNvPr id="8" name="Text 6"/>
          <p:cNvSpPr/>
          <p:nvPr/>
        </p:nvSpPr>
        <p:spPr>
          <a:xfrm>
            <a:off x="1054100" y="3197721"/>
            <a:ext cx="1038631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6F66"/>
                </a:solidFill>
                <a:latin typeface="Inter" pitchFamily="34" charset="0"/>
                <a:ea typeface="Inter" pitchFamily="34" charset="-122"/>
                <a:cs typeface="Inter" pitchFamily="34" charset="-120"/>
              </a:rPr>
              <a:t>IN THE REFERENCE LIST</a:t>
            </a:r>
            <a:endParaRPr lang="en-US" sz="1200" dirty="0"/>
          </a:p>
        </p:txBody>
      </p:sp>
      <p:sp>
        <p:nvSpPr>
          <p:cNvPr id="9" name="Text 7"/>
          <p:cNvSpPr/>
          <p:nvPr/>
        </p:nvSpPr>
        <p:spPr>
          <a:xfrm>
            <a:off x="1054100" y="3525341"/>
            <a:ext cx="10386314" cy="537170"/>
          </a:xfrm>
          <a:prstGeom prst="rect">
            <a:avLst/>
          </a:prstGeom>
          <a:noFill/>
          <a:ln/>
        </p:spPr>
        <p:txBody>
          <a:bodyPr wrap="square" lIns="0" tIns="0" rIns="0" bIns="0" rtlCol="0" anchor="t">
            <a:normAutofit/>
          </a:bodyPr>
          <a:lstStyle/>
          <a:p>
            <a:pPr marL="0" indent="0" algn="l">
              <a:lnSpc>
                <a:spcPts val="2015"/>
              </a:lnSpc>
              <a:buNone/>
            </a:pPr>
            <a:r>
              <a:rPr lang="en-US" sz="1300" dirty="0">
                <a:solidFill>
                  <a:srgbClr val="13262E"/>
                </a:solidFill>
                <a:latin typeface="Inter" pitchFamily="34" charset="0"/>
                <a:ea typeface="Inter" pitchFamily="34" charset="-122"/>
                <a:cs typeface="Inter" pitchFamily="34" charset="-120"/>
              </a:rPr>
              <a:t>[1] </a:t>
            </a:r>
            <a:r>
              <a:rPr lang="en-US" sz="1300" dirty="0">
                <a:solidFill>
                  <a:srgbClr val="B5452A"/>
                </a:solidFill>
                <a:latin typeface="Inter" pitchFamily="34" charset="0"/>
                <a:ea typeface="Inter" pitchFamily="34" charset="-122"/>
                <a:cs typeface="Inter" pitchFamily="34" charset="-120"/>
              </a:rPr>
              <a:t>O. Ronneberger, P. Fischer, and T. Brox,</a:t>
            </a:r>
            <a:r>
              <a:rPr lang="en-US" sz="1300" dirty="0">
                <a:solidFill>
                  <a:srgbClr val="13262E"/>
                </a:solidFill>
                <a:latin typeface="Inter" pitchFamily="34" charset="0"/>
                <a:ea typeface="Inter" pitchFamily="34" charset="-122"/>
                <a:cs typeface="Inter" pitchFamily="34" charset="-120"/>
              </a:rPr>
              <a:t> “U-Net: Convolutional networks for biomedical image segmentation,” </a:t>
            </a:r>
            <a:r>
              <a:rPr lang="en-US" sz="1300" dirty="0">
                <a:solidFill>
                  <a:srgbClr val="1F6F66"/>
                </a:solidFill>
                <a:latin typeface="Inter" pitchFamily="34" charset="0"/>
                <a:ea typeface="Inter" pitchFamily="34" charset="-122"/>
                <a:cs typeface="Inter" pitchFamily="34" charset="-120"/>
              </a:rPr>
              <a:t>in </a:t>
            </a:r>
            <a:r>
              <a:rPr lang="en-US" sz="1300" i="1" dirty="0">
                <a:solidFill>
                  <a:srgbClr val="1F6F66"/>
                </a:solidFill>
                <a:latin typeface="Inter" pitchFamily="34" charset="0"/>
                <a:ea typeface="Inter" pitchFamily="34" charset="-122"/>
                <a:cs typeface="Inter" pitchFamily="34" charset="-120"/>
              </a:rPr>
              <a:t>Medical Image Computing and Computer-Assisted Intervention – MICCAI 2015</a:t>
            </a:r>
            <a:r>
              <a:rPr lang="en-US" sz="1300" dirty="0">
                <a:solidFill>
                  <a:srgbClr val="1F6F66"/>
                </a:solidFill>
                <a:latin typeface="Inter" pitchFamily="34" charset="0"/>
                <a:ea typeface="Inter" pitchFamily="34" charset="-122"/>
                <a:cs typeface="Inter" pitchFamily="34" charset="-120"/>
              </a:rPr>
              <a:t>,</a:t>
            </a:r>
            <a:r>
              <a:rPr lang="en-US" sz="1300" dirty="0">
                <a:solidFill>
                  <a:srgbClr val="13262E"/>
                </a:solidFill>
                <a:latin typeface="Inter" pitchFamily="34" charset="0"/>
                <a:ea typeface="Inter" pitchFamily="34" charset="-122"/>
                <a:cs typeface="Inter" pitchFamily="34" charset="-120"/>
              </a:rPr>
              <a:t> Cham, Switzerland: Springer, 2015, pp. 234–241.</a:t>
            </a:r>
            <a:endParaRPr lang="en-US" sz="1300" dirty="0"/>
          </a:p>
        </p:txBody>
      </p:sp>
      <p:sp>
        <p:nvSpPr>
          <p:cNvPr id="10" name="Text 8"/>
          <p:cNvSpPr/>
          <p:nvPr/>
        </p:nvSpPr>
        <p:spPr>
          <a:xfrm>
            <a:off x="1054100" y="4151412"/>
            <a:ext cx="10386314" cy="537170"/>
          </a:xfrm>
          <a:prstGeom prst="rect">
            <a:avLst/>
          </a:prstGeom>
          <a:noFill/>
          <a:ln/>
        </p:spPr>
        <p:txBody>
          <a:bodyPr wrap="square" lIns="0" tIns="0" rIns="0" bIns="0" rtlCol="0" anchor="t">
            <a:normAutofit/>
          </a:bodyPr>
          <a:lstStyle/>
          <a:p>
            <a:pPr marL="0" indent="0" algn="l">
              <a:lnSpc>
                <a:spcPts val="2015"/>
              </a:lnSpc>
              <a:buNone/>
            </a:pPr>
            <a:r>
              <a:rPr lang="en-US" sz="1300" dirty="0">
                <a:solidFill>
                  <a:srgbClr val="13262E"/>
                </a:solidFill>
                <a:latin typeface="Inter" pitchFamily="34" charset="0"/>
                <a:ea typeface="Inter" pitchFamily="34" charset="-122"/>
                <a:cs typeface="Inter" pitchFamily="34" charset="-120"/>
              </a:rPr>
              <a:t>[2] </a:t>
            </a:r>
            <a:r>
              <a:rPr lang="en-US" sz="1300" dirty="0">
                <a:solidFill>
                  <a:srgbClr val="B5452A"/>
                </a:solidFill>
                <a:latin typeface="Inter" pitchFamily="34" charset="0"/>
                <a:ea typeface="Inter" pitchFamily="34" charset="-122"/>
                <a:cs typeface="Inter" pitchFamily="34" charset="-120"/>
              </a:rPr>
              <a:t>F. Isensee, P. F. Jaeger, S. A. A. Kohl, J. Petersen, and K. H. Maier-Hein,</a:t>
            </a:r>
            <a:r>
              <a:rPr lang="en-US" sz="1300" dirty="0">
                <a:solidFill>
                  <a:srgbClr val="13262E"/>
                </a:solidFill>
                <a:latin typeface="Inter" pitchFamily="34" charset="0"/>
                <a:ea typeface="Inter" pitchFamily="34" charset="-122"/>
                <a:cs typeface="Inter" pitchFamily="34" charset="-120"/>
              </a:rPr>
              <a:t> “nnU-Net: A self-configuring method for deep learning-based biomedical image segmentation,” </a:t>
            </a:r>
            <a:r>
              <a:rPr lang="en-US" sz="1300" i="1" dirty="0">
                <a:solidFill>
                  <a:srgbClr val="1F6F66"/>
                </a:solidFill>
                <a:latin typeface="Inter" pitchFamily="34" charset="0"/>
                <a:ea typeface="Inter" pitchFamily="34" charset="-122"/>
                <a:cs typeface="Inter" pitchFamily="34" charset="-120"/>
              </a:rPr>
              <a:t>Nature Methods</a:t>
            </a:r>
            <a:r>
              <a:rPr lang="en-US" sz="1300" dirty="0">
                <a:solidFill>
                  <a:srgbClr val="1F6F66"/>
                </a:solidFill>
                <a:latin typeface="Inter" pitchFamily="34" charset="0"/>
                <a:ea typeface="Inter" pitchFamily="34" charset="-122"/>
                <a:cs typeface="Inter" pitchFamily="34" charset="-120"/>
              </a:rPr>
              <a:t>, vol. 18, no. 2,</a:t>
            </a:r>
            <a:r>
              <a:rPr lang="en-US" sz="1300" dirty="0">
                <a:solidFill>
                  <a:srgbClr val="13262E"/>
                </a:solidFill>
                <a:latin typeface="Inter" pitchFamily="34" charset="0"/>
                <a:ea typeface="Inter" pitchFamily="34" charset="-122"/>
                <a:cs typeface="Inter" pitchFamily="34" charset="-120"/>
              </a:rPr>
              <a:t> pp. 203–211, 2021.</a:t>
            </a:r>
            <a:endParaRPr lang="en-US" sz="1300" dirty="0"/>
          </a:p>
        </p:txBody>
      </p:sp>
      <p:sp>
        <p:nvSpPr>
          <p:cNvPr id="11" name="Text 9"/>
          <p:cNvSpPr/>
          <p:nvPr/>
        </p:nvSpPr>
        <p:spPr>
          <a:xfrm>
            <a:off x="812800" y="5107682"/>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B5452A"/>
                </a:solidFill>
                <a:latin typeface="Inter" pitchFamily="34" charset="0"/>
                <a:ea typeface="Inter" pitchFamily="34" charset="-122"/>
                <a:cs typeface="Inter" pitchFamily="34" charset="-120"/>
              </a:rPr>
              <a:t>Initials, then surname</a:t>
            </a:r>
            <a:r>
              <a:rPr lang="en-US" sz="1300" dirty="0">
                <a:solidFill>
                  <a:srgbClr val="13262E"/>
                </a:solidFill>
                <a:latin typeface="Inter" pitchFamily="34" charset="0"/>
                <a:ea typeface="Inter" pitchFamily="34" charset="-122"/>
                <a:cs typeface="Inter" pitchFamily="34" charset="-120"/>
              </a:rPr>
              <a:t> · title in quotes · </a:t>
            </a:r>
            <a:r>
              <a:rPr lang="en-US" sz="1300" b="1" dirty="0">
                <a:solidFill>
                  <a:srgbClr val="1F6F66"/>
                </a:solidFill>
                <a:latin typeface="Inter" pitchFamily="34" charset="0"/>
                <a:ea typeface="Inter" pitchFamily="34" charset="-122"/>
                <a:cs typeface="Inter" pitchFamily="34" charset="-120"/>
              </a:rPr>
              <a:t>venue in italics</a:t>
            </a:r>
            <a:r>
              <a:rPr lang="en-US" sz="1300" dirty="0">
                <a:solidFill>
                  <a:srgbClr val="13262E"/>
                </a:solidFill>
                <a:latin typeface="Inter" pitchFamily="34" charset="0"/>
                <a:ea typeface="Inter" pitchFamily="34" charset="-122"/>
                <a:cs typeface="Inter" pitchFamily="34" charset="-120"/>
              </a:rPr>
              <a:t> · pages and year · numbers never re-used</a:t>
            </a:r>
            <a:endParaRPr lang="en-US" sz="13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0"/>
                </a:solidFill>
                <a:latin typeface="Inter" pitchFamily="34" charset="0"/>
                <a:ea typeface="Inter" pitchFamily="34" charset="-122"/>
                <a:cs typeface="Inter" pitchFamily="34" charset="-120"/>
              </a:rPr>
              <a:t>CSEG3060 · Unit III · Part 4 — Plagiarism &amp; Citation Ethics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6637"/>
          </a:xfrm>
          <a:prstGeom prst="rect">
            <a:avLst/>
          </a:prstGeom>
          <a:noFill/>
          <a:ln/>
        </p:spPr>
        <p:txBody>
          <a:bodyPr wrap="square" lIns="0" tIns="0" rIns="0" bIns="0" rtlCol="0" anchor="t">
            <a:normAutofit/>
          </a:bodyPr>
          <a:lstStyle/>
          <a:p>
            <a:pPr marL="0" indent="0" algn="l">
              <a:lnSpc>
                <a:spcPts val="1675"/>
              </a:lnSpc>
              <a:buNone/>
            </a:pPr>
            <a:r>
              <a:rPr lang="en-US" sz="1196" b="1" kern="0" spc="150" dirty="0">
                <a:solidFill>
                  <a:srgbClr val="B5452A"/>
                </a:solidFill>
                <a:latin typeface="Inter" pitchFamily="34" charset="0"/>
                <a:ea typeface="Inter" pitchFamily="34" charset="-122"/>
                <a:cs typeface="Inter" pitchFamily="34" charset="-120"/>
              </a:rPr>
              <a:t>E · CITATION FORMATS</a:t>
            </a:r>
            <a:endParaRPr lang="en-US" sz="1196" dirty="0"/>
          </a:p>
        </p:txBody>
      </p:sp>
      <p:sp>
        <p:nvSpPr>
          <p:cNvPr id="3" name="Text 1"/>
          <p:cNvSpPr/>
          <p:nvPr/>
        </p:nvSpPr>
        <p:spPr>
          <a:xfrm>
            <a:off x="812800" y="1125637"/>
            <a:ext cx="10883392" cy="467916"/>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3262E"/>
                </a:solidFill>
                <a:latin typeface="Space Grotesk" pitchFamily="34" charset="0"/>
                <a:ea typeface="Space Grotesk" pitchFamily="34" charset="-122"/>
                <a:cs typeface="Space Grotesk" pitchFamily="34" charset="-120"/>
              </a:rPr>
              <a:t>The same paper in ACM style</a:t>
            </a:r>
            <a:endParaRPr lang="en-US" sz="3200" dirty="0"/>
          </a:p>
        </p:txBody>
      </p:sp>
      <p:sp>
        <p:nvSpPr>
          <p:cNvPr id="4" name="Shape 2"/>
          <p:cNvSpPr/>
          <p:nvPr/>
        </p:nvSpPr>
        <p:spPr>
          <a:xfrm>
            <a:off x="819150" y="1828502"/>
            <a:ext cx="10553700" cy="1150144"/>
          </a:xfrm>
          <a:prstGeom prst="roundRect">
            <a:avLst>
              <a:gd name="adj" fmla="val 8282"/>
            </a:avLst>
          </a:prstGeom>
          <a:solidFill>
            <a:srgbClr val="FFFDF8"/>
          </a:solidFill>
          <a:ln w="12700">
            <a:solidFill>
              <a:srgbClr val="DDD6C8"/>
            </a:solidFill>
            <a:prstDash val="solid"/>
          </a:ln>
        </p:spPr>
        <p:txBody>
          <a:bodyPr/>
          <a:lstStyle/>
          <a:p>
            <a:endParaRPr lang="en-IN"/>
          </a:p>
        </p:txBody>
      </p:sp>
      <p:sp>
        <p:nvSpPr>
          <p:cNvPr id="5" name="Text 3"/>
          <p:cNvSpPr/>
          <p:nvPr/>
        </p:nvSpPr>
        <p:spPr>
          <a:xfrm>
            <a:off x="1054100" y="2012652"/>
            <a:ext cx="10386314" cy="236736"/>
          </a:xfrm>
          <a:prstGeom prst="rect">
            <a:avLst/>
          </a:prstGeom>
          <a:noFill/>
          <a:ln/>
        </p:spPr>
        <p:txBody>
          <a:bodyPr wrap="square" lIns="0" tIns="0" rIns="0" bIns="0" rtlCol="0" anchor="t">
            <a:normAutofit/>
          </a:bodyPr>
          <a:lstStyle/>
          <a:p>
            <a:pPr marL="0" indent="0" algn="l">
              <a:lnSpc>
                <a:spcPts val="1675"/>
              </a:lnSpc>
              <a:buNone/>
            </a:pPr>
            <a:r>
              <a:rPr lang="en-US" sz="1196" b="1" kern="0" spc="100" dirty="0">
                <a:solidFill>
                  <a:srgbClr val="1F6F66"/>
                </a:solidFill>
                <a:latin typeface="Inter" pitchFamily="34" charset="0"/>
                <a:ea typeface="Inter" pitchFamily="34" charset="-122"/>
                <a:cs typeface="Inter" pitchFamily="34" charset="-120"/>
              </a:rPr>
              <a:t>ACM REFERENCE FORMAT</a:t>
            </a:r>
            <a:endParaRPr lang="en-US" sz="1196" dirty="0"/>
          </a:p>
        </p:txBody>
      </p:sp>
      <p:sp>
        <p:nvSpPr>
          <p:cNvPr id="6" name="Text 4"/>
          <p:cNvSpPr/>
          <p:nvPr/>
        </p:nvSpPr>
        <p:spPr>
          <a:xfrm>
            <a:off x="1054100" y="2287488"/>
            <a:ext cx="10386314" cy="532408"/>
          </a:xfrm>
          <a:prstGeom prst="rect">
            <a:avLst/>
          </a:prstGeom>
          <a:noFill/>
          <a:ln/>
        </p:spPr>
        <p:txBody>
          <a:bodyPr wrap="square" lIns="0" tIns="0" rIns="0" bIns="0" rtlCol="0" anchor="t">
            <a:normAutofit/>
          </a:bodyPr>
          <a:lstStyle/>
          <a:p>
            <a:pPr marL="0" indent="0" algn="l">
              <a:lnSpc>
                <a:spcPts val="2009"/>
              </a:lnSpc>
              <a:buNone/>
            </a:pPr>
            <a:r>
              <a:rPr lang="en-US" sz="1296" dirty="0">
                <a:solidFill>
                  <a:srgbClr val="B5452A"/>
                </a:solidFill>
                <a:latin typeface="Inter" pitchFamily="34" charset="0"/>
                <a:ea typeface="Inter" pitchFamily="34" charset="-122"/>
                <a:cs typeface="Inter" pitchFamily="34" charset="-120"/>
              </a:rPr>
              <a:t>Olaf Ronneberger, Philipp Fischer, and Thomas Brox. 2015.</a:t>
            </a:r>
            <a:r>
              <a:rPr lang="en-US" sz="1296" dirty="0">
                <a:solidFill>
                  <a:srgbClr val="13262E"/>
                </a:solidFill>
                <a:latin typeface="Inter" pitchFamily="34" charset="0"/>
                <a:ea typeface="Inter" pitchFamily="34" charset="-122"/>
                <a:cs typeface="Inter" pitchFamily="34" charset="-120"/>
              </a:rPr>
              <a:t> U-Net: Convolutional Networks for Biomedical Image Segmentation. In </a:t>
            </a:r>
            <a:r>
              <a:rPr lang="en-US" sz="1296" i="1" dirty="0">
                <a:solidFill>
                  <a:srgbClr val="13262E"/>
                </a:solidFill>
                <a:latin typeface="Inter" pitchFamily="34" charset="0"/>
                <a:ea typeface="Inter" pitchFamily="34" charset="-122"/>
                <a:cs typeface="Inter" pitchFamily="34" charset="-120"/>
              </a:rPr>
              <a:t>Medical Image Computing and Computer-Assisted Intervention – MICCAI 2015</a:t>
            </a:r>
            <a:r>
              <a:rPr lang="en-US" sz="1296" dirty="0">
                <a:solidFill>
                  <a:srgbClr val="13262E"/>
                </a:solidFill>
                <a:latin typeface="Inter" pitchFamily="34" charset="0"/>
                <a:ea typeface="Inter" pitchFamily="34" charset="-122"/>
                <a:cs typeface="Inter" pitchFamily="34" charset="-120"/>
              </a:rPr>
              <a:t>. Springer, Cham, 234–241.</a:t>
            </a:r>
            <a:endParaRPr lang="en-US" sz="1296"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12800" y="3238996"/>
          <a:ext cx="10566400" cy="2090045"/>
        </p:xfrm>
        <a:graphic>
          <a:graphicData uri="http://schemas.openxmlformats.org/drawingml/2006/table">
            <a:tbl>
              <a:tblPr/>
              <a:tblGrid>
                <a:gridCol w="2535936">
                  <a:extLst>
                    <a:ext uri="{9D8B030D-6E8A-4147-A177-3AD203B41FA5}">
                      <a16:colId xmlns:a16="http://schemas.microsoft.com/office/drawing/2014/main" val="20000"/>
                    </a:ext>
                  </a:extLst>
                </a:gridCol>
                <a:gridCol w="4015232">
                  <a:extLst>
                    <a:ext uri="{9D8B030D-6E8A-4147-A177-3AD203B41FA5}">
                      <a16:colId xmlns:a16="http://schemas.microsoft.com/office/drawing/2014/main" val="20001"/>
                    </a:ext>
                  </a:extLst>
                </a:gridCol>
                <a:gridCol w="4015232">
                  <a:extLst>
                    <a:ext uri="{9D8B030D-6E8A-4147-A177-3AD203B41FA5}">
                      <a16:colId xmlns:a16="http://schemas.microsoft.com/office/drawing/2014/main" val="20002"/>
                    </a:ext>
                  </a:extLst>
                </a:gridCol>
              </a:tblGrid>
              <a:tr h="418009">
                <a:tc>
                  <a:txBody>
                    <a:bodyPr/>
                    <a:lstStyle/>
                    <a:p>
                      <a:pPr marL="0" indent="0">
                        <a:lnSpc>
                          <a:spcPts val="1792"/>
                        </a:lnSpc>
                        <a:buNone/>
                      </a:pPr>
                      <a:r>
                        <a:rPr lang="en-US" sz="1280" b="1" dirty="0">
                          <a:solidFill>
                            <a:srgbClr val="F3EFE6"/>
                          </a:solidFill>
                          <a:latin typeface="Inter" pitchFamily="34" charset="0"/>
                          <a:ea typeface="Inter" pitchFamily="34" charset="-122"/>
                          <a:cs typeface="Inter" pitchFamily="34" charset="-120"/>
                        </a:rPr>
                        <a:t>Feature</a:t>
                      </a:r>
                      <a:endParaRPr lang="en-US" sz="128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12303A"/>
                    </a:solidFill>
                  </a:tcPr>
                </a:tc>
                <a:tc>
                  <a:txBody>
                    <a:bodyPr/>
                    <a:lstStyle/>
                    <a:p>
                      <a:pPr marL="0" indent="0">
                        <a:lnSpc>
                          <a:spcPts val="1792"/>
                        </a:lnSpc>
                        <a:buNone/>
                      </a:pPr>
                      <a:r>
                        <a:rPr lang="en-US" sz="1280" b="1" dirty="0">
                          <a:solidFill>
                            <a:srgbClr val="F3EFE6"/>
                          </a:solidFill>
                          <a:latin typeface="Inter" pitchFamily="34" charset="0"/>
                          <a:ea typeface="Inter" pitchFamily="34" charset="-122"/>
                          <a:cs typeface="Inter" pitchFamily="34" charset="-120"/>
                        </a:rPr>
                        <a:t>IEEE</a:t>
                      </a:r>
                      <a:endParaRPr lang="en-US" sz="128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12303A"/>
                    </a:solidFill>
                  </a:tcPr>
                </a:tc>
                <a:tc>
                  <a:txBody>
                    <a:bodyPr/>
                    <a:lstStyle/>
                    <a:p>
                      <a:pPr marL="0" indent="0">
                        <a:lnSpc>
                          <a:spcPts val="1792"/>
                        </a:lnSpc>
                        <a:buNone/>
                      </a:pPr>
                      <a:r>
                        <a:rPr lang="en-US" sz="1280" b="1" dirty="0">
                          <a:solidFill>
                            <a:srgbClr val="F3EFE6"/>
                          </a:solidFill>
                          <a:latin typeface="Inter" pitchFamily="34" charset="0"/>
                          <a:ea typeface="Inter" pitchFamily="34" charset="-122"/>
                          <a:cs typeface="Inter" pitchFamily="34" charset="-120"/>
                        </a:rPr>
                        <a:t>ACM</a:t>
                      </a:r>
                      <a:endParaRPr lang="en-US" sz="128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12303A"/>
                    </a:solidFill>
                  </a:tcPr>
                </a:tc>
                <a:extLst>
                  <a:ext uri="{0D108BD9-81ED-4DB2-BD59-A6C34878D82A}">
                    <a16:rowId xmlns:a16="http://schemas.microsoft.com/office/drawing/2014/main" val="10000"/>
                  </a:ext>
                </a:extLst>
              </a:tr>
              <a:tr h="418009">
                <a:tc>
                  <a:txBody>
                    <a:bodyPr/>
                    <a:lstStyle/>
                    <a:p>
                      <a:pPr marL="0" indent="0">
                        <a:lnSpc>
                          <a:spcPts val="1792"/>
                        </a:lnSpc>
                        <a:buNone/>
                      </a:pPr>
                      <a:r>
                        <a:rPr lang="en-US" sz="1280" dirty="0">
                          <a:solidFill>
                            <a:srgbClr val="13262E"/>
                          </a:solidFill>
                          <a:latin typeface="Inter" pitchFamily="34" charset="0"/>
                          <a:ea typeface="Inter" pitchFamily="34" charset="-122"/>
                          <a:cs typeface="Inter" pitchFamily="34" charset="-120"/>
                        </a:rPr>
                        <a:t>Author names</a:t>
                      </a:r>
                      <a:endParaRPr lang="en-US" sz="128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792"/>
                        </a:lnSpc>
                        <a:buNone/>
                      </a:pPr>
                      <a:r>
                        <a:rPr lang="en-US" sz="1280" dirty="0">
                          <a:solidFill>
                            <a:srgbClr val="13262E"/>
                          </a:solidFill>
                          <a:latin typeface="Inter" pitchFamily="34" charset="0"/>
                          <a:ea typeface="Inter" pitchFamily="34" charset="-122"/>
                          <a:cs typeface="Inter" pitchFamily="34" charset="-120"/>
                        </a:rPr>
                        <a:t>Initials: O. Ronneberger</a:t>
                      </a:r>
                      <a:endParaRPr lang="en-US" sz="128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792"/>
                        </a:lnSpc>
                        <a:buNone/>
                      </a:pPr>
                      <a:r>
                        <a:rPr lang="en-US" sz="1280" dirty="0">
                          <a:solidFill>
                            <a:srgbClr val="13262E"/>
                          </a:solidFill>
                          <a:latin typeface="Inter" pitchFamily="34" charset="0"/>
                          <a:ea typeface="Inter" pitchFamily="34" charset="-122"/>
                          <a:cs typeface="Inter" pitchFamily="34" charset="-120"/>
                        </a:rPr>
                        <a:t>Full names: Olaf Ronneberger</a:t>
                      </a:r>
                      <a:endParaRPr lang="en-US" sz="128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extLst>
                  <a:ext uri="{0D108BD9-81ED-4DB2-BD59-A6C34878D82A}">
                    <a16:rowId xmlns:a16="http://schemas.microsoft.com/office/drawing/2014/main" val="10001"/>
                  </a:ext>
                </a:extLst>
              </a:tr>
              <a:tr h="418009">
                <a:tc>
                  <a:txBody>
                    <a:bodyPr/>
                    <a:lstStyle/>
                    <a:p>
                      <a:pPr marL="0" indent="0">
                        <a:lnSpc>
                          <a:spcPts val="1792"/>
                        </a:lnSpc>
                        <a:buNone/>
                      </a:pPr>
                      <a:r>
                        <a:rPr lang="en-US" sz="1280" dirty="0">
                          <a:solidFill>
                            <a:srgbClr val="13262E"/>
                          </a:solidFill>
                          <a:latin typeface="Inter" pitchFamily="34" charset="0"/>
                          <a:ea typeface="Inter" pitchFamily="34" charset="-122"/>
                          <a:cs typeface="Inter" pitchFamily="34" charset="-120"/>
                        </a:rPr>
                        <a:t>Year</a:t>
                      </a:r>
                      <a:endParaRPr lang="en-US" sz="128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tc>
                  <a:txBody>
                    <a:bodyPr/>
                    <a:lstStyle/>
                    <a:p>
                      <a:pPr marL="0" indent="0">
                        <a:lnSpc>
                          <a:spcPts val="1792"/>
                        </a:lnSpc>
                        <a:buNone/>
                      </a:pPr>
                      <a:r>
                        <a:rPr lang="en-US" sz="1280" dirty="0">
                          <a:solidFill>
                            <a:srgbClr val="13262E"/>
                          </a:solidFill>
                          <a:latin typeface="Inter" pitchFamily="34" charset="0"/>
                          <a:ea typeface="Inter" pitchFamily="34" charset="-122"/>
                          <a:cs typeface="Inter" pitchFamily="34" charset="-120"/>
                        </a:rPr>
                        <a:t>Near the end</a:t>
                      </a:r>
                      <a:endParaRPr lang="en-US" sz="128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tc>
                  <a:txBody>
                    <a:bodyPr/>
                    <a:lstStyle/>
                    <a:p>
                      <a:pPr marL="0" indent="0">
                        <a:lnSpc>
                          <a:spcPts val="1792"/>
                        </a:lnSpc>
                        <a:buNone/>
                      </a:pPr>
                      <a:r>
                        <a:rPr lang="en-US" sz="1280" dirty="0">
                          <a:solidFill>
                            <a:srgbClr val="13262E"/>
                          </a:solidFill>
                          <a:latin typeface="Inter" pitchFamily="34" charset="0"/>
                          <a:ea typeface="Inter" pitchFamily="34" charset="-122"/>
                          <a:cs typeface="Inter" pitchFamily="34" charset="-120"/>
                        </a:rPr>
                        <a:t>Right after the authors</a:t>
                      </a:r>
                      <a:endParaRPr lang="en-US" sz="128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extLst>
                  <a:ext uri="{0D108BD9-81ED-4DB2-BD59-A6C34878D82A}">
                    <a16:rowId xmlns:a16="http://schemas.microsoft.com/office/drawing/2014/main" val="10002"/>
                  </a:ext>
                </a:extLst>
              </a:tr>
              <a:tr h="418009">
                <a:tc>
                  <a:txBody>
                    <a:bodyPr/>
                    <a:lstStyle/>
                    <a:p>
                      <a:pPr marL="0" indent="0">
                        <a:lnSpc>
                          <a:spcPts val="1792"/>
                        </a:lnSpc>
                        <a:buNone/>
                      </a:pPr>
                      <a:r>
                        <a:rPr lang="en-US" sz="1280" dirty="0">
                          <a:solidFill>
                            <a:srgbClr val="13262E"/>
                          </a:solidFill>
                          <a:latin typeface="Inter" pitchFamily="34" charset="0"/>
                          <a:ea typeface="Inter" pitchFamily="34" charset="-122"/>
                          <a:cs typeface="Inter" pitchFamily="34" charset="-120"/>
                        </a:rPr>
                        <a:t>Title</a:t>
                      </a:r>
                      <a:endParaRPr lang="en-US" sz="128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792"/>
                        </a:lnSpc>
                        <a:buNone/>
                      </a:pPr>
                      <a:r>
                        <a:rPr lang="en-US" sz="1280" dirty="0">
                          <a:solidFill>
                            <a:srgbClr val="13262E"/>
                          </a:solidFill>
                          <a:latin typeface="Inter" pitchFamily="34" charset="0"/>
                          <a:ea typeface="Inter" pitchFamily="34" charset="-122"/>
                          <a:cs typeface="Inter" pitchFamily="34" charset="-120"/>
                        </a:rPr>
                        <a:t>In quotation marks</a:t>
                      </a:r>
                      <a:endParaRPr lang="en-US" sz="128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tc>
                  <a:txBody>
                    <a:bodyPr/>
                    <a:lstStyle/>
                    <a:p>
                      <a:pPr marL="0" indent="0">
                        <a:lnSpc>
                          <a:spcPts val="1792"/>
                        </a:lnSpc>
                        <a:buNone/>
                      </a:pPr>
                      <a:r>
                        <a:rPr lang="en-US" sz="1280" dirty="0">
                          <a:solidFill>
                            <a:srgbClr val="13262E"/>
                          </a:solidFill>
                          <a:latin typeface="Inter" pitchFamily="34" charset="0"/>
                          <a:ea typeface="Inter" pitchFamily="34" charset="-122"/>
                          <a:cs typeface="Inter" pitchFamily="34" charset="-120"/>
                        </a:rPr>
                        <a:t>Title case, no quotation marks</a:t>
                      </a:r>
                      <a:endParaRPr lang="en-US" sz="128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FFFDF8"/>
                    </a:solidFill>
                  </a:tcPr>
                </a:tc>
                <a:extLst>
                  <a:ext uri="{0D108BD9-81ED-4DB2-BD59-A6C34878D82A}">
                    <a16:rowId xmlns:a16="http://schemas.microsoft.com/office/drawing/2014/main" val="10003"/>
                  </a:ext>
                </a:extLst>
              </a:tr>
              <a:tr h="418009">
                <a:tc>
                  <a:txBody>
                    <a:bodyPr/>
                    <a:lstStyle/>
                    <a:p>
                      <a:pPr marL="0" indent="0">
                        <a:lnSpc>
                          <a:spcPts val="1792"/>
                        </a:lnSpc>
                        <a:buNone/>
                      </a:pPr>
                      <a:r>
                        <a:rPr lang="en-US" sz="1280" dirty="0">
                          <a:solidFill>
                            <a:srgbClr val="13262E"/>
                          </a:solidFill>
                          <a:latin typeface="Inter" pitchFamily="34" charset="0"/>
                          <a:ea typeface="Inter" pitchFamily="34" charset="-122"/>
                          <a:cs typeface="Inter" pitchFamily="34" charset="-120"/>
                        </a:rPr>
                        <a:t>In-text marker</a:t>
                      </a:r>
                      <a:endParaRPr lang="en-US" sz="128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tc>
                  <a:txBody>
                    <a:bodyPr/>
                    <a:lstStyle/>
                    <a:p>
                      <a:pPr marL="0" indent="0">
                        <a:lnSpc>
                          <a:spcPts val="1792"/>
                        </a:lnSpc>
                        <a:buNone/>
                      </a:pPr>
                      <a:r>
                        <a:rPr lang="en-US" sz="1280" dirty="0">
                          <a:solidFill>
                            <a:srgbClr val="13262E"/>
                          </a:solidFill>
                          <a:latin typeface="Inter" pitchFamily="34" charset="0"/>
                          <a:ea typeface="Inter" pitchFamily="34" charset="-122"/>
                          <a:cs typeface="Inter" pitchFamily="34" charset="-120"/>
                        </a:rPr>
                        <a:t>[1]</a:t>
                      </a:r>
                      <a:endParaRPr lang="en-US" sz="128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tc>
                  <a:txBody>
                    <a:bodyPr/>
                    <a:lstStyle/>
                    <a:p>
                      <a:pPr marL="0" indent="0">
                        <a:lnSpc>
                          <a:spcPts val="1792"/>
                        </a:lnSpc>
                        <a:buNone/>
                      </a:pPr>
                      <a:r>
                        <a:rPr lang="en-US" sz="1280" dirty="0">
                          <a:solidFill>
                            <a:srgbClr val="13262E"/>
                          </a:solidFill>
                          <a:latin typeface="Inter" pitchFamily="34" charset="0"/>
                          <a:ea typeface="Inter" pitchFamily="34" charset="-122"/>
                          <a:cs typeface="Inter" pitchFamily="34" charset="-120"/>
                        </a:rPr>
                        <a:t>[1] or (Ronneberger et al. 2015), by template</a:t>
                      </a:r>
                      <a:endParaRPr lang="en-US" sz="1280" dirty="0">
                        <a:latin typeface="Inter" charset="0"/>
                        <a:ea typeface="Inter" charset="0"/>
                        <a:cs typeface="Inter" charset="0"/>
                      </a:endParaRPr>
                    </a:p>
                  </a:txBody>
                  <a:tcPr marL="127000" marR="127000" marT="88900" marB="88900">
                    <a:lnL w="12700" cap="flat" cmpd="sng" algn="ctr">
                      <a:solidFill>
                        <a:srgbClr val="C4C7C5"/>
                      </a:solidFill>
                      <a:prstDash val="solid"/>
                      <a:round/>
                      <a:headEnd type="none" w="med" len="med"/>
                      <a:tailEnd type="none" w="med" len="med"/>
                    </a:lnL>
                    <a:lnR w="12700" cap="flat" cmpd="sng" algn="ctr">
                      <a:solidFill>
                        <a:srgbClr val="C4C7C5"/>
                      </a:solidFill>
                      <a:prstDash val="solid"/>
                      <a:round/>
                      <a:headEnd type="none" w="med" len="med"/>
                      <a:tailEnd type="none" w="med" len="med"/>
                    </a:lnR>
                    <a:lnT w="12700" cap="flat" cmpd="sng" algn="ctr">
                      <a:solidFill>
                        <a:srgbClr val="C4C7C5"/>
                      </a:solidFill>
                      <a:prstDash val="solid"/>
                      <a:round/>
                      <a:headEnd type="none" w="med" len="med"/>
                      <a:tailEnd type="none" w="med" len="med"/>
                    </a:lnT>
                    <a:lnB w="12700" cap="flat" cmpd="sng" algn="ctr">
                      <a:solidFill>
                        <a:srgbClr val="C4C7C5"/>
                      </a:solidFill>
                      <a:prstDash val="solid"/>
                      <a:round/>
                      <a:headEnd type="none" w="med" len="med"/>
                      <a:tailEnd type="none" w="med" len="med"/>
                    </a:lnB>
                    <a:solidFill>
                      <a:srgbClr val="EBE6DB"/>
                    </a:solidFill>
                  </a:tcPr>
                </a:tc>
                <a:extLst>
                  <a:ext uri="{0D108BD9-81ED-4DB2-BD59-A6C34878D82A}">
                    <a16:rowId xmlns:a16="http://schemas.microsoft.com/office/drawing/2014/main" val="10004"/>
                  </a:ext>
                </a:extLst>
              </a:tr>
            </a:tbl>
          </a:graphicData>
        </a:graphic>
      </p:graphicFrame>
      <p:sp>
        <p:nvSpPr>
          <p:cNvPr id="8" name="Text 5"/>
          <p:cNvSpPr/>
          <p:nvPr/>
        </p:nvSpPr>
        <p:spPr>
          <a:xfrm>
            <a:off x="812800" y="5595342"/>
            <a:ext cx="10883392" cy="272058"/>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3262E"/>
                </a:solidFill>
                <a:latin typeface="Inter" pitchFamily="34" charset="0"/>
                <a:ea typeface="Inter" pitchFamily="34" charset="-122"/>
                <a:cs typeface="Inter" pitchFamily="34" charset="-120"/>
              </a:rPr>
              <a:t>Never format by hand.</a:t>
            </a:r>
            <a:r>
              <a:rPr lang="en-US" sz="1400" dirty="0">
                <a:solidFill>
                  <a:srgbClr val="13262E"/>
                </a:solidFill>
                <a:latin typeface="Inter" pitchFamily="34" charset="0"/>
                <a:ea typeface="Inter" pitchFamily="34" charset="-122"/>
                <a:cs typeface="Inter" pitchFamily="34" charset="-120"/>
              </a:rPr>
              <a:t> Store BibTeX in Zotero or Mendeley and let the IEEE or ACM LaTeX template do it.</a:t>
            </a:r>
            <a:endParaRPr lang="en-US" sz="14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0"/>
                </a:solidFill>
                <a:latin typeface="Inter" pitchFamily="34" charset="0"/>
                <a:ea typeface="Inter" pitchFamily="34" charset="-122"/>
                <a:cs typeface="Inter" pitchFamily="34" charset="-120"/>
              </a:rPr>
              <a:t>CSEG3060 · Unit III · Part 4 — Plagiarism &amp; Citation Ethics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452A"/>
                </a:solidFill>
                <a:latin typeface="Inter" pitchFamily="34" charset="0"/>
                <a:ea typeface="Inter" pitchFamily="34" charset="-122"/>
                <a:cs typeface="Inter" pitchFamily="34" charset="-120"/>
              </a:rPr>
              <a:t>F · CITATION ETHICS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3262E"/>
                </a:solidFill>
                <a:latin typeface="Space Grotesk" pitchFamily="34" charset="0"/>
                <a:ea typeface="Space Grotesk" pitchFamily="34" charset="-122"/>
                <a:cs typeface="Space Grotesk" pitchFamily="34" charset="-120"/>
              </a:rPr>
              <a:t>Citing honestly is more than citing at all</a:t>
            </a:r>
            <a:endParaRPr lang="en-US" sz="3200" dirty="0"/>
          </a:p>
        </p:txBody>
      </p:sp>
      <p:sp>
        <p:nvSpPr>
          <p:cNvPr id="4" name="Shape 2"/>
          <p:cNvSpPr/>
          <p:nvPr/>
        </p:nvSpPr>
        <p:spPr>
          <a:xfrm>
            <a:off x="819150" y="1860451"/>
            <a:ext cx="3407767" cy="1154212"/>
          </a:xfrm>
          <a:prstGeom prst="roundRect">
            <a:avLst>
              <a:gd name="adj" fmla="val 8252"/>
            </a:avLst>
          </a:prstGeom>
          <a:solidFill>
            <a:srgbClr val="FFFDF8"/>
          </a:solidFill>
          <a:ln w="12700">
            <a:solidFill>
              <a:srgbClr val="DDD6C8"/>
            </a:solidFill>
            <a:prstDash val="solid"/>
          </a:ln>
        </p:spPr>
        <p:txBody>
          <a:bodyPr/>
          <a:lstStyle/>
          <a:p>
            <a:endParaRPr lang="en-IN"/>
          </a:p>
        </p:txBody>
      </p:sp>
      <p:sp>
        <p:nvSpPr>
          <p:cNvPr id="5" name="Text 3"/>
          <p:cNvSpPr/>
          <p:nvPr/>
        </p:nvSpPr>
        <p:spPr>
          <a:xfrm>
            <a:off x="1028700" y="2044601"/>
            <a:ext cx="307832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6F66"/>
                </a:solidFill>
                <a:latin typeface="Space Grotesk" pitchFamily="34" charset="0"/>
                <a:ea typeface="Space Grotesk" pitchFamily="34" charset="-122"/>
                <a:cs typeface="Space Grotesk" pitchFamily="34" charset="-120"/>
              </a:rPr>
              <a:t>Cite what you read</a:t>
            </a:r>
            <a:endParaRPr lang="en-US" sz="1600" dirty="0"/>
          </a:p>
        </p:txBody>
      </p:sp>
      <p:sp>
        <p:nvSpPr>
          <p:cNvPr id="6" name="Text 4"/>
          <p:cNvSpPr/>
          <p:nvPr/>
        </p:nvSpPr>
        <p:spPr>
          <a:xfrm>
            <a:off x="1028700" y="2351881"/>
            <a:ext cx="3078327"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Read U-Net only via a survey? Cite the survey, or go and read U-Net.</a:t>
            </a:r>
            <a:endParaRPr lang="en-US" sz="1300" dirty="0"/>
          </a:p>
        </p:txBody>
      </p:sp>
      <p:sp>
        <p:nvSpPr>
          <p:cNvPr id="7" name="Shape 5"/>
          <p:cNvSpPr/>
          <p:nvPr/>
        </p:nvSpPr>
        <p:spPr>
          <a:xfrm>
            <a:off x="4392017" y="1860451"/>
            <a:ext cx="3407866" cy="1154212"/>
          </a:xfrm>
          <a:prstGeom prst="roundRect">
            <a:avLst>
              <a:gd name="adj" fmla="val 8252"/>
            </a:avLst>
          </a:prstGeom>
          <a:solidFill>
            <a:srgbClr val="FFFDF8"/>
          </a:solidFill>
          <a:ln w="12700">
            <a:solidFill>
              <a:srgbClr val="DDD6C8"/>
            </a:solidFill>
            <a:prstDash val="solid"/>
          </a:ln>
        </p:spPr>
        <p:txBody>
          <a:bodyPr/>
          <a:lstStyle/>
          <a:p>
            <a:endParaRPr lang="en-IN"/>
          </a:p>
        </p:txBody>
      </p:sp>
      <p:sp>
        <p:nvSpPr>
          <p:cNvPr id="8" name="Text 6"/>
          <p:cNvSpPr/>
          <p:nvPr/>
        </p:nvSpPr>
        <p:spPr>
          <a:xfrm>
            <a:off x="4601567" y="2044601"/>
            <a:ext cx="307842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6F66"/>
                </a:solidFill>
                <a:latin typeface="Space Grotesk" pitchFamily="34" charset="0"/>
                <a:ea typeface="Space Grotesk" pitchFamily="34" charset="-122"/>
                <a:cs typeface="Space Grotesk" pitchFamily="34" charset="-120"/>
              </a:rPr>
              <a:t>Cite data and code</a:t>
            </a:r>
            <a:endParaRPr lang="en-US" sz="1600" dirty="0"/>
          </a:p>
        </p:txBody>
      </p:sp>
      <p:sp>
        <p:nvSpPr>
          <p:cNvPr id="9" name="Text 7"/>
          <p:cNvSpPr/>
          <p:nvPr/>
        </p:nvSpPr>
        <p:spPr>
          <a:xfrm>
            <a:off x="4601567" y="2351881"/>
            <a:ext cx="3078429"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BraTS, nnU-Net’s repository, pretrained weights: all get credit.</a:t>
            </a:r>
            <a:endParaRPr lang="en-US" sz="1300" dirty="0"/>
          </a:p>
        </p:txBody>
      </p:sp>
      <p:sp>
        <p:nvSpPr>
          <p:cNvPr id="10" name="Shape 8"/>
          <p:cNvSpPr/>
          <p:nvPr/>
        </p:nvSpPr>
        <p:spPr>
          <a:xfrm>
            <a:off x="7964984" y="1860451"/>
            <a:ext cx="3407866" cy="1154212"/>
          </a:xfrm>
          <a:prstGeom prst="roundRect">
            <a:avLst>
              <a:gd name="adj" fmla="val 8252"/>
            </a:avLst>
          </a:prstGeom>
          <a:solidFill>
            <a:srgbClr val="FFFDF8"/>
          </a:solidFill>
          <a:ln w="12700">
            <a:solidFill>
              <a:srgbClr val="DDD6C8"/>
            </a:solidFill>
            <a:prstDash val="solid"/>
          </a:ln>
        </p:spPr>
        <p:txBody>
          <a:bodyPr/>
          <a:lstStyle/>
          <a:p>
            <a:endParaRPr lang="en-IN"/>
          </a:p>
        </p:txBody>
      </p:sp>
      <p:sp>
        <p:nvSpPr>
          <p:cNvPr id="11" name="Text 9"/>
          <p:cNvSpPr/>
          <p:nvPr/>
        </p:nvSpPr>
        <p:spPr>
          <a:xfrm>
            <a:off x="8174534" y="2044601"/>
            <a:ext cx="307842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6F66"/>
                </a:solidFill>
                <a:latin typeface="Space Grotesk" pitchFamily="34" charset="0"/>
                <a:ea typeface="Space Grotesk" pitchFamily="34" charset="-122"/>
                <a:cs typeface="Space Grotesk" pitchFamily="34" charset="-120"/>
              </a:rPr>
              <a:t>Cite the final version</a:t>
            </a:r>
            <a:endParaRPr lang="en-US" sz="1600" dirty="0"/>
          </a:p>
        </p:txBody>
      </p:sp>
      <p:sp>
        <p:nvSpPr>
          <p:cNvPr id="12" name="Text 10"/>
          <p:cNvSpPr/>
          <p:nvPr/>
        </p:nvSpPr>
        <p:spPr>
          <a:xfrm>
            <a:off x="8174534" y="2351881"/>
            <a:ext cx="3078429"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Prefer the peer-reviewed version over the arXiv preprint.</a:t>
            </a:r>
            <a:endParaRPr lang="en-US" sz="1300" dirty="0"/>
          </a:p>
        </p:txBody>
      </p:sp>
      <p:sp>
        <p:nvSpPr>
          <p:cNvPr id="13" name="Shape 11"/>
          <p:cNvSpPr/>
          <p:nvPr/>
        </p:nvSpPr>
        <p:spPr>
          <a:xfrm>
            <a:off x="819150" y="3179763"/>
            <a:ext cx="3407767" cy="1154212"/>
          </a:xfrm>
          <a:prstGeom prst="roundRect">
            <a:avLst>
              <a:gd name="adj" fmla="val 8252"/>
            </a:avLst>
          </a:prstGeom>
          <a:solidFill>
            <a:srgbClr val="FFFDF8"/>
          </a:solidFill>
          <a:ln w="12700">
            <a:solidFill>
              <a:srgbClr val="DDD6C8"/>
            </a:solidFill>
            <a:prstDash val="solid"/>
          </a:ln>
        </p:spPr>
        <p:txBody>
          <a:bodyPr/>
          <a:lstStyle/>
          <a:p>
            <a:endParaRPr lang="en-IN"/>
          </a:p>
        </p:txBody>
      </p:sp>
      <p:sp>
        <p:nvSpPr>
          <p:cNvPr id="14" name="Text 12"/>
          <p:cNvSpPr/>
          <p:nvPr/>
        </p:nvSpPr>
        <p:spPr>
          <a:xfrm>
            <a:off x="1028700" y="3363913"/>
            <a:ext cx="307832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5452A"/>
                </a:solidFill>
                <a:latin typeface="Space Grotesk" pitchFamily="34" charset="0"/>
                <a:ea typeface="Space Grotesk" pitchFamily="34" charset="-122"/>
                <a:cs typeface="Space Grotesk" pitchFamily="34" charset="-120"/>
              </a:rPr>
              <a:t>No padding</a:t>
            </a:r>
            <a:endParaRPr lang="en-US" sz="1600" dirty="0"/>
          </a:p>
        </p:txBody>
      </p:sp>
      <p:sp>
        <p:nvSpPr>
          <p:cNvPr id="15" name="Text 13"/>
          <p:cNvSpPr/>
          <p:nvPr/>
        </p:nvSpPr>
        <p:spPr>
          <a:xfrm>
            <a:off x="1028700" y="3671193"/>
            <a:ext cx="3078327"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Don’t add irrelevant citations to look well-read.</a:t>
            </a:r>
            <a:endParaRPr lang="en-US" sz="1300" dirty="0"/>
          </a:p>
        </p:txBody>
      </p:sp>
      <p:sp>
        <p:nvSpPr>
          <p:cNvPr id="16" name="Shape 14"/>
          <p:cNvSpPr/>
          <p:nvPr/>
        </p:nvSpPr>
        <p:spPr>
          <a:xfrm>
            <a:off x="4392017" y="3179763"/>
            <a:ext cx="3407866" cy="1154212"/>
          </a:xfrm>
          <a:prstGeom prst="roundRect">
            <a:avLst>
              <a:gd name="adj" fmla="val 8252"/>
            </a:avLst>
          </a:prstGeom>
          <a:solidFill>
            <a:srgbClr val="FFFDF8"/>
          </a:solidFill>
          <a:ln w="12700">
            <a:solidFill>
              <a:srgbClr val="DDD6C8"/>
            </a:solidFill>
            <a:prstDash val="solid"/>
          </a:ln>
        </p:spPr>
        <p:txBody>
          <a:bodyPr/>
          <a:lstStyle/>
          <a:p>
            <a:endParaRPr lang="en-IN"/>
          </a:p>
        </p:txBody>
      </p:sp>
      <p:sp>
        <p:nvSpPr>
          <p:cNvPr id="17" name="Text 15"/>
          <p:cNvSpPr/>
          <p:nvPr/>
        </p:nvSpPr>
        <p:spPr>
          <a:xfrm>
            <a:off x="4601567" y="3363913"/>
            <a:ext cx="307842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5452A"/>
                </a:solidFill>
                <a:latin typeface="Space Grotesk" pitchFamily="34" charset="0"/>
                <a:ea typeface="Space Grotesk" pitchFamily="34" charset="-122"/>
                <a:cs typeface="Space Grotesk" pitchFamily="34" charset="-120"/>
              </a:rPr>
              <a:t>No coercion</a:t>
            </a:r>
            <a:endParaRPr lang="en-US" sz="1600" dirty="0"/>
          </a:p>
        </p:txBody>
      </p:sp>
      <p:sp>
        <p:nvSpPr>
          <p:cNvPr id="18" name="Text 16"/>
          <p:cNvSpPr/>
          <p:nvPr/>
        </p:nvSpPr>
        <p:spPr>
          <a:xfrm>
            <a:off x="4601567" y="3671193"/>
            <a:ext cx="3078429"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Don’t demand, or give in to demands for, citations to unrelated work.</a:t>
            </a:r>
            <a:endParaRPr lang="en-US" sz="1300" dirty="0"/>
          </a:p>
        </p:txBody>
      </p:sp>
      <p:sp>
        <p:nvSpPr>
          <p:cNvPr id="19" name="Shape 17"/>
          <p:cNvSpPr/>
          <p:nvPr/>
        </p:nvSpPr>
        <p:spPr>
          <a:xfrm>
            <a:off x="7964984" y="3179763"/>
            <a:ext cx="3407866" cy="1154212"/>
          </a:xfrm>
          <a:prstGeom prst="roundRect">
            <a:avLst>
              <a:gd name="adj" fmla="val 8252"/>
            </a:avLst>
          </a:prstGeom>
          <a:solidFill>
            <a:srgbClr val="FFFDF8"/>
          </a:solidFill>
          <a:ln w="12700">
            <a:solidFill>
              <a:srgbClr val="DDD6C8"/>
            </a:solidFill>
            <a:prstDash val="solid"/>
          </a:ln>
        </p:spPr>
        <p:txBody>
          <a:bodyPr/>
          <a:lstStyle/>
          <a:p>
            <a:endParaRPr lang="en-IN"/>
          </a:p>
        </p:txBody>
      </p:sp>
      <p:sp>
        <p:nvSpPr>
          <p:cNvPr id="20" name="Text 18"/>
          <p:cNvSpPr/>
          <p:nvPr/>
        </p:nvSpPr>
        <p:spPr>
          <a:xfrm>
            <a:off x="8174534" y="3363913"/>
            <a:ext cx="307842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5452A"/>
                </a:solidFill>
                <a:latin typeface="Space Grotesk" pitchFamily="34" charset="0"/>
                <a:ea typeface="Space Grotesk" pitchFamily="34" charset="-122"/>
                <a:cs typeface="Space Grotesk" pitchFamily="34" charset="-120"/>
              </a:rPr>
              <a:t>No misrepresenting</a:t>
            </a:r>
            <a:endParaRPr lang="en-US" sz="1600" dirty="0"/>
          </a:p>
        </p:txBody>
      </p:sp>
      <p:sp>
        <p:nvSpPr>
          <p:cNvPr id="21" name="Text 19"/>
          <p:cNvSpPr/>
          <p:nvPr/>
        </p:nvSpPr>
        <p:spPr>
          <a:xfrm>
            <a:off x="8174534" y="3671193"/>
            <a:ext cx="3078429"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Don’t cite a paper for a claim it does not make.</a:t>
            </a:r>
            <a:endParaRPr lang="en-US" sz="1300" dirty="0"/>
          </a:p>
        </p:txBody>
      </p:sp>
      <p:sp>
        <p:nvSpPr>
          <p:cNvPr id="22" name="Text 2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0"/>
                </a:solidFill>
                <a:latin typeface="Inter" pitchFamily="34" charset="0"/>
                <a:ea typeface="Inter" pitchFamily="34" charset="-122"/>
                <a:cs typeface="Inter" pitchFamily="34" charset="-120"/>
              </a:rPr>
              <a:t>CSEG3060 · Unit III · Part 4 — Plagiarism &amp; Citation Ethics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B5452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BE3D8"/>
                </a:solidFill>
                <a:latin typeface="Inter" pitchFamily="34" charset="0"/>
                <a:ea typeface="Inter" pitchFamily="34" charset="-122"/>
                <a:cs typeface="Inter" pitchFamily="34" charset="-120"/>
              </a:rPr>
              <a:t>TRY IT · 20 MINUTES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FF8F2"/>
                </a:solidFill>
                <a:latin typeface="Space Grotesk" pitchFamily="34" charset="0"/>
                <a:ea typeface="Space Grotesk" pitchFamily="34" charset="-122"/>
                <a:cs typeface="Space Grotesk" pitchFamily="34" charset="-120"/>
              </a:rPr>
              <a:t>Name the problem, then fix it</a:t>
            </a:r>
            <a:endParaRPr lang="en-US" sz="3200" dirty="0"/>
          </a:p>
        </p:txBody>
      </p:sp>
      <p:sp>
        <p:nvSpPr>
          <p:cNvPr id="4" name="Shape 2"/>
          <p:cNvSpPr/>
          <p:nvPr/>
        </p:nvSpPr>
        <p:spPr>
          <a:xfrm>
            <a:off x="812800" y="1854101"/>
            <a:ext cx="5207000" cy="1126331"/>
          </a:xfrm>
          <a:prstGeom prst="roundRect">
            <a:avLst>
              <a:gd name="adj" fmla="val 9020"/>
            </a:avLst>
          </a:prstGeom>
          <a:solidFill>
            <a:srgbClr val="FFF4EC"/>
          </a:solidFill>
          <a:ln/>
        </p:spPr>
        <p:txBody>
          <a:bodyPr/>
          <a:lstStyle/>
          <a:p>
            <a:endParaRPr lang="en-IN"/>
          </a:p>
        </p:txBody>
      </p:sp>
      <p:sp>
        <p:nvSpPr>
          <p:cNvPr id="5" name="Text 3"/>
          <p:cNvSpPr/>
          <p:nvPr/>
        </p:nvSpPr>
        <p:spPr>
          <a:xfrm>
            <a:off x="1016000" y="2031901"/>
            <a:ext cx="494461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B5452A"/>
                </a:solidFill>
                <a:latin typeface="Space Grotesk" pitchFamily="34" charset="0"/>
                <a:ea typeface="Space Grotesk" pitchFamily="34" charset="-122"/>
                <a:cs typeface="Space Grotesk" pitchFamily="34" charset="-120"/>
              </a:rPr>
              <a:t>Case 1</a:t>
            </a:r>
            <a:endParaRPr lang="en-US" sz="1500" dirty="0"/>
          </a:p>
        </p:txBody>
      </p:sp>
      <p:sp>
        <p:nvSpPr>
          <p:cNvPr id="6" name="Text 4"/>
          <p:cNvSpPr/>
          <p:nvPr/>
        </p:nvSpPr>
        <p:spPr>
          <a:xfrm>
            <a:off x="1016000" y="2324001"/>
            <a:ext cx="4944618"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A thesis includes a U-Net diagram that is a near-exact redraw of the original, with no credit.</a:t>
            </a:r>
            <a:endParaRPr lang="en-US" sz="1300" dirty="0"/>
          </a:p>
        </p:txBody>
      </p:sp>
      <p:sp>
        <p:nvSpPr>
          <p:cNvPr id="7" name="Shape 5"/>
          <p:cNvSpPr/>
          <p:nvPr/>
        </p:nvSpPr>
        <p:spPr>
          <a:xfrm>
            <a:off x="6172200" y="1854101"/>
            <a:ext cx="5207000" cy="1126331"/>
          </a:xfrm>
          <a:prstGeom prst="roundRect">
            <a:avLst>
              <a:gd name="adj" fmla="val 9020"/>
            </a:avLst>
          </a:prstGeom>
          <a:solidFill>
            <a:srgbClr val="FFF4EC"/>
          </a:solidFill>
          <a:ln/>
        </p:spPr>
        <p:txBody>
          <a:bodyPr/>
          <a:lstStyle/>
          <a:p>
            <a:endParaRPr lang="en-IN"/>
          </a:p>
        </p:txBody>
      </p:sp>
      <p:sp>
        <p:nvSpPr>
          <p:cNvPr id="8" name="Text 6"/>
          <p:cNvSpPr/>
          <p:nvPr/>
        </p:nvSpPr>
        <p:spPr>
          <a:xfrm>
            <a:off x="6375400" y="2031901"/>
            <a:ext cx="494461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B5452A"/>
                </a:solidFill>
                <a:latin typeface="Space Grotesk" pitchFamily="34" charset="0"/>
                <a:ea typeface="Space Grotesk" pitchFamily="34" charset="-122"/>
                <a:cs typeface="Space Grotesk" pitchFamily="34" charset="-120"/>
              </a:rPr>
              <a:t>Case 2</a:t>
            </a:r>
            <a:endParaRPr lang="en-US" sz="1500" dirty="0"/>
          </a:p>
        </p:txBody>
      </p:sp>
      <p:sp>
        <p:nvSpPr>
          <p:cNvPr id="9" name="Text 7"/>
          <p:cNvSpPr/>
          <p:nvPr/>
        </p:nvSpPr>
        <p:spPr>
          <a:xfrm>
            <a:off x="6375400" y="2324001"/>
            <a:ext cx="4944618"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A results table lists five baseline Dice scores copied from other papers, with no sources given.</a:t>
            </a:r>
            <a:endParaRPr lang="en-US" sz="1300" dirty="0"/>
          </a:p>
        </p:txBody>
      </p:sp>
      <p:sp>
        <p:nvSpPr>
          <p:cNvPr id="10" name="Shape 8"/>
          <p:cNvSpPr/>
          <p:nvPr/>
        </p:nvSpPr>
        <p:spPr>
          <a:xfrm>
            <a:off x="812800" y="3132832"/>
            <a:ext cx="5207000" cy="1126331"/>
          </a:xfrm>
          <a:prstGeom prst="roundRect">
            <a:avLst>
              <a:gd name="adj" fmla="val 9020"/>
            </a:avLst>
          </a:prstGeom>
          <a:solidFill>
            <a:srgbClr val="FFF4EC"/>
          </a:solidFill>
          <a:ln/>
        </p:spPr>
        <p:txBody>
          <a:bodyPr/>
          <a:lstStyle/>
          <a:p>
            <a:endParaRPr lang="en-IN"/>
          </a:p>
        </p:txBody>
      </p:sp>
      <p:sp>
        <p:nvSpPr>
          <p:cNvPr id="11" name="Text 9"/>
          <p:cNvSpPr/>
          <p:nvPr/>
        </p:nvSpPr>
        <p:spPr>
          <a:xfrm>
            <a:off x="1016000" y="3310632"/>
            <a:ext cx="494461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B5452A"/>
                </a:solidFill>
                <a:latin typeface="Space Grotesk" pitchFamily="34" charset="0"/>
                <a:ea typeface="Space Grotesk" pitchFamily="34" charset="-122"/>
                <a:cs typeface="Space Grotesk" pitchFamily="34" charset="-120"/>
              </a:rPr>
              <a:t>Case 3</a:t>
            </a:r>
            <a:endParaRPr lang="en-US" sz="1500" dirty="0"/>
          </a:p>
        </p:txBody>
      </p:sp>
      <p:sp>
        <p:nvSpPr>
          <p:cNvPr id="12" name="Text 10"/>
          <p:cNvSpPr/>
          <p:nvPr/>
        </p:nvSpPr>
        <p:spPr>
          <a:xfrm>
            <a:off x="1016000" y="3602732"/>
            <a:ext cx="4944618"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A student reuses the introduction of their own minor-project report in a new paper, unchanged.</a:t>
            </a:r>
            <a:endParaRPr lang="en-US" sz="1300" dirty="0"/>
          </a:p>
        </p:txBody>
      </p:sp>
      <p:sp>
        <p:nvSpPr>
          <p:cNvPr id="13" name="Shape 11"/>
          <p:cNvSpPr/>
          <p:nvPr/>
        </p:nvSpPr>
        <p:spPr>
          <a:xfrm>
            <a:off x="6172200" y="3132832"/>
            <a:ext cx="5207000" cy="1126331"/>
          </a:xfrm>
          <a:prstGeom prst="roundRect">
            <a:avLst>
              <a:gd name="adj" fmla="val 9020"/>
            </a:avLst>
          </a:prstGeom>
          <a:solidFill>
            <a:srgbClr val="FFF4EC"/>
          </a:solidFill>
          <a:ln/>
        </p:spPr>
        <p:txBody>
          <a:bodyPr/>
          <a:lstStyle/>
          <a:p>
            <a:endParaRPr lang="en-IN"/>
          </a:p>
        </p:txBody>
      </p:sp>
      <p:sp>
        <p:nvSpPr>
          <p:cNvPr id="14" name="Text 12"/>
          <p:cNvSpPr/>
          <p:nvPr/>
        </p:nvSpPr>
        <p:spPr>
          <a:xfrm>
            <a:off x="6375400" y="3310632"/>
            <a:ext cx="494461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B5452A"/>
                </a:solidFill>
                <a:latin typeface="Space Grotesk" pitchFamily="34" charset="0"/>
                <a:ea typeface="Space Grotesk" pitchFamily="34" charset="-122"/>
                <a:cs typeface="Space Grotesk" pitchFamily="34" charset="-120"/>
              </a:rPr>
              <a:t>Your task</a:t>
            </a:r>
            <a:endParaRPr lang="en-US" sz="1500" dirty="0"/>
          </a:p>
        </p:txBody>
      </p:sp>
      <p:sp>
        <p:nvSpPr>
          <p:cNvPr id="15" name="Text 13"/>
          <p:cNvSpPr/>
          <p:nvPr/>
        </p:nvSpPr>
        <p:spPr>
          <a:xfrm>
            <a:off x="6375400" y="3602732"/>
            <a:ext cx="4944618"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13262E"/>
                </a:solidFill>
                <a:latin typeface="Inter" pitchFamily="34" charset="0"/>
                <a:ea typeface="Inter" pitchFamily="34" charset="-122"/>
                <a:cs typeface="Inter" pitchFamily="34" charset="-120"/>
              </a:rPr>
              <a:t>Paraphrase one paragraph from your Part 2 papers and format three references in IEEE style.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BE6D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5452A"/>
                </a:solidFill>
                <a:latin typeface="Inter" pitchFamily="34" charset="0"/>
                <a:ea typeface="Inter" pitchFamily="34" charset="-122"/>
                <a:cs typeface="Inter" pitchFamily="34" charset="-120"/>
              </a:rPr>
              <a:t>UNIT III IN ONE PICTURE</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13262E"/>
                </a:solidFill>
                <a:latin typeface="Space Grotesk" pitchFamily="34" charset="0"/>
                <a:ea typeface="Space Grotesk" pitchFamily="34" charset="-122"/>
                <a:cs typeface="Space Grotesk" pitchFamily="34" charset="-120"/>
              </a:rPr>
              <a:t>Your journey, from idea to honest write-up</a:t>
            </a:r>
            <a:endParaRPr lang="en-US" sz="3200" dirty="0"/>
          </a:p>
        </p:txBody>
      </p:sp>
      <p:sp>
        <p:nvSpPr>
          <p:cNvPr id="4" name="Shape 2"/>
          <p:cNvSpPr/>
          <p:nvPr/>
        </p:nvSpPr>
        <p:spPr>
          <a:xfrm>
            <a:off x="812800" y="2474020"/>
            <a:ext cx="2279650" cy="1864221"/>
          </a:xfrm>
          <a:prstGeom prst="roundRect">
            <a:avLst>
              <a:gd name="adj" fmla="val 5450"/>
            </a:avLst>
          </a:prstGeom>
          <a:solidFill>
            <a:srgbClr val="FFFDF8"/>
          </a:solidFill>
          <a:ln/>
        </p:spPr>
        <p:txBody>
          <a:bodyPr/>
          <a:lstStyle/>
          <a:p>
            <a:endParaRPr lang="en-IN"/>
          </a:p>
        </p:txBody>
      </p:sp>
      <p:sp>
        <p:nvSpPr>
          <p:cNvPr id="5" name="Text 3"/>
          <p:cNvSpPr/>
          <p:nvPr/>
        </p:nvSpPr>
        <p:spPr>
          <a:xfrm>
            <a:off x="977900" y="2664520"/>
            <a:ext cx="200793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6F66"/>
                </a:solidFill>
                <a:latin typeface="Inter" pitchFamily="34" charset="0"/>
                <a:ea typeface="Inter" pitchFamily="34" charset="-122"/>
                <a:cs typeface="Inter" pitchFamily="34" charset="-120"/>
              </a:rPr>
              <a:t>PART 1</a:t>
            </a:r>
            <a:endParaRPr lang="en-US" sz="1200" dirty="0"/>
          </a:p>
        </p:txBody>
      </p:sp>
      <p:sp>
        <p:nvSpPr>
          <p:cNvPr id="6" name="Text 4"/>
          <p:cNvSpPr/>
          <p:nvPr/>
        </p:nvSpPr>
        <p:spPr>
          <a:xfrm>
            <a:off x="977900" y="2941340"/>
            <a:ext cx="2007933"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3262E"/>
                </a:solidFill>
                <a:latin typeface="Space Grotesk" pitchFamily="34" charset="0"/>
                <a:ea typeface="Space Grotesk" pitchFamily="34" charset="-122"/>
                <a:cs typeface="Space Grotesk" pitchFamily="34" charset="-120"/>
              </a:rPr>
              <a:t>Search</a:t>
            </a:r>
            <a:endParaRPr lang="en-US" sz="1700" dirty="0"/>
          </a:p>
        </p:txBody>
      </p:sp>
      <p:sp>
        <p:nvSpPr>
          <p:cNvPr id="7" name="Text 5"/>
          <p:cNvSpPr/>
          <p:nvPr/>
        </p:nvSpPr>
        <p:spPr>
          <a:xfrm>
            <a:off x="977900" y="3263900"/>
            <a:ext cx="2007933" cy="90924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E4E53"/>
                </a:solidFill>
                <a:latin typeface="Inter" pitchFamily="34" charset="0"/>
                <a:ea typeface="Inter" pitchFamily="34" charset="-122"/>
                <a:cs typeface="Inter" pitchFamily="34" charset="-120"/>
              </a:rPr>
              <a:t>Survey first, Boolean queries, two databases, chaining from U-Net, a search log</a:t>
            </a:r>
            <a:endParaRPr lang="en-US" sz="1200" dirty="0"/>
          </a:p>
        </p:txBody>
      </p:sp>
      <p:pic>
        <p:nvPicPr>
          <p:cNvPr id="8" name="Image 0" descr="arrow-right"/>
          <p:cNvPicPr>
            <a:picLocks noChangeAspect="1"/>
          </p:cNvPicPr>
          <p:nvPr/>
        </p:nvPicPr>
        <p:blipFill>
          <a:blip r:embed="rId3"/>
          <a:srcRect/>
          <a:stretch/>
        </p:blipFill>
        <p:spPr>
          <a:xfrm>
            <a:off x="3194050" y="3323530"/>
            <a:ext cx="279400" cy="165100"/>
          </a:xfrm>
          <a:prstGeom prst="rect">
            <a:avLst/>
          </a:prstGeom>
        </p:spPr>
      </p:pic>
      <p:sp>
        <p:nvSpPr>
          <p:cNvPr id="9" name="Shape 6"/>
          <p:cNvSpPr/>
          <p:nvPr/>
        </p:nvSpPr>
        <p:spPr>
          <a:xfrm>
            <a:off x="3575050" y="2474020"/>
            <a:ext cx="2279650" cy="1864221"/>
          </a:xfrm>
          <a:prstGeom prst="roundRect">
            <a:avLst>
              <a:gd name="adj" fmla="val 5450"/>
            </a:avLst>
          </a:prstGeom>
          <a:solidFill>
            <a:srgbClr val="FFFDF8"/>
          </a:solidFill>
          <a:ln/>
        </p:spPr>
        <p:txBody>
          <a:bodyPr/>
          <a:lstStyle/>
          <a:p>
            <a:endParaRPr lang="en-IN"/>
          </a:p>
        </p:txBody>
      </p:sp>
      <p:sp>
        <p:nvSpPr>
          <p:cNvPr id="10" name="Text 7"/>
          <p:cNvSpPr/>
          <p:nvPr/>
        </p:nvSpPr>
        <p:spPr>
          <a:xfrm>
            <a:off x="3740150" y="2664520"/>
            <a:ext cx="200793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6F66"/>
                </a:solidFill>
                <a:latin typeface="Inter" pitchFamily="34" charset="0"/>
                <a:ea typeface="Inter" pitchFamily="34" charset="-122"/>
                <a:cs typeface="Inter" pitchFamily="34" charset="-120"/>
              </a:rPr>
              <a:t>PART 2</a:t>
            </a:r>
            <a:endParaRPr lang="en-US" sz="1200" dirty="0"/>
          </a:p>
        </p:txBody>
      </p:sp>
      <p:sp>
        <p:nvSpPr>
          <p:cNvPr id="11" name="Text 8"/>
          <p:cNvSpPr/>
          <p:nvPr/>
        </p:nvSpPr>
        <p:spPr>
          <a:xfrm>
            <a:off x="3740150" y="2941340"/>
            <a:ext cx="2007933"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3262E"/>
                </a:solidFill>
                <a:latin typeface="Space Grotesk" pitchFamily="34" charset="0"/>
                <a:ea typeface="Space Grotesk" pitchFamily="34" charset="-122"/>
                <a:cs typeface="Space Grotesk" pitchFamily="34" charset="-120"/>
              </a:rPr>
              <a:t>Analyse</a:t>
            </a:r>
            <a:endParaRPr lang="en-US" sz="1700" dirty="0"/>
          </a:p>
        </p:txBody>
      </p:sp>
      <p:sp>
        <p:nvSpPr>
          <p:cNvPr id="12" name="Text 9"/>
          <p:cNvSpPr/>
          <p:nvPr/>
        </p:nvSpPr>
        <p:spPr>
          <a:xfrm>
            <a:off x="3740150" y="3263900"/>
            <a:ext cx="2007933" cy="90924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E4E53"/>
                </a:solidFill>
                <a:latin typeface="Inter" pitchFamily="34" charset="0"/>
                <a:ea typeface="Inter" pitchFamily="34" charset="-122"/>
                <a:cs typeface="Inter" pitchFamily="34" charset="-120"/>
              </a:rPr>
              <a:t>Three passes, extraction and concept matrices, a gap on missing MRI sequences</a:t>
            </a:r>
            <a:endParaRPr lang="en-US" sz="1200" dirty="0"/>
          </a:p>
        </p:txBody>
      </p:sp>
      <p:pic>
        <p:nvPicPr>
          <p:cNvPr id="13" name="Image 1" descr="arrow-right"/>
          <p:cNvPicPr>
            <a:picLocks noChangeAspect="1"/>
          </p:cNvPicPr>
          <p:nvPr/>
        </p:nvPicPr>
        <p:blipFill>
          <a:blip r:embed="rId3"/>
          <a:srcRect/>
          <a:stretch/>
        </p:blipFill>
        <p:spPr>
          <a:xfrm>
            <a:off x="5956300" y="3323530"/>
            <a:ext cx="279400" cy="165100"/>
          </a:xfrm>
          <a:prstGeom prst="rect">
            <a:avLst/>
          </a:prstGeom>
        </p:spPr>
      </p:pic>
      <p:sp>
        <p:nvSpPr>
          <p:cNvPr id="14" name="Shape 10"/>
          <p:cNvSpPr/>
          <p:nvPr/>
        </p:nvSpPr>
        <p:spPr>
          <a:xfrm>
            <a:off x="6337300" y="2584450"/>
            <a:ext cx="2279650" cy="1643261"/>
          </a:xfrm>
          <a:prstGeom prst="roundRect">
            <a:avLst>
              <a:gd name="adj" fmla="val 6183"/>
            </a:avLst>
          </a:prstGeom>
          <a:solidFill>
            <a:srgbClr val="FFFDF8"/>
          </a:solidFill>
          <a:ln/>
        </p:spPr>
        <p:txBody>
          <a:bodyPr/>
          <a:lstStyle/>
          <a:p>
            <a:endParaRPr lang="en-IN"/>
          </a:p>
        </p:txBody>
      </p:sp>
      <p:sp>
        <p:nvSpPr>
          <p:cNvPr id="15" name="Text 11"/>
          <p:cNvSpPr/>
          <p:nvPr/>
        </p:nvSpPr>
        <p:spPr>
          <a:xfrm>
            <a:off x="6502400" y="2774950"/>
            <a:ext cx="200793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F6F66"/>
                </a:solidFill>
                <a:latin typeface="Inter" pitchFamily="34" charset="0"/>
                <a:ea typeface="Inter" pitchFamily="34" charset="-122"/>
                <a:cs typeface="Inter" pitchFamily="34" charset="-120"/>
              </a:rPr>
              <a:t>PART 3</a:t>
            </a:r>
            <a:endParaRPr lang="en-US" sz="1200" dirty="0"/>
          </a:p>
        </p:txBody>
      </p:sp>
      <p:sp>
        <p:nvSpPr>
          <p:cNvPr id="16" name="Text 12"/>
          <p:cNvSpPr/>
          <p:nvPr/>
        </p:nvSpPr>
        <p:spPr>
          <a:xfrm>
            <a:off x="6502400" y="3051770"/>
            <a:ext cx="2007933"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3262E"/>
                </a:solidFill>
                <a:latin typeface="Space Grotesk" pitchFamily="34" charset="0"/>
                <a:ea typeface="Space Grotesk" pitchFamily="34" charset="-122"/>
                <a:cs typeface="Space Grotesk" pitchFamily="34" charset="-120"/>
              </a:rPr>
              <a:t>Protect</a:t>
            </a:r>
            <a:endParaRPr lang="en-US" sz="1700" dirty="0"/>
          </a:p>
        </p:txBody>
      </p:sp>
      <p:sp>
        <p:nvSpPr>
          <p:cNvPr id="17" name="Text 13"/>
          <p:cNvSpPr/>
          <p:nvPr/>
        </p:nvSpPr>
        <p:spPr>
          <a:xfrm>
            <a:off x="6502400" y="3374330"/>
            <a:ext cx="2007933" cy="6882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E4E53"/>
                </a:solidFill>
                <a:latin typeface="Inter" pitchFamily="34" charset="0"/>
                <a:ea typeface="Inter" pitchFamily="34" charset="-122"/>
                <a:cs typeface="Inter" pitchFamily="34" charset="-120"/>
              </a:rPr>
              <a:t>Patient-level splits, de-identified scans, DPDP Act, ethics approval first</a:t>
            </a:r>
            <a:endParaRPr lang="en-US" sz="1200" dirty="0"/>
          </a:p>
        </p:txBody>
      </p:sp>
      <p:pic>
        <p:nvPicPr>
          <p:cNvPr id="18" name="Image 2" descr="arrow-right"/>
          <p:cNvPicPr>
            <a:picLocks noChangeAspect="1"/>
          </p:cNvPicPr>
          <p:nvPr/>
        </p:nvPicPr>
        <p:blipFill>
          <a:blip r:embed="rId3"/>
          <a:srcRect/>
          <a:stretch/>
        </p:blipFill>
        <p:spPr>
          <a:xfrm>
            <a:off x="8718550" y="3323530"/>
            <a:ext cx="279400" cy="165100"/>
          </a:xfrm>
          <a:prstGeom prst="rect">
            <a:avLst/>
          </a:prstGeom>
        </p:spPr>
      </p:pic>
      <p:sp>
        <p:nvSpPr>
          <p:cNvPr id="19" name="Shape 14"/>
          <p:cNvSpPr/>
          <p:nvPr/>
        </p:nvSpPr>
        <p:spPr>
          <a:xfrm>
            <a:off x="9099550" y="2584450"/>
            <a:ext cx="2279650" cy="1643261"/>
          </a:xfrm>
          <a:prstGeom prst="roundRect">
            <a:avLst>
              <a:gd name="adj" fmla="val 6183"/>
            </a:avLst>
          </a:prstGeom>
          <a:solidFill>
            <a:srgbClr val="12303A"/>
          </a:solidFill>
          <a:ln/>
        </p:spPr>
        <p:txBody>
          <a:bodyPr/>
          <a:lstStyle/>
          <a:p>
            <a:endParaRPr lang="en-IN"/>
          </a:p>
        </p:txBody>
      </p:sp>
      <p:sp>
        <p:nvSpPr>
          <p:cNvPr id="20" name="Text 15"/>
          <p:cNvSpPr/>
          <p:nvPr/>
        </p:nvSpPr>
        <p:spPr>
          <a:xfrm>
            <a:off x="9264650" y="2774950"/>
            <a:ext cx="200793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6D3C7"/>
                </a:solidFill>
                <a:latin typeface="Inter" pitchFamily="34" charset="0"/>
                <a:ea typeface="Inter" pitchFamily="34" charset="-122"/>
                <a:cs typeface="Inter" pitchFamily="34" charset="-120"/>
              </a:rPr>
              <a:t>PART 4</a:t>
            </a:r>
            <a:endParaRPr lang="en-US" sz="1200" dirty="0"/>
          </a:p>
        </p:txBody>
      </p:sp>
      <p:sp>
        <p:nvSpPr>
          <p:cNvPr id="21" name="Text 16"/>
          <p:cNvSpPr/>
          <p:nvPr/>
        </p:nvSpPr>
        <p:spPr>
          <a:xfrm>
            <a:off x="9264650" y="3051770"/>
            <a:ext cx="2007933"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3EFE6"/>
                </a:solidFill>
                <a:latin typeface="Space Grotesk" pitchFamily="34" charset="0"/>
                <a:ea typeface="Space Grotesk" pitchFamily="34" charset="-122"/>
                <a:cs typeface="Space Grotesk" pitchFamily="34" charset="-120"/>
              </a:rPr>
              <a:t>Credit</a:t>
            </a:r>
            <a:endParaRPr lang="en-US" sz="1700" dirty="0"/>
          </a:p>
        </p:txBody>
      </p:sp>
      <p:sp>
        <p:nvSpPr>
          <p:cNvPr id="22" name="Text 17"/>
          <p:cNvSpPr/>
          <p:nvPr/>
        </p:nvSpPr>
        <p:spPr>
          <a:xfrm>
            <a:off x="9264650" y="3374330"/>
            <a:ext cx="2007933" cy="6882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C9D6D4"/>
                </a:solidFill>
                <a:latin typeface="Inter" pitchFamily="34" charset="0"/>
                <a:ea typeface="Inter" pitchFamily="34" charset="-122"/>
                <a:cs typeface="Inter" pitchFamily="34" charset="-120"/>
              </a:rPr>
              <a:t>Real paraphrases, cited figures, code and data, clean IEEE references</a:t>
            </a:r>
            <a:endParaRPr lang="en-US" sz="1200" dirty="0"/>
          </a:p>
        </p:txBody>
      </p:sp>
      <p:sp>
        <p:nvSpPr>
          <p:cNvPr id="23" name="Text 18"/>
          <p:cNvSpPr/>
          <p:nvPr/>
        </p:nvSpPr>
        <p:spPr>
          <a:xfrm>
            <a:off x="812800" y="5237559"/>
            <a:ext cx="10883392" cy="629841"/>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13262E"/>
                </a:solidFill>
                <a:latin typeface="Inter" pitchFamily="34" charset="0"/>
                <a:ea typeface="Inter" pitchFamily="34" charset="-122"/>
                <a:cs typeface="Inter" pitchFamily="34" charset="-120"/>
              </a:rPr>
              <a:t>Each part protects the next: a good search makes a real gap; ethics makes the data usable; honest writing makes the work count.</a:t>
            </a:r>
            <a:endParaRPr lang="en-US" sz="1700" dirty="0"/>
          </a:p>
        </p:txBody>
      </p:sp>
      <p:sp>
        <p:nvSpPr>
          <p:cNvPr id="24" name="Text 19"/>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B70"/>
                </a:solidFill>
                <a:latin typeface="Inter" pitchFamily="34" charset="0"/>
                <a:ea typeface="Inter" pitchFamily="34" charset="-122"/>
                <a:cs typeface="Inter" pitchFamily="34" charset="-120"/>
              </a:rPr>
              <a:t>CSEG3060 · Unit III · Part 4 — Plagiarism &amp; Citation Ethics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303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86D3C7"/>
                </a:solidFill>
                <a:latin typeface="Inter" pitchFamily="34" charset="0"/>
                <a:ea typeface="Inter" pitchFamily="34" charset="-122"/>
                <a:cs typeface="Inter" pitchFamily="34" charset="-120"/>
              </a:rPr>
              <a:t>KEY TAKEAWAYS</a:t>
            </a:r>
            <a:endParaRPr lang="en-US" sz="1200" dirty="0"/>
          </a:p>
        </p:txBody>
      </p:sp>
      <p:sp>
        <p:nvSpPr>
          <p:cNvPr id="3" name="Text 1"/>
          <p:cNvSpPr/>
          <p:nvPr/>
        </p:nvSpPr>
        <p:spPr>
          <a:xfrm>
            <a:off x="812800" y="11277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3EFE6"/>
                </a:solidFill>
                <a:latin typeface="Space Grotesk" pitchFamily="34" charset="0"/>
                <a:ea typeface="Space Grotesk" pitchFamily="34" charset="-122"/>
                <a:cs typeface="Space Grotesk" pitchFamily="34" charset="-120"/>
              </a:rPr>
              <a:t>Four habits of honest writing</a:t>
            </a:r>
            <a:endParaRPr lang="en-US" sz="3200" dirty="0"/>
          </a:p>
        </p:txBody>
      </p:sp>
      <p:sp>
        <p:nvSpPr>
          <p:cNvPr id="4" name="Shape 2"/>
          <p:cNvSpPr/>
          <p:nvPr/>
        </p:nvSpPr>
        <p:spPr>
          <a:xfrm>
            <a:off x="812800" y="2390180"/>
            <a:ext cx="10566400" cy="0"/>
          </a:xfrm>
          <a:prstGeom prst="line">
            <a:avLst/>
          </a:prstGeom>
          <a:noFill/>
          <a:ln w="12700">
            <a:solidFill>
              <a:srgbClr val="2D5562"/>
            </a:solidFill>
            <a:prstDash val="solid"/>
          </a:ln>
        </p:spPr>
        <p:txBody>
          <a:bodyPr/>
          <a:lstStyle/>
          <a:p>
            <a:endParaRPr lang="en-IN"/>
          </a:p>
        </p:txBody>
      </p:sp>
      <p:sp>
        <p:nvSpPr>
          <p:cNvPr id="5" name="Text 3"/>
          <p:cNvSpPr/>
          <p:nvPr/>
        </p:nvSpPr>
        <p:spPr>
          <a:xfrm>
            <a:off x="812800" y="2536230"/>
            <a:ext cx="4953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2A384"/>
                </a:solidFill>
                <a:latin typeface="Space Grotesk" pitchFamily="34" charset="0"/>
                <a:ea typeface="Space Grotesk" pitchFamily="34" charset="-122"/>
                <a:cs typeface="Space Grotesk" pitchFamily="34" charset="-120"/>
              </a:rPr>
              <a:t>1</a:t>
            </a:r>
            <a:endParaRPr lang="en-US" sz="2000" dirty="0"/>
          </a:p>
        </p:txBody>
      </p:sp>
      <p:sp>
        <p:nvSpPr>
          <p:cNvPr id="6" name="Text 4"/>
          <p:cNvSpPr/>
          <p:nvPr/>
        </p:nvSpPr>
        <p:spPr>
          <a:xfrm>
            <a:off x="1460500" y="2568277"/>
            <a:ext cx="7398941" cy="316805"/>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F3EFE6"/>
                </a:solidFill>
                <a:latin typeface="Inter" pitchFamily="34" charset="0"/>
                <a:ea typeface="Inter" pitchFamily="34" charset="-122"/>
                <a:cs typeface="Inter" pitchFamily="34" charset="-120"/>
              </a:rPr>
              <a:t>Tag every note as quote, paraphrase or your own idea, with its source.</a:t>
            </a:r>
            <a:endParaRPr lang="en-US" sz="1700" dirty="0"/>
          </a:p>
        </p:txBody>
      </p:sp>
      <p:sp>
        <p:nvSpPr>
          <p:cNvPr id="7" name="Shape 5"/>
          <p:cNvSpPr/>
          <p:nvPr/>
        </p:nvSpPr>
        <p:spPr>
          <a:xfrm>
            <a:off x="812800" y="3037880"/>
            <a:ext cx="10566400" cy="0"/>
          </a:xfrm>
          <a:prstGeom prst="line">
            <a:avLst/>
          </a:prstGeom>
          <a:noFill/>
          <a:ln w="12700">
            <a:solidFill>
              <a:srgbClr val="2D5562"/>
            </a:solidFill>
            <a:prstDash val="solid"/>
          </a:ln>
        </p:spPr>
        <p:txBody>
          <a:bodyPr/>
          <a:lstStyle/>
          <a:p>
            <a:endParaRPr lang="en-IN"/>
          </a:p>
        </p:txBody>
      </p:sp>
      <p:sp>
        <p:nvSpPr>
          <p:cNvPr id="8" name="Text 6"/>
          <p:cNvSpPr/>
          <p:nvPr/>
        </p:nvSpPr>
        <p:spPr>
          <a:xfrm>
            <a:off x="812800" y="3183930"/>
            <a:ext cx="4953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2A384"/>
                </a:solidFill>
                <a:latin typeface="Space Grotesk" pitchFamily="34" charset="0"/>
                <a:ea typeface="Space Grotesk" pitchFamily="34" charset="-122"/>
                <a:cs typeface="Space Grotesk" pitchFamily="34" charset="-120"/>
              </a:rPr>
              <a:t>2</a:t>
            </a:r>
            <a:endParaRPr lang="en-US" sz="2000" dirty="0"/>
          </a:p>
        </p:txBody>
      </p:sp>
      <p:sp>
        <p:nvSpPr>
          <p:cNvPr id="9" name="Text 7"/>
          <p:cNvSpPr/>
          <p:nvPr/>
        </p:nvSpPr>
        <p:spPr>
          <a:xfrm>
            <a:off x="1460500" y="3215977"/>
            <a:ext cx="5787423" cy="316805"/>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F3EFE6"/>
                </a:solidFill>
                <a:latin typeface="Inter" pitchFamily="34" charset="0"/>
                <a:ea typeface="Inter" pitchFamily="34" charset="-122"/>
                <a:cs typeface="Inter" pitchFamily="34" charset="-120"/>
              </a:rPr>
              <a:t>Paraphrase with the source closed, then cite it anyway.</a:t>
            </a:r>
            <a:endParaRPr lang="en-US" sz="1700" dirty="0"/>
          </a:p>
        </p:txBody>
      </p:sp>
      <p:sp>
        <p:nvSpPr>
          <p:cNvPr id="10" name="Shape 8"/>
          <p:cNvSpPr/>
          <p:nvPr/>
        </p:nvSpPr>
        <p:spPr>
          <a:xfrm>
            <a:off x="812800" y="3685580"/>
            <a:ext cx="10566400" cy="0"/>
          </a:xfrm>
          <a:prstGeom prst="line">
            <a:avLst/>
          </a:prstGeom>
          <a:noFill/>
          <a:ln w="12700">
            <a:solidFill>
              <a:srgbClr val="2D5562"/>
            </a:solidFill>
            <a:prstDash val="solid"/>
          </a:ln>
        </p:spPr>
        <p:txBody>
          <a:bodyPr/>
          <a:lstStyle/>
          <a:p>
            <a:endParaRPr lang="en-IN"/>
          </a:p>
        </p:txBody>
      </p:sp>
      <p:sp>
        <p:nvSpPr>
          <p:cNvPr id="11" name="Text 9"/>
          <p:cNvSpPr/>
          <p:nvPr/>
        </p:nvSpPr>
        <p:spPr>
          <a:xfrm>
            <a:off x="812800" y="3831630"/>
            <a:ext cx="4953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2A384"/>
                </a:solidFill>
                <a:latin typeface="Space Grotesk" pitchFamily="34" charset="0"/>
                <a:ea typeface="Space Grotesk" pitchFamily="34" charset="-122"/>
                <a:cs typeface="Space Grotesk" pitchFamily="34" charset="-120"/>
              </a:rPr>
              <a:t>3</a:t>
            </a:r>
            <a:endParaRPr lang="en-US" sz="2000" dirty="0"/>
          </a:p>
        </p:txBody>
      </p:sp>
      <p:sp>
        <p:nvSpPr>
          <p:cNvPr id="12" name="Text 10"/>
          <p:cNvSpPr/>
          <p:nvPr/>
        </p:nvSpPr>
        <p:spPr>
          <a:xfrm>
            <a:off x="1460500" y="3863677"/>
            <a:ext cx="6436567" cy="316805"/>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F3EFE6"/>
                </a:solidFill>
                <a:latin typeface="Inter" pitchFamily="34" charset="0"/>
                <a:ea typeface="Inter" pitchFamily="34" charset="-122"/>
                <a:cs typeface="Inter" pitchFamily="34" charset="-120"/>
              </a:rPr>
              <a:t>Credit figures, code, results and datasets, not just sentences.</a:t>
            </a:r>
            <a:endParaRPr lang="en-US" sz="1700" dirty="0"/>
          </a:p>
        </p:txBody>
      </p:sp>
      <p:sp>
        <p:nvSpPr>
          <p:cNvPr id="13" name="Shape 11"/>
          <p:cNvSpPr/>
          <p:nvPr/>
        </p:nvSpPr>
        <p:spPr>
          <a:xfrm>
            <a:off x="812800" y="4333280"/>
            <a:ext cx="10566400" cy="0"/>
          </a:xfrm>
          <a:prstGeom prst="line">
            <a:avLst/>
          </a:prstGeom>
          <a:noFill/>
          <a:ln w="12700">
            <a:solidFill>
              <a:srgbClr val="2D5562"/>
            </a:solidFill>
            <a:prstDash val="solid"/>
          </a:ln>
        </p:spPr>
        <p:txBody>
          <a:bodyPr/>
          <a:lstStyle/>
          <a:p>
            <a:endParaRPr lang="en-IN"/>
          </a:p>
        </p:txBody>
      </p:sp>
      <p:sp>
        <p:nvSpPr>
          <p:cNvPr id="14" name="Shape 12"/>
          <p:cNvSpPr/>
          <p:nvPr/>
        </p:nvSpPr>
        <p:spPr>
          <a:xfrm>
            <a:off x="812800" y="4980980"/>
            <a:ext cx="10566400" cy="0"/>
          </a:xfrm>
          <a:prstGeom prst="line">
            <a:avLst/>
          </a:prstGeom>
          <a:noFill/>
          <a:ln w="12700">
            <a:solidFill>
              <a:srgbClr val="2D5562"/>
            </a:solidFill>
            <a:prstDash val="solid"/>
          </a:ln>
        </p:spPr>
        <p:txBody>
          <a:bodyPr/>
          <a:lstStyle/>
          <a:p>
            <a:endParaRPr lang="en-IN"/>
          </a:p>
        </p:txBody>
      </p:sp>
      <p:sp>
        <p:nvSpPr>
          <p:cNvPr id="15" name="Text 13"/>
          <p:cNvSpPr/>
          <p:nvPr/>
        </p:nvSpPr>
        <p:spPr>
          <a:xfrm>
            <a:off x="812800" y="4479330"/>
            <a:ext cx="4953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F2A384"/>
                </a:solidFill>
                <a:latin typeface="Space Grotesk" pitchFamily="34" charset="0"/>
                <a:ea typeface="Space Grotesk" pitchFamily="34" charset="-122"/>
                <a:cs typeface="Space Grotesk" pitchFamily="34" charset="-120"/>
              </a:rPr>
              <a:t>4</a:t>
            </a:r>
            <a:endParaRPr lang="en-US" sz="2000" dirty="0"/>
          </a:p>
        </p:txBody>
      </p:sp>
      <p:sp>
        <p:nvSpPr>
          <p:cNvPr id="16" name="Text 14"/>
          <p:cNvSpPr/>
          <p:nvPr/>
        </p:nvSpPr>
        <p:spPr>
          <a:xfrm>
            <a:off x="1460500" y="4511377"/>
            <a:ext cx="7785954" cy="316805"/>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F3EFE6"/>
                </a:solidFill>
                <a:latin typeface="Inter" pitchFamily="34" charset="0"/>
                <a:ea typeface="Inter" pitchFamily="34" charset="-122"/>
                <a:cs typeface="Inter" pitchFamily="34" charset="-120"/>
              </a:rPr>
              <a:t>Let a reference manager and the IEEE or ACM template format references.</a:t>
            </a:r>
            <a:endParaRPr lang="en-US" sz="1700" dirty="0"/>
          </a:p>
        </p:txBody>
      </p:sp>
      <p:sp>
        <p:nvSpPr>
          <p:cNvPr id="17" name="Text 15"/>
          <p:cNvSpPr/>
          <p:nvPr/>
        </p:nvSpPr>
        <p:spPr>
          <a:xfrm>
            <a:off x="812800" y="579635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6D3C7"/>
                </a:solidFill>
                <a:latin typeface="Inter" pitchFamily="34" charset="0"/>
                <a:ea typeface="Inter" pitchFamily="34" charset="-122"/>
                <a:cs typeface="Inter" pitchFamily="34" charset="-120"/>
              </a:rPr>
              <a:t>End of Unit III · Next: Unit IV, Technical writing and research proposal development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2133</Words>
  <Application>Microsoft Office PowerPoint</Application>
  <PresentationFormat>Widescreen</PresentationFormat>
  <Paragraphs>236</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Inter</vt:lpstr>
      <vt:lpstr>JetBrains Mono</vt:lpstr>
      <vt:lpstr>Space Grotesk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III · Part 4: Plagiarism &amp; Citation Ethics</dc:title>
  <dc:subject>PptxGenJS Presentation</dc:subject>
  <dc:creator>PptxGenJS</dc:creator>
  <cp:lastModifiedBy>Mohsin Faurkh</cp:lastModifiedBy>
  <cp:revision>2</cp:revision>
  <dcterms:created xsi:type="dcterms:W3CDTF">2026-09-22T18:38:16Z</dcterms:created>
  <dcterms:modified xsi:type="dcterms:W3CDTF">2026-09-22T18:48:19Z</dcterms:modified>
</cp:coreProperties>
</file>